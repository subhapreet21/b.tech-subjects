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4" r:id="rId15"/>
    <p:sldId id="269" r:id="rId16"/>
    <p:sldId id="270" r:id="rId17"/>
    <p:sldId id="271" r:id="rId18"/>
    <p:sldId id="272" r:id="rId19"/>
    <p:sldId id="273" r:id="rId20"/>
    <p:sldId id="274" r:id="rId21"/>
    <p:sldId id="278" r:id="rId22"/>
    <p:sldId id="279" r:id="rId23"/>
    <p:sldId id="281" r:id="rId24"/>
    <p:sldId id="282" r:id="rId25"/>
    <p:sldId id="283" r:id="rId26"/>
    <p:sldId id="285" r:id="rId27"/>
    <p:sldId id="286" r:id="rId28"/>
    <p:sldId id="288" r:id="rId29"/>
    <p:sldId id="289" r:id="rId30"/>
    <p:sldId id="297" r:id="rId31"/>
    <p:sldId id="298" r:id="rId32"/>
    <p:sldId id="287" r:id="rId33"/>
    <p:sldId id="299" r:id="rId34"/>
    <p:sldId id="300" r:id="rId35"/>
    <p:sldId id="301" r:id="rId36"/>
    <p:sldId id="302" r:id="rId37"/>
    <p:sldId id="295" r:id="rId38"/>
    <p:sldId id="296" r:id="rId39"/>
    <p:sldId id="303" r:id="rId40"/>
    <p:sldId id="304" r:id="rId41"/>
    <p:sldId id="305" r:id="rId42"/>
    <p:sldId id="306" r:id="rId43"/>
    <p:sldId id="307" r:id="rId44"/>
    <p:sldId id="308" r:id="rId45"/>
    <p:sldId id="309" r:id="rId46"/>
    <p:sldId id="310" r:id="rId47"/>
    <p:sldId id="311" r:id="rId48"/>
    <p:sldId id="312" r:id="rId49"/>
    <p:sldId id="313" r:id="rId50"/>
    <p:sldId id="314" r:id="rId51"/>
    <p:sldId id="315" r:id="rId52"/>
    <p:sldId id="316" r:id="rId53"/>
    <p:sldId id="317" r:id="rId54"/>
    <p:sldId id="318" r:id="rId55"/>
    <p:sldId id="319" r:id="rId56"/>
    <p:sldId id="320" r:id="rId57"/>
    <p:sldId id="321" r:id="rId58"/>
    <p:sldId id="323" r:id="rId59"/>
    <p:sldId id="324" r:id="rId60"/>
    <p:sldId id="322" r:id="rId61"/>
    <p:sldId id="325" r:id="rId62"/>
    <p:sldId id="326" r:id="rId63"/>
    <p:sldId id="327"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1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3992EF-872C-42EC-A76A-1643321A5CF5}" type="datetimeFigureOut">
              <a:rPr lang="en-IN" smtClean="0"/>
              <a:t>10-07-2025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213958-8CA8-45E6-939B-10E23D73E329}" type="slidenum">
              <a:rPr lang="en-IN" smtClean="0"/>
              <a:t>‹#›</a:t>
            </a:fld>
            <a:endParaRPr lang="en-IN"/>
          </a:p>
        </p:txBody>
      </p:sp>
    </p:spTree>
    <p:extLst>
      <p:ext uri="{BB962C8B-B14F-4D97-AF65-F5344CB8AC3E}">
        <p14:creationId xmlns:p14="http://schemas.microsoft.com/office/powerpoint/2010/main" val="2234789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D213958-8CA8-45E6-939B-10E23D73E329}" type="slidenum">
              <a:rPr lang="en-IN" smtClean="0"/>
              <a:t>55</a:t>
            </a:fld>
            <a:endParaRPr lang="en-IN"/>
          </a:p>
        </p:txBody>
      </p:sp>
    </p:spTree>
    <p:extLst>
      <p:ext uri="{BB962C8B-B14F-4D97-AF65-F5344CB8AC3E}">
        <p14:creationId xmlns:p14="http://schemas.microsoft.com/office/powerpoint/2010/main" val="161438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Isosceles Triangle 6"/>
          <p:cNvSpPr/>
          <p:nvPr/>
        </p:nvSpPr>
        <p:spPr>
          <a:xfrm rot="16200000">
            <a:off x="7554353" y="5254283"/>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540544" y="776288"/>
            <a:ext cx="8062912" cy="1470025"/>
          </a:xfrm>
        </p:spPr>
        <p:txBody>
          <a:bodyPr anchor="b">
            <a:normAutofit/>
          </a:bodyPr>
          <a:lstStyle>
            <a:lvl1pPr algn="r">
              <a:defRPr sz="4400"/>
            </a:lvl1pPr>
          </a:lstStyle>
          <a:p>
            <a:r>
              <a:rPr kumimoji="0" lang="en-US" smtClean="0"/>
              <a:t>Click to edit Master title style</a:t>
            </a:r>
            <a:endParaRPr kumimoji="0" lang="en-US"/>
          </a:p>
        </p:txBody>
      </p:sp>
      <p:sp>
        <p:nvSpPr>
          <p:cNvPr id="9" name="Subtitle 8"/>
          <p:cNvSpPr>
            <a:spLocks noGrp="1"/>
          </p:cNvSpPr>
          <p:nvPr>
            <p:ph type="subTitle" idx="1"/>
          </p:nvPr>
        </p:nvSpPr>
        <p:spPr>
          <a:xfrm>
            <a:off x="540544" y="2250280"/>
            <a:ext cx="8062912" cy="1752600"/>
          </a:xfrm>
        </p:spPr>
        <p:txBody>
          <a:bodyPr/>
          <a:lstStyle>
            <a:lvl1pPr marL="0" marR="36576" indent="0" algn="r">
              <a:spcBef>
                <a:spcPts val="0"/>
              </a:spcBef>
              <a:buNone/>
              <a:defRPr>
                <a:ln>
                  <a:solidFill>
                    <a:schemeClr val="bg2"/>
                  </a:solidFill>
                </a:ln>
                <a:solidFill>
                  <a:schemeClr val="tx1">
                    <a:tint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1371600" y="6012656"/>
            <a:ext cx="5791200" cy="365125"/>
          </a:xfrm>
        </p:spPr>
        <p:txBody>
          <a:bodyPr tIns="0" bIns="0" anchor="t"/>
          <a:lstStyle>
            <a:lvl1pPr algn="r">
              <a:defRPr sz="1000"/>
            </a:lvl1pPr>
          </a:lstStyle>
          <a:p>
            <a:fld id="{1D8BD707-D9CF-40AE-B4C6-C98DA3205C09}" type="datetimeFigureOut">
              <a:rPr lang="en-US" smtClean="0"/>
              <a:pPr/>
              <a:t>7/10/2025</a:t>
            </a:fld>
            <a:endParaRPr lang="en-US"/>
          </a:p>
        </p:txBody>
      </p:sp>
      <p:sp>
        <p:nvSpPr>
          <p:cNvPr id="17" name="Footer Placeholder 16"/>
          <p:cNvSpPr>
            <a:spLocks noGrp="1"/>
          </p:cNvSpPr>
          <p:nvPr>
            <p:ph type="ftr" sz="quarter" idx="11"/>
          </p:nvPr>
        </p:nvSpPr>
        <p:spPr>
          <a:xfrm>
            <a:off x="1371600" y="5650704"/>
            <a:ext cx="5791200" cy="365125"/>
          </a:xfrm>
        </p:spPr>
        <p:txBody>
          <a:bodyPr tIns="0" bIns="0" anchor="b"/>
          <a:lstStyle>
            <a:lvl1pPr algn="r">
              <a:defRPr sz="1100"/>
            </a:lvl1pPr>
          </a:lstStyle>
          <a:p>
            <a:endParaRPr lang="en-US"/>
          </a:p>
        </p:txBody>
      </p:sp>
      <p:sp>
        <p:nvSpPr>
          <p:cNvPr id="29" name="Slide Number Placeholder 28"/>
          <p:cNvSpPr>
            <a:spLocks noGrp="1"/>
          </p:cNvSpPr>
          <p:nvPr>
            <p:ph type="sldNum" sz="quarter" idx="12"/>
          </p:nvPr>
        </p:nvSpPr>
        <p:spPr>
          <a:xfrm>
            <a:off x="8392247" y="5752307"/>
            <a:ext cx="502920" cy="365125"/>
          </a:xfrm>
        </p:spPr>
        <p:txBody>
          <a:bodyPr anchor="ctr"/>
          <a:lstStyle>
            <a:lvl1pPr algn="ctr">
              <a:defRPr sz="1300">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399032"/>
          </a:xfrm>
        </p:spPr>
        <p:txBody>
          <a:bodyPr/>
          <a:lstStyle/>
          <a:p>
            <a:r>
              <a:rPr kumimoji="0" lang="en-US" smtClean="0"/>
              <a:t>Click to edit Master title style</a:t>
            </a:r>
            <a:endParaRPr kumimoji="0" lang="en-US"/>
          </a:p>
        </p:txBody>
      </p:sp>
      <p:sp>
        <p:nvSpPr>
          <p:cNvPr id="3" name="Content Placeholder 2"/>
          <p:cNvSpPr>
            <a:spLocks noGrp="1"/>
          </p:cNvSpPr>
          <p:nvPr>
            <p:ph idx="1"/>
          </p:nvPr>
        </p:nvSpPr>
        <p:spPr>
          <a:xfrm>
            <a:off x="457200" y="1882808"/>
            <a:ext cx="8229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791456" y="6480048"/>
            <a:ext cx="2133600" cy="301752"/>
          </a:xfrm>
        </p:spPr>
        <p:txBody>
          <a:bodyPr/>
          <a:lstStyle/>
          <a:p>
            <a:fld id="{1D8BD707-D9CF-40AE-B4C6-C98DA3205C09}" type="datetimeFigureOut">
              <a:rPr lang="en-US" smtClean="0"/>
              <a:pPr/>
              <a:t>7/10/2025</a:t>
            </a:fld>
            <a:endParaRPr lang="en-US"/>
          </a:p>
        </p:txBody>
      </p:sp>
      <p:sp>
        <p:nvSpPr>
          <p:cNvPr id="5" name="Footer Placeholder 4"/>
          <p:cNvSpPr>
            <a:spLocks noGrp="1"/>
          </p:cNvSpPr>
          <p:nvPr>
            <p:ph type="ftr" sz="quarter" idx="11"/>
          </p:nvPr>
        </p:nvSpPr>
        <p:spPr>
          <a:xfrm>
            <a:off x="457200" y="6480969"/>
            <a:ext cx="4260056" cy="300831"/>
          </a:xfrm>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1"/>
      </p:bgRef>
    </p:bg>
    <p:spTree>
      <p:nvGrpSpPr>
        <p:cNvPr id="1" name=""/>
        <p:cNvGrpSpPr/>
        <p:nvPr/>
      </p:nvGrpSpPr>
      <p:grpSpPr>
        <a:xfrm>
          <a:off x="0" y="0"/>
          <a:ext cx="0" cy="0"/>
          <a:chOff x="0" y="0"/>
          <a:chExt cx="0" cy="0"/>
        </a:xfrm>
      </p:grpSpPr>
      <p:sp>
        <p:nvSpPr>
          <p:cNvPr id="9" name="Right Triangle 8"/>
          <p:cNvSpPr/>
          <p:nvPr/>
        </p:nvSpPr>
        <p:spPr>
          <a:xfrm flipV="1">
            <a:off x="7034" y="7034"/>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marL="0" algn="ctr" defTabSz="914400" rtl="0" eaLnBrk="1" latinLnBrk="0" hangingPunct="1"/>
            <a:endParaRPr kumimoji="0" lang="en-US" sz="1800" kern="1200">
              <a:solidFill>
                <a:schemeClr val="lt1"/>
              </a:solidFill>
              <a:latin typeface="+mn-lt"/>
              <a:ea typeface="+mn-ea"/>
              <a:cs typeface="+mn-cs"/>
            </a:endParaRPr>
          </a:p>
        </p:txBody>
      </p:sp>
      <p:sp>
        <p:nvSpPr>
          <p:cNvPr id="8" name="Isosceles Triangle 7"/>
          <p:cNvSpPr/>
          <p:nvPr/>
        </p:nvSpPr>
        <p:spPr>
          <a:xfrm rot="5400000" flipV="1">
            <a:off x="7554353" y="309490"/>
            <a:ext cx="1892949" cy="1294228"/>
          </a:xfrm>
          <a:prstGeom prst="triangle">
            <a:avLst>
              <a:gd name="adj" fmla="val 51323"/>
            </a:avLst>
          </a:prstGeom>
          <a:gradFill flip="none" rotWithShape="1">
            <a:gsLst>
              <a:gs pos="0">
                <a:schemeClr val="accent1">
                  <a:shade val="30000"/>
                  <a:satMod val="155000"/>
                  <a:alpha val="100000"/>
                </a:schemeClr>
              </a:gs>
              <a:gs pos="60000">
                <a:schemeClr val="accent1">
                  <a:satMod val="160000"/>
                  <a:alpha val="100000"/>
                </a:schemeClr>
              </a:gs>
              <a:gs pos="100000">
                <a:schemeClr val="accent1">
                  <a:tint val="70000"/>
                  <a:satMod val="200000"/>
                  <a:alpha val="100000"/>
                </a:schemeClr>
              </a:gs>
            </a:gsLst>
            <a:lin ang="155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 name="Date Placeholder 3"/>
          <p:cNvSpPr>
            <a:spLocks noGrp="1"/>
          </p:cNvSpPr>
          <p:nvPr>
            <p:ph type="dt" sz="half" idx="10"/>
          </p:nvPr>
        </p:nvSpPr>
        <p:spPr>
          <a:xfrm>
            <a:off x="6955632" y="6477000"/>
            <a:ext cx="2133600" cy="304800"/>
          </a:xfrm>
        </p:spPr>
        <p:txBody>
          <a:bodyPr/>
          <a:lstStyle/>
          <a:p>
            <a:fld id="{1D8BD707-D9CF-40AE-B4C6-C98DA3205C09}" type="datetimeFigureOut">
              <a:rPr lang="en-US" smtClean="0"/>
              <a:pPr/>
              <a:t>7/10/2025</a:t>
            </a:fld>
            <a:endParaRPr lang="en-US"/>
          </a:p>
        </p:txBody>
      </p:sp>
      <p:sp>
        <p:nvSpPr>
          <p:cNvPr id="5" name="Footer Placeholder 4"/>
          <p:cNvSpPr>
            <a:spLocks noGrp="1"/>
          </p:cNvSpPr>
          <p:nvPr>
            <p:ph type="ftr" sz="quarter" idx="11"/>
          </p:nvPr>
        </p:nvSpPr>
        <p:spPr>
          <a:xfrm>
            <a:off x="2619376" y="6480969"/>
            <a:ext cx="4260056" cy="300831"/>
          </a:xfrm>
        </p:spPr>
        <p:txBody>
          <a:bodyPr/>
          <a:lstStyle/>
          <a:p>
            <a:endParaRPr lang="en-US"/>
          </a:p>
        </p:txBody>
      </p:sp>
      <p:sp>
        <p:nvSpPr>
          <p:cNvPr id="6" name="Slide Number Placeholder 5"/>
          <p:cNvSpPr>
            <a:spLocks noGrp="1"/>
          </p:cNvSpPr>
          <p:nvPr>
            <p:ph type="sldNum" sz="quarter" idx="12"/>
          </p:nvPr>
        </p:nvSpPr>
        <p:spPr>
          <a:xfrm>
            <a:off x="8451056" y="809624"/>
            <a:ext cx="502920" cy="300831"/>
          </a:xfrm>
        </p:spPr>
        <p:txBody>
          <a:bodyPr/>
          <a:lstStyle/>
          <a:p>
            <a:fld id="{B6F15528-21DE-4FAA-801E-634DDDAF4B2B}" type="slidenum">
              <a:rPr lang="en-US" smtClean="0"/>
              <a:pPr/>
              <a:t>‹#›</a:t>
            </a:fld>
            <a:endParaRPr lang="en-US"/>
          </a:p>
        </p:txBody>
      </p:sp>
      <p:cxnSp>
        <p:nvCxnSpPr>
          <p:cNvPr id="11" name="Straight Connector 10"/>
          <p:cNvCxnSpPr/>
          <p:nvPr/>
        </p:nvCxnSpPr>
        <p:spPr>
          <a:xfrm rot="10800000">
            <a:off x="6468794" y="9381"/>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V="1">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81000" y="271464"/>
            <a:ext cx="7239000" cy="1362075"/>
          </a:xfrm>
        </p:spPr>
        <p:txBody>
          <a:bodyPr anchor="ctr"/>
          <a:lstStyle>
            <a:lvl1pPr marL="0" algn="l">
              <a:buNone/>
              <a:defRPr sz="3600" b="1"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1633536"/>
            <a:ext cx="3886200" cy="2286000"/>
          </a:xfrm>
        </p:spPr>
        <p:txBody>
          <a:bodyPr anchor="t"/>
          <a:lstStyle>
            <a:lvl1pPr marL="54864" indent="0" algn="l">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lgn="l">
              <a:defRPr/>
            </a:lvl1p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22437"/>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4791456" y="6480969"/>
            <a:ext cx="2133600" cy="301752"/>
          </a:xfrm>
        </p:spPr>
        <p:txBody>
          <a:bodyPr/>
          <a:lstStyle/>
          <a:p>
            <a:fld id="{1D8BD707-D9CF-40AE-B4C6-C98DA3205C09}" type="datetimeFigureOut">
              <a:rPr lang="en-US" smtClean="0"/>
              <a:pPr/>
              <a:t>7/10/2025</a:t>
            </a:fld>
            <a:endParaRPr lang="en-US"/>
          </a:p>
        </p:txBody>
      </p:sp>
      <p:sp>
        <p:nvSpPr>
          <p:cNvPr id="6" name="Footer Placeholder 5"/>
          <p:cNvSpPr>
            <a:spLocks noGrp="1"/>
          </p:cNvSpPr>
          <p:nvPr>
            <p:ph type="ftr" sz="quarter" idx="11"/>
          </p:nvPr>
        </p:nvSpPr>
        <p:spPr>
          <a:xfrm>
            <a:off x="457200" y="6480969"/>
            <a:ext cx="4260056" cy="301752"/>
          </a:xfrm>
        </p:spPr>
        <p:txBody>
          <a:bodyPr/>
          <a:lstStyle/>
          <a:p>
            <a:endParaRPr lang="en-US"/>
          </a:p>
        </p:txBody>
      </p:sp>
      <p:sp>
        <p:nvSpPr>
          <p:cNvPr id="7" name="Slide Number Placeholder 6"/>
          <p:cNvSpPr>
            <a:spLocks noGrp="1"/>
          </p:cNvSpPr>
          <p:nvPr>
            <p:ph type="sldNum" sz="quarter" idx="12"/>
          </p:nvPr>
        </p:nvSpPr>
        <p:spPr>
          <a:xfrm>
            <a:off x="7589520" y="6480969"/>
            <a:ext cx="502920" cy="301752"/>
          </a:xfr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48198" y="290732"/>
            <a:ext cx="1066800" cy="6153912"/>
          </a:xfrm>
        </p:spPr>
        <p:txBody>
          <a:bodyPr vert="vert270" anchor="b"/>
          <a:lstStyle>
            <a:lvl1pPr marL="0" algn="ctr">
              <a:defRPr sz="3300" b="1">
                <a:ln w="6350">
                  <a:solidFill>
                    <a:schemeClr val="tx1"/>
                  </a:solidFill>
                </a:ln>
                <a:solidFill>
                  <a:schemeClr val="tx1"/>
                </a:solidFill>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365006" y="290732"/>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1365006" y="3427124"/>
            <a:ext cx="581024" cy="3017520"/>
          </a:xfrm>
          <a:solidFill>
            <a:schemeClr val="bg1"/>
          </a:solidFill>
          <a:ln w="12700">
            <a:noFill/>
          </a:ln>
        </p:spPr>
        <p:txBody>
          <a:bodyPr vert="vert270" anchor="ctr"/>
          <a:lstStyle>
            <a:lvl1pPr marL="0" indent="0" algn="ctr">
              <a:buNone/>
              <a:defRPr sz="1600" b="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2022230" y="290732"/>
            <a:ext cx="6858000" cy="3017520"/>
          </a:xfrm>
        </p:spPr>
        <p:txBody>
          <a:bodyPr/>
          <a:lstStyle>
            <a:lvl1pPr algn="l">
              <a:defRPr sz="2400"/>
            </a:lvl1pPr>
            <a:lvl2pPr algn="l">
              <a:defRPr sz="2000"/>
            </a:lvl2pPr>
            <a:lvl3pPr algn="l">
              <a:defRPr sz="1800"/>
            </a:lvl3pPr>
            <a:lvl4pPr algn="l">
              <a:defRPr sz="1600"/>
            </a:lvl4pPr>
            <a:lvl5pPr algn="l">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2022230" y="3427124"/>
            <a:ext cx="6858000" cy="3017520"/>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a:xfrm>
            <a:off x="4791456" y="6480969"/>
            <a:ext cx="2130552" cy="301752"/>
          </a:xfrm>
        </p:spPr>
        <p:txBody>
          <a:bodyPr/>
          <a:lstStyle/>
          <a:p>
            <a:fld id="{1D8BD707-D9CF-40AE-B4C6-C98DA3205C09}" type="datetimeFigureOut">
              <a:rPr lang="en-US" smtClean="0"/>
              <a:pPr/>
              <a:t>7/10/2025</a:t>
            </a:fld>
            <a:endParaRPr lang="en-US"/>
          </a:p>
        </p:txBody>
      </p:sp>
      <p:sp>
        <p:nvSpPr>
          <p:cNvPr id="8" name="Footer Placeholder 7"/>
          <p:cNvSpPr>
            <a:spLocks noGrp="1"/>
          </p:cNvSpPr>
          <p:nvPr>
            <p:ph type="ftr" sz="quarter" idx="11"/>
          </p:nvPr>
        </p:nvSpPr>
        <p:spPr>
          <a:xfrm>
            <a:off x="457200" y="6480969"/>
            <a:ext cx="4261104" cy="301752"/>
          </a:xfrm>
        </p:spPr>
        <p:txBody>
          <a:bodyPr/>
          <a:lstStyle/>
          <a:p>
            <a:endParaRPr lang="en-US"/>
          </a:p>
        </p:txBody>
      </p:sp>
      <p:sp>
        <p:nvSpPr>
          <p:cNvPr id="9" name="Slide Number Placeholder 8"/>
          <p:cNvSpPr>
            <a:spLocks noGrp="1"/>
          </p:cNvSpPr>
          <p:nvPr>
            <p:ph type="sldNum" sz="quarter" idx="12"/>
          </p:nvPr>
        </p:nvSpPr>
        <p:spPr>
          <a:xfrm>
            <a:off x="7589520" y="6483096"/>
            <a:ext cx="502920" cy="301752"/>
          </a:xfrm>
        </p:spPr>
        <p:txBody>
          <a:bodyPr/>
          <a:lstStyle>
            <a:lvl1pPr algn="ctr">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7/10/2025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791456" y="6480969"/>
            <a:ext cx="2133600" cy="301752"/>
          </a:xfrm>
        </p:spPr>
        <p:txBody>
          <a:bodyPr/>
          <a:lstStyle/>
          <a:p>
            <a:fld id="{1D8BD707-D9CF-40AE-B4C6-C98DA3205C09}" type="datetimeFigureOut">
              <a:rPr lang="en-US" smtClean="0"/>
              <a:pPr/>
              <a:t>7/10/2025</a:t>
            </a:fld>
            <a:endParaRPr lang="en-US"/>
          </a:p>
        </p:txBody>
      </p:sp>
      <p:sp>
        <p:nvSpPr>
          <p:cNvPr id="3" name="Footer Placeholder 2"/>
          <p:cNvSpPr>
            <a:spLocks noGrp="1"/>
          </p:cNvSpPr>
          <p:nvPr>
            <p:ph type="ftr" sz="quarter" idx="11"/>
          </p:nvPr>
        </p:nvSpPr>
        <p:spPr>
          <a:xfrm>
            <a:off x="457200" y="6481890"/>
            <a:ext cx="4260056" cy="300831"/>
          </a:xfrm>
        </p:spPr>
        <p:txBody>
          <a:bodyPr/>
          <a:lstStyle/>
          <a:p>
            <a:endParaRPr lang="en-US"/>
          </a:p>
        </p:txBody>
      </p:sp>
      <p:sp>
        <p:nvSpPr>
          <p:cNvPr id="4" name="Slide Number Placeholder 3"/>
          <p:cNvSpPr>
            <a:spLocks noGrp="1"/>
          </p:cNvSpPr>
          <p:nvPr>
            <p:ph type="sldNum" sz="quarter" idx="12"/>
          </p:nvPr>
        </p:nvSpPr>
        <p:spPr>
          <a:xfrm>
            <a:off x="7589520" y="6480969"/>
            <a:ext cx="502920" cy="301752"/>
          </a:xfr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367664"/>
            <a:ext cx="914400" cy="5943600"/>
          </a:xfrm>
        </p:spPr>
        <p:txBody>
          <a:bodyPr vert="vert270" anchor="b"/>
          <a:lstStyle>
            <a:lvl1pPr marL="0" marR="18288" algn="r">
              <a:spcBef>
                <a:spcPts val="0"/>
              </a:spcBef>
              <a:buNone/>
              <a:defRPr sz="2900" b="0" cap="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135856" y="367664"/>
            <a:ext cx="2438400" cy="5943600"/>
          </a:xfrm>
        </p:spPr>
        <p:txBody>
          <a:bodyPr anchor="t"/>
          <a:lstStyle>
            <a:lvl1pPr marL="0" indent="0">
              <a:spcBef>
                <a:spcPts val="0"/>
              </a:spcBef>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651250" y="320040"/>
            <a:ext cx="5276088" cy="5989320"/>
          </a:xfrm>
        </p:spPr>
        <p:txBody>
          <a:bodyPr/>
          <a:lstStyle>
            <a:lvl1pPr>
              <a:spcBef>
                <a:spcPts val="0"/>
              </a:spcBef>
              <a:defRPr sz="3000"/>
            </a:lvl1pPr>
            <a:lvl2pPr>
              <a:defRPr sz="26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278976" y="6556248"/>
            <a:ext cx="2133600" cy="301752"/>
          </a:xfrm>
        </p:spPr>
        <p:txBody>
          <a:bodyPr/>
          <a:lstStyle>
            <a:lvl1pPr>
              <a:defRPr sz="900"/>
            </a:lvl1pPr>
          </a:lstStyle>
          <a:p>
            <a:fld id="{1D8BD707-D9CF-40AE-B4C6-C98DA3205C09}" type="datetimeFigureOut">
              <a:rPr lang="en-US" smtClean="0"/>
              <a:pPr/>
              <a:t>7/10/2025</a:t>
            </a:fld>
            <a:endParaRPr lang="en-US"/>
          </a:p>
        </p:txBody>
      </p:sp>
      <p:sp>
        <p:nvSpPr>
          <p:cNvPr id="6" name="Footer Placeholder 5"/>
          <p:cNvSpPr>
            <a:spLocks noGrp="1"/>
          </p:cNvSpPr>
          <p:nvPr>
            <p:ph type="ftr" sz="quarter" idx="11"/>
          </p:nvPr>
        </p:nvSpPr>
        <p:spPr>
          <a:xfrm>
            <a:off x="1135856" y="6556248"/>
            <a:ext cx="5143120" cy="301752"/>
          </a:xfrm>
        </p:spPr>
        <p:txBody>
          <a:bodyPr/>
          <a:lstStyle>
            <a:lvl1pPr>
              <a:defRPr sz="900"/>
            </a:lvl1pPr>
          </a:lstStyle>
          <a:p>
            <a:endParaRPr lang="en-US"/>
          </a:p>
        </p:txBody>
      </p:sp>
      <p:sp>
        <p:nvSpPr>
          <p:cNvPr id="7" name="Slide Number Placeholder 6"/>
          <p:cNvSpPr>
            <a:spLocks noGrp="1"/>
          </p:cNvSpPr>
          <p:nvPr>
            <p:ph type="sldNum" sz="quarter" idx="12"/>
          </p:nvPr>
        </p:nvSpPr>
        <p:spPr>
          <a:xfrm>
            <a:off x="8410576" y="6556248"/>
            <a:ext cx="502920" cy="301752"/>
          </a:xfrm>
        </p:spPr>
        <p:txBody>
          <a:bodyPr/>
          <a:lstStyle>
            <a:lvl1pPr>
              <a:defRPr sz="900"/>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19456" y="150896"/>
            <a:ext cx="914400" cy="6400800"/>
          </a:xfrm>
        </p:spPr>
        <p:txBody>
          <a:bodyPr vert="vert270" anchor="b"/>
          <a:lstStyle>
            <a:lvl1pPr marL="0" algn="l">
              <a:buNone/>
              <a:defRPr sz="3000" b="0" cap="all" baseline="0"/>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138237" y="373966"/>
            <a:ext cx="7333488" cy="5486400"/>
          </a:xfrm>
          <a:solidFill>
            <a:schemeClr val="bg2">
              <a:shade val="50000"/>
            </a:schemeClr>
          </a:solidFill>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143000" y="5867400"/>
            <a:ext cx="7333488" cy="685800"/>
          </a:xfrm>
          <a:solidFill>
            <a:schemeClr val="accent1">
              <a:alpha val="15000"/>
            </a:schemeClr>
          </a:solidFill>
          <a:ln>
            <a:solidFill>
              <a:schemeClr val="accent1"/>
            </a:solidFill>
            <a:miter lim="800000"/>
          </a:ln>
        </p:spPr>
        <p:txBody>
          <a:bodyPr/>
          <a:lstStyle>
            <a:lvl1pPr marL="0" indent="0">
              <a:spcBef>
                <a:spcPts val="0"/>
              </a:spcBef>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6108192" y="6556248"/>
            <a:ext cx="2103120" cy="301752"/>
          </a:xfrm>
        </p:spPr>
        <p:txBody>
          <a:bodyPr/>
          <a:lstStyle>
            <a:lvl1pPr>
              <a:defRPr sz="900"/>
            </a:lvl1pPr>
          </a:lstStyle>
          <a:p>
            <a:fld id="{1D8BD707-D9CF-40AE-B4C6-C98DA3205C09}" type="datetimeFigureOut">
              <a:rPr lang="en-US" smtClean="0"/>
              <a:pPr/>
              <a:t>7/10/2025</a:t>
            </a:fld>
            <a:endParaRPr lang="en-US"/>
          </a:p>
        </p:txBody>
      </p:sp>
      <p:sp>
        <p:nvSpPr>
          <p:cNvPr id="6" name="Footer Placeholder 5"/>
          <p:cNvSpPr>
            <a:spLocks noGrp="1"/>
          </p:cNvSpPr>
          <p:nvPr>
            <p:ph type="ftr" sz="quarter" idx="11"/>
          </p:nvPr>
        </p:nvSpPr>
        <p:spPr>
          <a:xfrm>
            <a:off x="1170432" y="6557169"/>
            <a:ext cx="4948072" cy="301752"/>
          </a:xfrm>
        </p:spPr>
        <p:txBody>
          <a:bodyPr/>
          <a:lstStyle>
            <a:lvl1pPr>
              <a:defRPr sz="900"/>
            </a:lvl1pPr>
          </a:lstStyle>
          <a:p>
            <a:endParaRPr lang="en-US"/>
          </a:p>
        </p:txBody>
      </p:sp>
      <p:sp>
        <p:nvSpPr>
          <p:cNvPr id="7" name="Slide Number Placeholder 6"/>
          <p:cNvSpPr>
            <a:spLocks noGrp="1"/>
          </p:cNvSpPr>
          <p:nvPr>
            <p:ph type="sldNum" sz="quarter" idx="12"/>
          </p:nvPr>
        </p:nvSpPr>
        <p:spPr>
          <a:xfrm>
            <a:off x="8217192" y="6556248"/>
            <a:ext cx="365760" cy="301752"/>
          </a:xfrm>
        </p:spPr>
        <p:txBody>
          <a:bodyPr/>
          <a:lstStyle>
            <a:lvl1pPr algn="ctr">
              <a:defRPr sz="900"/>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381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81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1" name="Right Triangle 10"/>
          <p:cNvSpPr/>
          <p:nvPr/>
        </p:nvSpPr>
        <p:spPr>
          <a:xfrm>
            <a:off x="7034" y="14068"/>
            <a:ext cx="9129932" cy="6836899"/>
          </a:xfrm>
          <a:prstGeom prst="rtTriangle">
            <a:avLst/>
          </a:prstGeom>
          <a:gradFill flip="none" rotWithShape="1">
            <a:gsLst>
              <a:gs pos="0">
                <a:schemeClr val="tx2">
                  <a:alpha val="10000"/>
                </a:schemeClr>
              </a:gs>
              <a:gs pos="70000">
                <a:schemeClr val="tx2">
                  <a:alpha val="8000"/>
                </a:schemeClr>
              </a:gs>
              <a:gs pos="100000">
                <a:schemeClr val="tx2">
                  <a:alpha val="1000"/>
                </a:schemeClr>
              </a:gs>
            </a:gsLst>
            <a:lin ang="8000000" scaled="1"/>
            <a:tileRect/>
          </a:gra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cxnSp>
        <p:nvCxnSpPr>
          <p:cNvPr id="8" name="Straight Connector 7"/>
          <p:cNvCxnSpPr/>
          <p:nvPr/>
        </p:nvCxnSpPr>
        <p:spPr>
          <a:xfrm>
            <a:off x="0" y="7034"/>
            <a:ext cx="9136966" cy="6843933"/>
          </a:xfrm>
          <a:prstGeom prst="line">
            <a:avLst/>
          </a:prstGeom>
          <a:noFill/>
          <a:ln w="5000" cap="rnd" cmpd="sng" algn="ctr">
            <a:solidFill>
              <a:schemeClr val="bg2">
                <a:tint val="55000"/>
                <a:satMod val="200000"/>
                <a:alpha val="35000"/>
              </a:schemeClr>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rot="10800000" flipV="1">
            <a:off x="6468794" y="4948410"/>
            <a:ext cx="2672861" cy="1900210"/>
          </a:xfrm>
          <a:prstGeom prst="line">
            <a:avLst/>
          </a:prstGeom>
          <a:noFill/>
          <a:ln w="6000" cap="rnd" cmpd="sng" algn="ctr">
            <a:solidFill>
              <a:schemeClr val="bg2">
                <a:tint val="50000"/>
                <a:satMod val="200000"/>
                <a:alpha val="4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22" name="Title Placeholder 21"/>
          <p:cNvSpPr>
            <a:spLocks noGrp="1"/>
          </p:cNvSpPr>
          <p:nvPr>
            <p:ph type="title"/>
          </p:nvPr>
        </p:nvSpPr>
        <p:spPr>
          <a:xfrm>
            <a:off x="457200" y="267494"/>
            <a:ext cx="8229600" cy="1399032"/>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882808"/>
            <a:ext cx="8229600" cy="4572000"/>
          </a:xfrm>
          <a:prstGeom prst="rect">
            <a:avLst/>
          </a:prstGeom>
        </p:spPr>
        <p:txBody>
          <a:bodyPr vert="horz" anchor="t">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791456" y="6480969"/>
            <a:ext cx="2133600" cy="301752"/>
          </a:xfrm>
          <a:prstGeom prst="rect">
            <a:avLst/>
          </a:prstGeom>
        </p:spPr>
        <p:txBody>
          <a:bodyPr vert="horz" anchor="b"/>
          <a:lstStyle>
            <a:lvl1pPr algn="l" eaLnBrk="1" latinLnBrk="0" hangingPunct="1">
              <a:defRPr kumimoji="0" sz="1000" b="0">
                <a:solidFill>
                  <a:schemeClr val="tx1"/>
                </a:solidFill>
              </a:defRPr>
            </a:lvl1pPr>
          </a:lstStyle>
          <a:p>
            <a:fld id="{1D8BD707-D9CF-40AE-B4C6-C98DA3205C09}" type="datetimeFigureOut">
              <a:rPr lang="en-US" smtClean="0"/>
              <a:pPr/>
              <a:t>7/10/2025</a:t>
            </a:fld>
            <a:endParaRPr lang="en-US"/>
          </a:p>
        </p:txBody>
      </p:sp>
      <p:sp>
        <p:nvSpPr>
          <p:cNvPr id="3" name="Footer Placeholder 2"/>
          <p:cNvSpPr>
            <a:spLocks noGrp="1"/>
          </p:cNvSpPr>
          <p:nvPr>
            <p:ph type="ftr" sz="quarter" idx="3"/>
          </p:nvPr>
        </p:nvSpPr>
        <p:spPr>
          <a:xfrm>
            <a:off x="457200" y="6481890"/>
            <a:ext cx="4260056" cy="300831"/>
          </a:xfrm>
          <a:prstGeom prst="rect">
            <a:avLst/>
          </a:prstGeom>
        </p:spPr>
        <p:txBody>
          <a:bodyPr vert="horz" anchor="b"/>
          <a:lstStyle>
            <a:lvl1pPr algn="r" eaLnBrk="1" latinLnBrk="0" hangingPunct="1">
              <a:defRPr kumimoji="0" sz="1000">
                <a:solidFill>
                  <a:schemeClr val="tx1"/>
                </a:solidFill>
              </a:defRPr>
            </a:lvl1pPr>
          </a:lstStyle>
          <a:p>
            <a:endParaRPr lang="en-US"/>
          </a:p>
        </p:txBody>
      </p:sp>
      <p:sp>
        <p:nvSpPr>
          <p:cNvPr id="23" name="Slide Number Placeholder 22"/>
          <p:cNvSpPr>
            <a:spLocks noGrp="1"/>
          </p:cNvSpPr>
          <p:nvPr>
            <p:ph type="sldNum" sz="quarter" idx="4"/>
          </p:nvPr>
        </p:nvSpPr>
        <p:spPr>
          <a:xfrm>
            <a:off x="7589520" y="6480969"/>
            <a:ext cx="502920" cy="301752"/>
          </a:xfrm>
          <a:prstGeom prst="rect">
            <a:avLst/>
          </a:prstGeom>
        </p:spPr>
        <p:txBody>
          <a:bodyPr vert="horz" anchor="b"/>
          <a:lstStyle>
            <a:lvl1pPr algn="ctr" eaLnBrk="1" latinLnBrk="0" hangingPunct="1">
              <a:defRPr kumimoji="0" sz="1200">
                <a:solidFill>
                  <a:schemeClr val="tx1"/>
                </a:solidFill>
              </a:defRPr>
            </a:lvl1pPr>
          </a:lstStyle>
          <a:p>
            <a:fld id="{B6F15528-21DE-4FAA-801E-634DDDAF4B2B}" type="slidenum">
              <a:rPr lang="en-US" smtClean="0"/>
              <a:pPr/>
              <a:t>‹#›</a:t>
            </a:fld>
            <a:endParaRPr lang="en-US"/>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marL="484632" algn="l" rtl="0" eaLnBrk="1" latinLnBrk="0" hangingPunct="1">
        <a:spcBef>
          <a:spcPct val="0"/>
        </a:spcBef>
        <a:buNone/>
        <a:defRPr kumimoji="0" sz="4200" kern="120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latin typeface="+mj-lt"/>
          <a:ea typeface="+mj-ea"/>
          <a:cs typeface="+mj-cs"/>
        </a:defRPr>
      </a:lvl1pPr>
    </p:titleStyle>
    <p:bodyStyle>
      <a:lvl1pPr marL="448056"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822960" indent="-285750" algn="l" rtl="0" eaLnBrk="1" latinLnBrk="0" hangingPunct="1">
        <a:spcBef>
          <a:spcPct val="20000"/>
        </a:spcBef>
        <a:buClr>
          <a:schemeClr val="accent1"/>
        </a:buClr>
        <a:buSzPct val="95000"/>
        <a:buFont typeface="Verdana"/>
        <a:buChar char="›"/>
        <a:defRPr kumimoji="0" sz="2600" kern="1200">
          <a:solidFill>
            <a:schemeClr val="tx1"/>
          </a:solidFill>
          <a:latin typeface="+mn-lt"/>
          <a:ea typeface="+mn-ea"/>
          <a:cs typeface="+mn-cs"/>
        </a:defRPr>
      </a:lvl2pPr>
      <a:lvl3pPr marL="1106424" indent="-228600" algn="l" rtl="0" eaLnBrk="1" latinLnBrk="0" hangingPunct="1">
        <a:spcBef>
          <a:spcPct val="20000"/>
        </a:spcBef>
        <a:buClr>
          <a:schemeClr val="accent1"/>
        </a:buClr>
        <a:buFont typeface="Wingdings 2"/>
        <a:buChar char=""/>
        <a:defRPr kumimoji="0" sz="2400" kern="1200">
          <a:solidFill>
            <a:schemeClr val="tx1"/>
          </a:solidFill>
          <a:latin typeface="+mn-lt"/>
          <a:ea typeface="+mn-ea"/>
          <a:cs typeface="+mn-cs"/>
        </a:defRPr>
      </a:lvl3pPr>
      <a:lvl4pPr marL="1371600" indent="-210312" algn="l" rtl="0" eaLnBrk="1" latinLnBrk="0" hangingPunct="1">
        <a:spcBef>
          <a:spcPct val="20000"/>
        </a:spcBef>
        <a:buClr>
          <a:schemeClr val="accent1"/>
        </a:buClr>
        <a:buFont typeface="Wingdings 2"/>
        <a:buChar char=""/>
        <a:defRPr kumimoji="0" sz="2000" kern="1200">
          <a:solidFill>
            <a:schemeClr val="tx1"/>
          </a:solidFill>
          <a:latin typeface="+mn-lt"/>
          <a:ea typeface="+mn-ea"/>
          <a:cs typeface="+mn-cs"/>
        </a:defRPr>
      </a:lvl4pPr>
      <a:lvl5pPr marL="1600200" indent="-210312" algn="l" rtl="0" eaLnBrk="1" latinLnBrk="0" hangingPunct="1">
        <a:spcBef>
          <a:spcPct val="20000"/>
        </a:spcBef>
        <a:buClr>
          <a:schemeClr val="accent1">
            <a:tint val="75000"/>
          </a:schemeClr>
        </a:buClr>
        <a:buFont typeface="Wingdings 2"/>
        <a:buChar char=""/>
        <a:defRPr kumimoji="0" sz="1900" kern="1200">
          <a:solidFill>
            <a:schemeClr val="tx1"/>
          </a:solidFill>
          <a:latin typeface="+mn-lt"/>
          <a:ea typeface="+mn-ea"/>
          <a:cs typeface="+mn-cs"/>
        </a:defRPr>
      </a:lvl5pPr>
      <a:lvl6pPr marL="1828800" indent="-210312" algn="l" rtl="0" eaLnBrk="1" latinLnBrk="0" hangingPunct="1">
        <a:spcBef>
          <a:spcPct val="20000"/>
        </a:spcBef>
        <a:buClr>
          <a:schemeClr val="accent1">
            <a:tint val="75000"/>
          </a:schemeClr>
        </a:buClr>
        <a:buFont typeface="Wingdings 2"/>
        <a:buChar char=""/>
        <a:defRPr kumimoji="0" sz="1800" kern="1200">
          <a:solidFill>
            <a:schemeClr val="tx1"/>
          </a:solidFill>
          <a:latin typeface="+mn-lt"/>
          <a:ea typeface="+mn-ea"/>
          <a:cs typeface="+mn-cs"/>
        </a:defRPr>
      </a:lvl6pPr>
      <a:lvl7pPr marL="2084832" indent="-210312"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7pPr>
      <a:lvl8pPr marL="22860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8pPr>
      <a:lvl9pPr marL="2514600" indent="-182880" algn="l" rtl="0" eaLnBrk="1" latinLnBrk="0" hangingPunct="1">
        <a:spcBef>
          <a:spcPct val="20000"/>
        </a:spcBef>
        <a:buClr>
          <a:schemeClr val="accent1">
            <a:tint val="75000"/>
          </a:schemeClr>
        </a:buClr>
        <a:buFont typeface="Wingdings 2"/>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0"/>
            <a:ext cx="8062912" cy="2438400"/>
          </a:xfrm>
        </p:spPr>
        <p:txBody>
          <a:bodyPr>
            <a:noAutofit/>
          </a:bodyPr>
          <a:lstStyle/>
          <a:p>
            <a:pPr algn="ctr"/>
            <a:r>
              <a:rPr lang="en-US" sz="5400" b="1" dirty="0" smtClean="0"/>
              <a:t/>
            </a:r>
            <a:br>
              <a:rPr lang="en-US" sz="5400" b="1" dirty="0" smtClean="0"/>
            </a:br>
            <a:r>
              <a:rPr lang="en-US" sz="5400" b="1" dirty="0" smtClean="0"/>
              <a:t/>
            </a:r>
            <a:br>
              <a:rPr lang="en-US" sz="5400" b="1" dirty="0" smtClean="0"/>
            </a:br>
            <a:r>
              <a:rPr lang="en-US" sz="5400" b="1" dirty="0" smtClean="0"/>
              <a:t/>
            </a:r>
            <a:br>
              <a:rPr lang="en-US" sz="5400" b="1" dirty="0" smtClean="0"/>
            </a:br>
            <a:r>
              <a:rPr lang="en-US" sz="5400" b="1" dirty="0" smtClean="0"/>
              <a:t/>
            </a:r>
            <a:br>
              <a:rPr lang="en-US" sz="5400" b="1" dirty="0" smtClean="0"/>
            </a:br>
            <a:r>
              <a:rPr lang="en-US" sz="5400" b="1" dirty="0" smtClean="0">
                <a:solidFill>
                  <a:schemeClr val="accent6">
                    <a:lumMod val="40000"/>
                    <a:lumOff val="60000"/>
                  </a:schemeClr>
                </a:solidFill>
              </a:rPr>
              <a:t>Software Quality </a:t>
            </a:r>
            <a:br>
              <a:rPr lang="en-US" sz="5400" b="1" dirty="0" smtClean="0">
                <a:solidFill>
                  <a:schemeClr val="accent6">
                    <a:lumMod val="40000"/>
                    <a:lumOff val="60000"/>
                  </a:schemeClr>
                </a:solidFill>
              </a:rPr>
            </a:br>
            <a:r>
              <a:rPr lang="en-US" sz="5400" b="1" dirty="0" smtClean="0">
                <a:solidFill>
                  <a:schemeClr val="accent6">
                    <a:lumMod val="40000"/>
                    <a:lumOff val="60000"/>
                  </a:schemeClr>
                </a:solidFill>
              </a:rPr>
              <a:t>and</a:t>
            </a:r>
            <a:br>
              <a:rPr lang="en-US" sz="5400" b="1" dirty="0" smtClean="0">
                <a:solidFill>
                  <a:schemeClr val="accent6">
                    <a:lumMod val="40000"/>
                    <a:lumOff val="60000"/>
                  </a:schemeClr>
                </a:solidFill>
              </a:rPr>
            </a:br>
            <a:r>
              <a:rPr lang="en-US" sz="5400" b="1" dirty="0" smtClean="0">
                <a:solidFill>
                  <a:schemeClr val="accent6">
                    <a:lumMod val="40000"/>
                    <a:lumOff val="60000"/>
                  </a:schemeClr>
                </a:solidFill>
              </a:rPr>
              <a:t>Testing</a:t>
            </a:r>
            <a:endParaRPr lang="en-US" sz="5400" b="1" dirty="0">
              <a:solidFill>
                <a:schemeClr val="accent6">
                  <a:lumMod val="40000"/>
                  <a:lumOff val="6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chemeClr val="accent1"/>
                </a:solidFill>
              </a:rPr>
              <a:t>What is Software?</a:t>
            </a:r>
            <a:endParaRPr lang="en-US" dirty="0">
              <a:solidFill>
                <a:schemeClr val="accent1"/>
              </a:solidFill>
            </a:endParaRPr>
          </a:p>
        </p:txBody>
      </p:sp>
      <p:sp>
        <p:nvSpPr>
          <p:cNvPr id="3" name="Content Placeholder 2"/>
          <p:cNvSpPr>
            <a:spLocks noGrp="1"/>
          </p:cNvSpPr>
          <p:nvPr>
            <p:ph idx="1"/>
          </p:nvPr>
        </p:nvSpPr>
        <p:spPr/>
        <p:txBody>
          <a:bodyPr/>
          <a:lstStyle/>
          <a:p>
            <a:r>
              <a:rPr lang="en-US" dirty="0" smtClean="0"/>
              <a:t>Software is: </a:t>
            </a:r>
          </a:p>
          <a:p>
            <a:pPr>
              <a:buNone/>
            </a:pPr>
            <a:r>
              <a:rPr lang="en-US" dirty="0" smtClean="0"/>
              <a:t>Computer programs (Code) </a:t>
            </a:r>
          </a:p>
          <a:p>
            <a:pPr>
              <a:buNone/>
            </a:pPr>
            <a:r>
              <a:rPr lang="en-US" dirty="0" smtClean="0"/>
              <a:t>Procedures </a:t>
            </a:r>
          </a:p>
          <a:p>
            <a:pPr>
              <a:buNone/>
            </a:pPr>
            <a:r>
              <a:rPr lang="en-US" dirty="0" smtClean="0"/>
              <a:t>Documentation and</a:t>
            </a:r>
          </a:p>
          <a:p>
            <a:pPr>
              <a:buNone/>
            </a:pPr>
            <a:r>
              <a:rPr lang="en-US" dirty="0" smtClean="0"/>
              <a:t>Data necessary for operating the software system</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Software Quality</a:t>
            </a:r>
            <a:endParaRPr lang="en-US" dirty="0"/>
          </a:p>
        </p:txBody>
      </p:sp>
      <p:sp>
        <p:nvSpPr>
          <p:cNvPr id="3" name="Content Placeholder 2"/>
          <p:cNvSpPr>
            <a:spLocks noGrp="1"/>
          </p:cNvSpPr>
          <p:nvPr>
            <p:ph idx="1"/>
          </p:nvPr>
        </p:nvSpPr>
        <p:spPr/>
        <p:txBody>
          <a:bodyPr/>
          <a:lstStyle/>
          <a:p>
            <a:r>
              <a:rPr lang="en-US" dirty="0" smtClean="0"/>
              <a:t>SQ- IEEE definition </a:t>
            </a:r>
          </a:p>
          <a:p>
            <a:pPr>
              <a:buNone/>
            </a:pPr>
            <a:r>
              <a:rPr lang="en-US" dirty="0" smtClean="0"/>
              <a:t>1) The degree to which a system, component, or process meets specified requirements</a:t>
            </a:r>
          </a:p>
          <a:p>
            <a:pPr>
              <a:buNone/>
            </a:pPr>
            <a:r>
              <a:rPr lang="en-US" dirty="0" smtClean="0"/>
              <a:t> </a:t>
            </a:r>
          </a:p>
          <a:p>
            <a:pPr>
              <a:buNone/>
            </a:pPr>
            <a:r>
              <a:rPr lang="en-US" dirty="0" smtClean="0"/>
              <a:t>2) The degree to which a system, component, or process meets customer or user needs or expectations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SQ Pressman’s Definition</a:t>
            </a:r>
            <a:endParaRPr lang="en-US" dirty="0"/>
          </a:p>
        </p:txBody>
      </p:sp>
      <p:sp>
        <p:nvSpPr>
          <p:cNvPr id="3" name="Content Placeholder 2"/>
          <p:cNvSpPr>
            <a:spLocks noGrp="1"/>
          </p:cNvSpPr>
          <p:nvPr>
            <p:ph idx="1"/>
          </p:nvPr>
        </p:nvSpPr>
        <p:spPr/>
        <p:txBody>
          <a:bodyPr/>
          <a:lstStyle/>
          <a:p>
            <a:r>
              <a:rPr lang="en-US" dirty="0" smtClean="0"/>
              <a:t>SQ is defined as </a:t>
            </a:r>
          </a:p>
          <a:p>
            <a:pPr>
              <a:buNone/>
            </a:pPr>
            <a:r>
              <a:rPr lang="en-US" dirty="0" smtClean="0"/>
              <a:t> Conformance to explicitly stated functional and performance requirements, explicitly documented development standards, and implicit characteristics that are expected of all professionally developed software</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Software Quality Assurance</a:t>
            </a:r>
            <a:endParaRPr lang="en-US" dirty="0"/>
          </a:p>
        </p:txBody>
      </p:sp>
      <p:sp>
        <p:nvSpPr>
          <p:cNvPr id="3" name="Content Placeholder 2"/>
          <p:cNvSpPr>
            <a:spLocks noGrp="1"/>
          </p:cNvSpPr>
          <p:nvPr>
            <p:ph idx="1"/>
          </p:nvPr>
        </p:nvSpPr>
        <p:spPr/>
        <p:txBody>
          <a:bodyPr>
            <a:normAutofit lnSpcReduction="10000"/>
          </a:bodyPr>
          <a:lstStyle/>
          <a:p>
            <a:r>
              <a:rPr lang="en-US" dirty="0" smtClean="0"/>
              <a:t>IEEE definition </a:t>
            </a:r>
          </a:p>
          <a:p>
            <a:pPr>
              <a:buNone/>
            </a:pPr>
            <a:r>
              <a:rPr lang="en-US" dirty="0" smtClean="0"/>
              <a:t> Quality assurance is A </a:t>
            </a:r>
          </a:p>
          <a:p>
            <a:pPr>
              <a:buNone/>
            </a:pPr>
            <a:r>
              <a:rPr lang="en-US" dirty="0" smtClean="0"/>
              <a:t>1.planned and systematic pattern of all actions necessary to provide adequate confidence that an item or product conforms to established technical requirements </a:t>
            </a:r>
          </a:p>
          <a:p>
            <a:pPr>
              <a:buNone/>
            </a:pPr>
            <a:r>
              <a:rPr lang="en-US" dirty="0" smtClean="0"/>
              <a:t>2. A set of activities designed to evaluate the process by which the products are developed or manufactured</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Software Quality Assurance</a:t>
            </a:r>
            <a:endParaRPr lang="en-US" dirty="0"/>
          </a:p>
        </p:txBody>
      </p:sp>
      <p:sp>
        <p:nvSpPr>
          <p:cNvPr id="3" name="Content Placeholder 2"/>
          <p:cNvSpPr>
            <a:spLocks noGrp="1"/>
          </p:cNvSpPr>
          <p:nvPr>
            <p:ph idx="1"/>
          </p:nvPr>
        </p:nvSpPr>
        <p:spPr>
          <a:xfrm>
            <a:off x="457200" y="1666526"/>
            <a:ext cx="8229600" cy="4788282"/>
          </a:xfrm>
        </p:spPr>
        <p:txBody>
          <a:bodyPr>
            <a:normAutofit lnSpcReduction="10000"/>
          </a:bodyPr>
          <a:lstStyle/>
          <a:p>
            <a:r>
              <a:rPr lang="en-US" dirty="0" smtClean="0"/>
              <a:t>SQA – expanded definition </a:t>
            </a:r>
          </a:p>
          <a:p>
            <a:pPr>
              <a:buNone/>
            </a:pPr>
            <a:r>
              <a:rPr lang="en-US" dirty="0" smtClean="0"/>
              <a:t>A systematic, planned set of actions necessary to provide adequate confidence that the software development process or the maintenance process of the software system product conforms to established functional technical requirements as well as with the managerial requirements of keeping the schedule and operating within budgetary confines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Quality Control versus SQA</a:t>
            </a:r>
            <a:endParaRPr lang="en-US" dirty="0"/>
          </a:p>
        </p:txBody>
      </p:sp>
      <p:sp>
        <p:nvSpPr>
          <p:cNvPr id="3" name="Content Placeholder 2"/>
          <p:cNvSpPr>
            <a:spLocks noGrp="1"/>
          </p:cNvSpPr>
          <p:nvPr>
            <p:ph idx="1"/>
          </p:nvPr>
        </p:nvSpPr>
        <p:spPr/>
        <p:txBody>
          <a:bodyPr>
            <a:normAutofit/>
          </a:bodyPr>
          <a:lstStyle/>
          <a:p>
            <a:endParaRPr lang="en-US" dirty="0" smtClean="0"/>
          </a:p>
          <a:p>
            <a:r>
              <a:rPr lang="en-US" dirty="0" smtClean="0"/>
              <a:t>Quality Assurance is process oriented and focuses on defect prevention, while quality control is product oriented and focuses on defect identification.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Quality Control versus SQA</a:t>
            </a:r>
            <a:endParaRPr lang="en-US" dirty="0"/>
          </a:p>
        </p:txBody>
      </p:sp>
      <p:sp>
        <p:nvSpPr>
          <p:cNvPr id="3" name="Content Placeholder 2"/>
          <p:cNvSpPr>
            <a:spLocks noGrp="1"/>
          </p:cNvSpPr>
          <p:nvPr>
            <p:ph idx="1"/>
          </p:nvPr>
        </p:nvSpPr>
        <p:spPr/>
        <p:txBody>
          <a:bodyPr/>
          <a:lstStyle/>
          <a:p>
            <a:r>
              <a:rPr lang="en-US" dirty="0" smtClean="0"/>
              <a:t>Quality Assurance (QA) is meant to minimize the costs of quality by introducing a variety of activities throughout the development process and maintenance process in order to prevent the causes of errors, detect them, and correct them in the early stages of the development.</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Why do we care about Quality?</a:t>
            </a:r>
            <a:endParaRPr lang="en-US" dirty="0"/>
          </a:p>
        </p:txBody>
      </p:sp>
      <p:graphicFrame>
        <p:nvGraphicFramePr>
          <p:cNvPr id="4" name="Content Placeholder 3"/>
          <p:cNvGraphicFramePr>
            <a:graphicFrameLocks noGrp="1"/>
          </p:cNvGraphicFramePr>
          <p:nvPr>
            <p:ph idx="1"/>
          </p:nvPr>
        </p:nvGraphicFramePr>
        <p:xfrm>
          <a:off x="457200" y="2286000"/>
          <a:ext cx="8229600" cy="222504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ctr"/>
                      <a:r>
                        <a:rPr lang="en-US" dirty="0" smtClean="0"/>
                        <a:t>Development cost </a:t>
                      </a:r>
                      <a:endParaRPr lang="en-US" dirty="0"/>
                    </a:p>
                  </a:txBody>
                  <a:tcPr/>
                </a:tc>
                <a:tc>
                  <a:txBody>
                    <a:bodyPr/>
                    <a:lstStyle/>
                    <a:p>
                      <a:pPr algn="ctr"/>
                      <a:r>
                        <a:rPr lang="en-US" dirty="0" smtClean="0"/>
                        <a:t>Correction cost&amp; source</a:t>
                      </a:r>
                      <a:endParaRPr lang="en-US" dirty="0"/>
                    </a:p>
                  </a:txBody>
                  <a:tcPr/>
                </a:tc>
              </a:tr>
              <a:tr h="370840">
                <a:tc>
                  <a:txBody>
                    <a:bodyPr/>
                    <a:lstStyle/>
                    <a:p>
                      <a:r>
                        <a:rPr lang="en-US" dirty="0" smtClean="0"/>
                        <a:t>Specification: 6%</a:t>
                      </a:r>
                      <a:endParaRPr lang="en-US" dirty="0"/>
                    </a:p>
                  </a:txBody>
                  <a:tcPr/>
                </a:tc>
                <a:tc>
                  <a:txBody>
                    <a:bodyPr/>
                    <a:lstStyle/>
                    <a:p>
                      <a:r>
                        <a:rPr lang="en-US" dirty="0" smtClean="0"/>
                        <a:t>Req. &amp; Specification: 56%</a:t>
                      </a:r>
                      <a:endParaRPr lang="en-US" dirty="0"/>
                    </a:p>
                  </a:txBody>
                  <a:tcPr/>
                </a:tc>
              </a:tr>
              <a:tr h="370840">
                <a:tc>
                  <a:txBody>
                    <a:bodyPr/>
                    <a:lstStyle/>
                    <a:p>
                      <a:r>
                        <a:rPr lang="en-US" dirty="0" smtClean="0"/>
                        <a:t>Design: 5%</a:t>
                      </a:r>
                      <a:endParaRPr lang="en-US" dirty="0"/>
                    </a:p>
                  </a:txBody>
                  <a:tcPr/>
                </a:tc>
                <a:tc>
                  <a:txBody>
                    <a:bodyPr/>
                    <a:lstStyle/>
                    <a:p>
                      <a:r>
                        <a:rPr lang="en-US" dirty="0" smtClean="0"/>
                        <a:t>Design: 24%</a:t>
                      </a:r>
                      <a:endParaRPr lang="en-US" dirty="0"/>
                    </a:p>
                  </a:txBody>
                  <a:tcPr/>
                </a:tc>
              </a:tr>
              <a:tr h="370840">
                <a:tc>
                  <a:txBody>
                    <a:bodyPr/>
                    <a:lstStyle/>
                    <a:p>
                      <a:r>
                        <a:rPr lang="en-US" dirty="0" smtClean="0"/>
                        <a:t>Coding: 7%</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Coding: 10%</a:t>
                      </a:r>
                    </a:p>
                  </a:txBody>
                  <a:tcPr/>
                </a:tc>
              </a:tr>
              <a:tr h="370840">
                <a:tc>
                  <a:txBody>
                    <a:bodyPr/>
                    <a:lstStyle/>
                    <a:p>
                      <a:r>
                        <a:rPr lang="en-US" dirty="0" smtClean="0"/>
                        <a:t>V&amp;V (Testing): 15%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Other: 10%</a:t>
                      </a:r>
                    </a:p>
                  </a:txBody>
                  <a:tcPr/>
                </a:tc>
              </a:tr>
              <a:tr h="370840">
                <a:tc>
                  <a:txBody>
                    <a:bodyPr/>
                    <a:lstStyle/>
                    <a:p>
                      <a:r>
                        <a:rPr lang="en-US" dirty="0" smtClean="0"/>
                        <a:t>Maintenance:  67%</a:t>
                      </a:r>
                      <a:endParaRPr lang="en-US" dirty="0"/>
                    </a:p>
                  </a:txBody>
                  <a:tcPr/>
                </a:tc>
                <a:tc>
                  <a:txBody>
                    <a:bodyPr/>
                    <a:lstStyle/>
                    <a:p>
                      <a:endParaRPr lang="en-US" dirty="0"/>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Distinction between Software Errors and Faults</a:t>
            </a:r>
            <a:endParaRPr lang="en-US" dirty="0"/>
          </a:p>
        </p:txBody>
      </p:sp>
      <p:sp>
        <p:nvSpPr>
          <p:cNvPr id="3" name="Content Placeholder 2"/>
          <p:cNvSpPr>
            <a:spLocks noGrp="1"/>
          </p:cNvSpPr>
          <p:nvPr>
            <p:ph idx="1"/>
          </p:nvPr>
        </p:nvSpPr>
        <p:spPr/>
        <p:txBody>
          <a:bodyPr/>
          <a:lstStyle/>
          <a:p>
            <a:r>
              <a:rPr lang="en-US" dirty="0" smtClean="0"/>
              <a:t>Software Error: section of the code that are incorrect as a result of grammatical, logical or other mistakes made by a system analyst, a programmer, or another member of the software development team </a:t>
            </a:r>
          </a:p>
          <a:p>
            <a:r>
              <a:rPr lang="en-US" dirty="0" smtClean="0"/>
              <a:t>Software Faults are software errors that cause the incorrect functioning of the software during a specific application</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Causes of Software Errors</a:t>
            </a:r>
            <a:endParaRPr lang="en-US" dirty="0"/>
          </a:p>
        </p:txBody>
      </p:sp>
      <p:sp>
        <p:nvSpPr>
          <p:cNvPr id="3" name="Content Placeholder 2"/>
          <p:cNvSpPr>
            <a:spLocks noGrp="1"/>
          </p:cNvSpPr>
          <p:nvPr>
            <p:ph idx="1"/>
          </p:nvPr>
        </p:nvSpPr>
        <p:spPr/>
        <p:txBody>
          <a:bodyPr>
            <a:normAutofit lnSpcReduction="10000"/>
          </a:bodyPr>
          <a:lstStyle/>
          <a:p>
            <a:r>
              <a:rPr lang="en-US" dirty="0" smtClean="0"/>
              <a:t>Client- developer communication failures </a:t>
            </a:r>
          </a:p>
          <a:p>
            <a:r>
              <a:rPr lang="en-US" dirty="0" smtClean="0"/>
              <a:t>Deviations from software requirements </a:t>
            </a:r>
          </a:p>
          <a:p>
            <a:r>
              <a:rPr lang="en-US" dirty="0" smtClean="0"/>
              <a:t>Logical design errors </a:t>
            </a:r>
          </a:p>
          <a:p>
            <a:r>
              <a:rPr lang="en-US" dirty="0" smtClean="0"/>
              <a:t>Coding errors </a:t>
            </a:r>
          </a:p>
          <a:p>
            <a:r>
              <a:rPr lang="en-US" dirty="0" smtClean="0"/>
              <a:t>Non compliance with documentation and coding instructions </a:t>
            </a:r>
          </a:p>
          <a:p>
            <a:r>
              <a:rPr lang="en-US" dirty="0" smtClean="0"/>
              <a:t>Shortcoming of the testing process </a:t>
            </a:r>
          </a:p>
          <a:p>
            <a:r>
              <a:rPr lang="en-US" dirty="0" smtClean="0"/>
              <a:t>Documentation errors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Cost of Quality</a:t>
            </a:r>
            <a:endParaRPr lang="en-US" dirty="0"/>
          </a:p>
        </p:txBody>
      </p:sp>
      <p:sp>
        <p:nvSpPr>
          <p:cNvPr id="3" name="Content Placeholder 2"/>
          <p:cNvSpPr>
            <a:spLocks noGrp="1"/>
          </p:cNvSpPr>
          <p:nvPr>
            <p:ph idx="1"/>
          </p:nvPr>
        </p:nvSpPr>
        <p:spPr/>
        <p:txBody>
          <a:bodyPr>
            <a:normAutofit lnSpcReduction="10000"/>
          </a:bodyPr>
          <a:lstStyle/>
          <a:p>
            <a:r>
              <a:rPr lang="en-US" dirty="0" smtClean="0"/>
              <a:t>Cost of quality includes all costs incurred in the pursuit of quality or perform quality related work </a:t>
            </a:r>
          </a:p>
          <a:p>
            <a:r>
              <a:rPr lang="en-US" dirty="0" smtClean="0"/>
              <a:t>Quality cost includes: - </a:t>
            </a:r>
          </a:p>
          <a:p>
            <a:pPr>
              <a:buFont typeface="Wingdings" pitchFamily="2" charset="2"/>
              <a:buChar char="Ø"/>
            </a:pPr>
            <a:r>
              <a:rPr lang="en-US" dirty="0" smtClean="0"/>
              <a:t>    Prevention cost: - </a:t>
            </a:r>
          </a:p>
          <a:p>
            <a:pPr>
              <a:buNone/>
            </a:pPr>
            <a:r>
              <a:rPr lang="en-US" dirty="0" smtClean="0"/>
              <a:t>       - quality planning </a:t>
            </a:r>
          </a:p>
          <a:p>
            <a:pPr>
              <a:buNone/>
            </a:pPr>
            <a:r>
              <a:rPr lang="en-US" dirty="0" smtClean="0"/>
              <a:t>       - formal technical reviews </a:t>
            </a:r>
          </a:p>
          <a:p>
            <a:pPr>
              <a:buNone/>
            </a:pPr>
            <a:r>
              <a:rPr lang="en-US" dirty="0" smtClean="0"/>
              <a:t>       - testing equipment </a:t>
            </a:r>
          </a:p>
          <a:p>
            <a:pPr>
              <a:buNone/>
            </a:pPr>
            <a:r>
              <a:rPr lang="en-US" dirty="0" smtClean="0"/>
              <a:t>       - training -</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Cost of Quality</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Ø"/>
            </a:pPr>
            <a:r>
              <a:rPr lang="en-US" dirty="0" smtClean="0"/>
              <a:t>Appraisal cost: </a:t>
            </a:r>
          </a:p>
          <a:p>
            <a:pPr>
              <a:buNone/>
            </a:pPr>
            <a:r>
              <a:rPr lang="en-US" dirty="0" smtClean="0"/>
              <a:t>     - in-process and inter-process inspection       </a:t>
            </a:r>
          </a:p>
          <a:p>
            <a:pPr>
              <a:buNone/>
            </a:pPr>
            <a:r>
              <a:rPr lang="en-US" dirty="0" smtClean="0"/>
              <a:t>     - testing </a:t>
            </a:r>
          </a:p>
          <a:p>
            <a:pPr>
              <a:buNone/>
            </a:pPr>
            <a:r>
              <a:rPr lang="en-US" dirty="0" smtClean="0"/>
              <a:t> </a:t>
            </a:r>
          </a:p>
          <a:p>
            <a:pPr>
              <a:buFont typeface="Wingdings" pitchFamily="2" charset="2"/>
              <a:buChar char="Ø"/>
            </a:pPr>
            <a:r>
              <a:rPr lang="en-US" dirty="0" smtClean="0"/>
              <a:t>Failure cost: </a:t>
            </a:r>
          </a:p>
          <a:p>
            <a:pPr>
              <a:buNone/>
            </a:pPr>
            <a:r>
              <a:rPr lang="en-US" dirty="0" smtClean="0"/>
              <a:t>    - rework, repair, and failure mode   analysis </a:t>
            </a:r>
          </a:p>
          <a:p>
            <a:pPr>
              <a:buNone/>
            </a:pPr>
            <a:r>
              <a:rPr lang="en-US" dirty="0" smtClean="0"/>
              <a:t>   - complaint resolution </a:t>
            </a:r>
          </a:p>
          <a:p>
            <a:pPr>
              <a:buNone/>
            </a:pPr>
            <a:r>
              <a:rPr lang="en-US" dirty="0" smtClean="0"/>
              <a:t>   - product return and replacement</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Cost of Quality</a:t>
            </a:r>
            <a:endParaRPr lang="en-IN" dirty="0"/>
          </a:p>
        </p:txBody>
      </p:sp>
      <p:pic>
        <p:nvPicPr>
          <p:cNvPr id="1026" name="Picture 2" descr="Costs of Quality - Prevention Costs, Appraisal Costs, Internal and External  Failure Costs Explaine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981200"/>
            <a:ext cx="81534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8360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Three Views of Quality</a:t>
            </a:r>
            <a:endParaRPr lang="en-US" dirty="0"/>
          </a:p>
        </p:txBody>
      </p:sp>
      <p:sp>
        <p:nvSpPr>
          <p:cNvPr id="3" name="Content Placeholder 2"/>
          <p:cNvSpPr>
            <a:spLocks noGrp="1"/>
          </p:cNvSpPr>
          <p:nvPr>
            <p:ph idx="1"/>
          </p:nvPr>
        </p:nvSpPr>
        <p:spPr/>
        <p:txBody>
          <a:bodyPr/>
          <a:lstStyle/>
          <a:p>
            <a:r>
              <a:rPr lang="en-US" dirty="0" smtClean="0"/>
              <a:t>Product view:</a:t>
            </a:r>
          </a:p>
          <a:p>
            <a:pPr>
              <a:buNone/>
            </a:pPr>
            <a:r>
              <a:rPr lang="en-US" dirty="0" smtClean="0"/>
              <a:t>    – functionality, correctness, performance, usability</a:t>
            </a:r>
          </a:p>
          <a:p>
            <a:endParaRPr lang="en-US" dirty="0" smtClean="0"/>
          </a:p>
          <a:p>
            <a:r>
              <a:rPr lang="en-US" dirty="0" smtClean="0"/>
              <a:t>Process view: – </a:t>
            </a:r>
          </a:p>
          <a:p>
            <a:pPr>
              <a:buNone/>
            </a:pPr>
            <a:r>
              <a:rPr lang="en-US" dirty="0" smtClean="0"/>
              <a:t>    -efficiency, cost &amp; schedule, failures (rework). </a:t>
            </a:r>
          </a:p>
          <a:p>
            <a:endParaRPr lang="en-US" dirty="0" smtClean="0"/>
          </a:p>
          <a:p>
            <a:endParaRPr lang="en-US" dirty="0" smtClean="0"/>
          </a:p>
          <a:p>
            <a:pPr>
              <a:buNone/>
            </a:pPr>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Three Views of Quality</a:t>
            </a:r>
            <a:endParaRPr lang="en-US" dirty="0"/>
          </a:p>
        </p:txBody>
      </p:sp>
      <p:sp>
        <p:nvSpPr>
          <p:cNvPr id="3" name="Content Placeholder 2"/>
          <p:cNvSpPr>
            <a:spLocks noGrp="1"/>
          </p:cNvSpPr>
          <p:nvPr>
            <p:ph idx="1"/>
          </p:nvPr>
        </p:nvSpPr>
        <p:spPr/>
        <p:txBody>
          <a:bodyPr/>
          <a:lstStyle/>
          <a:p>
            <a:r>
              <a:rPr lang="en-US" dirty="0" smtClean="0"/>
              <a:t>Business view: </a:t>
            </a:r>
          </a:p>
          <a:p>
            <a:pPr>
              <a:buNone/>
            </a:pPr>
            <a:r>
              <a:rPr lang="en-US" dirty="0" smtClean="0"/>
              <a:t>    – timeliness, customer satisfaction </a:t>
            </a:r>
          </a:p>
          <a:p>
            <a:pPr>
              <a:buNone/>
            </a:pPr>
            <a:r>
              <a:rPr lang="en-US" dirty="0" smtClean="0"/>
              <a:t>    – does it sell?</a:t>
            </a:r>
          </a:p>
          <a:p>
            <a:pPr>
              <a:buNone/>
            </a:pPr>
            <a:r>
              <a:rPr lang="en-US" dirty="0" smtClean="0"/>
              <a:t>    – producing the right product at the right time for the right price?</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Software Quality Factors</a:t>
            </a:r>
            <a:endParaRPr lang="en-US" dirty="0"/>
          </a:p>
        </p:txBody>
      </p:sp>
      <p:sp>
        <p:nvSpPr>
          <p:cNvPr id="3" name="Content Placeholder 2"/>
          <p:cNvSpPr>
            <a:spLocks noGrp="1"/>
          </p:cNvSpPr>
          <p:nvPr>
            <p:ph idx="1"/>
          </p:nvPr>
        </p:nvSpPr>
        <p:spPr/>
        <p:txBody>
          <a:bodyPr>
            <a:normAutofit lnSpcReduction="10000"/>
          </a:bodyPr>
          <a:lstStyle/>
          <a:p>
            <a:r>
              <a:rPr lang="en-US" b="1" dirty="0" smtClean="0"/>
              <a:t>Correctness</a:t>
            </a:r>
            <a:r>
              <a:rPr lang="en-US" dirty="0" smtClean="0"/>
              <a:t/>
            </a:r>
            <a:br>
              <a:rPr lang="en-US" dirty="0" smtClean="0"/>
            </a:br>
            <a:r>
              <a:rPr lang="en-US" dirty="0" smtClean="0"/>
              <a:t>– accuracy, completeness of required output</a:t>
            </a:r>
            <a:br>
              <a:rPr lang="en-US" dirty="0" smtClean="0"/>
            </a:br>
            <a:r>
              <a:rPr lang="en-US" dirty="0" smtClean="0"/>
              <a:t>– up-to-date, availability of the information</a:t>
            </a:r>
          </a:p>
          <a:p>
            <a:r>
              <a:rPr lang="en-US" b="1" dirty="0" smtClean="0"/>
              <a:t>Reliability</a:t>
            </a:r>
            <a:r>
              <a:rPr lang="en-US" dirty="0" smtClean="0"/>
              <a:t/>
            </a:r>
            <a:br>
              <a:rPr lang="en-US" dirty="0" smtClean="0"/>
            </a:br>
            <a:r>
              <a:rPr lang="en-US" dirty="0" smtClean="0"/>
              <a:t>– Minimum failure rate</a:t>
            </a:r>
          </a:p>
          <a:p>
            <a:r>
              <a:rPr lang="en-US" b="1" dirty="0" smtClean="0"/>
              <a:t>Efficiency</a:t>
            </a:r>
            <a:r>
              <a:rPr lang="en-US" dirty="0" smtClean="0"/>
              <a:t/>
            </a:r>
            <a:br>
              <a:rPr lang="en-US" dirty="0" smtClean="0"/>
            </a:br>
            <a:r>
              <a:rPr lang="en-US" dirty="0" smtClean="0"/>
              <a:t>– resources needed to perform software function</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Software Quality Factors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Integrity</a:t>
            </a:r>
            <a:r>
              <a:rPr lang="en-US" dirty="0" smtClean="0"/>
              <a:t/>
            </a:r>
            <a:br>
              <a:rPr lang="en-US" dirty="0" smtClean="0"/>
            </a:br>
            <a:r>
              <a:rPr lang="en-US" dirty="0" smtClean="0"/>
              <a:t>– software system security, access rights</a:t>
            </a:r>
          </a:p>
          <a:p>
            <a:r>
              <a:rPr lang="en-US" b="1" dirty="0" smtClean="0"/>
              <a:t>Usability</a:t>
            </a:r>
            <a:r>
              <a:rPr lang="en-US" dirty="0" smtClean="0"/>
              <a:t/>
            </a:r>
            <a:br>
              <a:rPr lang="en-US" dirty="0" smtClean="0"/>
            </a:br>
            <a:r>
              <a:rPr lang="en-US" dirty="0" smtClean="0"/>
              <a:t>– ability to learn, perform required task</a:t>
            </a:r>
          </a:p>
          <a:p>
            <a:r>
              <a:rPr lang="en-US" b="1" dirty="0" smtClean="0"/>
              <a:t>Maintainability</a:t>
            </a:r>
            <a:r>
              <a:rPr lang="en-US" dirty="0" smtClean="0"/>
              <a:t/>
            </a:r>
            <a:br>
              <a:rPr lang="en-US" dirty="0" smtClean="0"/>
            </a:br>
            <a:r>
              <a:rPr lang="en-US" dirty="0" smtClean="0"/>
              <a:t>– effort to identify and fix software failures (modularity, documentation, etc)</a:t>
            </a:r>
          </a:p>
          <a:p>
            <a:r>
              <a:rPr lang="en-US" b="1" dirty="0" smtClean="0"/>
              <a:t>Flexibility</a:t>
            </a:r>
            <a:r>
              <a:rPr lang="en-US" dirty="0" smtClean="0"/>
              <a:t/>
            </a:r>
            <a:br>
              <a:rPr lang="en-US" dirty="0" smtClean="0"/>
            </a:br>
            <a:r>
              <a:rPr lang="en-US" dirty="0" smtClean="0"/>
              <a:t>– degree of adaptability (to new customers, tasks, etc)</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180306"/>
          </a:xfrm>
        </p:spPr>
        <p:txBody>
          <a:bodyPr/>
          <a:lstStyle/>
          <a:p>
            <a:pPr algn="ctr"/>
            <a:r>
              <a:rPr lang="en-US" b="1" dirty="0" smtClean="0"/>
              <a:t>Software Quality Factors</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r>
              <a:rPr lang="en-US" b="1" dirty="0" smtClean="0"/>
              <a:t>Testability</a:t>
            </a:r>
            <a:r>
              <a:rPr lang="en-US" dirty="0" smtClean="0"/>
              <a:t/>
            </a:r>
            <a:br>
              <a:rPr lang="en-US" dirty="0" smtClean="0"/>
            </a:br>
            <a:r>
              <a:rPr lang="en-US" dirty="0" smtClean="0"/>
              <a:t>– support for testing (e.g. log files, automatic diagnostics, etc)</a:t>
            </a:r>
          </a:p>
          <a:p>
            <a:r>
              <a:rPr lang="en-US" b="1" dirty="0" smtClean="0"/>
              <a:t>Portability</a:t>
            </a:r>
            <a:r>
              <a:rPr lang="en-US" dirty="0" smtClean="0"/>
              <a:t/>
            </a:r>
            <a:br>
              <a:rPr lang="en-US" dirty="0" smtClean="0"/>
            </a:br>
            <a:r>
              <a:rPr lang="en-US" dirty="0" smtClean="0"/>
              <a:t>– adaptation to other environments (hardware, software)</a:t>
            </a:r>
          </a:p>
          <a:p>
            <a:r>
              <a:rPr lang="en-US" b="1" dirty="0" smtClean="0"/>
              <a:t>Reusability</a:t>
            </a:r>
            <a:r>
              <a:rPr lang="en-US" dirty="0" smtClean="0"/>
              <a:t/>
            </a:r>
            <a:br>
              <a:rPr lang="en-US" dirty="0" smtClean="0"/>
            </a:br>
            <a:r>
              <a:rPr lang="en-US" dirty="0" smtClean="0"/>
              <a:t>– use of software components for other projects</a:t>
            </a:r>
          </a:p>
          <a:p>
            <a:r>
              <a:rPr lang="en-US" b="1" dirty="0" smtClean="0"/>
              <a:t>Interoperability</a:t>
            </a:r>
            <a:r>
              <a:rPr lang="en-US" dirty="0" smtClean="0"/>
              <a:t/>
            </a:r>
            <a:br>
              <a:rPr lang="en-US" dirty="0" smtClean="0"/>
            </a:br>
            <a:r>
              <a:rPr lang="en-US" dirty="0" smtClean="0"/>
              <a:t>– ability to interface with other components/systems</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Quality Assurance at each phase of SDLC</a:t>
            </a:r>
            <a:endParaRPr lang="en-US" dirty="0"/>
          </a:p>
        </p:txBody>
      </p:sp>
      <p:sp>
        <p:nvSpPr>
          <p:cNvPr id="3" name="Content Placeholder 2"/>
          <p:cNvSpPr>
            <a:spLocks noGrp="1"/>
          </p:cNvSpPr>
          <p:nvPr>
            <p:ph idx="1"/>
          </p:nvPr>
        </p:nvSpPr>
        <p:spPr/>
        <p:txBody>
          <a:bodyPr/>
          <a:lstStyle/>
          <a:p>
            <a:pPr>
              <a:buNone/>
            </a:pPr>
            <a:r>
              <a:rPr lang="en-US" b="1" dirty="0" smtClean="0"/>
              <a:t>Requirements Analysis Phase:</a:t>
            </a:r>
          </a:p>
          <a:p>
            <a:r>
              <a:rPr lang="en-US" dirty="0" smtClean="0"/>
              <a:t>Three major activities that foster quality:</a:t>
            </a:r>
            <a:br>
              <a:rPr lang="en-US" dirty="0" smtClean="0"/>
            </a:br>
            <a:r>
              <a:rPr lang="en-US" dirty="0" smtClean="0"/>
              <a:t>– Measurement of process attributes</a:t>
            </a:r>
            <a:br>
              <a:rPr lang="en-US" dirty="0" smtClean="0"/>
            </a:br>
            <a:r>
              <a:rPr lang="en-US" dirty="0" smtClean="0"/>
              <a:t>– Verification and Validation</a:t>
            </a:r>
            <a:br>
              <a:rPr lang="en-US" dirty="0" smtClean="0"/>
            </a:br>
            <a:r>
              <a:rPr lang="en-US" dirty="0" smtClean="0"/>
              <a:t>– Management</a:t>
            </a:r>
          </a:p>
          <a:p>
            <a:r>
              <a:rPr lang="en-US" dirty="0" smtClean="0"/>
              <a:t>Managing quality in the analysis stage is a challenge.</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Quality Assurance at each phase of SDLC</a:t>
            </a:r>
            <a:endParaRPr lang="en-IN" dirty="0"/>
          </a:p>
        </p:txBody>
      </p:sp>
      <p:pic>
        <p:nvPicPr>
          <p:cNvPr id="1026" name="Picture 2" descr="Software Quality Assurance | Kaifsolution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72201" y="1882775"/>
            <a:ext cx="4599597"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9163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Quality Assurance at each phase of SDLC</a:t>
            </a:r>
            <a:endParaRPr lang="en-IN" dirty="0"/>
          </a:p>
        </p:txBody>
      </p:sp>
      <p:sp>
        <p:nvSpPr>
          <p:cNvPr id="3" name="Content Placeholder 2"/>
          <p:cNvSpPr>
            <a:spLocks noGrp="1"/>
          </p:cNvSpPr>
          <p:nvPr>
            <p:ph idx="1"/>
          </p:nvPr>
        </p:nvSpPr>
        <p:spPr/>
        <p:txBody>
          <a:bodyPr/>
          <a:lstStyle/>
          <a:p>
            <a:pPr marL="64008" indent="0">
              <a:buNone/>
            </a:pPr>
            <a:r>
              <a:rPr lang="en-US" b="1" dirty="0"/>
              <a:t>Requirement Analysis</a:t>
            </a:r>
            <a:r>
              <a:rPr lang="en-US" b="1" dirty="0" smtClean="0"/>
              <a:t>:</a:t>
            </a:r>
            <a:endParaRPr lang="en-US" dirty="0" smtClean="0"/>
          </a:p>
          <a:p>
            <a:r>
              <a:rPr lang="en-US" dirty="0" smtClean="0"/>
              <a:t>QA </a:t>
            </a:r>
            <a:r>
              <a:rPr lang="en-US" dirty="0"/>
              <a:t>teams participate from the beginning, ensuring requirements are clear, concise, and testable</a:t>
            </a:r>
            <a:r>
              <a:rPr lang="en-US" dirty="0" smtClean="0"/>
              <a:t>.</a:t>
            </a:r>
          </a:p>
          <a:p>
            <a:pPr marL="64008" indent="0">
              <a:buNone/>
            </a:pPr>
            <a:r>
              <a:rPr lang="en-US" dirty="0"/>
              <a:t> </a:t>
            </a:r>
            <a:endParaRPr lang="en-US" dirty="0" smtClean="0"/>
          </a:p>
          <a:p>
            <a:pPr marL="64008" indent="0">
              <a:buNone/>
            </a:pPr>
            <a:r>
              <a:rPr lang="en-US" b="1" dirty="0"/>
              <a:t>Design Review:</a:t>
            </a:r>
            <a:endParaRPr lang="en-US" dirty="0"/>
          </a:p>
          <a:p>
            <a:r>
              <a:rPr lang="en-US" dirty="0"/>
              <a:t>QA reviews design documents to ensure they meet requirements and standards. </a:t>
            </a:r>
          </a:p>
          <a:p>
            <a:endParaRPr lang="en-US" dirty="0"/>
          </a:p>
          <a:p>
            <a:endParaRPr lang="en-IN" dirty="0"/>
          </a:p>
        </p:txBody>
      </p:sp>
    </p:spTree>
    <p:extLst>
      <p:ext uri="{BB962C8B-B14F-4D97-AF65-F5344CB8AC3E}">
        <p14:creationId xmlns:p14="http://schemas.microsoft.com/office/powerpoint/2010/main" val="3626403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Quality Assurance at each phase of SDLC</a:t>
            </a:r>
            <a:endParaRPr lang="en-IN" dirty="0"/>
          </a:p>
        </p:txBody>
      </p:sp>
      <p:sp>
        <p:nvSpPr>
          <p:cNvPr id="3" name="Content Placeholder 2"/>
          <p:cNvSpPr>
            <a:spLocks noGrp="1"/>
          </p:cNvSpPr>
          <p:nvPr>
            <p:ph idx="1"/>
          </p:nvPr>
        </p:nvSpPr>
        <p:spPr/>
        <p:txBody>
          <a:bodyPr>
            <a:normAutofit fontScale="85000" lnSpcReduction="10000"/>
          </a:bodyPr>
          <a:lstStyle/>
          <a:p>
            <a:pPr marL="64008" indent="0">
              <a:buNone/>
            </a:pPr>
            <a:r>
              <a:rPr lang="en-US" b="1" dirty="0"/>
              <a:t>Coding:</a:t>
            </a:r>
            <a:endParaRPr lang="en-US" dirty="0"/>
          </a:p>
          <a:p>
            <a:r>
              <a:rPr lang="en-US" dirty="0"/>
              <a:t>QA professionals review code for adherence to standards and best practices, often through code reviews and unit testing. </a:t>
            </a:r>
            <a:endParaRPr lang="en-US" dirty="0" smtClean="0"/>
          </a:p>
          <a:p>
            <a:endParaRPr lang="en-US" dirty="0" smtClean="0"/>
          </a:p>
          <a:p>
            <a:pPr marL="64008" indent="0">
              <a:buNone/>
            </a:pPr>
            <a:r>
              <a:rPr lang="en-US" b="1" dirty="0"/>
              <a:t>Testing:</a:t>
            </a:r>
            <a:endParaRPr lang="en-US" dirty="0"/>
          </a:p>
          <a:p>
            <a:r>
              <a:rPr lang="en-US" dirty="0"/>
              <a:t>QA teams create and execute test cases, track bugs, and verify fixes through various testing phases (functional, integration, system, performance). </a:t>
            </a:r>
          </a:p>
          <a:p>
            <a:pPr marL="64008" indent="0">
              <a:buNone/>
            </a:pPr>
            <a:r>
              <a:rPr lang="en-US" dirty="0"/>
              <a:t>	</a:t>
            </a:r>
          </a:p>
        </p:txBody>
      </p:sp>
    </p:spTree>
    <p:extLst>
      <p:ext uri="{BB962C8B-B14F-4D97-AF65-F5344CB8AC3E}">
        <p14:creationId xmlns:p14="http://schemas.microsoft.com/office/powerpoint/2010/main" val="27126258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Quality Assurance at each phase of SDLC</a:t>
            </a:r>
            <a:endParaRPr lang="en-IN" dirty="0"/>
          </a:p>
        </p:txBody>
      </p:sp>
      <p:sp>
        <p:nvSpPr>
          <p:cNvPr id="3" name="Content Placeholder 2"/>
          <p:cNvSpPr>
            <a:spLocks noGrp="1"/>
          </p:cNvSpPr>
          <p:nvPr>
            <p:ph idx="1"/>
          </p:nvPr>
        </p:nvSpPr>
        <p:spPr>
          <a:xfrm>
            <a:off x="457200" y="1752600"/>
            <a:ext cx="8229600" cy="4702208"/>
          </a:xfrm>
        </p:spPr>
        <p:txBody>
          <a:bodyPr>
            <a:normAutofit lnSpcReduction="10000"/>
          </a:bodyPr>
          <a:lstStyle/>
          <a:p>
            <a:pPr marL="64008" indent="0">
              <a:buNone/>
            </a:pPr>
            <a:r>
              <a:rPr lang="en-US" b="1" dirty="0"/>
              <a:t>Deployment:</a:t>
            </a:r>
            <a:endParaRPr lang="en-US" dirty="0"/>
          </a:p>
          <a:p>
            <a:pPr fontAlgn="ctr"/>
            <a:r>
              <a:rPr lang="en-US" dirty="0"/>
              <a:t>QA ensures the software is ready for release by verifying stability and documentation. </a:t>
            </a:r>
            <a:endParaRPr lang="en-US" dirty="0" smtClean="0"/>
          </a:p>
          <a:p>
            <a:pPr fontAlgn="ctr"/>
            <a:endParaRPr lang="en-US" dirty="0"/>
          </a:p>
          <a:p>
            <a:pPr marL="64008" indent="0">
              <a:buNone/>
            </a:pPr>
            <a:r>
              <a:rPr lang="en-US" b="1" dirty="0"/>
              <a:t>Maintenance:</a:t>
            </a:r>
            <a:endParaRPr lang="en-US" dirty="0"/>
          </a:p>
          <a:p>
            <a:r>
              <a:rPr lang="en-US" dirty="0"/>
              <a:t>QA monitors performance, addresses reported issues, and performs regression testing to prevent new problems from arising. </a:t>
            </a:r>
          </a:p>
          <a:p>
            <a:endParaRPr lang="en-IN" dirty="0"/>
          </a:p>
        </p:txBody>
      </p:sp>
    </p:spTree>
    <p:extLst>
      <p:ext uri="{BB962C8B-B14F-4D97-AF65-F5344CB8AC3E}">
        <p14:creationId xmlns:p14="http://schemas.microsoft.com/office/powerpoint/2010/main" val="437327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Quality </a:t>
            </a:r>
            <a:r>
              <a:rPr lang="en-US" dirty="0" err="1"/>
              <a:t>vs</a:t>
            </a:r>
            <a:r>
              <a:rPr lang="en-US" dirty="0"/>
              <a:t> reliability </a:t>
            </a:r>
            <a:r>
              <a:rPr lang="en-US" dirty="0" err="1"/>
              <a:t>vs</a:t>
            </a:r>
            <a:r>
              <a:rPr lang="en-US" dirty="0"/>
              <a:t> security </a:t>
            </a:r>
            <a:r>
              <a:rPr lang="en-US" dirty="0" err="1"/>
              <a:t>vs</a:t>
            </a:r>
            <a:r>
              <a:rPr lang="en-US" dirty="0"/>
              <a:t> maintainability</a:t>
            </a:r>
            <a:endParaRPr lang="en-IN" dirty="0"/>
          </a:p>
        </p:txBody>
      </p:sp>
      <p:sp>
        <p:nvSpPr>
          <p:cNvPr id="3" name="Content Placeholder 2"/>
          <p:cNvSpPr>
            <a:spLocks noGrp="1"/>
          </p:cNvSpPr>
          <p:nvPr>
            <p:ph idx="1"/>
          </p:nvPr>
        </p:nvSpPr>
        <p:spPr>
          <a:xfrm>
            <a:off x="457200" y="1600200"/>
            <a:ext cx="8229600" cy="4854608"/>
          </a:xfrm>
        </p:spPr>
        <p:txBody>
          <a:bodyPr>
            <a:normAutofit fontScale="85000" lnSpcReduction="20000"/>
          </a:bodyPr>
          <a:lstStyle/>
          <a:p>
            <a:pPr marL="64008" indent="0">
              <a:buNone/>
            </a:pPr>
            <a:r>
              <a:rPr lang="en-US" b="1" dirty="0" smtClean="0"/>
              <a:t>Quality</a:t>
            </a:r>
            <a:r>
              <a:rPr lang="en-US" dirty="0"/>
              <a:t>:</a:t>
            </a:r>
          </a:p>
          <a:p>
            <a:r>
              <a:rPr lang="en-US" b="1" dirty="0"/>
              <a:t>Definition:</a:t>
            </a:r>
            <a:r>
              <a:rPr lang="en-US" dirty="0"/>
              <a:t> Quality in software engineering refers to the degree to which a system, component, or process meets specified requirements and user needs. It's a holistic measure that includes functionality, usability, performance, and other attributes</a:t>
            </a:r>
            <a:r>
              <a:rPr lang="en-US" dirty="0" smtClean="0"/>
              <a:t>.</a:t>
            </a:r>
          </a:p>
          <a:p>
            <a:pPr marL="64008" indent="0">
              <a:buNone/>
            </a:pPr>
            <a:endParaRPr lang="en-US" dirty="0"/>
          </a:p>
          <a:p>
            <a:r>
              <a:rPr lang="en-US" b="1" dirty="0"/>
              <a:t>Example:</a:t>
            </a:r>
            <a:r>
              <a:rPr lang="en-US" dirty="0"/>
              <a:t> A website that is easy to navigate, loads quickly, and provides accurate information is considered high quality. Conversely, a website with broken links, slow loading times, and inaccurate data is considered low quality.</a:t>
            </a:r>
          </a:p>
          <a:p>
            <a:endParaRPr lang="en-IN" dirty="0"/>
          </a:p>
        </p:txBody>
      </p:sp>
    </p:spTree>
    <p:extLst>
      <p:ext uri="{BB962C8B-B14F-4D97-AF65-F5344CB8AC3E}">
        <p14:creationId xmlns:p14="http://schemas.microsoft.com/office/powerpoint/2010/main" val="15282298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Quality </a:t>
            </a:r>
            <a:r>
              <a:rPr lang="en-US" dirty="0" err="1"/>
              <a:t>vs</a:t>
            </a:r>
            <a:r>
              <a:rPr lang="en-US" dirty="0"/>
              <a:t> reliability </a:t>
            </a:r>
            <a:r>
              <a:rPr lang="en-US" dirty="0" err="1"/>
              <a:t>vs</a:t>
            </a:r>
            <a:r>
              <a:rPr lang="en-US" dirty="0"/>
              <a:t> security </a:t>
            </a:r>
            <a:r>
              <a:rPr lang="en-US" dirty="0" err="1"/>
              <a:t>vs</a:t>
            </a:r>
            <a:r>
              <a:rPr lang="en-US" dirty="0"/>
              <a:t> maintainability</a:t>
            </a:r>
            <a:endParaRPr lang="en-IN" dirty="0"/>
          </a:p>
        </p:txBody>
      </p:sp>
      <p:sp>
        <p:nvSpPr>
          <p:cNvPr id="3" name="Content Placeholder 2"/>
          <p:cNvSpPr>
            <a:spLocks noGrp="1"/>
          </p:cNvSpPr>
          <p:nvPr>
            <p:ph idx="1"/>
          </p:nvPr>
        </p:nvSpPr>
        <p:spPr>
          <a:xfrm>
            <a:off x="457200" y="1666526"/>
            <a:ext cx="8229600" cy="4788282"/>
          </a:xfrm>
        </p:spPr>
        <p:txBody>
          <a:bodyPr>
            <a:normAutofit fontScale="92500" lnSpcReduction="20000"/>
          </a:bodyPr>
          <a:lstStyle/>
          <a:p>
            <a:pPr marL="64008" indent="0">
              <a:buNone/>
            </a:pPr>
            <a:r>
              <a:rPr lang="en-US" b="1" dirty="0"/>
              <a:t>Reliability</a:t>
            </a:r>
            <a:r>
              <a:rPr lang="en-US" dirty="0"/>
              <a:t>:</a:t>
            </a:r>
          </a:p>
          <a:p>
            <a:r>
              <a:rPr lang="en-US" b="1" dirty="0"/>
              <a:t>Definition:</a:t>
            </a:r>
            <a:r>
              <a:rPr lang="en-US" dirty="0"/>
              <a:t> Reliability is the probability that a system will perform its intended function for a specified period under given conditions</a:t>
            </a:r>
            <a:r>
              <a:rPr lang="en-US" dirty="0" smtClean="0"/>
              <a:t>. It focuses on the consistency and correctness of the software's operation over time.</a:t>
            </a:r>
          </a:p>
          <a:p>
            <a:pPr marL="64008" indent="0">
              <a:buNone/>
            </a:pPr>
            <a:endParaRPr lang="en-US" dirty="0"/>
          </a:p>
          <a:p>
            <a:r>
              <a:rPr lang="en-US" b="1" dirty="0"/>
              <a:t>Example:</a:t>
            </a:r>
            <a:r>
              <a:rPr lang="en-US" dirty="0"/>
              <a:t> A banking application that consistently processes transactions accurately and without errors is considered reliable. A system that crashes frequently or produces incorrect financial data is unreliable.</a:t>
            </a:r>
          </a:p>
          <a:p>
            <a:endParaRPr lang="en-IN" dirty="0"/>
          </a:p>
        </p:txBody>
      </p:sp>
    </p:spTree>
    <p:extLst>
      <p:ext uri="{BB962C8B-B14F-4D97-AF65-F5344CB8AC3E}">
        <p14:creationId xmlns:p14="http://schemas.microsoft.com/office/powerpoint/2010/main" val="40385645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Quality </a:t>
            </a:r>
            <a:r>
              <a:rPr lang="en-US" dirty="0" err="1"/>
              <a:t>vs</a:t>
            </a:r>
            <a:r>
              <a:rPr lang="en-US" dirty="0"/>
              <a:t> reliability </a:t>
            </a:r>
            <a:r>
              <a:rPr lang="en-US" dirty="0" err="1"/>
              <a:t>vs</a:t>
            </a:r>
            <a:r>
              <a:rPr lang="en-US" dirty="0"/>
              <a:t> security </a:t>
            </a:r>
            <a:r>
              <a:rPr lang="en-US" dirty="0" err="1"/>
              <a:t>vs</a:t>
            </a:r>
            <a:r>
              <a:rPr lang="en-US" dirty="0"/>
              <a:t> maintainability</a:t>
            </a:r>
            <a:endParaRPr lang="en-IN" dirty="0"/>
          </a:p>
        </p:txBody>
      </p:sp>
      <p:sp>
        <p:nvSpPr>
          <p:cNvPr id="3" name="Content Placeholder 2"/>
          <p:cNvSpPr>
            <a:spLocks noGrp="1"/>
          </p:cNvSpPr>
          <p:nvPr>
            <p:ph idx="1"/>
          </p:nvPr>
        </p:nvSpPr>
        <p:spPr>
          <a:xfrm>
            <a:off x="457200" y="1666526"/>
            <a:ext cx="8229600" cy="4788282"/>
          </a:xfrm>
        </p:spPr>
        <p:txBody>
          <a:bodyPr>
            <a:normAutofit fontScale="85000" lnSpcReduction="20000"/>
          </a:bodyPr>
          <a:lstStyle/>
          <a:p>
            <a:pPr marL="64008" indent="0">
              <a:buNone/>
            </a:pPr>
            <a:r>
              <a:rPr lang="en-US" b="1" dirty="0"/>
              <a:t>Security</a:t>
            </a:r>
            <a:r>
              <a:rPr lang="en-US" dirty="0"/>
              <a:t>:</a:t>
            </a:r>
          </a:p>
          <a:p>
            <a:r>
              <a:rPr lang="en-US" b="1" dirty="0"/>
              <a:t>Definition:</a:t>
            </a:r>
            <a:r>
              <a:rPr lang="en-US" dirty="0"/>
              <a:t> Security is the ability of a system to protect information and resources from unauthorized access, use, disclosure, disruption, modification, or destruction. It's about preventing breaches and maintaining the integrity of the system</a:t>
            </a:r>
            <a:r>
              <a:rPr lang="en-US" dirty="0" smtClean="0"/>
              <a:t>.</a:t>
            </a:r>
          </a:p>
          <a:p>
            <a:endParaRPr lang="en-US" dirty="0"/>
          </a:p>
          <a:p>
            <a:r>
              <a:rPr lang="en-US" b="1" dirty="0"/>
              <a:t>Example:</a:t>
            </a:r>
            <a:r>
              <a:rPr lang="en-US" dirty="0"/>
              <a:t> A secure online store encrypts customer data during transmission and storage, preventing hackers from stealing credit card information. A system with weak encryption or inadequate access controls is vulnerable to security breaches.</a:t>
            </a:r>
          </a:p>
          <a:p>
            <a:endParaRPr lang="en-IN" dirty="0"/>
          </a:p>
        </p:txBody>
      </p:sp>
    </p:spTree>
    <p:extLst>
      <p:ext uri="{BB962C8B-B14F-4D97-AF65-F5344CB8AC3E}">
        <p14:creationId xmlns:p14="http://schemas.microsoft.com/office/powerpoint/2010/main" val="29232021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Quality </a:t>
            </a:r>
            <a:r>
              <a:rPr lang="en-US" dirty="0" err="1"/>
              <a:t>vs</a:t>
            </a:r>
            <a:r>
              <a:rPr lang="en-US" dirty="0"/>
              <a:t> reliability </a:t>
            </a:r>
            <a:r>
              <a:rPr lang="en-US" dirty="0" err="1"/>
              <a:t>vs</a:t>
            </a:r>
            <a:r>
              <a:rPr lang="en-US" dirty="0"/>
              <a:t> security </a:t>
            </a:r>
            <a:r>
              <a:rPr lang="en-US" dirty="0" err="1"/>
              <a:t>vs</a:t>
            </a:r>
            <a:r>
              <a:rPr lang="en-US" dirty="0"/>
              <a:t> maintainability</a:t>
            </a:r>
            <a:endParaRPr lang="en-IN" dirty="0"/>
          </a:p>
        </p:txBody>
      </p:sp>
      <p:sp>
        <p:nvSpPr>
          <p:cNvPr id="3" name="Content Placeholder 2"/>
          <p:cNvSpPr>
            <a:spLocks noGrp="1"/>
          </p:cNvSpPr>
          <p:nvPr>
            <p:ph idx="1"/>
          </p:nvPr>
        </p:nvSpPr>
        <p:spPr>
          <a:xfrm>
            <a:off x="457200" y="1666526"/>
            <a:ext cx="8229600" cy="4788282"/>
          </a:xfrm>
        </p:spPr>
        <p:txBody>
          <a:bodyPr>
            <a:normAutofit fontScale="92500" lnSpcReduction="20000"/>
          </a:bodyPr>
          <a:lstStyle/>
          <a:p>
            <a:pPr marL="64008" indent="0">
              <a:buNone/>
            </a:pPr>
            <a:r>
              <a:rPr lang="en-US" b="1" dirty="0"/>
              <a:t>Maintainability</a:t>
            </a:r>
            <a:r>
              <a:rPr lang="en-US" dirty="0"/>
              <a:t>:</a:t>
            </a:r>
          </a:p>
          <a:p>
            <a:r>
              <a:rPr lang="en-US" b="1" dirty="0"/>
              <a:t>Definition:</a:t>
            </a:r>
            <a:r>
              <a:rPr lang="en-US" dirty="0"/>
              <a:t> Maintainability is the ease with which a software system can be modified, enhanced, or repaired. It's about making it easier for developers to understand, change, and fix the code</a:t>
            </a:r>
            <a:r>
              <a:rPr lang="en-US" dirty="0" smtClean="0"/>
              <a:t>.</a:t>
            </a:r>
          </a:p>
          <a:p>
            <a:pPr marL="64008" indent="0">
              <a:buNone/>
            </a:pPr>
            <a:endParaRPr lang="en-US" dirty="0"/>
          </a:p>
          <a:p>
            <a:r>
              <a:rPr lang="en-US" b="1" dirty="0"/>
              <a:t>Example:</a:t>
            </a:r>
            <a:r>
              <a:rPr lang="en-US" dirty="0"/>
              <a:t> A well-documented and modularly designed system is easier to maintain than one with poorly written, heavily tangled code. A maintainable system allows for faster bug fixes, feature additions, and performance improvements.</a:t>
            </a:r>
          </a:p>
        </p:txBody>
      </p:sp>
    </p:spTree>
    <p:extLst>
      <p:ext uri="{BB962C8B-B14F-4D97-AF65-F5344CB8AC3E}">
        <p14:creationId xmlns:p14="http://schemas.microsoft.com/office/powerpoint/2010/main" val="9263214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Software </a:t>
            </a:r>
            <a:r>
              <a:rPr lang="en-IN" dirty="0"/>
              <a:t>Quality Models</a:t>
            </a:r>
          </a:p>
        </p:txBody>
      </p:sp>
      <p:sp>
        <p:nvSpPr>
          <p:cNvPr id="3" name="Content Placeholder 2"/>
          <p:cNvSpPr>
            <a:spLocks noGrp="1"/>
          </p:cNvSpPr>
          <p:nvPr>
            <p:ph idx="1"/>
          </p:nvPr>
        </p:nvSpPr>
        <p:spPr/>
        <p:txBody>
          <a:bodyPr/>
          <a:lstStyle/>
          <a:p>
            <a:endParaRPr lang="en-IN" dirty="0" smtClean="0"/>
          </a:p>
          <a:p>
            <a:r>
              <a:rPr lang="en-IN" dirty="0" smtClean="0"/>
              <a:t>McCall’s </a:t>
            </a:r>
            <a:r>
              <a:rPr lang="en-IN" dirty="0"/>
              <a:t>Quality </a:t>
            </a:r>
            <a:r>
              <a:rPr lang="en-IN" dirty="0" smtClean="0"/>
              <a:t>Model</a:t>
            </a:r>
          </a:p>
          <a:p>
            <a:r>
              <a:rPr lang="en-US" dirty="0"/>
              <a:t>Boehm’s Quality </a:t>
            </a:r>
            <a:r>
              <a:rPr lang="en-US" dirty="0" smtClean="0"/>
              <a:t>Model</a:t>
            </a:r>
          </a:p>
          <a:p>
            <a:r>
              <a:rPr lang="en-US" dirty="0" smtClean="0"/>
              <a:t>CMMI Quality Model</a:t>
            </a:r>
            <a:endParaRPr lang="en-IN" dirty="0"/>
          </a:p>
        </p:txBody>
      </p:sp>
    </p:spTree>
    <p:extLst>
      <p:ext uri="{BB962C8B-B14F-4D97-AF65-F5344CB8AC3E}">
        <p14:creationId xmlns:p14="http://schemas.microsoft.com/office/powerpoint/2010/main" val="41973606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McCall’s Quality Model</a:t>
            </a:r>
          </a:p>
        </p:txBody>
      </p:sp>
      <p:sp>
        <p:nvSpPr>
          <p:cNvPr id="3" name="Content Placeholder 2"/>
          <p:cNvSpPr>
            <a:spLocks noGrp="1"/>
          </p:cNvSpPr>
          <p:nvPr>
            <p:ph idx="1"/>
          </p:nvPr>
        </p:nvSpPr>
        <p:spPr/>
        <p:txBody>
          <a:bodyPr>
            <a:normAutofit/>
          </a:bodyPr>
          <a:lstStyle/>
          <a:p>
            <a:pPr marL="64008" indent="0">
              <a:buNone/>
            </a:pPr>
            <a:r>
              <a:rPr lang="en-US" dirty="0" smtClean="0"/>
              <a:t>Three </a:t>
            </a:r>
            <a:r>
              <a:rPr lang="en-US" dirty="0"/>
              <a:t>major perspectives for defining and identifying the quality of a software product:</a:t>
            </a:r>
          </a:p>
          <a:p>
            <a:r>
              <a:rPr lang="en-US" b="1" dirty="0"/>
              <a:t>Product Revision</a:t>
            </a:r>
            <a:r>
              <a:rPr lang="en-US" dirty="0"/>
              <a:t> (ability to undergo changes),</a:t>
            </a:r>
          </a:p>
          <a:p>
            <a:r>
              <a:rPr lang="en-US" b="1" dirty="0"/>
              <a:t>Product Transition</a:t>
            </a:r>
            <a:r>
              <a:rPr lang="en-US" dirty="0"/>
              <a:t> (adaptability to new environments), and</a:t>
            </a:r>
          </a:p>
          <a:p>
            <a:r>
              <a:rPr lang="en-US" b="1" dirty="0"/>
              <a:t>Product Operations</a:t>
            </a:r>
            <a:r>
              <a:rPr lang="en-US" dirty="0"/>
              <a:t> (its operation characteristics).</a:t>
            </a:r>
          </a:p>
          <a:p>
            <a:endParaRPr lang="en-IN" dirty="0"/>
          </a:p>
        </p:txBody>
      </p:sp>
    </p:spTree>
    <p:extLst>
      <p:ext uri="{BB962C8B-B14F-4D97-AF65-F5344CB8AC3E}">
        <p14:creationId xmlns:p14="http://schemas.microsoft.com/office/powerpoint/2010/main" val="3936128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McCall’s Quality Model</a:t>
            </a:r>
          </a:p>
        </p:txBody>
      </p:sp>
      <p:sp>
        <p:nvSpPr>
          <p:cNvPr id="3" name="Content Placeholder 2"/>
          <p:cNvSpPr>
            <a:spLocks noGrp="1"/>
          </p:cNvSpPr>
          <p:nvPr>
            <p:ph idx="1"/>
          </p:nvPr>
        </p:nvSpPr>
        <p:spPr/>
        <p:txBody>
          <a:bodyPr/>
          <a:lstStyle/>
          <a:p>
            <a:pPr marL="64008" indent="0">
              <a:buNone/>
            </a:pPr>
            <a:r>
              <a:rPr lang="en-US" b="1" dirty="0"/>
              <a:t>McCall’s Quality Model</a:t>
            </a:r>
            <a:endParaRPr lang="en-US" dirty="0"/>
          </a:p>
          <a:p>
            <a:r>
              <a:rPr lang="en-US" dirty="0"/>
              <a:t>The model details the three types of quality characteristics in a hierarchy of</a:t>
            </a:r>
          </a:p>
          <a:p>
            <a:r>
              <a:rPr lang="en-US" b="1" dirty="0"/>
              <a:t>11 Factors</a:t>
            </a:r>
            <a:r>
              <a:rPr lang="en-US" dirty="0"/>
              <a:t>,</a:t>
            </a:r>
          </a:p>
          <a:p>
            <a:r>
              <a:rPr lang="en-US" b="1" dirty="0"/>
              <a:t>23 Quality Criteria</a:t>
            </a:r>
            <a:r>
              <a:rPr lang="en-US" dirty="0"/>
              <a:t>, and</a:t>
            </a:r>
          </a:p>
          <a:p>
            <a:r>
              <a:rPr lang="en-US" b="1" dirty="0"/>
              <a:t>Metrics</a:t>
            </a:r>
            <a:endParaRPr lang="en-US" dirty="0"/>
          </a:p>
          <a:p>
            <a:endParaRPr lang="en-IN" dirty="0"/>
          </a:p>
        </p:txBody>
      </p:sp>
    </p:spTree>
    <p:extLst>
      <p:ext uri="{BB962C8B-B14F-4D97-AF65-F5344CB8AC3E}">
        <p14:creationId xmlns:p14="http://schemas.microsoft.com/office/powerpoint/2010/main" val="2664828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McCall’s Quality </a:t>
            </a:r>
            <a:r>
              <a:rPr lang="en-IN" dirty="0" smtClean="0"/>
              <a:t>Model</a:t>
            </a:r>
            <a:endParaRPr lang="en-IN" dirty="0"/>
          </a:p>
        </p:txBody>
      </p:sp>
      <p:sp>
        <p:nvSpPr>
          <p:cNvPr id="54" name="object 8"/>
          <p:cNvSpPr/>
          <p:nvPr/>
        </p:nvSpPr>
        <p:spPr>
          <a:xfrm>
            <a:off x="1219200" y="2590800"/>
            <a:ext cx="4343400" cy="2895600"/>
          </a:xfrm>
          <a:custGeom>
            <a:avLst/>
            <a:gdLst/>
            <a:ahLst/>
            <a:cxnLst/>
            <a:rect l="l" t="t" r="r" b="b"/>
            <a:pathLst>
              <a:path w="4343400" h="2895600">
                <a:moveTo>
                  <a:pt x="914400" y="0"/>
                </a:moveTo>
                <a:lnTo>
                  <a:pt x="914400" y="2895600"/>
                </a:lnTo>
              </a:path>
              <a:path w="4343400" h="2895600">
                <a:moveTo>
                  <a:pt x="914400" y="0"/>
                </a:moveTo>
                <a:lnTo>
                  <a:pt x="4191000" y="0"/>
                </a:lnTo>
              </a:path>
              <a:path w="4343400" h="2895600">
                <a:moveTo>
                  <a:pt x="0" y="1447800"/>
                </a:moveTo>
                <a:lnTo>
                  <a:pt x="4114800" y="1447800"/>
                </a:lnTo>
              </a:path>
              <a:path w="4343400" h="2895600">
                <a:moveTo>
                  <a:pt x="914400" y="2895600"/>
                </a:moveTo>
                <a:lnTo>
                  <a:pt x="4343400" y="2895600"/>
                </a:lnTo>
              </a:path>
            </a:pathLst>
          </a:custGeom>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lstStyle/>
          <a:p>
            <a:endParaRPr>
              <a:ln w="0"/>
              <a:effectLst>
                <a:outerShdw blurRad="38100" dist="19050" dir="2700000" algn="tl" rotWithShape="0">
                  <a:schemeClr val="dk1">
                    <a:alpha val="40000"/>
                  </a:schemeClr>
                </a:outerShdw>
              </a:effectLst>
            </a:endParaRPr>
          </a:p>
        </p:txBody>
      </p:sp>
      <p:sp>
        <p:nvSpPr>
          <p:cNvPr id="55" name="object 10"/>
          <p:cNvSpPr txBox="1"/>
          <p:nvPr/>
        </p:nvSpPr>
        <p:spPr>
          <a:xfrm>
            <a:off x="2212594" y="2241930"/>
            <a:ext cx="2922270" cy="299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square" lIns="0" tIns="12700" rIns="0" bIns="0" rtlCol="0">
            <a:spAutoFit/>
          </a:bodyPr>
          <a:lstStyle/>
          <a:p>
            <a:pPr marL="12700">
              <a:lnSpc>
                <a:spcPct val="100000"/>
              </a:lnSpc>
              <a:spcBef>
                <a:spcPts val="100"/>
              </a:spcBef>
            </a:pPr>
            <a:r>
              <a:rPr sz="1800" dirty="0">
                <a:ln w="0"/>
                <a:effectLst>
                  <a:outerShdw blurRad="38100" dist="19050" dir="2700000" algn="tl" rotWithShape="0">
                    <a:schemeClr val="dk1">
                      <a:alpha val="40000"/>
                    </a:schemeClr>
                  </a:outerShdw>
                </a:effectLst>
                <a:latin typeface="Verdana"/>
                <a:cs typeface="Verdana"/>
              </a:rPr>
              <a:t>Product operation factors</a:t>
            </a:r>
          </a:p>
        </p:txBody>
      </p:sp>
      <p:sp>
        <p:nvSpPr>
          <p:cNvPr id="56" name="object 11"/>
          <p:cNvSpPr txBox="1"/>
          <p:nvPr/>
        </p:nvSpPr>
        <p:spPr>
          <a:xfrm>
            <a:off x="2212594" y="3613480"/>
            <a:ext cx="2736850" cy="300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square" lIns="0" tIns="12700" rIns="0" bIns="0" rtlCol="0">
            <a:spAutoFit/>
          </a:bodyPr>
          <a:lstStyle/>
          <a:p>
            <a:pPr marL="12700">
              <a:lnSpc>
                <a:spcPct val="100000"/>
              </a:lnSpc>
              <a:spcBef>
                <a:spcPts val="100"/>
              </a:spcBef>
            </a:pPr>
            <a:r>
              <a:rPr sz="1800" dirty="0">
                <a:ln w="0"/>
                <a:effectLst>
                  <a:outerShdw blurRad="38100" dist="19050" dir="2700000" algn="tl" rotWithShape="0">
                    <a:schemeClr val="dk1">
                      <a:alpha val="40000"/>
                    </a:schemeClr>
                  </a:outerShdw>
                </a:effectLst>
                <a:latin typeface="Verdana"/>
                <a:cs typeface="Verdana"/>
              </a:rPr>
              <a:t>Product revision factors</a:t>
            </a:r>
          </a:p>
        </p:txBody>
      </p:sp>
      <p:sp>
        <p:nvSpPr>
          <p:cNvPr id="57" name="object 12"/>
          <p:cNvSpPr txBox="1"/>
          <p:nvPr/>
        </p:nvSpPr>
        <p:spPr>
          <a:xfrm>
            <a:off x="2425445" y="5017389"/>
            <a:ext cx="2922270" cy="2997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square" lIns="0" tIns="12700" rIns="0" bIns="0" rtlCol="0">
            <a:spAutoFit/>
          </a:bodyPr>
          <a:lstStyle/>
          <a:p>
            <a:pPr marL="12700">
              <a:lnSpc>
                <a:spcPct val="100000"/>
              </a:lnSpc>
              <a:spcBef>
                <a:spcPts val="100"/>
              </a:spcBef>
            </a:pPr>
            <a:r>
              <a:rPr sz="1800" dirty="0">
                <a:ln w="0"/>
                <a:effectLst>
                  <a:outerShdw blurRad="38100" dist="19050" dir="2700000" algn="tl" rotWithShape="0">
                    <a:schemeClr val="dk1">
                      <a:alpha val="40000"/>
                    </a:schemeClr>
                  </a:outerShdw>
                </a:effectLst>
                <a:latin typeface="Verdana"/>
                <a:cs typeface="Verdana"/>
              </a:rPr>
              <a:t>Product transition factors</a:t>
            </a:r>
            <a:endParaRPr sz="1800">
              <a:ln w="0"/>
              <a:effectLst>
                <a:outerShdw blurRad="38100" dist="19050" dir="2700000" algn="tl" rotWithShape="0">
                  <a:schemeClr val="dk1">
                    <a:alpha val="40000"/>
                  </a:schemeClr>
                </a:outerShdw>
              </a:effectLst>
              <a:latin typeface="Verdana"/>
              <a:cs typeface="Verdana"/>
            </a:endParaRPr>
          </a:p>
        </p:txBody>
      </p:sp>
      <p:sp>
        <p:nvSpPr>
          <p:cNvPr id="58" name="object 13"/>
          <p:cNvSpPr txBox="1"/>
          <p:nvPr/>
        </p:nvSpPr>
        <p:spPr>
          <a:xfrm>
            <a:off x="5626353" y="1892249"/>
            <a:ext cx="1383665" cy="139763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square" lIns="0" tIns="12700" rIns="0" bIns="0" rtlCol="0">
            <a:spAutoFit/>
          </a:bodyPr>
          <a:lstStyle/>
          <a:p>
            <a:pPr marL="12700" marR="5080">
              <a:lnSpc>
                <a:spcPct val="100000"/>
              </a:lnSpc>
              <a:spcBef>
                <a:spcPts val="100"/>
              </a:spcBef>
            </a:pPr>
            <a:r>
              <a:rPr sz="1800" dirty="0">
                <a:ln w="0"/>
                <a:effectLst>
                  <a:outerShdw blurRad="38100" dist="19050" dir="2700000" algn="tl" rotWithShape="0">
                    <a:schemeClr val="dk1">
                      <a:alpha val="40000"/>
                    </a:schemeClr>
                  </a:outerShdw>
                </a:effectLst>
                <a:latin typeface="Verdana"/>
                <a:cs typeface="Verdana"/>
              </a:rPr>
              <a:t>Correctness Reliability Efficiency Integrity Usability</a:t>
            </a:r>
            <a:endParaRPr sz="1800">
              <a:ln w="0"/>
              <a:effectLst>
                <a:outerShdw blurRad="38100" dist="19050" dir="2700000" algn="tl" rotWithShape="0">
                  <a:schemeClr val="dk1">
                    <a:alpha val="40000"/>
                  </a:schemeClr>
                </a:outerShdw>
              </a:effectLst>
              <a:latin typeface="Verdana"/>
              <a:cs typeface="Verdana"/>
            </a:endParaRPr>
          </a:p>
        </p:txBody>
      </p:sp>
      <p:sp>
        <p:nvSpPr>
          <p:cNvPr id="59" name="object 14"/>
          <p:cNvSpPr txBox="1"/>
          <p:nvPr/>
        </p:nvSpPr>
        <p:spPr>
          <a:xfrm>
            <a:off x="5473953" y="3645534"/>
            <a:ext cx="1692275" cy="8483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square" lIns="0" tIns="12700" rIns="0" bIns="0" rtlCol="0">
            <a:spAutoFit/>
          </a:bodyPr>
          <a:lstStyle/>
          <a:p>
            <a:pPr marL="12700" marR="5080">
              <a:lnSpc>
                <a:spcPct val="100000"/>
              </a:lnSpc>
              <a:spcBef>
                <a:spcPts val="100"/>
              </a:spcBef>
            </a:pPr>
            <a:r>
              <a:rPr sz="1800" dirty="0">
                <a:ln w="0"/>
                <a:effectLst>
                  <a:outerShdw blurRad="38100" dist="19050" dir="2700000" algn="tl" rotWithShape="0">
                    <a:schemeClr val="dk1">
                      <a:alpha val="40000"/>
                    </a:schemeClr>
                  </a:outerShdw>
                </a:effectLst>
                <a:latin typeface="Verdana"/>
                <a:cs typeface="Verdana"/>
              </a:rPr>
              <a:t>Maintainability Flexibility Testability</a:t>
            </a:r>
          </a:p>
        </p:txBody>
      </p:sp>
      <p:sp>
        <p:nvSpPr>
          <p:cNvPr id="60" name="object 15"/>
          <p:cNvSpPr txBox="1"/>
          <p:nvPr/>
        </p:nvSpPr>
        <p:spPr>
          <a:xfrm>
            <a:off x="5778753" y="4940884"/>
            <a:ext cx="1792605" cy="848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square" lIns="0" tIns="12700" rIns="0" bIns="0" rtlCol="0">
            <a:spAutoFit/>
          </a:bodyPr>
          <a:lstStyle/>
          <a:p>
            <a:pPr marL="12700" marR="5080">
              <a:lnSpc>
                <a:spcPct val="100000"/>
              </a:lnSpc>
              <a:spcBef>
                <a:spcPts val="100"/>
              </a:spcBef>
            </a:pPr>
            <a:r>
              <a:rPr sz="1800" dirty="0">
                <a:ln w="0"/>
                <a:effectLst>
                  <a:outerShdw blurRad="38100" dist="19050" dir="2700000" algn="tl" rotWithShape="0">
                    <a:schemeClr val="dk1">
                      <a:alpha val="40000"/>
                    </a:schemeClr>
                  </a:outerShdw>
                </a:effectLst>
                <a:latin typeface="Verdana"/>
                <a:cs typeface="Verdana"/>
              </a:rPr>
              <a:t>Portability Reusability Interoperability</a:t>
            </a:r>
          </a:p>
        </p:txBody>
      </p:sp>
      <p:sp>
        <p:nvSpPr>
          <p:cNvPr id="61" name="TextBox 60"/>
          <p:cNvSpPr txBox="1"/>
          <p:nvPr/>
        </p:nvSpPr>
        <p:spPr>
          <a:xfrm>
            <a:off x="121540" y="3715434"/>
            <a:ext cx="1219200" cy="646331"/>
          </a:xfrm>
          <a:prstGeom prst="rect">
            <a:avLst/>
          </a:prstGeom>
          <a:solidFill>
            <a:schemeClr val="accent1"/>
          </a:solidFill>
        </p:spPr>
        <p:txBody>
          <a:bodyPr wrap="square" rtlCol="0">
            <a:spAutoFit/>
          </a:bodyPr>
          <a:lstStyle/>
          <a:p>
            <a:r>
              <a:rPr lang="en-US" dirty="0" smtClean="0"/>
              <a:t>Quality Software</a:t>
            </a:r>
            <a:endParaRPr lang="en-IN" dirty="0"/>
          </a:p>
        </p:txBody>
      </p:sp>
    </p:spTree>
    <p:extLst>
      <p:ext uri="{BB962C8B-B14F-4D97-AF65-F5344CB8AC3E}">
        <p14:creationId xmlns:p14="http://schemas.microsoft.com/office/powerpoint/2010/main" val="2938565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McCall’s Quality </a:t>
            </a:r>
            <a:r>
              <a:rPr lang="en-IN" dirty="0" smtClean="0"/>
              <a:t>Model</a:t>
            </a:r>
            <a:br>
              <a:rPr lang="en-IN" dirty="0" smtClean="0"/>
            </a:br>
            <a:endParaRPr lang="en-IN" dirty="0"/>
          </a:p>
        </p:txBody>
      </p:sp>
      <p:pic>
        <p:nvPicPr>
          <p:cNvPr id="4" name="Content Placeholder 3" descr="07-Software-Quality-Models-Presentation-pptx-7-638.jpg"/>
          <p:cNvPicPr>
            <a:picLocks noGrp="1"/>
          </p:cNvPicPr>
          <p:nvPr>
            <p:ph idx="1"/>
          </p:nvPr>
        </p:nvPicPr>
        <p:blipFill rotWithShape="1">
          <a:blip r:embed="rId2"/>
          <a:srcRect l="11700" t="30129" r="3364" b="2777"/>
          <a:stretch/>
        </p:blipFill>
        <p:spPr bwMode="auto">
          <a:xfrm>
            <a:off x="1143000" y="1981200"/>
            <a:ext cx="6858000" cy="464819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6129805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descr="08-Software-Quality-Models-Presentation-pptx-8-638.jpg"/>
          <p:cNvPicPr>
            <a:picLocks noGrp="1"/>
          </p:cNvPicPr>
          <p:nvPr>
            <p:ph idx="1"/>
          </p:nvPr>
        </p:nvPicPr>
        <p:blipFill rotWithShape="1">
          <a:blip r:embed="rId2"/>
          <a:srcRect l="5443" t="31394" r="4561" b="1492"/>
          <a:stretch/>
        </p:blipFill>
        <p:spPr bwMode="auto">
          <a:xfrm>
            <a:off x="1447800" y="2209800"/>
            <a:ext cx="6477000" cy="4191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86495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descr="09-Software-Quality-Models-Presentation-pptx-9-638.jpg"/>
          <p:cNvPicPr>
            <a:picLocks noGrp="1"/>
          </p:cNvPicPr>
          <p:nvPr>
            <p:ph idx="1"/>
          </p:nvPr>
        </p:nvPicPr>
        <p:blipFill rotWithShape="1">
          <a:blip r:embed="rId2"/>
          <a:srcRect l="7533" t="33333" r="1923" b="28205"/>
          <a:stretch/>
        </p:blipFill>
        <p:spPr bwMode="auto">
          <a:xfrm>
            <a:off x="1143000" y="2362200"/>
            <a:ext cx="6477000" cy="32004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003692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descr="10-Software-Quality-Models-Presentation-pptx-10-638.jpg"/>
          <p:cNvPicPr>
            <a:picLocks noGrp="1" noChangeAspect="1"/>
          </p:cNvPicPr>
          <p:nvPr>
            <p:ph idx="1"/>
          </p:nvPr>
        </p:nvPicPr>
        <p:blipFill rotWithShape="1">
          <a:blip r:embed="rId2"/>
          <a:srcRect l="7367" t="33752" r="2351" b="29428"/>
          <a:stretch/>
        </p:blipFill>
        <p:spPr>
          <a:xfrm>
            <a:off x="1524000" y="2590800"/>
            <a:ext cx="6248400" cy="3276600"/>
          </a:xfrm>
          <a:prstGeom prst="rect">
            <a:avLst/>
          </a:prstGeom>
        </p:spPr>
      </p:pic>
    </p:spTree>
    <p:extLst>
      <p:ext uri="{BB962C8B-B14F-4D97-AF65-F5344CB8AC3E}">
        <p14:creationId xmlns:p14="http://schemas.microsoft.com/office/powerpoint/2010/main" val="31493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McCall’s Quality Model</a:t>
            </a:r>
          </a:p>
        </p:txBody>
      </p:sp>
      <p:pic>
        <p:nvPicPr>
          <p:cNvPr id="4" name="object 3"/>
          <p:cNvPicPr>
            <a:picLocks noGrp="1"/>
          </p:cNvPicPr>
          <p:nvPr>
            <p:ph idx="1"/>
          </p:nvPr>
        </p:nvPicPr>
        <p:blipFill>
          <a:blip r:embed="rId2" cstate="print"/>
          <a:stretch>
            <a:fillRect/>
          </a:stretch>
        </p:blipFill>
        <p:spPr>
          <a:xfrm>
            <a:off x="1066800" y="1666526"/>
            <a:ext cx="6705600" cy="4886674"/>
          </a:xfrm>
          <a:prstGeom prst="rect">
            <a:avLst/>
          </a:prstGeom>
        </p:spPr>
      </p:pic>
    </p:spTree>
    <p:extLst>
      <p:ext uri="{BB962C8B-B14F-4D97-AF65-F5344CB8AC3E}">
        <p14:creationId xmlns:p14="http://schemas.microsoft.com/office/powerpoint/2010/main" val="20937334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McCall’s Quality Model</a:t>
            </a:r>
          </a:p>
        </p:txBody>
      </p:sp>
      <p:pic>
        <p:nvPicPr>
          <p:cNvPr id="4" name="object 2"/>
          <p:cNvPicPr>
            <a:picLocks noGrp="1"/>
          </p:cNvPicPr>
          <p:nvPr>
            <p:ph idx="1"/>
          </p:nvPr>
        </p:nvPicPr>
        <p:blipFill>
          <a:blip r:embed="rId2" cstate="print"/>
          <a:stretch>
            <a:fillRect/>
          </a:stretch>
        </p:blipFill>
        <p:spPr>
          <a:xfrm>
            <a:off x="1295400" y="1828800"/>
            <a:ext cx="6553200" cy="4953000"/>
          </a:xfrm>
          <a:prstGeom prst="rect">
            <a:avLst/>
          </a:prstGeom>
        </p:spPr>
      </p:pic>
    </p:spTree>
    <p:extLst>
      <p:ext uri="{BB962C8B-B14F-4D97-AF65-F5344CB8AC3E}">
        <p14:creationId xmlns:p14="http://schemas.microsoft.com/office/powerpoint/2010/main" val="6789184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Boehm’s Quality </a:t>
            </a:r>
            <a:r>
              <a:rPr lang="en-US" b="1" dirty="0" smtClean="0"/>
              <a:t>Model</a:t>
            </a:r>
            <a:endParaRPr lang="en-IN" dirty="0"/>
          </a:p>
        </p:txBody>
      </p:sp>
      <p:sp>
        <p:nvSpPr>
          <p:cNvPr id="3" name="Content Placeholder 2"/>
          <p:cNvSpPr>
            <a:spLocks noGrp="1"/>
          </p:cNvSpPr>
          <p:nvPr>
            <p:ph idx="1"/>
          </p:nvPr>
        </p:nvSpPr>
        <p:spPr/>
        <p:txBody>
          <a:bodyPr/>
          <a:lstStyle/>
          <a:p>
            <a:r>
              <a:rPr lang="en-US" dirty="0" smtClean="0"/>
              <a:t>Similar </a:t>
            </a:r>
            <a:r>
              <a:rPr lang="en-US" dirty="0"/>
              <a:t>to the McCall Quality Model</a:t>
            </a:r>
          </a:p>
          <a:p>
            <a:r>
              <a:rPr lang="en-US" dirty="0"/>
              <a:t>Presents a hierarchical quality model structured around:</a:t>
            </a:r>
          </a:p>
          <a:p>
            <a:pPr lvl="1"/>
            <a:r>
              <a:rPr lang="en-US" b="1" dirty="0"/>
              <a:t>High-level characteristics</a:t>
            </a:r>
            <a:r>
              <a:rPr lang="en-US" dirty="0"/>
              <a:t>,</a:t>
            </a:r>
          </a:p>
          <a:p>
            <a:pPr lvl="1"/>
            <a:r>
              <a:rPr lang="en-US" b="1" dirty="0"/>
              <a:t>Intermediate level characteristics</a:t>
            </a:r>
            <a:r>
              <a:rPr lang="en-US" dirty="0"/>
              <a:t>,</a:t>
            </a:r>
          </a:p>
          <a:p>
            <a:pPr lvl="1"/>
            <a:r>
              <a:rPr lang="en-US" b="1" dirty="0"/>
              <a:t>Primitive characteristics</a:t>
            </a:r>
            <a:endParaRPr lang="en-US" dirty="0"/>
          </a:p>
          <a:p>
            <a:endParaRPr lang="en-IN" dirty="0"/>
          </a:p>
        </p:txBody>
      </p:sp>
    </p:spTree>
    <p:extLst>
      <p:ext uri="{BB962C8B-B14F-4D97-AF65-F5344CB8AC3E}">
        <p14:creationId xmlns:p14="http://schemas.microsoft.com/office/powerpoint/2010/main" val="17284393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Boehm’s Quality Model</a:t>
            </a:r>
            <a:endParaRPr lang="en-IN" dirty="0"/>
          </a:p>
        </p:txBody>
      </p:sp>
      <p:sp>
        <p:nvSpPr>
          <p:cNvPr id="3" name="Content Placeholder 2"/>
          <p:cNvSpPr>
            <a:spLocks noGrp="1"/>
          </p:cNvSpPr>
          <p:nvPr>
            <p:ph idx="1"/>
          </p:nvPr>
        </p:nvSpPr>
        <p:spPr/>
        <p:txBody>
          <a:bodyPr>
            <a:normAutofit lnSpcReduction="10000"/>
          </a:bodyPr>
          <a:lstStyle/>
          <a:p>
            <a:pPr marL="64008" indent="0">
              <a:buNone/>
            </a:pPr>
            <a:r>
              <a:rPr lang="en-US" b="1" dirty="0"/>
              <a:t>The Highest Level</a:t>
            </a:r>
            <a:endParaRPr lang="en-US" dirty="0"/>
          </a:p>
          <a:p>
            <a:r>
              <a:rPr lang="en-US" b="1" dirty="0"/>
              <a:t>As is utility</a:t>
            </a:r>
            <a:r>
              <a:rPr lang="en-US" dirty="0"/>
              <a:t/>
            </a:r>
            <a:br>
              <a:rPr lang="en-US" dirty="0"/>
            </a:br>
            <a:r>
              <a:rPr lang="en-US" dirty="0"/>
              <a:t>▪️ Extent to which we can use software as-is.</a:t>
            </a:r>
          </a:p>
          <a:p>
            <a:r>
              <a:rPr lang="en-US" b="1" dirty="0"/>
              <a:t>Maintainability</a:t>
            </a:r>
            <a:r>
              <a:rPr lang="en-US" dirty="0"/>
              <a:t/>
            </a:r>
            <a:br>
              <a:rPr lang="en-US" dirty="0"/>
            </a:br>
            <a:r>
              <a:rPr lang="en-US" dirty="0"/>
              <a:t>▪️ Effort required to detect and fix an error during maintenance.</a:t>
            </a:r>
          </a:p>
          <a:p>
            <a:r>
              <a:rPr lang="en-US" b="1" dirty="0"/>
              <a:t>Portability</a:t>
            </a:r>
            <a:r>
              <a:rPr lang="en-US" dirty="0"/>
              <a:t/>
            </a:r>
            <a:br>
              <a:rPr lang="en-US" dirty="0"/>
            </a:br>
            <a:r>
              <a:rPr lang="en-US" dirty="0"/>
              <a:t>▪️ Effort required to change software to fit in a new environment.</a:t>
            </a:r>
          </a:p>
          <a:p>
            <a:endParaRPr lang="en-IN" dirty="0"/>
          </a:p>
        </p:txBody>
      </p:sp>
    </p:spTree>
    <p:extLst>
      <p:ext uri="{BB962C8B-B14F-4D97-AF65-F5344CB8AC3E}">
        <p14:creationId xmlns:p14="http://schemas.microsoft.com/office/powerpoint/2010/main" val="10079236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Boehm’s Quality Model</a:t>
            </a:r>
            <a:endParaRPr lang="en-IN" dirty="0"/>
          </a:p>
        </p:txBody>
      </p:sp>
      <p:sp>
        <p:nvSpPr>
          <p:cNvPr id="3" name="Content Placeholder 2"/>
          <p:cNvSpPr>
            <a:spLocks noGrp="1"/>
          </p:cNvSpPr>
          <p:nvPr>
            <p:ph idx="1"/>
          </p:nvPr>
        </p:nvSpPr>
        <p:spPr/>
        <p:txBody>
          <a:bodyPr>
            <a:normAutofit fontScale="85000" lnSpcReduction="20000"/>
          </a:bodyPr>
          <a:lstStyle/>
          <a:p>
            <a:pPr marL="64008" indent="0">
              <a:buNone/>
            </a:pPr>
            <a:r>
              <a:rPr lang="en-US" b="1" dirty="0"/>
              <a:t>Intermediate Level Characteristic</a:t>
            </a:r>
            <a:endParaRPr lang="en-US" dirty="0"/>
          </a:p>
          <a:p>
            <a:r>
              <a:rPr lang="en-US" b="1" dirty="0"/>
              <a:t>Portability</a:t>
            </a:r>
            <a:r>
              <a:rPr lang="en-US" dirty="0"/>
              <a:t> –</a:t>
            </a:r>
            <a:br>
              <a:rPr lang="en-US" dirty="0"/>
            </a:br>
            <a:r>
              <a:rPr lang="en-US" dirty="0"/>
              <a:t>Effort required to change software to fit in a new environment.</a:t>
            </a:r>
          </a:p>
          <a:p>
            <a:r>
              <a:rPr lang="en-US" b="1" dirty="0"/>
              <a:t>Reliability</a:t>
            </a:r>
            <a:r>
              <a:rPr lang="en-US" dirty="0"/>
              <a:t> –</a:t>
            </a:r>
            <a:br>
              <a:rPr lang="en-US" dirty="0"/>
            </a:br>
            <a:r>
              <a:rPr lang="en-US" dirty="0"/>
              <a:t>Extent to which software performs according to requirements.</a:t>
            </a:r>
          </a:p>
          <a:p>
            <a:r>
              <a:rPr lang="en-US" b="1" dirty="0"/>
              <a:t>Efficiency</a:t>
            </a:r>
            <a:r>
              <a:rPr lang="en-US" dirty="0"/>
              <a:t> –</a:t>
            </a:r>
            <a:br>
              <a:rPr lang="en-US" dirty="0"/>
            </a:br>
            <a:r>
              <a:rPr lang="en-US" dirty="0"/>
              <a:t>Amount of hardware resources and code required to execute a function.</a:t>
            </a:r>
          </a:p>
          <a:p>
            <a:r>
              <a:rPr lang="en-US" b="1" dirty="0"/>
              <a:t>Usability (Human Engineering)</a:t>
            </a:r>
            <a:r>
              <a:rPr lang="en-US" dirty="0"/>
              <a:t> –</a:t>
            </a:r>
            <a:br>
              <a:rPr lang="en-US" dirty="0"/>
            </a:br>
            <a:r>
              <a:rPr lang="en-US" dirty="0"/>
              <a:t>Extent of effort required to learn, operate and understand functions of the software.</a:t>
            </a:r>
          </a:p>
          <a:p>
            <a:endParaRPr lang="en-IN" dirty="0"/>
          </a:p>
        </p:txBody>
      </p:sp>
    </p:spTree>
    <p:extLst>
      <p:ext uri="{BB962C8B-B14F-4D97-AF65-F5344CB8AC3E}">
        <p14:creationId xmlns:p14="http://schemas.microsoft.com/office/powerpoint/2010/main" val="3314178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Boehm’s Quality Model</a:t>
            </a:r>
            <a:endParaRPr lang="en-IN" dirty="0"/>
          </a:p>
        </p:txBody>
      </p:sp>
      <p:sp>
        <p:nvSpPr>
          <p:cNvPr id="3" name="Content Placeholder 2"/>
          <p:cNvSpPr>
            <a:spLocks noGrp="1"/>
          </p:cNvSpPr>
          <p:nvPr>
            <p:ph idx="1"/>
          </p:nvPr>
        </p:nvSpPr>
        <p:spPr/>
        <p:txBody>
          <a:bodyPr>
            <a:normAutofit lnSpcReduction="10000"/>
          </a:bodyPr>
          <a:lstStyle/>
          <a:p>
            <a:pPr marL="64008" indent="0">
              <a:buNone/>
            </a:pPr>
            <a:r>
              <a:rPr lang="en-US" b="1" dirty="0"/>
              <a:t>Intermediate Level Characteristic (cont.)</a:t>
            </a:r>
            <a:endParaRPr lang="en-US" dirty="0"/>
          </a:p>
          <a:p>
            <a:r>
              <a:rPr lang="en-US" b="1" dirty="0"/>
              <a:t>Testability</a:t>
            </a:r>
            <a:r>
              <a:rPr lang="en-US" dirty="0"/>
              <a:t> –</a:t>
            </a:r>
            <a:br>
              <a:rPr lang="en-US" dirty="0"/>
            </a:br>
            <a:r>
              <a:rPr lang="en-US" dirty="0"/>
              <a:t>Effort required to verify that software performs its intended functions.</a:t>
            </a:r>
          </a:p>
          <a:p>
            <a:r>
              <a:rPr lang="en-US" b="1" dirty="0"/>
              <a:t>Understandability</a:t>
            </a:r>
            <a:r>
              <a:rPr lang="en-US" dirty="0"/>
              <a:t> –</a:t>
            </a:r>
            <a:br>
              <a:rPr lang="en-US" dirty="0"/>
            </a:br>
            <a:r>
              <a:rPr lang="en-US" dirty="0"/>
              <a:t>Effort required for a user to recognize logical concept and its applicability.</a:t>
            </a:r>
          </a:p>
          <a:p>
            <a:r>
              <a:rPr lang="en-US" b="1" dirty="0"/>
              <a:t>Modifiability</a:t>
            </a:r>
            <a:r>
              <a:rPr lang="en-US" dirty="0"/>
              <a:t> –</a:t>
            </a:r>
            <a:br>
              <a:rPr lang="en-US" dirty="0"/>
            </a:br>
            <a:r>
              <a:rPr lang="en-US" dirty="0"/>
              <a:t>Effort required to modify a software during maintenance phase.</a:t>
            </a:r>
          </a:p>
          <a:p>
            <a:endParaRPr lang="en-IN" dirty="0"/>
          </a:p>
        </p:txBody>
      </p:sp>
    </p:spTree>
    <p:extLst>
      <p:ext uri="{BB962C8B-B14F-4D97-AF65-F5344CB8AC3E}">
        <p14:creationId xmlns:p14="http://schemas.microsoft.com/office/powerpoint/2010/main" val="33082899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Boehm’s Quality Model</a:t>
            </a:r>
            <a:endParaRPr lang="en-IN" dirty="0"/>
          </a:p>
        </p:txBody>
      </p:sp>
      <p:pic>
        <p:nvPicPr>
          <p:cNvPr id="4" name="Content Placeholder 3" descr="16-Software-Quality-Models-Presentation-pptx-16-638.jpg"/>
          <p:cNvPicPr>
            <a:picLocks noGrp="1" noChangeAspect="1"/>
          </p:cNvPicPr>
          <p:nvPr>
            <p:ph idx="1"/>
          </p:nvPr>
        </p:nvPicPr>
        <p:blipFill>
          <a:blip r:embed="rId2"/>
          <a:stretch>
            <a:fillRect/>
          </a:stretch>
        </p:blipFill>
        <p:spPr>
          <a:xfrm>
            <a:off x="1600200" y="1524000"/>
            <a:ext cx="6553200" cy="5029200"/>
          </a:xfrm>
          <a:prstGeom prst="rect">
            <a:avLst/>
          </a:prstGeom>
        </p:spPr>
      </p:pic>
    </p:spTree>
    <p:extLst>
      <p:ext uri="{BB962C8B-B14F-4D97-AF65-F5344CB8AC3E}">
        <p14:creationId xmlns:p14="http://schemas.microsoft.com/office/powerpoint/2010/main" val="24093437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Boehm’s Quality Model</a:t>
            </a:r>
            <a:endParaRPr lang="en-IN" dirty="0"/>
          </a:p>
        </p:txBody>
      </p:sp>
      <p:sp>
        <p:nvSpPr>
          <p:cNvPr id="3" name="Content Placeholder 2"/>
          <p:cNvSpPr>
            <a:spLocks noGrp="1"/>
          </p:cNvSpPr>
          <p:nvPr>
            <p:ph idx="1"/>
          </p:nvPr>
        </p:nvSpPr>
        <p:spPr/>
        <p:txBody>
          <a:bodyPr>
            <a:normAutofit fontScale="92500" lnSpcReduction="10000"/>
          </a:bodyPr>
          <a:lstStyle/>
          <a:p>
            <a:pPr marL="64008" indent="0">
              <a:buNone/>
            </a:pPr>
            <a:r>
              <a:rPr lang="en-US" b="1" dirty="0"/>
              <a:t>Advantages:</a:t>
            </a:r>
          </a:p>
          <a:p>
            <a:r>
              <a:rPr lang="en-US" dirty="0"/>
              <a:t>It focuses and tries to satisfy the needs of the user.</a:t>
            </a:r>
          </a:p>
          <a:p>
            <a:r>
              <a:rPr lang="en-US" dirty="0"/>
              <a:t>It focuses on software maintenance cost effectiveness.</a:t>
            </a:r>
          </a:p>
          <a:p>
            <a:pPr marL="64008" indent="0">
              <a:buNone/>
            </a:pPr>
            <a:r>
              <a:rPr lang="en-US" b="1" dirty="0"/>
              <a:t>Disadvantages:</a:t>
            </a:r>
          </a:p>
          <a:p>
            <a:r>
              <a:rPr lang="en-US" dirty="0"/>
              <a:t>It doesn’t suggest how to measure the quality characteristics.</a:t>
            </a:r>
          </a:p>
          <a:p>
            <a:r>
              <a:rPr lang="en-US" dirty="0"/>
              <a:t>It is difficult to evaluate the quality of software using the top-down approach.</a:t>
            </a:r>
          </a:p>
          <a:p>
            <a:endParaRPr lang="en-IN" dirty="0"/>
          </a:p>
        </p:txBody>
      </p:sp>
    </p:spTree>
    <p:extLst>
      <p:ext uri="{BB962C8B-B14F-4D97-AF65-F5344CB8AC3E}">
        <p14:creationId xmlns:p14="http://schemas.microsoft.com/office/powerpoint/2010/main" val="14425395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CMMI:</a:t>
            </a:r>
            <a:r>
              <a:rPr lang="en-GB" sz="4400" dirty="0"/>
              <a:t> Capability Maturity Model Integration</a:t>
            </a:r>
            <a:endParaRPr lang="en-IN" dirty="0"/>
          </a:p>
        </p:txBody>
      </p:sp>
      <p:sp>
        <p:nvSpPr>
          <p:cNvPr id="3" name="Content Placeholder 2"/>
          <p:cNvSpPr>
            <a:spLocks noGrp="1"/>
          </p:cNvSpPr>
          <p:nvPr>
            <p:ph idx="1"/>
          </p:nvPr>
        </p:nvSpPr>
        <p:spPr/>
        <p:txBody>
          <a:bodyPr>
            <a:normAutofit lnSpcReduction="10000"/>
          </a:bodyPr>
          <a:lstStyle/>
          <a:p>
            <a:pPr>
              <a:lnSpc>
                <a:spcPct val="80000"/>
              </a:lnSpc>
            </a:pPr>
            <a:r>
              <a:rPr lang="en-GB" sz="2800" dirty="0"/>
              <a:t>CMMI (Capability Maturity Model Integration) is a proven industry framework to improve product quality and development efficiency for both hardware and software</a:t>
            </a:r>
          </a:p>
          <a:p>
            <a:pPr lvl="1">
              <a:lnSpc>
                <a:spcPct val="80000"/>
              </a:lnSpc>
            </a:pPr>
            <a:r>
              <a:rPr lang="en-GB" sz="2800" dirty="0"/>
              <a:t>Sponsored by US Department of Defence in cooperation with </a:t>
            </a:r>
            <a:r>
              <a:rPr lang="en-US" sz="2800" dirty="0"/>
              <a:t>Carnegie Mellon University and the Software Engineering Institute (SEI)</a:t>
            </a:r>
            <a:endParaRPr lang="en-GB" sz="2800" dirty="0"/>
          </a:p>
          <a:p>
            <a:pPr lvl="1">
              <a:lnSpc>
                <a:spcPct val="80000"/>
              </a:lnSpc>
            </a:pPr>
            <a:r>
              <a:rPr lang="en-GB" sz="2800" dirty="0"/>
              <a:t>Many companies have been involved in CMMI definition such as Motorola and Ericsson</a:t>
            </a:r>
          </a:p>
          <a:p>
            <a:pPr lvl="1">
              <a:lnSpc>
                <a:spcPct val="80000"/>
              </a:lnSpc>
            </a:pPr>
            <a:r>
              <a:rPr lang="en-GB" sz="2800" dirty="0"/>
              <a:t>CMMI has been established as a model to improve business results</a:t>
            </a:r>
          </a:p>
          <a:p>
            <a:endParaRPr lang="en-IN" dirty="0"/>
          </a:p>
        </p:txBody>
      </p:sp>
    </p:spTree>
    <p:extLst>
      <p:ext uri="{BB962C8B-B14F-4D97-AF65-F5344CB8AC3E}">
        <p14:creationId xmlns:p14="http://schemas.microsoft.com/office/powerpoint/2010/main" val="30988043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CMMI:</a:t>
            </a:r>
            <a:r>
              <a:rPr lang="en-GB" sz="4000" dirty="0"/>
              <a:t> Capability Maturity Model Integration</a:t>
            </a:r>
            <a:endParaRPr lang="en-IN" dirty="0"/>
          </a:p>
        </p:txBody>
      </p:sp>
      <p:sp>
        <p:nvSpPr>
          <p:cNvPr id="3" name="Content Placeholder 2"/>
          <p:cNvSpPr>
            <a:spLocks noGrp="1"/>
          </p:cNvSpPr>
          <p:nvPr>
            <p:ph idx="1"/>
          </p:nvPr>
        </p:nvSpPr>
        <p:spPr/>
        <p:txBody>
          <a:bodyPr/>
          <a:lstStyle/>
          <a:p>
            <a:pPr>
              <a:lnSpc>
                <a:spcPct val="80000"/>
              </a:lnSpc>
            </a:pPr>
            <a:r>
              <a:rPr lang="en-GB" sz="2800" dirty="0"/>
              <a:t>CMMI, staged, uses 5 levels to describe the maturity of the organization, same as predecessor CMM</a:t>
            </a:r>
          </a:p>
          <a:p>
            <a:pPr lvl="1">
              <a:lnSpc>
                <a:spcPct val="80000"/>
              </a:lnSpc>
            </a:pPr>
            <a:r>
              <a:rPr lang="en-GB" sz="2800" dirty="0"/>
              <a:t>Vastly improved version of the CMM </a:t>
            </a:r>
          </a:p>
          <a:p>
            <a:pPr lvl="1">
              <a:lnSpc>
                <a:spcPct val="80000"/>
              </a:lnSpc>
            </a:pPr>
            <a:r>
              <a:rPr lang="en-GB" sz="2800" dirty="0"/>
              <a:t>Emphasis on business needs, integration and institutionalization</a:t>
            </a:r>
          </a:p>
          <a:p>
            <a:endParaRPr lang="en-IN" dirty="0"/>
          </a:p>
        </p:txBody>
      </p:sp>
    </p:spTree>
    <p:extLst>
      <p:ext uri="{BB962C8B-B14F-4D97-AF65-F5344CB8AC3E}">
        <p14:creationId xmlns:p14="http://schemas.microsoft.com/office/powerpoint/2010/main" val="39096331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CMMI:</a:t>
            </a:r>
            <a:r>
              <a:rPr lang="en-GB" sz="4000" dirty="0"/>
              <a:t> Capability Maturity Model Integration</a:t>
            </a:r>
            <a:endParaRPr lang="en-IN" dirty="0"/>
          </a:p>
        </p:txBody>
      </p:sp>
      <p:sp>
        <p:nvSpPr>
          <p:cNvPr id="3" name="Content Placeholder 2"/>
          <p:cNvSpPr>
            <a:spLocks noGrp="1"/>
          </p:cNvSpPr>
          <p:nvPr>
            <p:ph idx="1"/>
          </p:nvPr>
        </p:nvSpPr>
        <p:spPr/>
        <p:txBody>
          <a:bodyPr>
            <a:normAutofit fontScale="92500" lnSpcReduction="20000"/>
          </a:bodyPr>
          <a:lstStyle/>
          <a:p>
            <a:pPr marL="342900" indent="-342900"/>
            <a:r>
              <a:rPr lang="en-US" altLang="zh-CN" dirty="0"/>
              <a:t>Models:</a:t>
            </a:r>
          </a:p>
          <a:p>
            <a:pPr marL="742950" lvl="1"/>
            <a:r>
              <a:rPr lang="en-US" altLang="zh-CN" sz="3000" dirty="0"/>
              <a:t>Systems Engineering + Software Engineering (SE/SW)</a:t>
            </a:r>
          </a:p>
          <a:p>
            <a:pPr marL="742950" lvl="1"/>
            <a:r>
              <a:rPr lang="en-US" altLang="zh-CN" sz="3000" dirty="0"/>
              <a:t>Systems Engineering + Software Engineering + Integrated Product and Process Development (IPPD) </a:t>
            </a:r>
          </a:p>
          <a:p>
            <a:pPr marL="742950" lvl="1"/>
            <a:r>
              <a:rPr lang="en-US" altLang="zh-CN" sz="3000" dirty="0"/>
              <a:t>Systems Engineering + Software Engineering + Integrated Product and Process Development + Supplier Sourcing (SS)</a:t>
            </a:r>
          </a:p>
          <a:p>
            <a:pPr marL="742950" lvl="1"/>
            <a:r>
              <a:rPr lang="en-US" altLang="zh-CN" sz="3000" dirty="0"/>
              <a:t>Software Engineering only</a:t>
            </a:r>
          </a:p>
          <a:p>
            <a:endParaRPr lang="en-IN" dirty="0"/>
          </a:p>
        </p:txBody>
      </p:sp>
    </p:spTree>
    <p:extLst>
      <p:ext uri="{BB962C8B-B14F-4D97-AF65-F5344CB8AC3E}">
        <p14:creationId xmlns:p14="http://schemas.microsoft.com/office/powerpoint/2010/main" val="2806761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180306"/>
          </a:xfrm>
        </p:spPr>
        <p:txBody>
          <a:bodyPr>
            <a:normAutofit fontScale="90000"/>
          </a:bodyPr>
          <a:lstStyle/>
          <a:p>
            <a:pPr algn="ctr"/>
            <a:r>
              <a:rPr lang="en-US" b="1" dirty="0"/>
              <a:t>CMMI:</a:t>
            </a:r>
            <a:r>
              <a:rPr lang="en-GB" sz="4000" dirty="0"/>
              <a:t> Capability Maturity Model Integration</a:t>
            </a:r>
            <a:endParaRPr lang="en-IN" dirty="0"/>
          </a:p>
        </p:txBody>
      </p:sp>
      <p:sp>
        <p:nvSpPr>
          <p:cNvPr id="3" name="Content Placeholder 2"/>
          <p:cNvSpPr>
            <a:spLocks noGrp="1"/>
          </p:cNvSpPr>
          <p:nvPr>
            <p:ph idx="1"/>
          </p:nvPr>
        </p:nvSpPr>
        <p:spPr>
          <a:xfrm>
            <a:off x="457200" y="1447800"/>
            <a:ext cx="8229600" cy="5257800"/>
          </a:xfrm>
        </p:spPr>
        <p:txBody>
          <a:bodyPr>
            <a:normAutofit fontScale="92500" lnSpcReduction="20000"/>
          </a:bodyPr>
          <a:lstStyle/>
          <a:p>
            <a:pPr marL="342900" indent="-342900"/>
            <a:r>
              <a:rPr lang="en-US" altLang="zh-CN" dirty="0"/>
              <a:t>Representation options:</a:t>
            </a:r>
          </a:p>
          <a:p>
            <a:pPr marL="742950" lvl="1"/>
            <a:r>
              <a:rPr lang="en-US" altLang="zh-CN" sz="3000" b="1" dirty="0"/>
              <a:t>Staged</a:t>
            </a:r>
            <a:r>
              <a:rPr lang="en-US" altLang="zh-CN" sz="3000" dirty="0"/>
              <a:t> </a:t>
            </a:r>
          </a:p>
          <a:p>
            <a:pPr marL="742950" lvl="1"/>
            <a:r>
              <a:rPr lang="en-US" altLang="zh-CN" sz="3000" dirty="0"/>
              <a:t>Continuous</a:t>
            </a:r>
          </a:p>
          <a:p>
            <a:pPr marL="342900" indent="-342900"/>
            <a:r>
              <a:rPr lang="en-GB" dirty="0"/>
              <a:t>The CMMI definition of “Systems Engineering” -</a:t>
            </a:r>
          </a:p>
          <a:p>
            <a:pPr marL="742950" lvl="1">
              <a:buNone/>
            </a:pPr>
            <a:r>
              <a:rPr lang="en-GB" sz="3000" dirty="0"/>
              <a:t>	 “The interdisciplinary approach governing the total technical and managerial effort required to transform a set of customer needs, expectations and constraints into a product solution and to support that solution throughout the product’s life.”  This includes both hardware and software.</a:t>
            </a:r>
          </a:p>
          <a:p>
            <a:endParaRPr lang="en-IN" dirty="0"/>
          </a:p>
        </p:txBody>
      </p:sp>
    </p:spTree>
    <p:extLst>
      <p:ext uri="{BB962C8B-B14F-4D97-AF65-F5344CB8AC3E}">
        <p14:creationId xmlns:p14="http://schemas.microsoft.com/office/powerpoint/2010/main" val="26881256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2631"/>
            <a:ext cx="8229600" cy="1093439"/>
          </a:xfrm>
        </p:spPr>
        <p:txBody>
          <a:bodyPr>
            <a:normAutofit fontScale="90000"/>
          </a:bodyPr>
          <a:lstStyle/>
          <a:p>
            <a:pPr algn="ctr"/>
            <a:r>
              <a:rPr lang="en-US" sz="4400" b="1" dirty="0">
                <a:solidFill>
                  <a:schemeClr val="accent1"/>
                </a:solidFill>
              </a:rPr>
              <a:t>CMMI Staged Representation - 5 Maturity Levels</a:t>
            </a:r>
          </a:p>
        </p:txBody>
      </p:sp>
      <p:sp>
        <p:nvSpPr>
          <p:cNvPr id="22" name="Text Box 3"/>
          <p:cNvSpPr txBox="1">
            <a:spLocks noChangeArrowheads="1"/>
          </p:cNvSpPr>
          <p:nvPr/>
        </p:nvSpPr>
        <p:spPr bwMode="auto">
          <a:xfrm>
            <a:off x="4257675" y="1263650"/>
            <a:ext cx="987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dirty="0"/>
              <a:t>Level  5 </a:t>
            </a:r>
          </a:p>
        </p:txBody>
      </p:sp>
      <p:sp>
        <p:nvSpPr>
          <p:cNvPr id="23" name="AutoShape 4"/>
          <p:cNvSpPr>
            <a:spLocks noChangeArrowheads="1"/>
          </p:cNvSpPr>
          <p:nvPr/>
        </p:nvSpPr>
        <p:spPr bwMode="auto">
          <a:xfrm>
            <a:off x="257175" y="5724525"/>
            <a:ext cx="1792288" cy="701675"/>
          </a:xfrm>
          <a:prstGeom prst="cube">
            <a:avLst>
              <a:gd name="adj" fmla="val 25000"/>
            </a:avLst>
          </a:prstGeom>
          <a:gradFill rotWithShape="0">
            <a:gsLst>
              <a:gs pos="0">
                <a:srgbClr val="5E1800"/>
              </a:gs>
              <a:gs pos="100000">
                <a:srgbClr val="CC3300"/>
              </a:gs>
            </a:gsLst>
            <a:lin ang="0" scaled="1"/>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gn="ctr">
              <a:lnSpc>
                <a:spcPct val="100000"/>
              </a:lnSpc>
              <a:spcBef>
                <a:spcPct val="0"/>
              </a:spcBef>
              <a:spcAft>
                <a:spcPct val="0"/>
              </a:spcAft>
              <a:buClrTx/>
              <a:buSzTx/>
              <a:buFontTx/>
              <a:buNone/>
            </a:pPr>
            <a:r>
              <a:rPr lang="en-US" sz="1600" b="1">
                <a:solidFill>
                  <a:schemeClr val="bg1"/>
                </a:solidFill>
              </a:rPr>
              <a:t>Initial</a:t>
            </a:r>
            <a:r>
              <a:rPr lang="en-US" sz="1600" b="1"/>
              <a:t> </a:t>
            </a:r>
          </a:p>
        </p:txBody>
      </p:sp>
      <p:sp>
        <p:nvSpPr>
          <p:cNvPr id="24" name="Text Box 5"/>
          <p:cNvSpPr txBox="1">
            <a:spLocks noChangeArrowheads="1"/>
          </p:cNvSpPr>
          <p:nvPr/>
        </p:nvSpPr>
        <p:spPr bwMode="auto">
          <a:xfrm>
            <a:off x="685800" y="5429250"/>
            <a:ext cx="10445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t>Level  1  </a:t>
            </a:r>
          </a:p>
        </p:txBody>
      </p:sp>
      <p:sp>
        <p:nvSpPr>
          <p:cNvPr id="25" name="Text Box 6"/>
          <p:cNvSpPr txBox="1">
            <a:spLocks noChangeArrowheads="1"/>
          </p:cNvSpPr>
          <p:nvPr/>
        </p:nvSpPr>
        <p:spPr bwMode="auto">
          <a:xfrm>
            <a:off x="2590800" y="6019800"/>
            <a:ext cx="61722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t>Processes are unpredictable, poorly controlled, reactive.  </a:t>
            </a:r>
          </a:p>
        </p:txBody>
      </p:sp>
      <p:sp>
        <p:nvSpPr>
          <p:cNvPr id="26" name="AutoShape 7"/>
          <p:cNvSpPr>
            <a:spLocks noChangeArrowheads="1"/>
          </p:cNvSpPr>
          <p:nvPr/>
        </p:nvSpPr>
        <p:spPr bwMode="auto">
          <a:xfrm>
            <a:off x="1117600" y="4672013"/>
            <a:ext cx="1792288" cy="701675"/>
          </a:xfrm>
          <a:prstGeom prst="cube">
            <a:avLst>
              <a:gd name="adj" fmla="val 25000"/>
            </a:avLst>
          </a:prstGeom>
          <a:gradFill rotWithShape="0">
            <a:gsLst>
              <a:gs pos="0">
                <a:srgbClr val="764700"/>
              </a:gs>
              <a:gs pos="100000">
                <a:srgbClr val="FF9900"/>
              </a:gs>
            </a:gsLst>
            <a:lin ang="0" scaled="1"/>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gn="ctr">
              <a:lnSpc>
                <a:spcPct val="100000"/>
              </a:lnSpc>
              <a:spcBef>
                <a:spcPct val="0"/>
              </a:spcBef>
              <a:spcAft>
                <a:spcPct val="0"/>
              </a:spcAft>
              <a:buClrTx/>
              <a:buSzTx/>
              <a:buFontTx/>
              <a:buNone/>
            </a:pPr>
            <a:r>
              <a:rPr lang="en-US" sz="1600" b="1">
                <a:solidFill>
                  <a:schemeClr val="bg1"/>
                </a:solidFill>
              </a:rPr>
              <a:t>Managed</a:t>
            </a:r>
            <a:r>
              <a:rPr lang="en-US" sz="1600"/>
              <a:t> </a:t>
            </a:r>
          </a:p>
        </p:txBody>
      </p:sp>
      <p:sp>
        <p:nvSpPr>
          <p:cNvPr id="27" name="Text Box 8"/>
          <p:cNvSpPr txBox="1">
            <a:spLocks noChangeArrowheads="1"/>
          </p:cNvSpPr>
          <p:nvPr/>
        </p:nvSpPr>
        <p:spPr bwMode="auto">
          <a:xfrm>
            <a:off x="1663700" y="4391025"/>
            <a:ext cx="1101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t>Level  2   </a:t>
            </a:r>
          </a:p>
        </p:txBody>
      </p:sp>
      <p:sp>
        <p:nvSpPr>
          <p:cNvPr id="28" name="Text Box 9"/>
          <p:cNvSpPr txBox="1">
            <a:spLocks noChangeArrowheads="1"/>
          </p:cNvSpPr>
          <p:nvPr/>
        </p:nvSpPr>
        <p:spPr bwMode="auto">
          <a:xfrm>
            <a:off x="3352800" y="4876800"/>
            <a:ext cx="5400675"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dirty="0"/>
              <a:t>Processes are planned, documented, performed, monitored, and controlled at the </a:t>
            </a:r>
            <a:r>
              <a:rPr lang="en-US" sz="1600" b="1" dirty="0">
                <a:solidFill>
                  <a:schemeClr val="accent1"/>
                </a:solidFill>
              </a:rPr>
              <a:t>project</a:t>
            </a:r>
            <a:r>
              <a:rPr lang="en-US" sz="1600" b="1" dirty="0"/>
              <a:t> level.  Often reactive.</a:t>
            </a:r>
          </a:p>
        </p:txBody>
      </p:sp>
      <p:sp>
        <p:nvSpPr>
          <p:cNvPr id="29" name="AutoShape 10"/>
          <p:cNvSpPr>
            <a:spLocks noChangeArrowheads="1"/>
          </p:cNvSpPr>
          <p:nvPr/>
        </p:nvSpPr>
        <p:spPr bwMode="auto">
          <a:xfrm>
            <a:off x="1978025" y="3690938"/>
            <a:ext cx="1790700" cy="700087"/>
          </a:xfrm>
          <a:prstGeom prst="cube">
            <a:avLst>
              <a:gd name="adj" fmla="val 25000"/>
            </a:avLst>
          </a:prstGeom>
          <a:gradFill rotWithShape="0">
            <a:gsLst>
              <a:gs pos="0">
                <a:srgbClr val="470076"/>
              </a:gs>
              <a:gs pos="100000">
                <a:srgbClr val="9900FF"/>
              </a:gs>
            </a:gsLst>
            <a:lin ang="0" scaled="1"/>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gn="ctr">
              <a:lnSpc>
                <a:spcPct val="100000"/>
              </a:lnSpc>
              <a:spcBef>
                <a:spcPct val="0"/>
              </a:spcBef>
              <a:spcAft>
                <a:spcPct val="0"/>
              </a:spcAft>
              <a:buClrTx/>
              <a:buSzTx/>
              <a:buFontTx/>
              <a:buNone/>
            </a:pPr>
            <a:r>
              <a:rPr lang="en-US" sz="1600" b="1">
                <a:solidFill>
                  <a:schemeClr val="bg1"/>
                </a:solidFill>
              </a:rPr>
              <a:t>Defined</a:t>
            </a:r>
          </a:p>
        </p:txBody>
      </p:sp>
      <p:sp>
        <p:nvSpPr>
          <p:cNvPr id="30" name="Text Box 11"/>
          <p:cNvSpPr txBox="1">
            <a:spLocks noChangeArrowheads="1"/>
          </p:cNvSpPr>
          <p:nvPr/>
        </p:nvSpPr>
        <p:spPr bwMode="auto">
          <a:xfrm>
            <a:off x="2495550" y="3395663"/>
            <a:ext cx="987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t>Level  3 </a:t>
            </a:r>
          </a:p>
        </p:txBody>
      </p:sp>
      <p:sp>
        <p:nvSpPr>
          <p:cNvPr id="31" name="Text Box 12"/>
          <p:cNvSpPr txBox="1">
            <a:spLocks noChangeArrowheads="1"/>
          </p:cNvSpPr>
          <p:nvPr/>
        </p:nvSpPr>
        <p:spPr bwMode="auto">
          <a:xfrm>
            <a:off x="4572000" y="3581400"/>
            <a:ext cx="477837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dirty="0"/>
              <a:t>Processes are well characterized and understood.  Processes, standards, procedures, tools, etc. are defined at the </a:t>
            </a:r>
            <a:r>
              <a:rPr lang="en-US" sz="1600" b="1" dirty="0">
                <a:solidFill>
                  <a:schemeClr val="accent1"/>
                </a:solidFill>
              </a:rPr>
              <a:t>organizational (Organization X )</a:t>
            </a:r>
            <a:r>
              <a:rPr lang="en-US" sz="1600" b="1" dirty="0">
                <a:solidFill>
                  <a:srgbClr val="F42E00"/>
                </a:solidFill>
              </a:rPr>
              <a:t> </a:t>
            </a:r>
            <a:r>
              <a:rPr lang="en-US" sz="1600" b="1" dirty="0"/>
              <a:t>level.  Proactive.</a:t>
            </a:r>
          </a:p>
        </p:txBody>
      </p:sp>
      <p:sp>
        <p:nvSpPr>
          <p:cNvPr id="32" name="AutoShape 13"/>
          <p:cNvSpPr>
            <a:spLocks noChangeArrowheads="1"/>
          </p:cNvSpPr>
          <p:nvPr/>
        </p:nvSpPr>
        <p:spPr bwMode="auto">
          <a:xfrm>
            <a:off x="2909888" y="2566988"/>
            <a:ext cx="1790700" cy="701675"/>
          </a:xfrm>
          <a:prstGeom prst="cube">
            <a:avLst>
              <a:gd name="adj" fmla="val 25000"/>
            </a:avLst>
          </a:prstGeom>
          <a:gradFill rotWithShape="0">
            <a:gsLst>
              <a:gs pos="0">
                <a:srgbClr val="181847"/>
              </a:gs>
              <a:gs pos="100000">
                <a:srgbClr val="333399"/>
              </a:gs>
            </a:gsLst>
            <a:lin ang="0" scaled="1"/>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gn="ctr">
              <a:lnSpc>
                <a:spcPct val="100000"/>
              </a:lnSpc>
              <a:spcBef>
                <a:spcPct val="0"/>
              </a:spcBef>
              <a:spcAft>
                <a:spcPct val="0"/>
              </a:spcAft>
              <a:buClrTx/>
              <a:buSzTx/>
              <a:buFontTx/>
              <a:buNone/>
            </a:pPr>
            <a:r>
              <a:rPr lang="en-US" sz="1600" b="1" dirty="0">
                <a:solidFill>
                  <a:schemeClr val="bg1"/>
                </a:solidFill>
              </a:rPr>
              <a:t>Quantitatively</a:t>
            </a:r>
            <a:r>
              <a:rPr lang="en-US" sz="1600" b="1" dirty="0"/>
              <a:t> </a:t>
            </a:r>
          </a:p>
          <a:p>
            <a:pPr algn="ctr">
              <a:lnSpc>
                <a:spcPct val="100000"/>
              </a:lnSpc>
              <a:spcBef>
                <a:spcPct val="0"/>
              </a:spcBef>
              <a:spcAft>
                <a:spcPct val="0"/>
              </a:spcAft>
              <a:buClrTx/>
              <a:buSzTx/>
              <a:buFontTx/>
              <a:buNone/>
            </a:pPr>
            <a:r>
              <a:rPr lang="en-US" sz="1600" b="1" dirty="0">
                <a:solidFill>
                  <a:schemeClr val="bg1"/>
                </a:solidFill>
              </a:rPr>
              <a:t>Managed</a:t>
            </a:r>
            <a:r>
              <a:rPr lang="en-US" sz="1600" dirty="0"/>
              <a:t> </a:t>
            </a:r>
          </a:p>
        </p:txBody>
      </p:sp>
      <p:sp>
        <p:nvSpPr>
          <p:cNvPr id="33" name="Text Box 14"/>
          <p:cNvSpPr txBox="1">
            <a:spLocks noChangeArrowheads="1"/>
          </p:cNvSpPr>
          <p:nvPr/>
        </p:nvSpPr>
        <p:spPr bwMode="auto">
          <a:xfrm>
            <a:off x="3462338" y="2271713"/>
            <a:ext cx="9874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t>Level  4 </a:t>
            </a:r>
          </a:p>
        </p:txBody>
      </p:sp>
      <p:sp>
        <p:nvSpPr>
          <p:cNvPr id="34" name="Text Box 15"/>
          <p:cNvSpPr txBox="1">
            <a:spLocks noChangeArrowheads="1"/>
          </p:cNvSpPr>
          <p:nvPr/>
        </p:nvSpPr>
        <p:spPr bwMode="auto">
          <a:xfrm>
            <a:off x="5245100" y="2590800"/>
            <a:ext cx="38989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t>Processes are controlled using statistical and other quantitative techniques.</a:t>
            </a:r>
          </a:p>
        </p:txBody>
      </p:sp>
      <p:sp>
        <p:nvSpPr>
          <p:cNvPr id="35" name="AutoShape 16"/>
          <p:cNvSpPr>
            <a:spLocks noChangeArrowheads="1"/>
          </p:cNvSpPr>
          <p:nvPr/>
        </p:nvSpPr>
        <p:spPr bwMode="auto">
          <a:xfrm>
            <a:off x="3768725" y="1600200"/>
            <a:ext cx="1792288" cy="701675"/>
          </a:xfrm>
          <a:prstGeom prst="cube">
            <a:avLst>
              <a:gd name="adj" fmla="val 25000"/>
            </a:avLst>
          </a:prstGeom>
          <a:gradFill rotWithShape="0">
            <a:gsLst>
              <a:gs pos="0">
                <a:srgbClr val="003B00"/>
              </a:gs>
              <a:gs pos="100000">
                <a:srgbClr val="008000"/>
              </a:gs>
            </a:gsLst>
            <a:lin ang="0" scaled="1"/>
          </a:gra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gn="ctr">
              <a:lnSpc>
                <a:spcPct val="100000"/>
              </a:lnSpc>
              <a:spcBef>
                <a:spcPct val="0"/>
              </a:spcBef>
              <a:spcAft>
                <a:spcPct val="0"/>
              </a:spcAft>
              <a:buClrTx/>
              <a:buSzTx/>
              <a:buFontTx/>
              <a:buNone/>
            </a:pPr>
            <a:r>
              <a:rPr lang="en-US" sz="1600" b="1">
                <a:solidFill>
                  <a:schemeClr val="bg1"/>
                </a:solidFill>
              </a:rPr>
              <a:t>Optimizing</a:t>
            </a:r>
            <a:r>
              <a:rPr lang="en-US" sz="1600"/>
              <a:t> </a:t>
            </a:r>
          </a:p>
        </p:txBody>
      </p:sp>
      <p:sp>
        <p:nvSpPr>
          <p:cNvPr id="36" name="AutoShape 17"/>
          <p:cNvSpPr>
            <a:spLocks noChangeArrowheads="1"/>
          </p:cNvSpPr>
          <p:nvPr/>
        </p:nvSpPr>
        <p:spPr bwMode="auto">
          <a:xfrm rot="2212552">
            <a:off x="2479675" y="5499100"/>
            <a:ext cx="285750" cy="492125"/>
          </a:xfrm>
          <a:prstGeom prst="upArrow">
            <a:avLst>
              <a:gd name="adj1" fmla="val 50000"/>
              <a:gd name="adj2" fmla="val 43056"/>
            </a:avLst>
          </a:prstGeom>
          <a:solidFill>
            <a:srgbClr val="999999"/>
          </a:solidFill>
          <a:ln w="9525">
            <a:solidFill>
              <a:srgbClr val="9999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buSzTx/>
            </a:pPr>
            <a:endParaRPr lang="en-US" sz="1400"/>
          </a:p>
        </p:txBody>
      </p:sp>
      <p:sp>
        <p:nvSpPr>
          <p:cNvPr id="37" name="AutoShape 18"/>
          <p:cNvSpPr>
            <a:spLocks noChangeArrowheads="1"/>
          </p:cNvSpPr>
          <p:nvPr/>
        </p:nvSpPr>
        <p:spPr bwMode="auto">
          <a:xfrm rot="2212552">
            <a:off x="3340100" y="4518025"/>
            <a:ext cx="285750" cy="490538"/>
          </a:xfrm>
          <a:prstGeom prst="upArrow">
            <a:avLst>
              <a:gd name="adj1" fmla="val 50000"/>
              <a:gd name="adj2" fmla="val 42917"/>
            </a:avLst>
          </a:prstGeom>
          <a:solidFill>
            <a:srgbClr val="9999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buSzTx/>
            </a:pPr>
            <a:endParaRPr lang="en-US" sz="1400"/>
          </a:p>
        </p:txBody>
      </p:sp>
      <p:sp>
        <p:nvSpPr>
          <p:cNvPr id="38" name="AutoShape 19"/>
          <p:cNvSpPr>
            <a:spLocks noChangeArrowheads="1"/>
          </p:cNvSpPr>
          <p:nvPr/>
        </p:nvSpPr>
        <p:spPr bwMode="auto">
          <a:xfrm rot="2212552">
            <a:off x="4191000" y="3505200"/>
            <a:ext cx="285750" cy="490538"/>
          </a:xfrm>
          <a:prstGeom prst="upArrow">
            <a:avLst>
              <a:gd name="adj1" fmla="val 50000"/>
              <a:gd name="adj2" fmla="val 42917"/>
            </a:avLst>
          </a:prstGeom>
          <a:solidFill>
            <a:srgbClr val="9999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buSzTx/>
            </a:pPr>
            <a:endParaRPr lang="en-US" sz="1400"/>
          </a:p>
        </p:txBody>
      </p:sp>
      <p:sp>
        <p:nvSpPr>
          <p:cNvPr id="39" name="AutoShape 20"/>
          <p:cNvSpPr>
            <a:spLocks noChangeArrowheads="1"/>
          </p:cNvSpPr>
          <p:nvPr/>
        </p:nvSpPr>
        <p:spPr bwMode="auto">
          <a:xfrm rot="2212552">
            <a:off x="5203825" y="2271713"/>
            <a:ext cx="285750" cy="492125"/>
          </a:xfrm>
          <a:prstGeom prst="upArrow">
            <a:avLst>
              <a:gd name="adj1" fmla="val 50000"/>
              <a:gd name="adj2" fmla="val 43056"/>
            </a:avLst>
          </a:prstGeom>
          <a:solidFill>
            <a:srgbClr val="999999"/>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buSzTx/>
            </a:pPr>
            <a:endParaRPr lang="en-US" sz="1400"/>
          </a:p>
        </p:txBody>
      </p:sp>
      <p:sp>
        <p:nvSpPr>
          <p:cNvPr id="40" name="Text Box 21"/>
          <p:cNvSpPr txBox="1">
            <a:spLocks noChangeArrowheads="1"/>
          </p:cNvSpPr>
          <p:nvPr/>
        </p:nvSpPr>
        <p:spPr bwMode="auto">
          <a:xfrm rot="18536776">
            <a:off x="1251744" y="2855119"/>
            <a:ext cx="20907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2000" i="1"/>
              <a:t>Process Maturity</a:t>
            </a:r>
          </a:p>
        </p:txBody>
      </p:sp>
      <p:sp>
        <p:nvSpPr>
          <p:cNvPr id="41" name="Rectangle 22"/>
          <p:cNvSpPr>
            <a:spLocks noChangeArrowheads="1"/>
          </p:cNvSpPr>
          <p:nvPr/>
        </p:nvSpPr>
        <p:spPr bwMode="auto">
          <a:xfrm>
            <a:off x="5715000" y="1219200"/>
            <a:ext cx="32004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50000"/>
              </a:spcBef>
              <a:spcAft>
                <a:spcPct val="0"/>
              </a:spcAft>
              <a:buClrTx/>
              <a:buSzTx/>
              <a:buFontTx/>
              <a:buNone/>
            </a:pPr>
            <a:r>
              <a:rPr lang="en-US" sz="1600" b="1"/>
              <a:t>Process performance continually improved through incremental and innovative technological improvements. </a:t>
            </a:r>
          </a:p>
        </p:txBody>
      </p:sp>
      <p:sp>
        <p:nvSpPr>
          <p:cNvPr id="42" name="Line 27"/>
          <p:cNvSpPr>
            <a:spLocks noChangeShapeType="1"/>
          </p:cNvSpPr>
          <p:nvPr/>
        </p:nvSpPr>
        <p:spPr bwMode="auto">
          <a:xfrm flipV="1">
            <a:off x="3019425" y="1524000"/>
            <a:ext cx="571500" cy="7254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Tree>
    <p:extLst>
      <p:ext uri="{BB962C8B-B14F-4D97-AF65-F5344CB8AC3E}">
        <p14:creationId xmlns:p14="http://schemas.microsoft.com/office/powerpoint/2010/main" val="3431278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a:solidFill>
                  <a:schemeClr val="accent1"/>
                </a:solidFill>
              </a:rPr>
              <a:t>CMMI Staged Representation - 5 Maturity Levels</a:t>
            </a:r>
            <a:endParaRPr lang="en-IN" dirty="0"/>
          </a:p>
        </p:txBody>
      </p:sp>
      <p:sp>
        <p:nvSpPr>
          <p:cNvPr id="3" name="Content Placeholder 2"/>
          <p:cNvSpPr>
            <a:spLocks noGrp="1"/>
          </p:cNvSpPr>
          <p:nvPr>
            <p:ph idx="1"/>
          </p:nvPr>
        </p:nvSpPr>
        <p:spPr/>
        <p:txBody>
          <a:bodyPr>
            <a:normAutofit/>
          </a:bodyPr>
          <a:lstStyle/>
          <a:p>
            <a:r>
              <a:rPr lang="en-US" altLang="zh-CN" sz="2800" dirty="0">
                <a:ea typeface="宋体" panose="02010600030101010101" pitchFamily="2" charset="-122"/>
              </a:rPr>
              <a:t>Maturity Level 1 deals with performed</a:t>
            </a:r>
            <a:r>
              <a:rPr lang="en-US" altLang="zh-CN" sz="2800" dirty="0">
                <a:solidFill>
                  <a:srgbClr val="800000"/>
                </a:solidFill>
                <a:ea typeface="宋体" panose="02010600030101010101" pitchFamily="2" charset="-122"/>
              </a:rPr>
              <a:t> </a:t>
            </a:r>
            <a:r>
              <a:rPr lang="en-US" altLang="zh-CN" sz="2800" dirty="0">
                <a:ea typeface="宋体" panose="02010600030101010101" pitchFamily="2" charset="-122"/>
              </a:rPr>
              <a:t>processes.</a:t>
            </a:r>
          </a:p>
          <a:p>
            <a:pPr>
              <a:spcBef>
                <a:spcPct val="60000"/>
              </a:spcBef>
            </a:pPr>
            <a:r>
              <a:rPr lang="en-US" sz="2800" dirty="0">
                <a:ea typeface="宋体" panose="02010600030101010101" pitchFamily="2" charset="-122"/>
              </a:rPr>
              <a:t>Processes are unpredictable, poorly controlled, reactive.</a:t>
            </a:r>
            <a:r>
              <a:rPr lang="en-US" altLang="zh-CN" sz="2800" dirty="0">
                <a:ea typeface="宋体" panose="02010600030101010101" pitchFamily="2" charset="-122"/>
              </a:rPr>
              <a:t> </a:t>
            </a:r>
          </a:p>
          <a:p>
            <a:pPr>
              <a:spcBef>
                <a:spcPct val="60000"/>
              </a:spcBef>
            </a:pPr>
            <a:r>
              <a:rPr lang="en-US" altLang="zh-CN" sz="2800" dirty="0">
                <a:ea typeface="宋体" panose="02010600030101010101" pitchFamily="2" charset="-122"/>
              </a:rPr>
              <a:t>The process performance may not be stable and may not meet specific objectives such as quality, cost, and schedule, but useful work can be done.</a:t>
            </a:r>
          </a:p>
          <a:p>
            <a:endParaRPr lang="en-IN" dirty="0"/>
          </a:p>
        </p:txBody>
      </p:sp>
    </p:spTree>
    <p:extLst>
      <p:ext uri="{BB962C8B-B14F-4D97-AF65-F5344CB8AC3E}">
        <p14:creationId xmlns:p14="http://schemas.microsoft.com/office/powerpoint/2010/main" val="1172867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027906"/>
          </a:xfrm>
        </p:spPr>
        <p:txBody>
          <a:bodyPr>
            <a:normAutofit fontScale="90000"/>
          </a:bodyPr>
          <a:lstStyle/>
          <a:p>
            <a:pPr algn="ctr"/>
            <a:r>
              <a:rPr lang="en-US" sz="4000" b="1" dirty="0">
                <a:solidFill>
                  <a:schemeClr val="accent1"/>
                </a:solidFill>
              </a:rPr>
              <a:t>CMMI Staged Representation - 5 Maturity Levels</a:t>
            </a:r>
            <a:endParaRPr lang="en-IN" dirty="0"/>
          </a:p>
        </p:txBody>
      </p:sp>
      <p:sp>
        <p:nvSpPr>
          <p:cNvPr id="3" name="Content Placeholder 2"/>
          <p:cNvSpPr>
            <a:spLocks noGrp="1"/>
          </p:cNvSpPr>
          <p:nvPr>
            <p:ph idx="1"/>
          </p:nvPr>
        </p:nvSpPr>
        <p:spPr>
          <a:xfrm>
            <a:off x="457200" y="1371600"/>
            <a:ext cx="8229600" cy="5105400"/>
          </a:xfrm>
        </p:spPr>
        <p:txBody>
          <a:bodyPr>
            <a:noAutofit/>
          </a:bodyPr>
          <a:lstStyle/>
          <a:p>
            <a:pPr marL="342900" indent="-342900">
              <a:lnSpc>
                <a:spcPct val="80000"/>
              </a:lnSpc>
            </a:pPr>
            <a:r>
              <a:rPr lang="en-US" altLang="zh-CN" sz="2800" dirty="0">
                <a:ea typeface="宋体" panose="02010600030101010101" pitchFamily="2" charset="-122"/>
              </a:rPr>
              <a:t>Maturity Level 2 deals with managed processes.</a:t>
            </a:r>
          </a:p>
          <a:p>
            <a:pPr marL="342900" indent="-342900">
              <a:lnSpc>
                <a:spcPct val="80000"/>
              </a:lnSpc>
            </a:pPr>
            <a:r>
              <a:rPr lang="en-US" altLang="zh-CN" sz="2800" dirty="0">
                <a:ea typeface="宋体" panose="02010600030101010101" pitchFamily="2" charset="-122"/>
              </a:rPr>
              <a:t>A managed process is a performed process that is also:</a:t>
            </a:r>
          </a:p>
          <a:p>
            <a:pPr marL="742950" lvl="1">
              <a:lnSpc>
                <a:spcPct val="80000"/>
              </a:lnSpc>
            </a:pPr>
            <a:r>
              <a:rPr lang="en-US" altLang="zh-CN" sz="2800" dirty="0">
                <a:ea typeface="宋体" panose="02010600030101010101" pitchFamily="2" charset="-122"/>
              </a:rPr>
              <a:t>Planned and executed in accordance with policy</a:t>
            </a:r>
          </a:p>
          <a:p>
            <a:pPr marL="742950" lvl="1">
              <a:lnSpc>
                <a:spcPct val="80000"/>
              </a:lnSpc>
            </a:pPr>
            <a:r>
              <a:rPr lang="en-US" altLang="zh-CN" sz="2800" dirty="0">
                <a:ea typeface="宋体" panose="02010600030101010101" pitchFamily="2" charset="-122"/>
              </a:rPr>
              <a:t>Employs skilled people</a:t>
            </a:r>
          </a:p>
          <a:p>
            <a:pPr marL="742950" lvl="1">
              <a:lnSpc>
                <a:spcPct val="80000"/>
              </a:lnSpc>
            </a:pPr>
            <a:r>
              <a:rPr lang="en-US" altLang="zh-CN" sz="2800" dirty="0">
                <a:ea typeface="宋体" panose="02010600030101010101" pitchFamily="2" charset="-122"/>
              </a:rPr>
              <a:t>Adequate resources are available</a:t>
            </a:r>
          </a:p>
          <a:p>
            <a:pPr marL="742950" lvl="1">
              <a:lnSpc>
                <a:spcPct val="80000"/>
              </a:lnSpc>
            </a:pPr>
            <a:r>
              <a:rPr lang="en-US" altLang="zh-CN" sz="2800" dirty="0">
                <a:ea typeface="宋体" panose="02010600030101010101" pitchFamily="2" charset="-122"/>
              </a:rPr>
              <a:t>Controlled outputs are produced</a:t>
            </a:r>
          </a:p>
          <a:p>
            <a:pPr marL="742950" lvl="1">
              <a:lnSpc>
                <a:spcPct val="80000"/>
              </a:lnSpc>
            </a:pPr>
            <a:r>
              <a:rPr lang="en-US" altLang="zh-CN" sz="2800" dirty="0">
                <a:ea typeface="宋体" panose="02010600030101010101" pitchFamily="2" charset="-122"/>
              </a:rPr>
              <a:t>Stakeholders are involved</a:t>
            </a:r>
          </a:p>
          <a:p>
            <a:pPr marL="742950" lvl="1">
              <a:lnSpc>
                <a:spcPct val="80000"/>
              </a:lnSpc>
            </a:pPr>
            <a:r>
              <a:rPr lang="en-US" altLang="zh-CN" sz="2800" dirty="0">
                <a:ea typeface="宋体" panose="02010600030101010101" pitchFamily="2" charset="-122"/>
              </a:rPr>
              <a:t>The process is reviewed and evaluated for adherence to requirements </a:t>
            </a:r>
          </a:p>
          <a:p>
            <a:endParaRPr lang="en-IN" sz="2800" dirty="0">
              <a:ea typeface="宋体" panose="02010600030101010101" pitchFamily="2" charset="-122"/>
            </a:endParaRPr>
          </a:p>
        </p:txBody>
      </p:sp>
    </p:spTree>
    <p:extLst>
      <p:ext uri="{BB962C8B-B14F-4D97-AF65-F5344CB8AC3E}">
        <p14:creationId xmlns:p14="http://schemas.microsoft.com/office/powerpoint/2010/main" val="16563869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a:solidFill>
                  <a:schemeClr val="accent1"/>
                </a:solidFill>
              </a:rPr>
              <a:t>CMMI Staged Representation - 5 Maturity Levels</a:t>
            </a:r>
            <a:endParaRPr lang="en-IN" dirty="0"/>
          </a:p>
        </p:txBody>
      </p:sp>
      <p:sp>
        <p:nvSpPr>
          <p:cNvPr id="3" name="Content Placeholder 2"/>
          <p:cNvSpPr>
            <a:spLocks noGrp="1"/>
          </p:cNvSpPr>
          <p:nvPr>
            <p:ph idx="1"/>
          </p:nvPr>
        </p:nvSpPr>
        <p:spPr/>
        <p:txBody>
          <a:bodyPr/>
          <a:lstStyle/>
          <a:p>
            <a:pPr marL="342900" indent="-342900">
              <a:lnSpc>
                <a:spcPct val="80000"/>
              </a:lnSpc>
            </a:pPr>
            <a:r>
              <a:rPr lang="en-US" sz="3200" dirty="0">
                <a:ea typeface="宋体" panose="02010600030101010101" pitchFamily="2" charset="-122"/>
              </a:rPr>
              <a:t>Processes are planned, documented, performed, monitored, and controlled at the project level.  Often reactive.</a:t>
            </a:r>
            <a:endParaRPr lang="en-US" altLang="zh-CN" sz="3200" dirty="0">
              <a:ea typeface="宋体" panose="02010600030101010101" pitchFamily="2" charset="-122"/>
            </a:endParaRPr>
          </a:p>
          <a:p>
            <a:pPr marL="342900" indent="-342900">
              <a:lnSpc>
                <a:spcPct val="80000"/>
              </a:lnSpc>
            </a:pPr>
            <a:r>
              <a:rPr lang="en-US" altLang="zh-CN" sz="3200" dirty="0">
                <a:ea typeface="宋体" panose="02010600030101010101" pitchFamily="2" charset="-122"/>
              </a:rPr>
              <a:t>The managed process comes closer to achieving the specific objectives such as quality, cost, and schedule.</a:t>
            </a:r>
          </a:p>
          <a:p>
            <a:endParaRPr lang="en-IN" dirty="0"/>
          </a:p>
        </p:txBody>
      </p:sp>
    </p:spTree>
    <p:extLst>
      <p:ext uri="{BB962C8B-B14F-4D97-AF65-F5344CB8AC3E}">
        <p14:creationId xmlns:p14="http://schemas.microsoft.com/office/powerpoint/2010/main" val="27124057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a:solidFill>
                  <a:schemeClr val="accent1"/>
                </a:solidFill>
              </a:rPr>
              <a:t>CMMI Staged Representation - 5 Maturity Levels</a:t>
            </a:r>
            <a:endParaRPr lang="en-IN" dirty="0"/>
          </a:p>
        </p:txBody>
      </p:sp>
      <p:sp>
        <p:nvSpPr>
          <p:cNvPr id="3" name="Content Placeholder 2"/>
          <p:cNvSpPr>
            <a:spLocks noGrp="1"/>
          </p:cNvSpPr>
          <p:nvPr>
            <p:ph idx="1"/>
          </p:nvPr>
        </p:nvSpPr>
        <p:spPr/>
        <p:txBody>
          <a:bodyPr>
            <a:noAutofit/>
          </a:bodyPr>
          <a:lstStyle/>
          <a:p>
            <a:r>
              <a:rPr lang="en-US" altLang="zh-CN" sz="2800" dirty="0">
                <a:ea typeface="宋体" panose="02010600030101010101" pitchFamily="2" charset="-122"/>
              </a:rPr>
              <a:t>Maturity Level 3 deals with </a:t>
            </a:r>
            <a:r>
              <a:rPr lang="en-US" altLang="zh-CN" sz="2800" b="1" dirty="0">
                <a:ea typeface="宋体" panose="02010600030101010101" pitchFamily="2" charset="-122"/>
              </a:rPr>
              <a:t>defined</a:t>
            </a:r>
            <a:r>
              <a:rPr lang="en-US" altLang="zh-CN" sz="2800" dirty="0">
                <a:solidFill>
                  <a:srgbClr val="0000CC"/>
                </a:solidFill>
                <a:ea typeface="宋体" panose="02010600030101010101" pitchFamily="2" charset="-122"/>
              </a:rPr>
              <a:t> </a:t>
            </a:r>
            <a:r>
              <a:rPr lang="en-US" altLang="zh-CN" sz="2800" dirty="0">
                <a:ea typeface="宋体" panose="02010600030101010101" pitchFamily="2" charset="-122"/>
              </a:rPr>
              <a:t>processes.</a:t>
            </a:r>
          </a:p>
          <a:p>
            <a:r>
              <a:rPr lang="en-US" altLang="zh-CN" sz="2800" dirty="0">
                <a:ea typeface="宋体" panose="02010600030101010101" pitchFamily="2" charset="-122"/>
              </a:rPr>
              <a:t>A defined process is a managed process that:</a:t>
            </a:r>
          </a:p>
          <a:p>
            <a:pPr lvl="1"/>
            <a:r>
              <a:rPr lang="en-US" altLang="zh-CN" sz="2800" dirty="0">
                <a:ea typeface="宋体" panose="02010600030101010101" pitchFamily="2" charset="-122"/>
              </a:rPr>
              <a:t>Well defined, understood, deployed and executed across the entire organization.  Proactive.</a:t>
            </a:r>
          </a:p>
          <a:p>
            <a:pPr lvl="1"/>
            <a:r>
              <a:rPr lang="en-US" sz="2800" dirty="0">
                <a:ea typeface="宋体" panose="02010600030101010101" pitchFamily="2" charset="-122"/>
              </a:rPr>
              <a:t>Processes, standards, procedures, tools, etc. are defined at the organizational (Organization X ) level.  </a:t>
            </a:r>
            <a:endParaRPr lang="en-US" sz="2800" dirty="0" smtClean="0">
              <a:ea typeface="宋体" panose="02010600030101010101" pitchFamily="2" charset="-122"/>
            </a:endParaRPr>
          </a:p>
        </p:txBody>
      </p:sp>
    </p:spTree>
    <p:extLst>
      <p:ext uri="{BB962C8B-B14F-4D97-AF65-F5344CB8AC3E}">
        <p14:creationId xmlns:p14="http://schemas.microsoft.com/office/powerpoint/2010/main" val="42619900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4000" b="1" dirty="0">
                <a:solidFill>
                  <a:schemeClr val="accent1"/>
                </a:solidFill>
              </a:rPr>
              <a:t>CMMI Staged Representation - 5 Maturity Levels</a:t>
            </a:r>
            <a:endParaRPr lang="en-IN" dirty="0"/>
          </a:p>
        </p:txBody>
      </p:sp>
      <p:sp>
        <p:nvSpPr>
          <p:cNvPr id="3" name="Content Placeholder 2"/>
          <p:cNvSpPr>
            <a:spLocks noGrp="1"/>
          </p:cNvSpPr>
          <p:nvPr>
            <p:ph idx="1"/>
          </p:nvPr>
        </p:nvSpPr>
        <p:spPr/>
        <p:txBody>
          <a:bodyPr/>
          <a:lstStyle/>
          <a:p>
            <a:pPr lvl="1"/>
            <a:r>
              <a:rPr lang="en-US" dirty="0">
                <a:ea typeface="宋体" panose="02010600030101010101" pitchFamily="2" charset="-122"/>
              </a:rPr>
              <a:t>Project or local tailoring</a:t>
            </a:r>
            <a:r>
              <a:rPr lang="en-US" altLang="zh-CN" dirty="0">
                <a:ea typeface="宋体" panose="02010600030101010101" pitchFamily="2" charset="-122"/>
              </a:rPr>
              <a:t> is allowed, however it must be based on the organization’s set of standard processes and defined per the organization’s tailoring guidelines.</a:t>
            </a:r>
          </a:p>
          <a:p>
            <a:pPr marL="64008" indent="0">
              <a:buNone/>
            </a:pPr>
            <a:endParaRPr lang="en-US" altLang="zh-CN" sz="3200" dirty="0" smtClean="0">
              <a:ea typeface="宋体" panose="02010600030101010101" pitchFamily="2" charset="-122"/>
            </a:endParaRPr>
          </a:p>
          <a:p>
            <a:r>
              <a:rPr lang="en-US" altLang="zh-CN" sz="3200" dirty="0" smtClean="0">
                <a:ea typeface="宋体" panose="02010600030101010101" pitchFamily="2" charset="-122"/>
              </a:rPr>
              <a:t>Major </a:t>
            </a:r>
            <a:r>
              <a:rPr lang="en-US" altLang="zh-CN" sz="3200" dirty="0">
                <a:ea typeface="宋体" panose="02010600030101010101" pitchFamily="2" charset="-122"/>
              </a:rPr>
              <a:t>portions of the organization cannot “opt out.”</a:t>
            </a:r>
            <a:endParaRPr lang="zh-CN" altLang="en-US" sz="3200" dirty="0">
              <a:ea typeface="宋体" panose="02010600030101010101" pitchFamily="2" charset="-122"/>
            </a:endParaRPr>
          </a:p>
          <a:p>
            <a:endParaRPr lang="en-IN" dirty="0"/>
          </a:p>
        </p:txBody>
      </p:sp>
    </p:spTree>
    <p:extLst>
      <p:ext uri="{BB962C8B-B14F-4D97-AF65-F5344CB8AC3E}">
        <p14:creationId xmlns:p14="http://schemas.microsoft.com/office/powerpoint/2010/main" val="25178057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b="1" dirty="0">
                <a:solidFill>
                  <a:schemeClr val="accent1"/>
                </a:solidFill>
              </a:rPr>
              <a:t>Behaviors at the Five </a:t>
            </a:r>
            <a:r>
              <a:rPr lang="en-US" sz="4400" b="1" dirty="0" smtClean="0">
                <a:solidFill>
                  <a:schemeClr val="accent1"/>
                </a:solidFill>
              </a:rPr>
              <a:t>Levels</a:t>
            </a:r>
            <a:endParaRPr lang="en-IN" dirty="0"/>
          </a:p>
        </p:txBody>
      </p:sp>
      <p:sp>
        <p:nvSpPr>
          <p:cNvPr id="4" name="Rectangle 3"/>
          <p:cNvSpPr>
            <a:spLocks noChangeArrowheads="1"/>
          </p:cNvSpPr>
          <p:nvPr/>
        </p:nvSpPr>
        <p:spPr bwMode="auto">
          <a:xfrm>
            <a:off x="477328" y="1498251"/>
            <a:ext cx="8267700" cy="5240337"/>
          </a:xfrm>
          <a:prstGeom prst="rect">
            <a:avLst/>
          </a:prstGeom>
          <a:solidFill>
            <a:srgbClr val="9999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buSzTx/>
            </a:pPr>
            <a:endParaRPr lang="en-US" sz="1400"/>
          </a:p>
        </p:txBody>
      </p:sp>
      <p:sp>
        <p:nvSpPr>
          <p:cNvPr id="5" name="Rectangle 4" descr="Horizontal brick"/>
          <p:cNvSpPr>
            <a:spLocks noChangeArrowheads="1"/>
          </p:cNvSpPr>
          <p:nvPr/>
        </p:nvSpPr>
        <p:spPr bwMode="auto">
          <a:xfrm>
            <a:off x="483678" y="1504601"/>
            <a:ext cx="8255000" cy="323850"/>
          </a:xfrm>
          <a:prstGeom prst="rect">
            <a:avLst/>
          </a:prstGeom>
          <a:pattFill prst="horzBrick">
            <a:fgClr>
              <a:srgbClr val="66FFFF"/>
            </a:fgClr>
            <a:bgClr>
              <a:srgbClr val="FFFFFF"/>
            </a:bgClr>
          </a:pattFill>
          <a:ln w="12700">
            <a:solidFill>
              <a:srgbClr val="000000"/>
            </a:solidFill>
            <a:miter lim="800000"/>
            <a:headEnd/>
            <a:tailEnd/>
          </a:ln>
        </p:spPr>
        <p:txBody>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buSzTx/>
            </a:pPr>
            <a:endParaRPr lang="en-US" sz="1400"/>
          </a:p>
        </p:txBody>
      </p:sp>
      <p:sp>
        <p:nvSpPr>
          <p:cNvPr id="6" name="Rectangle 5"/>
          <p:cNvSpPr>
            <a:spLocks noChangeArrowheads="1"/>
          </p:cNvSpPr>
          <p:nvPr/>
        </p:nvSpPr>
        <p:spPr bwMode="auto">
          <a:xfrm>
            <a:off x="483678" y="1899888"/>
            <a:ext cx="8255000" cy="4903788"/>
          </a:xfrm>
          <a:prstGeom prst="rect">
            <a:avLst/>
          </a:prstGeom>
          <a:solidFill>
            <a:srgbClr val="99FFCC"/>
          </a:solidFill>
          <a:ln w="12700">
            <a:solidFill>
              <a:srgbClr val="000000"/>
            </a:solidFill>
            <a:miter lim="800000"/>
            <a:headEnd/>
            <a:tailEnd/>
          </a:ln>
        </p:spPr>
        <p:txBody>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buSzTx/>
            </a:pPr>
            <a:endParaRPr lang="en-US" sz="1400"/>
          </a:p>
        </p:txBody>
      </p:sp>
      <p:sp>
        <p:nvSpPr>
          <p:cNvPr id="7" name="Freeform 6"/>
          <p:cNvSpPr>
            <a:spLocks/>
          </p:cNvSpPr>
          <p:nvPr/>
        </p:nvSpPr>
        <p:spPr bwMode="auto">
          <a:xfrm>
            <a:off x="1032953" y="6087713"/>
            <a:ext cx="277812" cy="558800"/>
          </a:xfrm>
          <a:custGeom>
            <a:avLst/>
            <a:gdLst>
              <a:gd name="T0" fmla="*/ 0 w 191"/>
              <a:gd name="T1" fmla="*/ 832686507 h 375"/>
              <a:gd name="T2" fmla="*/ 404081190 w 191"/>
              <a:gd name="T3" fmla="*/ 832686507 h 375"/>
              <a:gd name="T4" fmla="*/ 404081190 w 191"/>
              <a:gd name="T5" fmla="*/ 779394868 h 375"/>
              <a:gd name="T6" fmla="*/ 336382333 w 191"/>
              <a:gd name="T7" fmla="*/ 779394868 h 375"/>
              <a:gd name="T8" fmla="*/ 285606736 w 191"/>
              <a:gd name="T9" fmla="*/ 761630989 h 375"/>
              <a:gd name="T10" fmla="*/ 268682021 w 191"/>
              <a:gd name="T11" fmla="*/ 746087408 h 375"/>
              <a:gd name="T12" fmla="*/ 251757307 w 191"/>
              <a:gd name="T13" fmla="*/ 710559649 h 375"/>
              <a:gd name="T14" fmla="*/ 251757307 w 191"/>
              <a:gd name="T15" fmla="*/ 0 h 375"/>
              <a:gd name="T16" fmla="*/ 217907878 w 191"/>
              <a:gd name="T17" fmla="*/ 0 h 375"/>
              <a:gd name="T18" fmla="*/ 167133736 w 191"/>
              <a:gd name="T19" fmla="*/ 0 h 375"/>
              <a:gd name="T20" fmla="*/ 101549740 w 191"/>
              <a:gd name="T21" fmla="*/ 17763879 h 375"/>
              <a:gd name="T22" fmla="*/ 50774143 w 191"/>
              <a:gd name="T23" fmla="*/ 35527759 h 375"/>
              <a:gd name="T24" fmla="*/ 0 w 191"/>
              <a:gd name="T25" fmla="*/ 35527759 h 375"/>
              <a:gd name="T26" fmla="*/ 0 w 191"/>
              <a:gd name="T27" fmla="*/ 71055518 h 375"/>
              <a:gd name="T28" fmla="*/ 16924714 w 191"/>
              <a:gd name="T29" fmla="*/ 71055518 h 375"/>
              <a:gd name="T30" fmla="*/ 33849429 w 191"/>
              <a:gd name="T31" fmla="*/ 71055518 h 375"/>
              <a:gd name="T32" fmla="*/ 84625026 w 191"/>
              <a:gd name="T33" fmla="*/ 86599099 h 375"/>
              <a:gd name="T34" fmla="*/ 118474455 w 191"/>
              <a:gd name="T35" fmla="*/ 104362978 h 375"/>
              <a:gd name="T36" fmla="*/ 133282852 w 191"/>
              <a:gd name="T37" fmla="*/ 122126858 h 375"/>
              <a:gd name="T38" fmla="*/ 133282852 w 191"/>
              <a:gd name="T39" fmla="*/ 173198197 h 375"/>
              <a:gd name="T40" fmla="*/ 133282852 w 191"/>
              <a:gd name="T41" fmla="*/ 710559649 h 375"/>
              <a:gd name="T42" fmla="*/ 133282852 w 191"/>
              <a:gd name="T43" fmla="*/ 746087408 h 375"/>
              <a:gd name="T44" fmla="*/ 101549740 w 191"/>
              <a:gd name="T45" fmla="*/ 761630989 h 375"/>
              <a:gd name="T46" fmla="*/ 67698857 w 191"/>
              <a:gd name="T47" fmla="*/ 779394868 h 375"/>
              <a:gd name="T48" fmla="*/ 0 w 191"/>
              <a:gd name="T49" fmla="*/ 779394868 h 375"/>
              <a:gd name="T50" fmla="*/ 0 w 191"/>
              <a:gd name="T51" fmla="*/ 832686507 h 3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91" h="375">
                <a:moveTo>
                  <a:pt x="0" y="375"/>
                </a:moveTo>
                <a:lnTo>
                  <a:pt x="191" y="375"/>
                </a:lnTo>
                <a:lnTo>
                  <a:pt x="191" y="351"/>
                </a:lnTo>
                <a:lnTo>
                  <a:pt x="159" y="351"/>
                </a:lnTo>
                <a:lnTo>
                  <a:pt x="135" y="343"/>
                </a:lnTo>
                <a:lnTo>
                  <a:pt x="127" y="336"/>
                </a:lnTo>
                <a:lnTo>
                  <a:pt x="119" y="320"/>
                </a:lnTo>
                <a:lnTo>
                  <a:pt x="119" y="0"/>
                </a:lnTo>
                <a:lnTo>
                  <a:pt x="103" y="0"/>
                </a:lnTo>
                <a:lnTo>
                  <a:pt x="79" y="0"/>
                </a:lnTo>
                <a:lnTo>
                  <a:pt x="48" y="8"/>
                </a:lnTo>
                <a:lnTo>
                  <a:pt x="24" y="16"/>
                </a:lnTo>
                <a:lnTo>
                  <a:pt x="0" y="16"/>
                </a:lnTo>
                <a:lnTo>
                  <a:pt x="0" y="32"/>
                </a:lnTo>
                <a:lnTo>
                  <a:pt x="8" y="32"/>
                </a:lnTo>
                <a:lnTo>
                  <a:pt x="16" y="32"/>
                </a:lnTo>
                <a:lnTo>
                  <a:pt x="40" y="39"/>
                </a:lnTo>
                <a:lnTo>
                  <a:pt x="56" y="47"/>
                </a:lnTo>
                <a:lnTo>
                  <a:pt x="63" y="55"/>
                </a:lnTo>
                <a:lnTo>
                  <a:pt x="63" y="78"/>
                </a:lnTo>
                <a:lnTo>
                  <a:pt x="63" y="320"/>
                </a:lnTo>
                <a:lnTo>
                  <a:pt x="63" y="336"/>
                </a:lnTo>
                <a:lnTo>
                  <a:pt x="48" y="343"/>
                </a:lnTo>
                <a:lnTo>
                  <a:pt x="32" y="351"/>
                </a:lnTo>
                <a:lnTo>
                  <a:pt x="0" y="351"/>
                </a:lnTo>
                <a:lnTo>
                  <a:pt x="0" y="375"/>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8" name="Freeform 7"/>
          <p:cNvSpPr>
            <a:spLocks/>
          </p:cNvSpPr>
          <p:nvPr/>
        </p:nvSpPr>
        <p:spPr bwMode="auto">
          <a:xfrm>
            <a:off x="1032953" y="6087713"/>
            <a:ext cx="277812" cy="558800"/>
          </a:xfrm>
          <a:custGeom>
            <a:avLst/>
            <a:gdLst>
              <a:gd name="T0" fmla="*/ 0 w 191"/>
              <a:gd name="T1" fmla="*/ 832686507 h 375"/>
              <a:gd name="T2" fmla="*/ 404081190 w 191"/>
              <a:gd name="T3" fmla="*/ 832686507 h 375"/>
              <a:gd name="T4" fmla="*/ 404081190 w 191"/>
              <a:gd name="T5" fmla="*/ 779394868 h 375"/>
              <a:gd name="T6" fmla="*/ 336382333 w 191"/>
              <a:gd name="T7" fmla="*/ 779394868 h 375"/>
              <a:gd name="T8" fmla="*/ 285606736 w 191"/>
              <a:gd name="T9" fmla="*/ 761630989 h 375"/>
              <a:gd name="T10" fmla="*/ 268682021 w 191"/>
              <a:gd name="T11" fmla="*/ 746087408 h 375"/>
              <a:gd name="T12" fmla="*/ 251757307 w 191"/>
              <a:gd name="T13" fmla="*/ 710559649 h 375"/>
              <a:gd name="T14" fmla="*/ 251757307 w 191"/>
              <a:gd name="T15" fmla="*/ 0 h 375"/>
              <a:gd name="T16" fmla="*/ 217907878 w 191"/>
              <a:gd name="T17" fmla="*/ 0 h 375"/>
              <a:gd name="T18" fmla="*/ 167133736 w 191"/>
              <a:gd name="T19" fmla="*/ 0 h 375"/>
              <a:gd name="T20" fmla="*/ 101549740 w 191"/>
              <a:gd name="T21" fmla="*/ 17763879 h 375"/>
              <a:gd name="T22" fmla="*/ 50774143 w 191"/>
              <a:gd name="T23" fmla="*/ 35527759 h 375"/>
              <a:gd name="T24" fmla="*/ 0 w 191"/>
              <a:gd name="T25" fmla="*/ 35527759 h 375"/>
              <a:gd name="T26" fmla="*/ 0 w 191"/>
              <a:gd name="T27" fmla="*/ 71055518 h 375"/>
              <a:gd name="T28" fmla="*/ 16924714 w 191"/>
              <a:gd name="T29" fmla="*/ 71055518 h 375"/>
              <a:gd name="T30" fmla="*/ 33849429 w 191"/>
              <a:gd name="T31" fmla="*/ 71055518 h 375"/>
              <a:gd name="T32" fmla="*/ 84625026 w 191"/>
              <a:gd name="T33" fmla="*/ 86599099 h 375"/>
              <a:gd name="T34" fmla="*/ 118474455 w 191"/>
              <a:gd name="T35" fmla="*/ 104362978 h 375"/>
              <a:gd name="T36" fmla="*/ 133282852 w 191"/>
              <a:gd name="T37" fmla="*/ 122126858 h 375"/>
              <a:gd name="T38" fmla="*/ 133282852 w 191"/>
              <a:gd name="T39" fmla="*/ 173198197 h 375"/>
              <a:gd name="T40" fmla="*/ 133282852 w 191"/>
              <a:gd name="T41" fmla="*/ 710559649 h 375"/>
              <a:gd name="T42" fmla="*/ 133282852 w 191"/>
              <a:gd name="T43" fmla="*/ 746087408 h 375"/>
              <a:gd name="T44" fmla="*/ 101549740 w 191"/>
              <a:gd name="T45" fmla="*/ 761630989 h 375"/>
              <a:gd name="T46" fmla="*/ 67698857 w 191"/>
              <a:gd name="T47" fmla="*/ 779394868 h 375"/>
              <a:gd name="T48" fmla="*/ 0 w 191"/>
              <a:gd name="T49" fmla="*/ 779394868 h 375"/>
              <a:gd name="T50" fmla="*/ 0 w 191"/>
              <a:gd name="T51" fmla="*/ 832686507 h 37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191" h="375">
                <a:moveTo>
                  <a:pt x="0" y="375"/>
                </a:moveTo>
                <a:lnTo>
                  <a:pt x="191" y="375"/>
                </a:lnTo>
                <a:lnTo>
                  <a:pt x="191" y="351"/>
                </a:lnTo>
                <a:lnTo>
                  <a:pt x="159" y="351"/>
                </a:lnTo>
                <a:lnTo>
                  <a:pt x="135" y="343"/>
                </a:lnTo>
                <a:lnTo>
                  <a:pt x="127" y="336"/>
                </a:lnTo>
                <a:lnTo>
                  <a:pt x="119" y="320"/>
                </a:lnTo>
                <a:lnTo>
                  <a:pt x="119" y="0"/>
                </a:lnTo>
                <a:lnTo>
                  <a:pt x="103" y="0"/>
                </a:lnTo>
                <a:lnTo>
                  <a:pt x="79" y="0"/>
                </a:lnTo>
                <a:lnTo>
                  <a:pt x="48" y="8"/>
                </a:lnTo>
                <a:lnTo>
                  <a:pt x="24" y="16"/>
                </a:lnTo>
                <a:lnTo>
                  <a:pt x="0" y="16"/>
                </a:lnTo>
                <a:lnTo>
                  <a:pt x="0" y="32"/>
                </a:lnTo>
                <a:lnTo>
                  <a:pt x="8" y="32"/>
                </a:lnTo>
                <a:lnTo>
                  <a:pt x="16" y="32"/>
                </a:lnTo>
                <a:lnTo>
                  <a:pt x="40" y="39"/>
                </a:lnTo>
                <a:lnTo>
                  <a:pt x="56" y="47"/>
                </a:lnTo>
                <a:lnTo>
                  <a:pt x="63" y="55"/>
                </a:lnTo>
                <a:lnTo>
                  <a:pt x="63" y="78"/>
                </a:lnTo>
                <a:lnTo>
                  <a:pt x="63" y="320"/>
                </a:lnTo>
                <a:lnTo>
                  <a:pt x="63" y="336"/>
                </a:lnTo>
                <a:lnTo>
                  <a:pt x="48" y="343"/>
                </a:lnTo>
                <a:lnTo>
                  <a:pt x="32" y="351"/>
                </a:lnTo>
                <a:lnTo>
                  <a:pt x="0" y="351"/>
                </a:lnTo>
                <a:lnTo>
                  <a:pt x="0" y="375"/>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 name="Rectangle 8"/>
          <p:cNvSpPr>
            <a:spLocks noChangeArrowheads="1"/>
          </p:cNvSpPr>
          <p:nvPr/>
        </p:nvSpPr>
        <p:spPr bwMode="auto">
          <a:xfrm>
            <a:off x="840865" y="6227413"/>
            <a:ext cx="5969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gn="ctr">
              <a:lnSpc>
                <a:spcPct val="100000"/>
              </a:lnSpc>
              <a:spcBef>
                <a:spcPct val="0"/>
              </a:spcBef>
              <a:spcAft>
                <a:spcPct val="0"/>
              </a:spcAft>
              <a:buClrTx/>
              <a:buSzTx/>
              <a:buFontTx/>
              <a:buNone/>
            </a:pPr>
            <a:r>
              <a:rPr lang="en-US" sz="1800" b="1">
                <a:solidFill>
                  <a:srgbClr val="000000"/>
                </a:solidFill>
              </a:rPr>
              <a:t>Initial</a:t>
            </a:r>
          </a:p>
        </p:txBody>
      </p:sp>
      <p:grpSp>
        <p:nvGrpSpPr>
          <p:cNvPr id="10" name="Group 9"/>
          <p:cNvGrpSpPr>
            <a:grpSpLocks/>
          </p:cNvGrpSpPr>
          <p:nvPr/>
        </p:nvGrpSpPr>
        <p:grpSpPr bwMode="auto">
          <a:xfrm>
            <a:off x="626553" y="5135213"/>
            <a:ext cx="1117600" cy="568325"/>
            <a:chOff x="139" y="3014"/>
            <a:chExt cx="767" cy="382"/>
          </a:xfrm>
        </p:grpSpPr>
        <p:sp>
          <p:nvSpPr>
            <p:cNvPr id="11" name="Freeform 10"/>
            <p:cNvSpPr>
              <a:spLocks/>
            </p:cNvSpPr>
            <p:nvPr/>
          </p:nvSpPr>
          <p:spPr bwMode="auto">
            <a:xfrm>
              <a:off x="362" y="3014"/>
              <a:ext cx="295" cy="382"/>
            </a:xfrm>
            <a:custGeom>
              <a:avLst/>
              <a:gdLst>
                <a:gd name="T0" fmla="*/ 8 w 295"/>
                <a:gd name="T1" fmla="*/ 382 h 382"/>
                <a:gd name="T2" fmla="*/ 271 w 295"/>
                <a:gd name="T3" fmla="*/ 382 h 382"/>
                <a:gd name="T4" fmla="*/ 295 w 295"/>
                <a:gd name="T5" fmla="*/ 281 h 382"/>
                <a:gd name="T6" fmla="*/ 271 w 295"/>
                <a:gd name="T7" fmla="*/ 273 h 382"/>
                <a:gd name="T8" fmla="*/ 263 w 295"/>
                <a:gd name="T9" fmla="*/ 304 h 382"/>
                <a:gd name="T10" fmla="*/ 247 w 295"/>
                <a:gd name="T11" fmla="*/ 328 h 382"/>
                <a:gd name="T12" fmla="*/ 223 w 295"/>
                <a:gd name="T13" fmla="*/ 335 h 382"/>
                <a:gd name="T14" fmla="*/ 183 w 295"/>
                <a:gd name="T15" fmla="*/ 343 h 382"/>
                <a:gd name="T16" fmla="*/ 64 w 295"/>
                <a:gd name="T17" fmla="*/ 343 h 382"/>
                <a:gd name="T18" fmla="*/ 80 w 295"/>
                <a:gd name="T19" fmla="*/ 328 h 382"/>
                <a:gd name="T20" fmla="*/ 119 w 295"/>
                <a:gd name="T21" fmla="*/ 296 h 382"/>
                <a:gd name="T22" fmla="*/ 167 w 295"/>
                <a:gd name="T23" fmla="*/ 265 h 382"/>
                <a:gd name="T24" fmla="*/ 199 w 295"/>
                <a:gd name="T25" fmla="*/ 234 h 382"/>
                <a:gd name="T26" fmla="*/ 223 w 295"/>
                <a:gd name="T27" fmla="*/ 203 h 382"/>
                <a:gd name="T28" fmla="*/ 247 w 295"/>
                <a:gd name="T29" fmla="*/ 179 h 382"/>
                <a:gd name="T30" fmla="*/ 263 w 295"/>
                <a:gd name="T31" fmla="*/ 148 h 382"/>
                <a:gd name="T32" fmla="*/ 271 w 295"/>
                <a:gd name="T33" fmla="*/ 125 h 382"/>
                <a:gd name="T34" fmla="*/ 271 w 295"/>
                <a:gd name="T35" fmla="*/ 101 h 382"/>
                <a:gd name="T36" fmla="*/ 263 w 295"/>
                <a:gd name="T37" fmla="*/ 63 h 382"/>
                <a:gd name="T38" fmla="*/ 239 w 295"/>
                <a:gd name="T39" fmla="*/ 31 h 382"/>
                <a:gd name="T40" fmla="*/ 191 w 295"/>
                <a:gd name="T41" fmla="*/ 8 h 382"/>
                <a:gd name="T42" fmla="*/ 143 w 295"/>
                <a:gd name="T43" fmla="*/ 0 h 382"/>
                <a:gd name="T44" fmla="*/ 88 w 295"/>
                <a:gd name="T45" fmla="*/ 8 h 382"/>
                <a:gd name="T46" fmla="*/ 48 w 295"/>
                <a:gd name="T47" fmla="*/ 31 h 382"/>
                <a:gd name="T48" fmla="*/ 16 w 295"/>
                <a:gd name="T49" fmla="*/ 63 h 382"/>
                <a:gd name="T50" fmla="*/ 8 w 295"/>
                <a:gd name="T51" fmla="*/ 101 h 382"/>
                <a:gd name="T52" fmla="*/ 8 w 295"/>
                <a:gd name="T53" fmla="*/ 125 h 382"/>
                <a:gd name="T54" fmla="*/ 16 w 295"/>
                <a:gd name="T55" fmla="*/ 140 h 382"/>
                <a:gd name="T56" fmla="*/ 24 w 295"/>
                <a:gd name="T57" fmla="*/ 148 h 382"/>
                <a:gd name="T58" fmla="*/ 40 w 295"/>
                <a:gd name="T59" fmla="*/ 148 h 382"/>
                <a:gd name="T60" fmla="*/ 56 w 295"/>
                <a:gd name="T61" fmla="*/ 148 h 382"/>
                <a:gd name="T62" fmla="*/ 64 w 295"/>
                <a:gd name="T63" fmla="*/ 140 h 382"/>
                <a:gd name="T64" fmla="*/ 72 w 295"/>
                <a:gd name="T65" fmla="*/ 133 h 382"/>
                <a:gd name="T66" fmla="*/ 72 w 295"/>
                <a:gd name="T67" fmla="*/ 117 h 382"/>
                <a:gd name="T68" fmla="*/ 72 w 295"/>
                <a:gd name="T69" fmla="*/ 109 h 382"/>
                <a:gd name="T70" fmla="*/ 64 w 295"/>
                <a:gd name="T71" fmla="*/ 101 h 382"/>
                <a:gd name="T72" fmla="*/ 56 w 295"/>
                <a:gd name="T73" fmla="*/ 86 h 382"/>
                <a:gd name="T74" fmla="*/ 56 w 295"/>
                <a:gd name="T75" fmla="*/ 78 h 382"/>
                <a:gd name="T76" fmla="*/ 64 w 295"/>
                <a:gd name="T77" fmla="*/ 63 h 382"/>
                <a:gd name="T78" fmla="*/ 80 w 295"/>
                <a:gd name="T79" fmla="*/ 39 h 382"/>
                <a:gd name="T80" fmla="*/ 104 w 295"/>
                <a:gd name="T81" fmla="*/ 31 h 382"/>
                <a:gd name="T82" fmla="*/ 127 w 295"/>
                <a:gd name="T83" fmla="*/ 31 h 382"/>
                <a:gd name="T84" fmla="*/ 167 w 295"/>
                <a:gd name="T85" fmla="*/ 31 h 382"/>
                <a:gd name="T86" fmla="*/ 191 w 295"/>
                <a:gd name="T87" fmla="*/ 47 h 382"/>
                <a:gd name="T88" fmla="*/ 207 w 295"/>
                <a:gd name="T89" fmla="*/ 70 h 382"/>
                <a:gd name="T90" fmla="*/ 207 w 295"/>
                <a:gd name="T91" fmla="*/ 101 h 382"/>
                <a:gd name="T92" fmla="*/ 207 w 295"/>
                <a:gd name="T93" fmla="*/ 125 h 382"/>
                <a:gd name="T94" fmla="*/ 199 w 295"/>
                <a:gd name="T95" fmla="*/ 156 h 382"/>
                <a:gd name="T96" fmla="*/ 183 w 295"/>
                <a:gd name="T97" fmla="*/ 179 h 382"/>
                <a:gd name="T98" fmla="*/ 159 w 295"/>
                <a:gd name="T99" fmla="*/ 211 h 382"/>
                <a:gd name="T100" fmla="*/ 135 w 295"/>
                <a:gd name="T101" fmla="*/ 242 h 382"/>
                <a:gd name="T102" fmla="*/ 96 w 295"/>
                <a:gd name="T103" fmla="*/ 273 h 382"/>
                <a:gd name="T104" fmla="*/ 56 w 295"/>
                <a:gd name="T105" fmla="*/ 304 h 382"/>
                <a:gd name="T106" fmla="*/ 0 w 295"/>
                <a:gd name="T107" fmla="*/ 343 h 382"/>
                <a:gd name="T108" fmla="*/ 8 w 295"/>
                <a:gd name="T109" fmla="*/ 382 h 38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95" h="382">
                  <a:moveTo>
                    <a:pt x="8" y="382"/>
                  </a:moveTo>
                  <a:lnTo>
                    <a:pt x="271" y="382"/>
                  </a:lnTo>
                  <a:lnTo>
                    <a:pt x="295" y="281"/>
                  </a:lnTo>
                  <a:lnTo>
                    <a:pt x="271" y="273"/>
                  </a:lnTo>
                  <a:lnTo>
                    <a:pt x="263" y="304"/>
                  </a:lnTo>
                  <a:lnTo>
                    <a:pt x="247" y="328"/>
                  </a:lnTo>
                  <a:lnTo>
                    <a:pt x="223" y="335"/>
                  </a:lnTo>
                  <a:lnTo>
                    <a:pt x="183" y="343"/>
                  </a:lnTo>
                  <a:lnTo>
                    <a:pt x="64" y="343"/>
                  </a:lnTo>
                  <a:lnTo>
                    <a:pt x="80" y="328"/>
                  </a:lnTo>
                  <a:lnTo>
                    <a:pt x="119" y="296"/>
                  </a:lnTo>
                  <a:lnTo>
                    <a:pt x="167" y="265"/>
                  </a:lnTo>
                  <a:lnTo>
                    <a:pt x="199" y="234"/>
                  </a:lnTo>
                  <a:lnTo>
                    <a:pt x="223" y="203"/>
                  </a:lnTo>
                  <a:lnTo>
                    <a:pt x="247" y="179"/>
                  </a:lnTo>
                  <a:lnTo>
                    <a:pt x="263" y="148"/>
                  </a:lnTo>
                  <a:lnTo>
                    <a:pt x="271" y="125"/>
                  </a:lnTo>
                  <a:lnTo>
                    <a:pt x="271" y="101"/>
                  </a:lnTo>
                  <a:lnTo>
                    <a:pt x="263" y="63"/>
                  </a:lnTo>
                  <a:lnTo>
                    <a:pt x="239" y="31"/>
                  </a:lnTo>
                  <a:lnTo>
                    <a:pt x="191" y="8"/>
                  </a:lnTo>
                  <a:lnTo>
                    <a:pt x="143" y="0"/>
                  </a:lnTo>
                  <a:lnTo>
                    <a:pt x="88" y="8"/>
                  </a:lnTo>
                  <a:lnTo>
                    <a:pt x="48" y="31"/>
                  </a:lnTo>
                  <a:lnTo>
                    <a:pt x="16" y="63"/>
                  </a:lnTo>
                  <a:lnTo>
                    <a:pt x="8" y="101"/>
                  </a:lnTo>
                  <a:lnTo>
                    <a:pt x="8" y="125"/>
                  </a:lnTo>
                  <a:lnTo>
                    <a:pt x="16" y="140"/>
                  </a:lnTo>
                  <a:lnTo>
                    <a:pt x="24" y="148"/>
                  </a:lnTo>
                  <a:lnTo>
                    <a:pt x="40" y="148"/>
                  </a:lnTo>
                  <a:lnTo>
                    <a:pt x="56" y="148"/>
                  </a:lnTo>
                  <a:lnTo>
                    <a:pt x="64" y="140"/>
                  </a:lnTo>
                  <a:lnTo>
                    <a:pt x="72" y="133"/>
                  </a:lnTo>
                  <a:lnTo>
                    <a:pt x="72" y="117"/>
                  </a:lnTo>
                  <a:lnTo>
                    <a:pt x="72" y="109"/>
                  </a:lnTo>
                  <a:lnTo>
                    <a:pt x="64" y="101"/>
                  </a:lnTo>
                  <a:lnTo>
                    <a:pt x="56" y="86"/>
                  </a:lnTo>
                  <a:lnTo>
                    <a:pt x="56" y="78"/>
                  </a:lnTo>
                  <a:lnTo>
                    <a:pt x="64" y="63"/>
                  </a:lnTo>
                  <a:lnTo>
                    <a:pt x="80" y="39"/>
                  </a:lnTo>
                  <a:lnTo>
                    <a:pt x="104" y="31"/>
                  </a:lnTo>
                  <a:lnTo>
                    <a:pt x="127" y="31"/>
                  </a:lnTo>
                  <a:lnTo>
                    <a:pt x="167" y="31"/>
                  </a:lnTo>
                  <a:lnTo>
                    <a:pt x="191" y="47"/>
                  </a:lnTo>
                  <a:lnTo>
                    <a:pt x="207" y="70"/>
                  </a:lnTo>
                  <a:lnTo>
                    <a:pt x="207" y="101"/>
                  </a:lnTo>
                  <a:lnTo>
                    <a:pt x="207" y="125"/>
                  </a:lnTo>
                  <a:lnTo>
                    <a:pt x="199" y="156"/>
                  </a:lnTo>
                  <a:lnTo>
                    <a:pt x="183" y="179"/>
                  </a:lnTo>
                  <a:lnTo>
                    <a:pt x="159" y="211"/>
                  </a:lnTo>
                  <a:lnTo>
                    <a:pt x="135" y="242"/>
                  </a:lnTo>
                  <a:lnTo>
                    <a:pt x="96" y="273"/>
                  </a:lnTo>
                  <a:lnTo>
                    <a:pt x="56" y="304"/>
                  </a:lnTo>
                  <a:lnTo>
                    <a:pt x="0" y="343"/>
                  </a:lnTo>
                  <a:lnTo>
                    <a:pt x="8" y="382"/>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2" name="Freeform 11"/>
            <p:cNvSpPr>
              <a:spLocks/>
            </p:cNvSpPr>
            <p:nvPr/>
          </p:nvSpPr>
          <p:spPr bwMode="auto">
            <a:xfrm>
              <a:off x="362" y="3014"/>
              <a:ext cx="295" cy="382"/>
            </a:xfrm>
            <a:custGeom>
              <a:avLst/>
              <a:gdLst>
                <a:gd name="T0" fmla="*/ 8 w 295"/>
                <a:gd name="T1" fmla="*/ 382 h 382"/>
                <a:gd name="T2" fmla="*/ 271 w 295"/>
                <a:gd name="T3" fmla="*/ 382 h 382"/>
                <a:gd name="T4" fmla="*/ 295 w 295"/>
                <a:gd name="T5" fmla="*/ 281 h 382"/>
                <a:gd name="T6" fmla="*/ 271 w 295"/>
                <a:gd name="T7" fmla="*/ 273 h 382"/>
                <a:gd name="T8" fmla="*/ 263 w 295"/>
                <a:gd name="T9" fmla="*/ 304 h 382"/>
                <a:gd name="T10" fmla="*/ 247 w 295"/>
                <a:gd name="T11" fmla="*/ 328 h 382"/>
                <a:gd name="T12" fmla="*/ 223 w 295"/>
                <a:gd name="T13" fmla="*/ 335 h 382"/>
                <a:gd name="T14" fmla="*/ 183 w 295"/>
                <a:gd name="T15" fmla="*/ 343 h 382"/>
                <a:gd name="T16" fmla="*/ 64 w 295"/>
                <a:gd name="T17" fmla="*/ 343 h 382"/>
                <a:gd name="T18" fmla="*/ 80 w 295"/>
                <a:gd name="T19" fmla="*/ 328 h 382"/>
                <a:gd name="T20" fmla="*/ 119 w 295"/>
                <a:gd name="T21" fmla="*/ 296 h 382"/>
                <a:gd name="T22" fmla="*/ 167 w 295"/>
                <a:gd name="T23" fmla="*/ 265 h 382"/>
                <a:gd name="T24" fmla="*/ 199 w 295"/>
                <a:gd name="T25" fmla="*/ 234 h 382"/>
                <a:gd name="T26" fmla="*/ 223 w 295"/>
                <a:gd name="T27" fmla="*/ 203 h 382"/>
                <a:gd name="T28" fmla="*/ 247 w 295"/>
                <a:gd name="T29" fmla="*/ 179 h 382"/>
                <a:gd name="T30" fmla="*/ 263 w 295"/>
                <a:gd name="T31" fmla="*/ 148 h 382"/>
                <a:gd name="T32" fmla="*/ 271 w 295"/>
                <a:gd name="T33" fmla="*/ 125 h 382"/>
                <a:gd name="T34" fmla="*/ 271 w 295"/>
                <a:gd name="T35" fmla="*/ 101 h 382"/>
                <a:gd name="T36" fmla="*/ 263 w 295"/>
                <a:gd name="T37" fmla="*/ 63 h 382"/>
                <a:gd name="T38" fmla="*/ 239 w 295"/>
                <a:gd name="T39" fmla="*/ 31 h 382"/>
                <a:gd name="T40" fmla="*/ 191 w 295"/>
                <a:gd name="T41" fmla="*/ 8 h 382"/>
                <a:gd name="T42" fmla="*/ 143 w 295"/>
                <a:gd name="T43" fmla="*/ 0 h 382"/>
                <a:gd name="T44" fmla="*/ 88 w 295"/>
                <a:gd name="T45" fmla="*/ 8 h 382"/>
                <a:gd name="T46" fmla="*/ 48 w 295"/>
                <a:gd name="T47" fmla="*/ 31 h 382"/>
                <a:gd name="T48" fmla="*/ 16 w 295"/>
                <a:gd name="T49" fmla="*/ 63 h 382"/>
                <a:gd name="T50" fmla="*/ 8 w 295"/>
                <a:gd name="T51" fmla="*/ 101 h 382"/>
                <a:gd name="T52" fmla="*/ 8 w 295"/>
                <a:gd name="T53" fmla="*/ 125 h 382"/>
                <a:gd name="T54" fmla="*/ 16 w 295"/>
                <a:gd name="T55" fmla="*/ 140 h 382"/>
                <a:gd name="T56" fmla="*/ 24 w 295"/>
                <a:gd name="T57" fmla="*/ 148 h 382"/>
                <a:gd name="T58" fmla="*/ 40 w 295"/>
                <a:gd name="T59" fmla="*/ 148 h 382"/>
                <a:gd name="T60" fmla="*/ 56 w 295"/>
                <a:gd name="T61" fmla="*/ 148 h 382"/>
                <a:gd name="T62" fmla="*/ 64 w 295"/>
                <a:gd name="T63" fmla="*/ 140 h 382"/>
                <a:gd name="T64" fmla="*/ 72 w 295"/>
                <a:gd name="T65" fmla="*/ 133 h 382"/>
                <a:gd name="T66" fmla="*/ 72 w 295"/>
                <a:gd name="T67" fmla="*/ 117 h 382"/>
                <a:gd name="T68" fmla="*/ 72 w 295"/>
                <a:gd name="T69" fmla="*/ 109 h 382"/>
                <a:gd name="T70" fmla="*/ 64 w 295"/>
                <a:gd name="T71" fmla="*/ 101 h 382"/>
                <a:gd name="T72" fmla="*/ 56 w 295"/>
                <a:gd name="T73" fmla="*/ 86 h 382"/>
                <a:gd name="T74" fmla="*/ 56 w 295"/>
                <a:gd name="T75" fmla="*/ 78 h 382"/>
                <a:gd name="T76" fmla="*/ 64 w 295"/>
                <a:gd name="T77" fmla="*/ 63 h 382"/>
                <a:gd name="T78" fmla="*/ 80 w 295"/>
                <a:gd name="T79" fmla="*/ 39 h 382"/>
                <a:gd name="T80" fmla="*/ 104 w 295"/>
                <a:gd name="T81" fmla="*/ 31 h 382"/>
                <a:gd name="T82" fmla="*/ 127 w 295"/>
                <a:gd name="T83" fmla="*/ 31 h 382"/>
                <a:gd name="T84" fmla="*/ 167 w 295"/>
                <a:gd name="T85" fmla="*/ 31 h 382"/>
                <a:gd name="T86" fmla="*/ 191 w 295"/>
                <a:gd name="T87" fmla="*/ 47 h 382"/>
                <a:gd name="T88" fmla="*/ 207 w 295"/>
                <a:gd name="T89" fmla="*/ 70 h 382"/>
                <a:gd name="T90" fmla="*/ 207 w 295"/>
                <a:gd name="T91" fmla="*/ 101 h 382"/>
                <a:gd name="T92" fmla="*/ 207 w 295"/>
                <a:gd name="T93" fmla="*/ 125 h 382"/>
                <a:gd name="T94" fmla="*/ 199 w 295"/>
                <a:gd name="T95" fmla="*/ 156 h 382"/>
                <a:gd name="T96" fmla="*/ 183 w 295"/>
                <a:gd name="T97" fmla="*/ 179 h 382"/>
                <a:gd name="T98" fmla="*/ 159 w 295"/>
                <a:gd name="T99" fmla="*/ 211 h 382"/>
                <a:gd name="T100" fmla="*/ 135 w 295"/>
                <a:gd name="T101" fmla="*/ 242 h 382"/>
                <a:gd name="T102" fmla="*/ 96 w 295"/>
                <a:gd name="T103" fmla="*/ 273 h 382"/>
                <a:gd name="T104" fmla="*/ 56 w 295"/>
                <a:gd name="T105" fmla="*/ 304 h 382"/>
                <a:gd name="T106" fmla="*/ 0 w 295"/>
                <a:gd name="T107" fmla="*/ 343 h 382"/>
                <a:gd name="T108" fmla="*/ 8 w 295"/>
                <a:gd name="T109" fmla="*/ 382 h 38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95" h="382">
                  <a:moveTo>
                    <a:pt x="8" y="382"/>
                  </a:moveTo>
                  <a:lnTo>
                    <a:pt x="271" y="382"/>
                  </a:lnTo>
                  <a:lnTo>
                    <a:pt x="295" y="281"/>
                  </a:lnTo>
                  <a:lnTo>
                    <a:pt x="271" y="273"/>
                  </a:lnTo>
                  <a:lnTo>
                    <a:pt x="263" y="304"/>
                  </a:lnTo>
                  <a:lnTo>
                    <a:pt x="247" y="328"/>
                  </a:lnTo>
                  <a:lnTo>
                    <a:pt x="223" y="335"/>
                  </a:lnTo>
                  <a:lnTo>
                    <a:pt x="183" y="343"/>
                  </a:lnTo>
                  <a:lnTo>
                    <a:pt x="64" y="343"/>
                  </a:lnTo>
                  <a:lnTo>
                    <a:pt x="80" y="328"/>
                  </a:lnTo>
                  <a:lnTo>
                    <a:pt x="119" y="296"/>
                  </a:lnTo>
                  <a:lnTo>
                    <a:pt x="167" y="265"/>
                  </a:lnTo>
                  <a:lnTo>
                    <a:pt x="199" y="234"/>
                  </a:lnTo>
                  <a:lnTo>
                    <a:pt x="223" y="203"/>
                  </a:lnTo>
                  <a:lnTo>
                    <a:pt x="247" y="179"/>
                  </a:lnTo>
                  <a:lnTo>
                    <a:pt x="263" y="148"/>
                  </a:lnTo>
                  <a:lnTo>
                    <a:pt x="271" y="125"/>
                  </a:lnTo>
                  <a:lnTo>
                    <a:pt x="271" y="101"/>
                  </a:lnTo>
                  <a:lnTo>
                    <a:pt x="263" y="63"/>
                  </a:lnTo>
                  <a:lnTo>
                    <a:pt x="239" y="31"/>
                  </a:lnTo>
                  <a:lnTo>
                    <a:pt x="191" y="8"/>
                  </a:lnTo>
                  <a:lnTo>
                    <a:pt x="143" y="0"/>
                  </a:lnTo>
                  <a:lnTo>
                    <a:pt x="88" y="8"/>
                  </a:lnTo>
                  <a:lnTo>
                    <a:pt x="48" y="31"/>
                  </a:lnTo>
                  <a:lnTo>
                    <a:pt x="16" y="63"/>
                  </a:lnTo>
                  <a:lnTo>
                    <a:pt x="8" y="101"/>
                  </a:lnTo>
                  <a:lnTo>
                    <a:pt x="8" y="125"/>
                  </a:lnTo>
                  <a:lnTo>
                    <a:pt x="16" y="140"/>
                  </a:lnTo>
                  <a:lnTo>
                    <a:pt x="24" y="148"/>
                  </a:lnTo>
                  <a:lnTo>
                    <a:pt x="40" y="148"/>
                  </a:lnTo>
                  <a:lnTo>
                    <a:pt x="56" y="148"/>
                  </a:lnTo>
                  <a:lnTo>
                    <a:pt x="64" y="140"/>
                  </a:lnTo>
                  <a:lnTo>
                    <a:pt x="72" y="133"/>
                  </a:lnTo>
                  <a:lnTo>
                    <a:pt x="72" y="117"/>
                  </a:lnTo>
                  <a:lnTo>
                    <a:pt x="72" y="109"/>
                  </a:lnTo>
                  <a:lnTo>
                    <a:pt x="64" y="101"/>
                  </a:lnTo>
                  <a:lnTo>
                    <a:pt x="56" y="86"/>
                  </a:lnTo>
                  <a:lnTo>
                    <a:pt x="56" y="78"/>
                  </a:lnTo>
                  <a:lnTo>
                    <a:pt x="64" y="63"/>
                  </a:lnTo>
                  <a:lnTo>
                    <a:pt x="80" y="39"/>
                  </a:lnTo>
                  <a:lnTo>
                    <a:pt x="104" y="31"/>
                  </a:lnTo>
                  <a:lnTo>
                    <a:pt x="127" y="31"/>
                  </a:lnTo>
                  <a:lnTo>
                    <a:pt x="167" y="31"/>
                  </a:lnTo>
                  <a:lnTo>
                    <a:pt x="191" y="47"/>
                  </a:lnTo>
                  <a:lnTo>
                    <a:pt x="207" y="70"/>
                  </a:lnTo>
                  <a:lnTo>
                    <a:pt x="207" y="101"/>
                  </a:lnTo>
                  <a:lnTo>
                    <a:pt x="207" y="125"/>
                  </a:lnTo>
                  <a:lnTo>
                    <a:pt x="199" y="156"/>
                  </a:lnTo>
                  <a:lnTo>
                    <a:pt x="183" y="179"/>
                  </a:lnTo>
                  <a:lnTo>
                    <a:pt x="159" y="211"/>
                  </a:lnTo>
                  <a:lnTo>
                    <a:pt x="135" y="242"/>
                  </a:lnTo>
                  <a:lnTo>
                    <a:pt x="96" y="273"/>
                  </a:lnTo>
                  <a:lnTo>
                    <a:pt x="56" y="304"/>
                  </a:lnTo>
                  <a:lnTo>
                    <a:pt x="0" y="343"/>
                  </a:lnTo>
                  <a:lnTo>
                    <a:pt x="8" y="382"/>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3" name="Rectangle 12"/>
            <p:cNvSpPr>
              <a:spLocks noChangeArrowheads="1"/>
            </p:cNvSpPr>
            <p:nvPr/>
          </p:nvSpPr>
          <p:spPr bwMode="auto">
            <a:xfrm>
              <a:off x="139" y="3115"/>
              <a:ext cx="76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800" b="1">
                  <a:solidFill>
                    <a:srgbClr val="000000"/>
                  </a:solidFill>
                </a:rPr>
                <a:t>  Managed</a:t>
              </a:r>
              <a:endParaRPr lang="en-US" sz="2400" b="1"/>
            </a:p>
          </p:txBody>
        </p:sp>
      </p:grpSp>
      <p:grpSp>
        <p:nvGrpSpPr>
          <p:cNvPr id="14" name="Group 13"/>
          <p:cNvGrpSpPr>
            <a:grpSpLocks/>
          </p:cNvGrpSpPr>
          <p:nvPr/>
        </p:nvGrpSpPr>
        <p:grpSpPr bwMode="auto">
          <a:xfrm>
            <a:off x="813878" y="4146201"/>
            <a:ext cx="838200" cy="581025"/>
            <a:chOff x="267" y="2351"/>
            <a:chExt cx="576" cy="390"/>
          </a:xfrm>
        </p:grpSpPr>
        <p:sp>
          <p:nvSpPr>
            <p:cNvPr id="15" name="Freeform 14"/>
            <p:cNvSpPr>
              <a:spLocks/>
            </p:cNvSpPr>
            <p:nvPr/>
          </p:nvSpPr>
          <p:spPr bwMode="auto">
            <a:xfrm>
              <a:off x="362" y="2351"/>
              <a:ext cx="295" cy="390"/>
            </a:xfrm>
            <a:custGeom>
              <a:avLst/>
              <a:gdLst>
                <a:gd name="T0" fmla="*/ 223 w 295"/>
                <a:gd name="T1" fmla="*/ 156 h 390"/>
                <a:gd name="T2" fmla="*/ 271 w 295"/>
                <a:gd name="T3" fmla="*/ 117 h 390"/>
                <a:gd name="T4" fmla="*/ 263 w 295"/>
                <a:gd name="T5" fmla="*/ 55 h 390"/>
                <a:gd name="T6" fmla="*/ 199 w 295"/>
                <a:gd name="T7" fmla="*/ 0 h 390"/>
                <a:gd name="T8" fmla="*/ 96 w 295"/>
                <a:gd name="T9" fmla="*/ 8 h 390"/>
                <a:gd name="T10" fmla="*/ 32 w 295"/>
                <a:gd name="T11" fmla="*/ 55 h 390"/>
                <a:gd name="T12" fmla="*/ 24 w 295"/>
                <a:gd name="T13" fmla="*/ 102 h 390"/>
                <a:gd name="T14" fmla="*/ 40 w 295"/>
                <a:gd name="T15" fmla="*/ 117 h 390"/>
                <a:gd name="T16" fmla="*/ 64 w 295"/>
                <a:gd name="T17" fmla="*/ 125 h 390"/>
                <a:gd name="T18" fmla="*/ 80 w 295"/>
                <a:gd name="T19" fmla="*/ 110 h 390"/>
                <a:gd name="T20" fmla="*/ 80 w 295"/>
                <a:gd name="T21" fmla="*/ 86 h 390"/>
                <a:gd name="T22" fmla="*/ 72 w 295"/>
                <a:gd name="T23" fmla="*/ 71 h 390"/>
                <a:gd name="T24" fmla="*/ 80 w 295"/>
                <a:gd name="T25" fmla="*/ 47 h 390"/>
                <a:gd name="T26" fmla="*/ 119 w 295"/>
                <a:gd name="T27" fmla="*/ 24 h 390"/>
                <a:gd name="T28" fmla="*/ 175 w 295"/>
                <a:gd name="T29" fmla="*/ 24 h 390"/>
                <a:gd name="T30" fmla="*/ 207 w 295"/>
                <a:gd name="T31" fmla="*/ 63 h 390"/>
                <a:gd name="T32" fmla="*/ 207 w 295"/>
                <a:gd name="T33" fmla="*/ 117 h 390"/>
                <a:gd name="T34" fmla="*/ 159 w 295"/>
                <a:gd name="T35" fmla="*/ 156 h 390"/>
                <a:gd name="T36" fmla="*/ 119 w 295"/>
                <a:gd name="T37" fmla="*/ 164 h 390"/>
                <a:gd name="T38" fmla="*/ 104 w 295"/>
                <a:gd name="T39" fmla="*/ 164 h 390"/>
                <a:gd name="T40" fmla="*/ 112 w 295"/>
                <a:gd name="T41" fmla="*/ 188 h 390"/>
                <a:gd name="T42" fmla="*/ 127 w 295"/>
                <a:gd name="T43" fmla="*/ 188 h 390"/>
                <a:gd name="T44" fmla="*/ 207 w 295"/>
                <a:gd name="T45" fmla="*/ 203 h 390"/>
                <a:gd name="T46" fmla="*/ 231 w 295"/>
                <a:gd name="T47" fmla="*/ 273 h 390"/>
                <a:gd name="T48" fmla="*/ 207 w 295"/>
                <a:gd name="T49" fmla="*/ 336 h 390"/>
                <a:gd name="T50" fmla="*/ 143 w 295"/>
                <a:gd name="T51" fmla="*/ 359 h 390"/>
                <a:gd name="T52" fmla="*/ 88 w 295"/>
                <a:gd name="T53" fmla="*/ 351 h 390"/>
                <a:gd name="T54" fmla="*/ 64 w 295"/>
                <a:gd name="T55" fmla="*/ 320 h 390"/>
                <a:gd name="T56" fmla="*/ 64 w 295"/>
                <a:gd name="T57" fmla="*/ 305 h 390"/>
                <a:gd name="T58" fmla="*/ 64 w 295"/>
                <a:gd name="T59" fmla="*/ 281 h 390"/>
                <a:gd name="T60" fmla="*/ 48 w 295"/>
                <a:gd name="T61" fmla="*/ 266 h 390"/>
                <a:gd name="T62" fmla="*/ 24 w 295"/>
                <a:gd name="T63" fmla="*/ 266 h 390"/>
                <a:gd name="T64" fmla="*/ 0 w 295"/>
                <a:gd name="T65" fmla="*/ 289 h 390"/>
                <a:gd name="T66" fmla="*/ 8 w 295"/>
                <a:gd name="T67" fmla="*/ 336 h 390"/>
                <a:gd name="T68" fmla="*/ 80 w 295"/>
                <a:gd name="T69" fmla="*/ 382 h 390"/>
                <a:gd name="T70" fmla="*/ 199 w 295"/>
                <a:gd name="T71" fmla="*/ 382 h 390"/>
                <a:gd name="T72" fmla="*/ 287 w 295"/>
                <a:gd name="T73" fmla="*/ 320 h 390"/>
                <a:gd name="T74" fmla="*/ 287 w 295"/>
                <a:gd name="T75" fmla="*/ 234 h 390"/>
                <a:gd name="T76" fmla="*/ 239 w 295"/>
                <a:gd name="T77" fmla="*/ 188 h 39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95" h="390">
                  <a:moveTo>
                    <a:pt x="191" y="172"/>
                  </a:moveTo>
                  <a:lnTo>
                    <a:pt x="223" y="156"/>
                  </a:lnTo>
                  <a:lnTo>
                    <a:pt x="255" y="141"/>
                  </a:lnTo>
                  <a:lnTo>
                    <a:pt x="271" y="117"/>
                  </a:lnTo>
                  <a:lnTo>
                    <a:pt x="279" y="94"/>
                  </a:lnTo>
                  <a:lnTo>
                    <a:pt x="263" y="55"/>
                  </a:lnTo>
                  <a:lnTo>
                    <a:pt x="239" y="24"/>
                  </a:lnTo>
                  <a:lnTo>
                    <a:pt x="199" y="0"/>
                  </a:lnTo>
                  <a:lnTo>
                    <a:pt x="151" y="0"/>
                  </a:lnTo>
                  <a:lnTo>
                    <a:pt x="96" y="8"/>
                  </a:lnTo>
                  <a:lnTo>
                    <a:pt x="56" y="24"/>
                  </a:lnTo>
                  <a:lnTo>
                    <a:pt x="32" y="55"/>
                  </a:lnTo>
                  <a:lnTo>
                    <a:pt x="24" y="86"/>
                  </a:lnTo>
                  <a:lnTo>
                    <a:pt x="24" y="102"/>
                  </a:lnTo>
                  <a:lnTo>
                    <a:pt x="32" y="117"/>
                  </a:lnTo>
                  <a:lnTo>
                    <a:pt x="40" y="117"/>
                  </a:lnTo>
                  <a:lnTo>
                    <a:pt x="56" y="125"/>
                  </a:lnTo>
                  <a:lnTo>
                    <a:pt x="64" y="125"/>
                  </a:lnTo>
                  <a:lnTo>
                    <a:pt x="72" y="117"/>
                  </a:lnTo>
                  <a:lnTo>
                    <a:pt x="80" y="110"/>
                  </a:lnTo>
                  <a:lnTo>
                    <a:pt x="80" y="94"/>
                  </a:lnTo>
                  <a:lnTo>
                    <a:pt x="80" y="86"/>
                  </a:lnTo>
                  <a:lnTo>
                    <a:pt x="80" y="78"/>
                  </a:lnTo>
                  <a:lnTo>
                    <a:pt x="72" y="71"/>
                  </a:lnTo>
                  <a:lnTo>
                    <a:pt x="72" y="63"/>
                  </a:lnTo>
                  <a:lnTo>
                    <a:pt x="80" y="47"/>
                  </a:lnTo>
                  <a:lnTo>
                    <a:pt x="96" y="32"/>
                  </a:lnTo>
                  <a:lnTo>
                    <a:pt x="119" y="24"/>
                  </a:lnTo>
                  <a:lnTo>
                    <a:pt x="143" y="24"/>
                  </a:lnTo>
                  <a:lnTo>
                    <a:pt x="175" y="24"/>
                  </a:lnTo>
                  <a:lnTo>
                    <a:pt x="191" y="39"/>
                  </a:lnTo>
                  <a:lnTo>
                    <a:pt x="207" y="63"/>
                  </a:lnTo>
                  <a:lnTo>
                    <a:pt x="215" y="94"/>
                  </a:lnTo>
                  <a:lnTo>
                    <a:pt x="207" y="117"/>
                  </a:lnTo>
                  <a:lnTo>
                    <a:pt x="191" y="141"/>
                  </a:lnTo>
                  <a:lnTo>
                    <a:pt x="159" y="156"/>
                  </a:lnTo>
                  <a:lnTo>
                    <a:pt x="127" y="164"/>
                  </a:lnTo>
                  <a:lnTo>
                    <a:pt x="119" y="164"/>
                  </a:lnTo>
                  <a:lnTo>
                    <a:pt x="112" y="164"/>
                  </a:lnTo>
                  <a:lnTo>
                    <a:pt x="104" y="164"/>
                  </a:lnTo>
                  <a:lnTo>
                    <a:pt x="104" y="188"/>
                  </a:lnTo>
                  <a:lnTo>
                    <a:pt x="112" y="188"/>
                  </a:lnTo>
                  <a:lnTo>
                    <a:pt x="119" y="188"/>
                  </a:lnTo>
                  <a:lnTo>
                    <a:pt x="127" y="188"/>
                  </a:lnTo>
                  <a:lnTo>
                    <a:pt x="175" y="188"/>
                  </a:lnTo>
                  <a:lnTo>
                    <a:pt x="207" y="203"/>
                  </a:lnTo>
                  <a:lnTo>
                    <a:pt x="223" y="234"/>
                  </a:lnTo>
                  <a:lnTo>
                    <a:pt x="231" y="273"/>
                  </a:lnTo>
                  <a:lnTo>
                    <a:pt x="223" y="312"/>
                  </a:lnTo>
                  <a:lnTo>
                    <a:pt x="207" y="336"/>
                  </a:lnTo>
                  <a:lnTo>
                    <a:pt x="175" y="359"/>
                  </a:lnTo>
                  <a:lnTo>
                    <a:pt x="143" y="359"/>
                  </a:lnTo>
                  <a:lnTo>
                    <a:pt x="112" y="359"/>
                  </a:lnTo>
                  <a:lnTo>
                    <a:pt x="88" y="351"/>
                  </a:lnTo>
                  <a:lnTo>
                    <a:pt x="64" y="336"/>
                  </a:lnTo>
                  <a:lnTo>
                    <a:pt x="64" y="320"/>
                  </a:lnTo>
                  <a:lnTo>
                    <a:pt x="64" y="312"/>
                  </a:lnTo>
                  <a:lnTo>
                    <a:pt x="64" y="305"/>
                  </a:lnTo>
                  <a:lnTo>
                    <a:pt x="64" y="297"/>
                  </a:lnTo>
                  <a:lnTo>
                    <a:pt x="64" y="281"/>
                  </a:lnTo>
                  <a:lnTo>
                    <a:pt x="56" y="273"/>
                  </a:lnTo>
                  <a:lnTo>
                    <a:pt x="48" y="266"/>
                  </a:lnTo>
                  <a:lnTo>
                    <a:pt x="40" y="266"/>
                  </a:lnTo>
                  <a:lnTo>
                    <a:pt x="24" y="266"/>
                  </a:lnTo>
                  <a:lnTo>
                    <a:pt x="8" y="273"/>
                  </a:lnTo>
                  <a:lnTo>
                    <a:pt x="0" y="289"/>
                  </a:lnTo>
                  <a:lnTo>
                    <a:pt x="0" y="305"/>
                  </a:lnTo>
                  <a:lnTo>
                    <a:pt x="8" y="336"/>
                  </a:lnTo>
                  <a:lnTo>
                    <a:pt x="40" y="359"/>
                  </a:lnTo>
                  <a:lnTo>
                    <a:pt x="80" y="382"/>
                  </a:lnTo>
                  <a:lnTo>
                    <a:pt x="135" y="390"/>
                  </a:lnTo>
                  <a:lnTo>
                    <a:pt x="199" y="382"/>
                  </a:lnTo>
                  <a:lnTo>
                    <a:pt x="247" y="359"/>
                  </a:lnTo>
                  <a:lnTo>
                    <a:pt x="287" y="320"/>
                  </a:lnTo>
                  <a:lnTo>
                    <a:pt x="295" y="273"/>
                  </a:lnTo>
                  <a:lnTo>
                    <a:pt x="287" y="234"/>
                  </a:lnTo>
                  <a:lnTo>
                    <a:pt x="271" y="203"/>
                  </a:lnTo>
                  <a:lnTo>
                    <a:pt x="239" y="188"/>
                  </a:lnTo>
                  <a:lnTo>
                    <a:pt x="191" y="172"/>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6" name="Freeform 15"/>
            <p:cNvSpPr>
              <a:spLocks/>
            </p:cNvSpPr>
            <p:nvPr/>
          </p:nvSpPr>
          <p:spPr bwMode="auto">
            <a:xfrm>
              <a:off x="362" y="2351"/>
              <a:ext cx="295" cy="390"/>
            </a:xfrm>
            <a:custGeom>
              <a:avLst/>
              <a:gdLst>
                <a:gd name="T0" fmla="*/ 223 w 295"/>
                <a:gd name="T1" fmla="*/ 156 h 390"/>
                <a:gd name="T2" fmla="*/ 271 w 295"/>
                <a:gd name="T3" fmla="*/ 117 h 390"/>
                <a:gd name="T4" fmla="*/ 263 w 295"/>
                <a:gd name="T5" fmla="*/ 55 h 390"/>
                <a:gd name="T6" fmla="*/ 199 w 295"/>
                <a:gd name="T7" fmla="*/ 0 h 390"/>
                <a:gd name="T8" fmla="*/ 96 w 295"/>
                <a:gd name="T9" fmla="*/ 8 h 390"/>
                <a:gd name="T10" fmla="*/ 32 w 295"/>
                <a:gd name="T11" fmla="*/ 55 h 390"/>
                <a:gd name="T12" fmla="*/ 24 w 295"/>
                <a:gd name="T13" fmla="*/ 102 h 390"/>
                <a:gd name="T14" fmla="*/ 40 w 295"/>
                <a:gd name="T15" fmla="*/ 117 h 390"/>
                <a:gd name="T16" fmla="*/ 64 w 295"/>
                <a:gd name="T17" fmla="*/ 125 h 390"/>
                <a:gd name="T18" fmla="*/ 80 w 295"/>
                <a:gd name="T19" fmla="*/ 110 h 390"/>
                <a:gd name="T20" fmla="*/ 80 w 295"/>
                <a:gd name="T21" fmla="*/ 86 h 390"/>
                <a:gd name="T22" fmla="*/ 72 w 295"/>
                <a:gd name="T23" fmla="*/ 71 h 390"/>
                <a:gd name="T24" fmla="*/ 80 w 295"/>
                <a:gd name="T25" fmla="*/ 47 h 390"/>
                <a:gd name="T26" fmla="*/ 119 w 295"/>
                <a:gd name="T27" fmla="*/ 24 h 390"/>
                <a:gd name="T28" fmla="*/ 175 w 295"/>
                <a:gd name="T29" fmla="*/ 24 h 390"/>
                <a:gd name="T30" fmla="*/ 207 w 295"/>
                <a:gd name="T31" fmla="*/ 63 h 390"/>
                <a:gd name="T32" fmla="*/ 207 w 295"/>
                <a:gd name="T33" fmla="*/ 117 h 390"/>
                <a:gd name="T34" fmla="*/ 159 w 295"/>
                <a:gd name="T35" fmla="*/ 156 h 390"/>
                <a:gd name="T36" fmla="*/ 119 w 295"/>
                <a:gd name="T37" fmla="*/ 164 h 390"/>
                <a:gd name="T38" fmla="*/ 104 w 295"/>
                <a:gd name="T39" fmla="*/ 164 h 390"/>
                <a:gd name="T40" fmla="*/ 112 w 295"/>
                <a:gd name="T41" fmla="*/ 188 h 390"/>
                <a:gd name="T42" fmla="*/ 127 w 295"/>
                <a:gd name="T43" fmla="*/ 188 h 390"/>
                <a:gd name="T44" fmla="*/ 207 w 295"/>
                <a:gd name="T45" fmla="*/ 203 h 390"/>
                <a:gd name="T46" fmla="*/ 231 w 295"/>
                <a:gd name="T47" fmla="*/ 273 h 390"/>
                <a:gd name="T48" fmla="*/ 207 w 295"/>
                <a:gd name="T49" fmla="*/ 336 h 390"/>
                <a:gd name="T50" fmla="*/ 143 w 295"/>
                <a:gd name="T51" fmla="*/ 359 h 390"/>
                <a:gd name="T52" fmla="*/ 88 w 295"/>
                <a:gd name="T53" fmla="*/ 351 h 390"/>
                <a:gd name="T54" fmla="*/ 64 w 295"/>
                <a:gd name="T55" fmla="*/ 320 h 390"/>
                <a:gd name="T56" fmla="*/ 64 w 295"/>
                <a:gd name="T57" fmla="*/ 305 h 390"/>
                <a:gd name="T58" fmla="*/ 64 w 295"/>
                <a:gd name="T59" fmla="*/ 281 h 390"/>
                <a:gd name="T60" fmla="*/ 48 w 295"/>
                <a:gd name="T61" fmla="*/ 266 h 390"/>
                <a:gd name="T62" fmla="*/ 24 w 295"/>
                <a:gd name="T63" fmla="*/ 266 h 390"/>
                <a:gd name="T64" fmla="*/ 0 w 295"/>
                <a:gd name="T65" fmla="*/ 289 h 390"/>
                <a:gd name="T66" fmla="*/ 8 w 295"/>
                <a:gd name="T67" fmla="*/ 336 h 390"/>
                <a:gd name="T68" fmla="*/ 80 w 295"/>
                <a:gd name="T69" fmla="*/ 382 h 390"/>
                <a:gd name="T70" fmla="*/ 199 w 295"/>
                <a:gd name="T71" fmla="*/ 382 h 390"/>
                <a:gd name="T72" fmla="*/ 287 w 295"/>
                <a:gd name="T73" fmla="*/ 320 h 390"/>
                <a:gd name="T74" fmla="*/ 287 w 295"/>
                <a:gd name="T75" fmla="*/ 234 h 390"/>
                <a:gd name="T76" fmla="*/ 239 w 295"/>
                <a:gd name="T77" fmla="*/ 188 h 39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95" h="390">
                  <a:moveTo>
                    <a:pt x="191" y="172"/>
                  </a:moveTo>
                  <a:lnTo>
                    <a:pt x="223" y="156"/>
                  </a:lnTo>
                  <a:lnTo>
                    <a:pt x="255" y="141"/>
                  </a:lnTo>
                  <a:lnTo>
                    <a:pt x="271" y="117"/>
                  </a:lnTo>
                  <a:lnTo>
                    <a:pt x="279" y="94"/>
                  </a:lnTo>
                  <a:lnTo>
                    <a:pt x="263" y="55"/>
                  </a:lnTo>
                  <a:lnTo>
                    <a:pt x="239" y="24"/>
                  </a:lnTo>
                  <a:lnTo>
                    <a:pt x="199" y="0"/>
                  </a:lnTo>
                  <a:lnTo>
                    <a:pt x="151" y="0"/>
                  </a:lnTo>
                  <a:lnTo>
                    <a:pt x="96" y="8"/>
                  </a:lnTo>
                  <a:lnTo>
                    <a:pt x="56" y="24"/>
                  </a:lnTo>
                  <a:lnTo>
                    <a:pt x="32" y="55"/>
                  </a:lnTo>
                  <a:lnTo>
                    <a:pt x="24" y="86"/>
                  </a:lnTo>
                  <a:lnTo>
                    <a:pt x="24" y="102"/>
                  </a:lnTo>
                  <a:lnTo>
                    <a:pt x="32" y="117"/>
                  </a:lnTo>
                  <a:lnTo>
                    <a:pt x="40" y="117"/>
                  </a:lnTo>
                  <a:lnTo>
                    <a:pt x="56" y="125"/>
                  </a:lnTo>
                  <a:lnTo>
                    <a:pt x="64" y="125"/>
                  </a:lnTo>
                  <a:lnTo>
                    <a:pt x="72" y="117"/>
                  </a:lnTo>
                  <a:lnTo>
                    <a:pt x="80" y="110"/>
                  </a:lnTo>
                  <a:lnTo>
                    <a:pt x="80" y="94"/>
                  </a:lnTo>
                  <a:lnTo>
                    <a:pt x="80" y="86"/>
                  </a:lnTo>
                  <a:lnTo>
                    <a:pt x="80" y="78"/>
                  </a:lnTo>
                  <a:lnTo>
                    <a:pt x="72" y="71"/>
                  </a:lnTo>
                  <a:lnTo>
                    <a:pt x="72" y="63"/>
                  </a:lnTo>
                  <a:lnTo>
                    <a:pt x="80" y="47"/>
                  </a:lnTo>
                  <a:lnTo>
                    <a:pt x="96" y="32"/>
                  </a:lnTo>
                  <a:lnTo>
                    <a:pt x="119" y="24"/>
                  </a:lnTo>
                  <a:lnTo>
                    <a:pt x="143" y="24"/>
                  </a:lnTo>
                  <a:lnTo>
                    <a:pt x="175" y="24"/>
                  </a:lnTo>
                  <a:lnTo>
                    <a:pt x="191" y="39"/>
                  </a:lnTo>
                  <a:lnTo>
                    <a:pt x="207" y="63"/>
                  </a:lnTo>
                  <a:lnTo>
                    <a:pt x="215" y="94"/>
                  </a:lnTo>
                  <a:lnTo>
                    <a:pt x="207" y="117"/>
                  </a:lnTo>
                  <a:lnTo>
                    <a:pt x="191" y="141"/>
                  </a:lnTo>
                  <a:lnTo>
                    <a:pt x="159" y="156"/>
                  </a:lnTo>
                  <a:lnTo>
                    <a:pt x="127" y="164"/>
                  </a:lnTo>
                  <a:lnTo>
                    <a:pt x="119" y="164"/>
                  </a:lnTo>
                  <a:lnTo>
                    <a:pt x="112" y="164"/>
                  </a:lnTo>
                  <a:lnTo>
                    <a:pt x="104" y="164"/>
                  </a:lnTo>
                  <a:lnTo>
                    <a:pt x="104" y="188"/>
                  </a:lnTo>
                  <a:lnTo>
                    <a:pt x="112" y="188"/>
                  </a:lnTo>
                  <a:lnTo>
                    <a:pt x="119" y="188"/>
                  </a:lnTo>
                  <a:lnTo>
                    <a:pt x="127" y="188"/>
                  </a:lnTo>
                  <a:lnTo>
                    <a:pt x="175" y="188"/>
                  </a:lnTo>
                  <a:lnTo>
                    <a:pt x="207" y="203"/>
                  </a:lnTo>
                  <a:lnTo>
                    <a:pt x="223" y="234"/>
                  </a:lnTo>
                  <a:lnTo>
                    <a:pt x="231" y="273"/>
                  </a:lnTo>
                  <a:lnTo>
                    <a:pt x="223" y="312"/>
                  </a:lnTo>
                  <a:lnTo>
                    <a:pt x="207" y="336"/>
                  </a:lnTo>
                  <a:lnTo>
                    <a:pt x="175" y="359"/>
                  </a:lnTo>
                  <a:lnTo>
                    <a:pt x="143" y="359"/>
                  </a:lnTo>
                  <a:lnTo>
                    <a:pt x="112" y="359"/>
                  </a:lnTo>
                  <a:lnTo>
                    <a:pt x="88" y="351"/>
                  </a:lnTo>
                  <a:lnTo>
                    <a:pt x="64" y="336"/>
                  </a:lnTo>
                  <a:lnTo>
                    <a:pt x="64" y="320"/>
                  </a:lnTo>
                  <a:lnTo>
                    <a:pt x="64" y="312"/>
                  </a:lnTo>
                  <a:lnTo>
                    <a:pt x="64" y="305"/>
                  </a:lnTo>
                  <a:lnTo>
                    <a:pt x="64" y="297"/>
                  </a:lnTo>
                  <a:lnTo>
                    <a:pt x="64" y="281"/>
                  </a:lnTo>
                  <a:lnTo>
                    <a:pt x="56" y="273"/>
                  </a:lnTo>
                  <a:lnTo>
                    <a:pt x="48" y="266"/>
                  </a:lnTo>
                  <a:lnTo>
                    <a:pt x="40" y="266"/>
                  </a:lnTo>
                  <a:lnTo>
                    <a:pt x="24" y="266"/>
                  </a:lnTo>
                  <a:lnTo>
                    <a:pt x="8" y="273"/>
                  </a:lnTo>
                  <a:lnTo>
                    <a:pt x="0" y="289"/>
                  </a:lnTo>
                  <a:lnTo>
                    <a:pt x="0" y="305"/>
                  </a:lnTo>
                  <a:lnTo>
                    <a:pt x="8" y="336"/>
                  </a:lnTo>
                  <a:lnTo>
                    <a:pt x="40" y="359"/>
                  </a:lnTo>
                  <a:lnTo>
                    <a:pt x="80" y="382"/>
                  </a:lnTo>
                  <a:lnTo>
                    <a:pt x="135" y="390"/>
                  </a:lnTo>
                  <a:lnTo>
                    <a:pt x="199" y="382"/>
                  </a:lnTo>
                  <a:lnTo>
                    <a:pt x="247" y="359"/>
                  </a:lnTo>
                  <a:lnTo>
                    <a:pt x="287" y="320"/>
                  </a:lnTo>
                  <a:lnTo>
                    <a:pt x="295" y="273"/>
                  </a:lnTo>
                  <a:lnTo>
                    <a:pt x="287" y="234"/>
                  </a:lnTo>
                  <a:lnTo>
                    <a:pt x="271" y="203"/>
                  </a:lnTo>
                  <a:lnTo>
                    <a:pt x="239" y="188"/>
                  </a:lnTo>
                  <a:lnTo>
                    <a:pt x="191" y="172"/>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17" name="Rectangle 16"/>
            <p:cNvSpPr>
              <a:spLocks noChangeArrowheads="1"/>
            </p:cNvSpPr>
            <p:nvPr/>
          </p:nvSpPr>
          <p:spPr bwMode="auto">
            <a:xfrm>
              <a:off x="267" y="2452"/>
              <a:ext cx="576"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800" b="1">
                  <a:solidFill>
                    <a:srgbClr val="000000"/>
                  </a:solidFill>
                </a:rPr>
                <a:t>Defined</a:t>
              </a:r>
              <a:endParaRPr lang="en-US" sz="2400" b="1"/>
            </a:p>
          </p:txBody>
        </p:sp>
      </p:grpSp>
      <p:grpSp>
        <p:nvGrpSpPr>
          <p:cNvPr id="18" name="Group 17"/>
          <p:cNvGrpSpPr>
            <a:grpSpLocks/>
          </p:cNvGrpSpPr>
          <p:nvPr/>
        </p:nvGrpSpPr>
        <p:grpSpPr bwMode="auto">
          <a:xfrm>
            <a:off x="940878" y="3031776"/>
            <a:ext cx="461962" cy="557212"/>
            <a:chOff x="354" y="1603"/>
            <a:chExt cx="318" cy="374"/>
          </a:xfrm>
        </p:grpSpPr>
        <p:sp>
          <p:nvSpPr>
            <p:cNvPr id="19" name="Freeform 18"/>
            <p:cNvSpPr>
              <a:spLocks/>
            </p:cNvSpPr>
            <p:nvPr/>
          </p:nvSpPr>
          <p:spPr bwMode="auto">
            <a:xfrm>
              <a:off x="354" y="1603"/>
              <a:ext cx="318" cy="374"/>
            </a:xfrm>
            <a:custGeom>
              <a:avLst/>
              <a:gdLst>
                <a:gd name="T0" fmla="*/ 127 w 318"/>
                <a:gd name="T1" fmla="*/ 374 h 374"/>
                <a:gd name="T2" fmla="*/ 287 w 318"/>
                <a:gd name="T3" fmla="*/ 374 h 374"/>
                <a:gd name="T4" fmla="*/ 287 w 318"/>
                <a:gd name="T5" fmla="*/ 359 h 374"/>
                <a:gd name="T6" fmla="*/ 263 w 318"/>
                <a:gd name="T7" fmla="*/ 351 h 374"/>
                <a:gd name="T8" fmla="*/ 247 w 318"/>
                <a:gd name="T9" fmla="*/ 351 h 374"/>
                <a:gd name="T10" fmla="*/ 239 w 318"/>
                <a:gd name="T11" fmla="*/ 335 h 374"/>
                <a:gd name="T12" fmla="*/ 231 w 318"/>
                <a:gd name="T13" fmla="*/ 320 h 374"/>
                <a:gd name="T14" fmla="*/ 231 w 318"/>
                <a:gd name="T15" fmla="*/ 273 h 374"/>
                <a:gd name="T16" fmla="*/ 303 w 318"/>
                <a:gd name="T17" fmla="*/ 273 h 374"/>
                <a:gd name="T18" fmla="*/ 318 w 318"/>
                <a:gd name="T19" fmla="*/ 242 h 374"/>
                <a:gd name="T20" fmla="*/ 231 w 318"/>
                <a:gd name="T21" fmla="*/ 242 h 374"/>
                <a:gd name="T22" fmla="*/ 231 w 318"/>
                <a:gd name="T23" fmla="*/ 0 h 374"/>
                <a:gd name="T24" fmla="*/ 183 w 318"/>
                <a:gd name="T25" fmla="*/ 0 h 374"/>
                <a:gd name="T26" fmla="*/ 143 w 318"/>
                <a:gd name="T27" fmla="*/ 62 h 374"/>
                <a:gd name="T28" fmla="*/ 96 w 318"/>
                <a:gd name="T29" fmla="*/ 125 h 374"/>
                <a:gd name="T30" fmla="*/ 48 w 318"/>
                <a:gd name="T31" fmla="*/ 187 h 374"/>
                <a:gd name="T32" fmla="*/ 0 w 318"/>
                <a:gd name="T33" fmla="*/ 250 h 374"/>
                <a:gd name="T34" fmla="*/ 8 w 318"/>
                <a:gd name="T35" fmla="*/ 273 h 374"/>
                <a:gd name="T36" fmla="*/ 175 w 318"/>
                <a:gd name="T37" fmla="*/ 273 h 374"/>
                <a:gd name="T38" fmla="*/ 175 w 318"/>
                <a:gd name="T39" fmla="*/ 320 h 374"/>
                <a:gd name="T40" fmla="*/ 175 w 318"/>
                <a:gd name="T41" fmla="*/ 335 h 374"/>
                <a:gd name="T42" fmla="*/ 167 w 318"/>
                <a:gd name="T43" fmla="*/ 343 h 374"/>
                <a:gd name="T44" fmla="*/ 151 w 318"/>
                <a:gd name="T45" fmla="*/ 351 h 374"/>
                <a:gd name="T46" fmla="*/ 127 w 318"/>
                <a:gd name="T47" fmla="*/ 359 h 374"/>
                <a:gd name="T48" fmla="*/ 127 w 318"/>
                <a:gd name="T49" fmla="*/ 374 h 3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18" h="374">
                  <a:moveTo>
                    <a:pt x="127" y="374"/>
                  </a:moveTo>
                  <a:lnTo>
                    <a:pt x="287" y="374"/>
                  </a:lnTo>
                  <a:lnTo>
                    <a:pt x="287" y="359"/>
                  </a:lnTo>
                  <a:lnTo>
                    <a:pt x="263" y="351"/>
                  </a:lnTo>
                  <a:lnTo>
                    <a:pt x="247" y="351"/>
                  </a:lnTo>
                  <a:lnTo>
                    <a:pt x="239" y="335"/>
                  </a:lnTo>
                  <a:lnTo>
                    <a:pt x="231" y="320"/>
                  </a:lnTo>
                  <a:lnTo>
                    <a:pt x="231" y="273"/>
                  </a:lnTo>
                  <a:lnTo>
                    <a:pt x="303" y="273"/>
                  </a:lnTo>
                  <a:lnTo>
                    <a:pt x="318" y="242"/>
                  </a:lnTo>
                  <a:lnTo>
                    <a:pt x="231" y="242"/>
                  </a:lnTo>
                  <a:lnTo>
                    <a:pt x="231" y="0"/>
                  </a:lnTo>
                  <a:lnTo>
                    <a:pt x="183" y="0"/>
                  </a:lnTo>
                  <a:lnTo>
                    <a:pt x="143" y="62"/>
                  </a:lnTo>
                  <a:lnTo>
                    <a:pt x="96" y="125"/>
                  </a:lnTo>
                  <a:lnTo>
                    <a:pt x="48" y="187"/>
                  </a:lnTo>
                  <a:lnTo>
                    <a:pt x="0" y="250"/>
                  </a:lnTo>
                  <a:lnTo>
                    <a:pt x="8" y="273"/>
                  </a:lnTo>
                  <a:lnTo>
                    <a:pt x="175" y="273"/>
                  </a:lnTo>
                  <a:lnTo>
                    <a:pt x="175" y="320"/>
                  </a:lnTo>
                  <a:lnTo>
                    <a:pt x="175" y="335"/>
                  </a:lnTo>
                  <a:lnTo>
                    <a:pt x="167" y="343"/>
                  </a:lnTo>
                  <a:lnTo>
                    <a:pt x="151" y="351"/>
                  </a:lnTo>
                  <a:lnTo>
                    <a:pt x="127" y="359"/>
                  </a:lnTo>
                  <a:lnTo>
                    <a:pt x="127" y="374"/>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0" name="Freeform 19"/>
            <p:cNvSpPr>
              <a:spLocks/>
            </p:cNvSpPr>
            <p:nvPr/>
          </p:nvSpPr>
          <p:spPr bwMode="auto">
            <a:xfrm>
              <a:off x="354" y="1603"/>
              <a:ext cx="318" cy="374"/>
            </a:xfrm>
            <a:custGeom>
              <a:avLst/>
              <a:gdLst>
                <a:gd name="T0" fmla="*/ 127 w 318"/>
                <a:gd name="T1" fmla="*/ 374 h 374"/>
                <a:gd name="T2" fmla="*/ 287 w 318"/>
                <a:gd name="T3" fmla="*/ 374 h 374"/>
                <a:gd name="T4" fmla="*/ 287 w 318"/>
                <a:gd name="T5" fmla="*/ 359 h 374"/>
                <a:gd name="T6" fmla="*/ 263 w 318"/>
                <a:gd name="T7" fmla="*/ 351 h 374"/>
                <a:gd name="T8" fmla="*/ 247 w 318"/>
                <a:gd name="T9" fmla="*/ 351 h 374"/>
                <a:gd name="T10" fmla="*/ 239 w 318"/>
                <a:gd name="T11" fmla="*/ 335 h 374"/>
                <a:gd name="T12" fmla="*/ 231 w 318"/>
                <a:gd name="T13" fmla="*/ 320 h 374"/>
                <a:gd name="T14" fmla="*/ 231 w 318"/>
                <a:gd name="T15" fmla="*/ 273 h 374"/>
                <a:gd name="T16" fmla="*/ 303 w 318"/>
                <a:gd name="T17" fmla="*/ 273 h 374"/>
                <a:gd name="T18" fmla="*/ 318 w 318"/>
                <a:gd name="T19" fmla="*/ 242 h 374"/>
                <a:gd name="T20" fmla="*/ 231 w 318"/>
                <a:gd name="T21" fmla="*/ 242 h 374"/>
                <a:gd name="T22" fmla="*/ 231 w 318"/>
                <a:gd name="T23" fmla="*/ 0 h 374"/>
                <a:gd name="T24" fmla="*/ 183 w 318"/>
                <a:gd name="T25" fmla="*/ 0 h 374"/>
                <a:gd name="T26" fmla="*/ 143 w 318"/>
                <a:gd name="T27" fmla="*/ 62 h 374"/>
                <a:gd name="T28" fmla="*/ 96 w 318"/>
                <a:gd name="T29" fmla="*/ 125 h 374"/>
                <a:gd name="T30" fmla="*/ 48 w 318"/>
                <a:gd name="T31" fmla="*/ 187 h 374"/>
                <a:gd name="T32" fmla="*/ 0 w 318"/>
                <a:gd name="T33" fmla="*/ 250 h 374"/>
                <a:gd name="T34" fmla="*/ 8 w 318"/>
                <a:gd name="T35" fmla="*/ 273 h 374"/>
                <a:gd name="T36" fmla="*/ 175 w 318"/>
                <a:gd name="T37" fmla="*/ 273 h 374"/>
                <a:gd name="T38" fmla="*/ 175 w 318"/>
                <a:gd name="T39" fmla="*/ 320 h 374"/>
                <a:gd name="T40" fmla="*/ 175 w 318"/>
                <a:gd name="T41" fmla="*/ 335 h 374"/>
                <a:gd name="T42" fmla="*/ 167 w 318"/>
                <a:gd name="T43" fmla="*/ 343 h 374"/>
                <a:gd name="T44" fmla="*/ 151 w 318"/>
                <a:gd name="T45" fmla="*/ 351 h 374"/>
                <a:gd name="T46" fmla="*/ 127 w 318"/>
                <a:gd name="T47" fmla="*/ 359 h 374"/>
                <a:gd name="T48" fmla="*/ 127 w 318"/>
                <a:gd name="T49" fmla="*/ 374 h 37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18" h="374">
                  <a:moveTo>
                    <a:pt x="127" y="374"/>
                  </a:moveTo>
                  <a:lnTo>
                    <a:pt x="287" y="374"/>
                  </a:lnTo>
                  <a:lnTo>
                    <a:pt x="287" y="359"/>
                  </a:lnTo>
                  <a:lnTo>
                    <a:pt x="263" y="351"/>
                  </a:lnTo>
                  <a:lnTo>
                    <a:pt x="247" y="351"/>
                  </a:lnTo>
                  <a:lnTo>
                    <a:pt x="239" y="335"/>
                  </a:lnTo>
                  <a:lnTo>
                    <a:pt x="231" y="320"/>
                  </a:lnTo>
                  <a:lnTo>
                    <a:pt x="231" y="273"/>
                  </a:lnTo>
                  <a:lnTo>
                    <a:pt x="303" y="273"/>
                  </a:lnTo>
                  <a:lnTo>
                    <a:pt x="318" y="242"/>
                  </a:lnTo>
                  <a:lnTo>
                    <a:pt x="231" y="242"/>
                  </a:lnTo>
                  <a:lnTo>
                    <a:pt x="231" y="0"/>
                  </a:lnTo>
                  <a:lnTo>
                    <a:pt x="183" y="0"/>
                  </a:lnTo>
                  <a:lnTo>
                    <a:pt x="143" y="62"/>
                  </a:lnTo>
                  <a:lnTo>
                    <a:pt x="96" y="125"/>
                  </a:lnTo>
                  <a:lnTo>
                    <a:pt x="48" y="187"/>
                  </a:lnTo>
                  <a:lnTo>
                    <a:pt x="0" y="250"/>
                  </a:lnTo>
                  <a:lnTo>
                    <a:pt x="8" y="273"/>
                  </a:lnTo>
                  <a:lnTo>
                    <a:pt x="175" y="273"/>
                  </a:lnTo>
                  <a:lnTo>
                    <a:pt x="175" y="320"/>
                  </a:lnTo>
                  <a:lnTo>
                    <a:pt x="175" y="335"/>
                  </a:lnTo>
                  <a:lnTo>
                    <a:pt x="167" y="343"/>
                  </a:lnTo>
                  <a:lnTo>
                    <a:pt x="151" y="351"/>
                  </a:lnTo>
                  <a:lnTo>
                    <a:pt x="127" y="359"/>
                  </a:lnTo>
                  <a:lnTo>
                    <a:pt x="127" y="374"/>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1" name="Freeform 20"/>
            <p:cNvSpPr>
              <a:spLocks/>
            </p:cNvSpPr>
            <p:nvPr/>
          </p:nvSpPr>
          <p:spPr bwMode="auto">
            <a:xfrm>
              <a:off x="394" y="1650"/>
              <a:ext cx="135" cy="195"/>
            </a:xfrm>
            <a:custGeom>
              <a:avLst/>
              <a:gdLst>
                <a:gd name="T0" fmla="*/ 135 w 135"/>
                <a:gd name="T1" fmla="*/ 195 h 195"/>
                <a:gd name="T2" fmla="*/ 0 w 135"/>
                <a:gd name="T3" fmla="*/ 195 h 195"/>
                <a:gd name="T4" fmla="*/ 32 w 135"/>
                <a:gd name="T5" fmla="*/ 148 h 195"/>
                <a:gd name="T6" fmla="*/ 64 w 135"/>
                <a:gd name="T7" fmla="*/ 101 h 195"/>
                <a:gd name="T8" fmla="*/ 95 w 135"/>
                <a:gd name="T9" fmla="*/ 62 h 195"/>
                <a:gd name="T10" fmla="*/ 119 w 135"/>
                <a:gd name="T11" fmla="*/ 31 h 195"/>
                <a:gd name="T12" fmla="*/ 135 w 135"/>
                <a:gd name="T13" fmla="*/ 0 h 195"/>
                <a:gd name="T14" fmla="*/ 135 w 135"/>
                <a:gd name="T15" fmla="*/ 195 h 19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5" h="195">
                  <a:moveTo>
                    <a:pt x="135" y="195"/>
                  </a:moveTo>
                  <a:lnTo>
                    <a:pt x="0" y="195"/>
                  </a:lnTo>
                  <a:lnTo>
                    <a:pt x="32" y="148"/>
                  </a:lnTo>
                  <a:lnTo>
                    <a:pt x="64" y="101"/>
                  </a:lnTo>
                  <a:lnTo>
                    <a:pt x="95" y="62"/>
                  </a:lnTo>
                  <a:lnTo>
                    <a:pt x="119" y="31"/>
                  </a:lnTo>
                  <a:lnTo>
                    <a:pt x="135" y="0"/>
                  </a:lnTo>
                  <a:lnTo>
                    <a:pt x="135" y="1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2" name="Freeform 21"/>
            <p:cNvSpPr>
              <a:spLocks/>
            </p:cNvSpPr>
            <p:nvPr/>
          </p:nvSpPr>
          <p:spPr bwMode="auto">
            <a:xfrm>
              <a:off x="394" y="1650"/>
              <a:ext cx="135" cy="195"/>
            </a:xfrm>
            <a:custGeom>
              <a:avLst/>
              <a:gdLst>
                <a:gd name="T0" fmla="*/ 135 w 135"/>
                <a:gd name="T1" fmla="*/ 195 h 195"/>
                <a:gd name="T2" fmla="*/ 0 w 135"/>
                <a:gd name="T3" fmla="*/ 195 h 195"/>
                <a:gd name="T4" fmla="*/ 32 w 135"/>
                <a:gd name="T5" fmla="*/ 148 h 195"/>
                <a:gd name="T6" fmla="*/ 64 w 135"/>
                <a:gd name="T7" fmla="*/ 101 h 195"/>
                <a:gd name="T8" fmla="*/ 95 w 135"/>
                <a:gd name="T9" fmla="*/ 62 h 195"/>
                <a:gd name="T10" fmla="*/ 119 w 135"/>
                <a:gd name="T11" fmla="*/ 31 h 195"/>
                <a:gd name="T12" fmla="*/ 135 w 135"/>
                <a:gd name="T13" fmla="*/ 0 h 195"/>
                <a:gd name="T14" fmla="*/ 135 w 135"/>
                <a:gd name="T15" fmla="*/ 195 h 19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5" h="195">
                  <a:moveTo>
                    <a:pt x="135" y="195"/>
                  </a:moveTo>
                  <a:lnTo>
                    <a:pt x="0" y="195"/>
                  </a:lnTo>
                  <a:lnTo>
                    <a:pt x="32" y="148"/>
                  </a:lnTo>
                  <a:lnTo>
                    <a:pt x="64" y="101"/>
                  </a:lnTo>
                  <a:lnTo>
                    <a:pt x="95" y="62"/>
                  </a:lnTo>
                  <a:lnTo>
                    <a:pt x="119" y="31"/>
                  </a:lnTo>
                  <a:lnTo>
                    <a:pt x="135" y="0"/>
                  </a:lnTo>
                  <a:lnTo>
                    <a:pt x="135" y="1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sp>
        <p:nvSpPr>
          <p:cNvPr id="23" name="Rectangle 22"/>
          <p:cNvSpPr>
            <a:spLocks noChangeArrowheads="1"/>
          </p:cNvSpPr>
          <p:nvPr/>
        </p:nvSpPr>
        <p:spPr bwMode="auto">
          <a:xfrm>
            <a:off x="510665" y="3169888"/>
            <a:ext cx="15113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gn="ctr">
              <a:lnSpc>
                <a:spcPct val="100000"/>
              </a:lnSpc>
              <a:spcBef>
                <a:spcPct val="0"/>
              </a:spcBef>
              <a:spcAft>
                <a:spcPct val="0"/>
              </a:spcAft>
              <a:buClrTx/>
              <a:buSzTx/>
              <a:buFontTx/>
              <a:buNone/>
            </a:pPr>
            <a:r>
              <a:rPr lang="en-US" sz="1800" b="1">
                <a:solidFill>
                  <a:srgbClr val="000000"/>
                </a:solidFill>
              </a:rPr>
              <a:t>Quantitatively</a:t>
            </a:r>
          </a:p>
          <a:p>
            <a:pPr algn="ctr">
              <a:lnSpc>
                <a:spcPct val="100000"/>
              </a:lnSpc>
              <a:spcBef>
                <a:spcPct val="0"/>
              </a:spcBef>
              <a:spcAft>
                <a:spcPct val="0"/>
              </a:spcAft>
              <a:buClrTx/>
              <a:buSzTx/>
              <a:buFontTx/>
              <a:buNone/>
            </a:pPr>
            <a:r>
              <a:rPr lang="en-US" sz="1800" b="1">
                <a:solidFill>
                  <a:srgbClr val="000000"/>
                </a:solidFill>
              </a:rPr>
              <a:t>Managed</a:t>
            </a:r>
            <a:endParaRPr lang="en-US" sz="2400" b="1"/>
          </a:p>
        </p:txBody>
      </p:sp>
      <p:grpSp>
        <p:nvGrpSpPr>
          <p:cNvPr id="24" name="Group 23"/>
          <p:cNvGrpSpPr>
            <a:grpSpLocks/>
          </p:cNvGrpSpPr>
          <p:nvPr/>
        </p:nvGrpSpPr>
        <p:grpSpPr bwMode="auto">
          <a:xfrm>
            <a:off x="663065" y="2068163"/>
            <a:ext cx="1181100" cy="603250"/>
            <a:chOff x="155" y="956"/>
            <a:chExt cx="811" cy="405"/>
          </a:xfrm>
        </p:grpSpPr>
        <p:sp>
          <p:nvSpPr>
            <p:cNvPr id="25" name="Freeform 24"/>
            <p:cNvSpPr>
              <a:spLocks/>
            </p:cNvSpPr>
            <p:nvPr/>
          </p:nvSpPr>
          <p:spPr bwMode="auto">
            <a:xfrm>
              <a:off x="362" y="956"/>
              <a:ext cx="295" cy="405"/>
            </a:xfrm>
            <a:custGeom>
              <a:avLst/>
              <a:gdLst>
                <a:gd name="T0" fmla="*/ 56 w 295"/>
                <a:gd name="T1" fmla="*/ 179 h 405"/>
                <a:gd name="T2" fmla="*/ 64 w 295"/>
                <a:gd name="T3" fmla="*/ 156 h 405"/>
                <a:gd name="T4" fmla="*/ 64 w 295"/>
                <a:gd name="T5" fmla="*/ 133 h 405"/>
                <a:gd name="T6" fmla="*/ 64 w 295"/>
                <a:gd name="T7" fmla="*/ 117 h 405"/>
                <a:gd name="T8" fmla="*/ 64 w 295"/>
                <a:gd name="T9" fmla="*/ 101 h 405"/>
                <a:gd name="T10" fmla="*/ 64 w 295"/>
                <a:gd name="T11" fmla="*/ 62 h 405"/>
                <a:gd name="T12" fmla="*/ 247 w 295"/>
                <a:gd name="T13" fmla="*/ 62 h 405"/>
                <a:gd name="T14" fmla="*/ 255 w 295"/>
                <a:gd name="T15" fmla="*/ 0 h 405"/>
                <a:gd name="T16" fmla="*/ 239 w 295"/>
                <a:gd name="T17" fmla="*/ 0 h 405"/>
                <a:gd name="T18" fmla="*/ 231 w 295"/>
                <a:gd name="T19" fmla="*/ 8 h 405"/>
                <a:gd name="T20" fmla="*/ 223 w 295"/>
                <a:gd name="T21" fmla="*/ 16 h 405"/>
                <a:gd name="T22" fmla="*/ 207 w 295"/>
                <a:gd name="T23" fmla="*/ 16 h 405"/>
                <a:gd name="T24" fmla="*/ 191 w 295"/>
                <a:gd name="T25" fmla="*/ 23 h 405"/>
                <a:gd name="T26" fmla="*/ 32 w 295"/>
                <a:gd name="T27" fmla="*/ 23 h 405"/>
                <a:gd name="T28" fmla="*/ 32 w 295"/>
                <a:gd name="T29" fmla="*/ 86 h 405"/>
                <a:gd name="T30" fmla="*/ 32 w 295"/>
                <a:gd name="T31" fmla="*/ 117 h 405"/>
                <a:gd name="T32" fmla="*/ 24 w 295"/>
                <a:gd name="T33" fmla="*/ 156 h 405"/>
                <a:gd name="T34" fmla="*/ 24 w 295"/>
                <a:gd name="T35" fmla="*/ 187 h 405"/>
                <a:gd name="T36" fmla="*/ 24 w 295"/>
                <a:gd name="T37" fmla="*/ 218 h 405"/>
                <a:gd name="T38" fmla="*/ 48 w 295"/>
                <a:gd name="T39" fmla="*/ 226 h 405"/>
                <a:gd name="T40" fmla="*/ 64 w 295"/>
                <a:gd name="T41" fmla="*/ 203 h 405"/>
                <a:gd name="T42" fmla="*/ 88 w 295"/>
                <a:gd name="T43" fmla="*/ 187 h 405"/>
                <a:gd name="T44" fmla="*/ 112 w 295"/>
                <a:gd name="T45" fmla="*/ 179 h 405"/>
                <a:gd name="T46" fmla="*/ 135 w 295"/>
                <a:gd name="T47" fmla="*/ 172 h 405"/>
                <a:gd name="T48" fmla="*/ 175 w 295"/>
                <a:gd name="T49" fmla="*/ 179 h 405"/>
                <a:gd name="T50" fmla="*/ 199 w 295"/>
                <a:gd name="T51" fmla="*/ 203 h 405"/>
                <a:gd name="T52" fmla="*/ 223 w 295"/>
                <a:gd name="T53" fmla="*/ 234 h 405"/>
                <a:gd name="T54" fmla="*/ 231 w 295"/>
                <a:gd name="T55" fmla="*/ 273 h 405"/>
                <a:gd name="T56" fmla="*/ 223 w 295"/>
                <a:gd name="T57" fmla="*/ 320 h 405"/>
                <a:gd name="T58" fmla="*/ 199 w 295"/>
                <a:gd name="T59" fmla="*/ 351 h 405"/>
                <a:gd name="T60" fmla="*/ 167 w 295"/>
                <a:gd name="T61" fmla="*/ 374 h 405"/>
                <a:gd name="T62" fmla="*/ 127 w 295"/>
                <a:gd name="T63" fmla="*/ 382 h 405"/>
                <a:gd name="T64" fmla="*/ 104 w 295"/>
                <a:gd name="T65" fmla="*/ 374 h 405"/>
                <a:gd name="T66" fmla="*/ 80 w 295"/>
                <a:gd name="T67" fmla="*/ 366 h 405"/>
                <a:gd name="T68" fmla="*/ 72 w 295"/>
                <a:gd name="T69" fmla="*/ 359 h 405"/>
                <a:gd name="T70" fmla="*/ 64 w 295"/>
                <a:gd name="T71" fmla="*/ 343 h 405"/>
                <a:gd name="T72" fmla="*/ 64 w 295"/>
                <a:gd name="T73" fmla="*/ 335 h 405"/>
                <a:gd name="T74" fmla="*/ 72 w 295"/>
                <a:gd name="T75" fmla="*/ 327 h 405"/>
                <a:gd name="T76" fmla="*/ 72 w 295"/>
                <a:gd name="T77" fmla="*/ 320 h 405"/>
                <a:gd name="T78" fmla="*/ 64 w 295"/>
                <a:gd name="T79" fmla="*/ 304 h 405"/>
                <a:gd name="T80" fmla="*/ 64 w 295"/>
                <a:gd name="T81" fmla="*/ 296 h 405"/>
                <a:gd name="T82" fmla="*/ 48 w 295"/>
                <a:gd name="T83" fmla="*/ 288 h 405"/>
                <a:gd name="T84" fmla="*/ 40 w 295"/>
                <a:gd name="T85" fmla="*/ 288 h 405"/>
                <a:gd name="T86" fmla="*/ 24 w 295"/>
                <a:gd name="T87" fmla="*/ 288 h 405"/>
                <a:gd name="T88" fmla="*/ 8 w 295"/>
                <a:gd name="T89" fmla="*/ 296 h 405"/>
                <a:gd name="T90" fmla="*/ 8 w 295"/>
                <a:gd name="T91" fmla="*/ 312 h 405"/>
                <a:gd name="T92" fmla="*/ 0 w 295"/>
                <a:gd name="T93" fmla="*/ 327 h 405"/>
                <a:gd name="T94" fmla="*/ 8 w 295"/>
                <a:gd name="T95" fmla="*/ 351 h 405"/>
                <a:gd name="T96" fmla="*/ 40 w 295"/>
                <a:gd name="T97" fmla="*/ 382 h 405"/>
                <a:gd name="T98" fmla="*/ 80 w 295"/>
                <a:gd name="T99" fmla="*/ 398 h 405"/>
                <a:gd name="T100" fmla="*/ 135 w 295"/>
                <a:gd name="T101" fmla="*/ 405 h 405"/>
                <a:gd name="T102" fmla="*/ 199 w 295"/>
                <a:gd name="T103" fmla="*/ 398 h 405"/>
                <a:gd name="T104" fmla="*/ 247 w 295"/>
                <a:gd name="T105" fmla="*/ 366 h 405"/>
                <a:gd name="T106" fmla="*/ 287 w 295"/>
                <a:gd name="T107" fmla="*/ 320 h 405"/>
                <a:gd name="T108" fmla="*/ 295 w 295"/>
                <a:gd name="T109" fmla="*/ 265 h 405"/>
                <a:gd name="T110" fmla="*/ 287 w 295"/>
                <a:gd name="T111" fmla="*/ 218 h 405"/>
                <a:gd name="T112" fmla="*/ 255 w 295"/>
                <a:gd name="T113" fmla="*/ 179 h 405"/>
                <a:gd name="T114" fmla="*/ 207 w 295"/>
                <a:gd name="T115" fmla="*/ 156 h 405"/>
                <a:gd name="T116" fmla="*/ 159 w 295"/>
                <a:gd name="T117" fmla="*/ 140 h 405"/>
                <a:gd name="T118" fmla="*/ 127 w 295"/>
                <a:gd name="T119" fmla="*/ 148 h 405"/>
                <a:gd name="T120" fmla="*/ 104 w 295"/>
                <a:gd name="T121" fmla="*/ 148 h 405"/>
                <a:gd name="T122" fmla="*/ 80 w 295"/>
                <a:gd name="T123" fmla="*/ 164 h 405"/>
                <a:gd name="T124" fmla="*/ 56 w 295"/>
                <a:gd name="T125" fmla="*/ 179 h 40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95" h="405">
                  <a:moveTo>
                    <a:pt x="56" y="179"/>
                  </a:moveTo>
                  <a:lnTo>
                    <a:pt x="64" y="156"/>
                  </a:lnTo>
                  <a:lnTo>
                    <a:pt x="64" y="133"/>
                  </a:lnTo>
                  <a:lnTo>
                    <a:pt x="64" y="117"/>
                  </a:lnTo>
                  <a:lnTo>
                    <a:pt x="64" y="101"/>
                  </a:lnTo>
                  <a:lnTo>
                    <a:pt x="64" y="62"/>
                  </a:lnTo>
                  <a:lnTo>
                    <a:pt x="247" y="62"/>
                  </a:lnTo>
                  <a:lnTo>
                    <a:pt x="255" y="0"/>
                  </a:lnTo>
                  <a:lnTo>
                    <a:pt x="239" y="0"/>
                  </a:lnTo>
                  <a:lnTo>
                    <a:pt x="231" y="8"/>
                  </a:lnTo>
                  <a:lnTo>
                    <a:pt x="223" y="16"/>
                  </a:lnTo>
                  <a:lnTo>
                    <a:pt x="207" y="16"/>
                  </a:lnTo>
                  <a:lnTo>
                    <a:pt x="191" y="23"/>
                  </a:lnTo>
                  <a:lnTo>
                    <a:pt x="32" y="23"/>
                  </a:lnTo>
                  <a:lnTo>
                    <a:pt x="32" y="86"/>
                  </a:lnTo>
                  <a:lnTo>
                    <a:pt x="32" y="117"/>
                  </a:lnTo>
                  <a:lnTo>
                    <a:pt x="24" y="156"/>
                  </a:lnTo>
                  <a:lnTo>
                    <a:pt x="24" y="187"/>
                  </a:lnTo>
                  <a:lnTo>
                    <a:pt x="24" y="218"/>
                  </a:lnTo>
                  <a:lnTo>
                    <a:pt x="48" y="226"/>
                  </a:lnTo>
                  <a:lnTo>
                    <a:pt x="64" y="203"/>
                  </a:lnTo>
                  <a:lnTo>
                    <a:pt x="88" y="187"/>
                  </a:lnTo>
                  <a:lnTo>
                    <a:pt x="112" y="179"/>
                  </a:lnTo>
                  <a:lnTo>
                    <a:pt x="135" y="172"/>
                  </a:lnTo>
                  <a:lnTo>
                    <a:pt x="175" y="179"/>
                  </a:lnTo>
                  <a:lnTo>
                    <a:pt x="199" y="203"/>
                  </a:lnTo>
                  <a:lnTo>
                    <a:pt x="223" y="234"/>
                  </a:lnTo>
                  <a:lnTo>
                    <a:pt x="231" y="273"/>
                  </a:lnTo>
                  <a:lnTo>
                    <a:pt x="223" y="320"/>
                  </a:lnTo>
                  <a:lnTo>
                    <a:pt x="199" y="351"/>
                  </a:lnTo>
                  <a:lnTo>
                    <a:pt x="167" y="374"/>
                  </a:lnTo>
                  <a:lnTo>
                    <a:pt x="127" y="382"/>
                  </a:lnTo>
                  <a:lnTo>
                    <a:pt x="104" y="374"/>
                  </a:lnTo>
                  <a:lnTo>
                    <a:pt x="80" y="366"/>
                  </a:lnTo>
                  <a:lnTo>
                    <a:pt x="72" y="359"/>
                  </a:lnTo>
                  <a:lnTo>
                    <a:pt x="64" y="343"/>
                  </a:lnTo>
                  <a:lnTo>
                    <a:pt x="64" y="335"/>
                  </a:lnTo>
                  <a:lnTo>
                    <a:pt x="72" y="327"/>
                  </a:lnTo>
                  <a:lnTo>
                    <a:pt x="72" y="320"/>
                  </a:lnTo>
                  <a:lnTo>
                    <a:pt x="64" y="304"/>
                  </a:lnTo>
                  <a:lnTo>
                    <a:pt x="64" y="296"/>
                  </a:lnTo>
                  <a:lnTo>
                    <a:pt x="48" y="288"/>
                  </a:lnTo>
                  <a:lnTo>
                    <a:pt x="40" y="288"/>
                  </a:lnTo>
                  <a:lnTo>
                    <a:pt x="24" y="288"/>
                  </a:lnTo>
                  <a:lnTo>
                    <a:pt x="8" y="296"/>
                  </a:lnTo>
                  <a:lnTo>
                    <a:pt x="8" y="312"/>
                  </a:lnTo>
                  <a:lnTo>
                    <a:pt x="0" y="327"/>
                  </a:lnTo>
                  <a:lnTo>
                    <a:pt x="8" y="351"/>
                  </a:lnTo>
                  <a:lnTo>
                    <a:pt x="40" y="382"/>
                  </a:lnTo>
                  <a:lnTo>
                    <a:pt x="80" y="398"/>
                  </a:lnTo>
                  <a:lnTo>
                    <a:pt x="135" y="405"/>
                  </a:lnTo>
                  <a:lnTo>
                    <a:pt x="199" y="398"/>
                  </a:lnTo>
                  <a:lnTo>
                    <a:pt x="247" y="366"/>
                  </a:lnTo>
                  <a:lnTo>
                    <a:pt x="287" y="320"/>
                  </a:lnTo>
                  <a:lnTo>
                    <a:pt x="295" y="265"/>
                  </a:lnTo>
                  <a:lnTo>
                    <a:pt x="287" y="218"/>
                  </a:lnTo>
                  <a:lnTo>
                    <a:pt x="255" y="179"/>
                  </a:lnTo>
                  <a:lnTo>
                    <a:pt x="207" y="156"/>
                  </a:lnTo>
                  <a:lnTo>
                    <a:pt x="159" y="140"/>
                  </a:lnTo>
                  <a:lnTo>
                    <a:pt x="127" y="148"/>
                  </a:lnTo>
                  <a:lnTo>
                    <a:pt x="104" y="148"/>
                  </a:lnTo>
                  <a:lnTo>
                    <a:pt x="80" y="164"/>
                  </a:lnTo>
                  <a:lnTo>
                    <a:pt x="56" y="179"/>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6" name="Freeform 25"/>
            <p:cNvSpPr>
              <a:spLocks/>
            </p:cNvSpPr>
            <p:nvPr/>
          </p:nvSpPr>
          <p:spPr bwMode="auto">
            <a:xfrm>
              <a:off x="362" y="956"/>
              <a:ext cx="295" cy="405"/>
            </a:xfrm>
            <a:custGeom>
              <a:avLst/>
              <a:gdLst>
                <a:gd name="T0" fmla="*/ 56 w 295"/>
                <a:gd name="T1" fmla="*/ 179 h 405"/>
                <a:gd name="T2" fmla="*/ 64 w 295"/>
                <a:gd name="T3" fmla="*/ 156 h 405"/>
                <a:gd name="T4" fmla="*/ 64 w 295"/>
                <a:gd name="T5" fmla="*/ 133 h 405"/>
                <a:gd name="T6" fmla="*/ 64 w 295"/>
                <a:gd name="T7" fmla="*/ 117 h 405"/>
                <a:gd name="T8" fmla="*/ 64 w 295"/>
                <a:gd name="T9" fmla="*/ 101 h 405"/>
                <a:gd name="T10" fmla="*/ 64 w 295"/>
                <a:gd name="T11" fmla="*/ 62 h 405"/>
                <a:gd name="T12" fmla="*/ 247 w 295"/>
                <a:gd name="T13" fmla="*/ 62 h 405"/>
                <a:gd name="T14" fmla="*/ 255 w 295"/>
                <a:gd name="T15" fmla="*/ 0 h 405"/>
                <a:gd name="T16" fmla="*/ 239 w 295"/>
                <a:gd name="T17" fmla="*/ 0 h 405"/>
                <a:gd name="T18" fmla="*/ 231 w 295"/>
                <a:gd name="T19" fmla="*/ 8 h 405"/>
                <a:gd name="T20" fmla="*/ 223 w 295"/>
                <a:gd name="T21" fmla="*/ 16 h 405"/>
                <a:gd name="T22" fmla="*/ 207 w 295"/>
                <a:gd name="T23" fmla="*/ 16 h 405"/>
                <a:gd name="T24" fmla="*/ 191 w 295"/>
                <a:gd name="T25" fmla="*/ 23 h 405"/>
                <a:gd name="T26" fmla="*/ 32 w 295"/>
                <a:gd name="T27" fmla="*/ 23 h 405"/>
                <a:gd name="T28" fmla="*/ 32 w 295"/>
                <a:gd name="T29" fmla="*/ 86 h 405"/>
                <a:gd name="T30" fmla="*/ 32 w 295"/>
                <a:gd name="T31" fmla="*/ 117 h 405"/>
                <a:gd name="T32" fmla="*/ 24 w 295"/>
                <a:gd name="T33" fmla="*/ 156 h 405"/>
                <a:gd name="T34" fmla="*/ 24 w 295"/>
                <a:gd name="T35" fmla="*/ 187 h 405"/>
                <a:gd name="T36" fmla="*/ 24 w 295"/>
                <a:gd name="T37" fmla="*/ 218 h 405"/>
                <a:gd name="T38" fmla="*/ 48 w 295"/>
                <a:gd name="T39" fmla="*/ 226 h 405"/>
                <a:gd name="T40" fmla="*/ 64 w 295"/>
                <a:gd name="T41" fmla="*/ 203 h 405"/>
                <a:gd name="T42" fmla="*/ 88 w 295"/>
                <a:gd name="T43" fmla="*/ 187 h 405"/>
                <a:gd name="T44" fmla="*/ 112 w 295"/>
                <a:gd name="T45" fmla="*/ 179 h 405"/>
                <a:gd name="T46" fmla="*/ 135 w 295"/>
                <a:gd name="T47" fmla="*/ 172 h 405"/>
                <a:gd name="T48" fmla="*/ 175 w 295"/>
                <a:gd name="T49" fmla="*/ 179 h 405"/>
                <a:gd name="T50" fmla="*/ 199 w 295"/>
                <a:gd name="T51" fmla="*/ 203 h 405"/>
                <a:gd name="T52" fmla="*/ 223 w 295"/>
                <a:gd name="T53" fmla="*/ 234 h 405"/>
                <a:gd name="T54" fmla="*/ 231 w 295"/>
                <a:gd name="T55" fmla="*/ 273 h 405"/>
                <a:gd name="T56" fmla="*/ 223 w 295"/>
                <a:gd name="T57" fmla="*/ 320 h 405"/>
                <a:gd name="T58" fmla="*/ 199 w 295"/>
                <a:gd name="T59" fmla="*/ 351 h 405"/>
                <a:gd name="T60" fmla="*/ 167 w 295"/>
                <a:gd name="T61" fmla="*/ 374 h 405"/>
                <a:gd name="T62" fmla="*/ 127 w 295"/>
                <a:gd name="T63" fmla="*/ 382 h 405"/>
                <a:gd name="T64" fmla="*/ 104 w 295"/>
                <a:gd name="T65" fmla="*/ 374 h 405"/>
                <a:gd name="T66" fmla="*/ 80 w 295"/>
                <a:gd name="T67" fmla="*/ 366 h 405"/>
                <a:gd name="T68" fmla="*/ 72 w 295"/>
                <a:gd name="T69" fmla="*/ 359 h 405"/>
                <a:gd name="T70" fmla="*/ 64 w 295"/>
                <a:gd name="T71" fmla="*/ 343 h 405"/>
                <a:gd name="T72" fmla="*/ 64 w 295"/>
                <a:gd name="T73" fmla="*/ 335 h 405"/>
                <a:gd name="T74" fmla="*/ 72 w 295"/>
                <a:gd name="T75" fmla="*/ 327 h 405"/>
                <a:gd name="T76" fmla="*/ 72 w 295"/>
                <a:gd name="T77" fmla="*/ 320 h 405"/>
                <a:gd name="T78" fmla="*/ 64 w 295"/>
                <a:gd name="T79" fmla="*/ 304 h 405"/>
                <a:gd name="T80" fmla="*/ 64 w 295"/>
                <a:gd name="T81" fmla="*/ 296 h 405"/>
                <a:gd name="T82" fmla="*/ 48 w 295"/>
                <a:gd name="T83" fmla="*/ 288 h 405"/>
                <a:gd name="T84" fmla="*/ 40 w 295"/>
                <a:gd name="T85" fmla="*/ 288 h 405"/>
                <a:gd name="T86" fmla="*/ 24 w 295"/>
                <a:gd name="T87" fmla="*/ 288 h 405"/>
                <a:gd name="T88" fmla="*/ 8 w 295"/>
                <a:gd name="T89" fmla="*/ 296 h 405"/>
                <a:gd name="T90" fmla="*/ 8 w 295"/>
                <a:gd name="T91" fmla="*/ 312 h 405"/>
                <a:gd name="T92" fmla="*/ 0 w 295"/>
                <a:gd name="T93" fmla="*/ 327 h 405"/>
                <a:gd name="T94" fmla="*/ 8 w 295"/>
                <a:gd name="T95" fmla="*/ 351 h 405"/>
                <a:gd name="T96" fmla="*/ 40 w 295"/>
                <a:gd name="T97" fmla="*/ 382 h 405"/>
                <a:gd name="T98" fmla="*/ 80 w 295"/>
                <a:gd name="T99" fmla="*/ 398 h 405"/>
                <a:gd name="T100" fmla="*/ 135 w 295"/>
                <a:gd name="T101" fmla="*/ 405 h 405"/>
                <a:gd name="T102" fmla="*/ 199 w 295"/>
                <a:gd name="T103" fmla="*/ 398 h 405"/>
                <a:gd name="T104" fmla="*/ 247 w 295"/>
                <a:gd name="T105" fmla="*/ 366 h 405"/>
                <a:gd name="T106" fmla="*/ 287 w 295"/>
                <a:gd name="T107" fmla="*/ 320 h 405"/>
                <a:gd name="T108" fmla="*/ 295 w 295"/>
                <a:gd name="T109" fmla="*/ 265 h 405"/>
                <a:gd name="T110" fmla="*/ 287 w 295"/>
                <a:gd name="T111" fmla="*/ 218 h 405"/>
                <a:gd name="T112" fmla="*/ 255 w 295"/>
                <a:gd name="T113" fmla="*/ 179 h 405"/>
                <a:gd name="T114" fmla="*/ 207 w 295"/>
                <a:gd name="T115" fmla="*/ 156 h 405"/>
                <a:gd name="T116" fmla="*/ 159 w 295"/>
                <a:gd name="T117" fmla="*/ 140 h 405"/>
                <a:gd name="T118" fmla="*/ 127 w 295"/>
                <a:gd name="T119" fmla="*/ 148 h 405"/>
                <a:gd name="T120" fmla="*/ 104 w 295"/>
                <a:gd name="T121" fmla="*/ 148 h 405"/>
                <a:gd name="T122" fmla="*/ 80 w 295"/>
                <a:gd name="T123" fmla="*/ 164 h 405"/>
                <a:gd name="T124" fmla="*/ 56 w 295"/>
                <a:gd name="T125" fmla="*/ 179 h 405"/>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295" h="405">
                  <a:moveTo>
                    <a:pt x="56" y="179"/>
                  </a:moveTo>
                  <a:lnTo>
                    <a:pt x="64" y="156"/>
                  </a:lnTo>
                  <a:lnTo>
                    <a:pt x="64" y="133"/>
                  </a:lnTo>
                  <a:lnTo>
                    <a:pt x="64" y="117"/>
                  </a:lnTo>
                  <a:lnTo>
                    <a:pt x="64" y="101"/>
                  </a:lnTo>
                  <a:lnTo>
                    <a:pt x="64" y="62"/>
                  </a:lnTo>
                  <a:lnTo>
                    <a:pt x="247" y="62"/>
                  </a:lnTo>
                  <a:lnTo>
                    <a:pt x="255" y="0"/>
                  </a:lnTo>
                  <a:lnTo>
                    <a:pt x="239" y="0"/>
                  </a:lnTo>
                  <a:lnTo>
                    <a:pt x="231" y="8"/>
                  </a:lnTo>
                  <a:lnTo>
                    <a:pt x="223" y="16"/>
                  </a:lnTo>
                  <a:lnTo>
                    <a:pt x="207" y="16"/>
                  </a:lnTo>
                  <a:lnTo>
                    <a:pt x="191" y="23"/>
                  </a:lnTo>
                  <a:lnTo>
                    <a:pt x="32" y="23"/>
                  </a:lnTo>
                  <a:lnTo>
                    <a:pt x="32" y="86"/>
                  </a:lnTo>
                  <a:lnTo>
                    <a:pt x="32" y="117"/>
                  </a:lnTo>
                  <a:lnTo>
                    <a:pt x="24" y="156"/>
                  </a:lnTo>
                  <a:lnTo>
                    <a:pt x="24" y="187"/>
                  </a:lnTo>
                  <a:lnTo>
                    <a:pt x="24" y="218"/>
                  </a:lnTo>
                  <a:lnTo>
                    <a:pt x="48" y="226"/>
                  </a:lnTo>
                  <a:lnTo>
                    <a:pt x="64" y="203"/>
                  </a:lnTo>
                  <a:lnTo>
                    <a:pt x="88" y="187"/>
                  </a:lnTo>
                  <a:lnTo>
                    <a:pt x="112" y="179"/>
                  </a:lnTo>
                  <a:lnTo>
                    <a:pt x="135" y="172"/>
                  </a:lnTo>
                  <a:lnTo>
                    <a:pt x="175" y="179"/>
                  </a:lnTo>
                  <a:lnTo>
                    <a:pt x="199" y="203"/>
                  </a:lnTo>
                  <a:lnTo>
                    <a:pt x="223" y="234"/>
                  </a:lnTo>
                  <a:lnTo>
                    <a:pt x="231" y="273"/>
                  </a:lnTo>
                  <a:lnTo>
                    <a:pt x="223" y="320"/>
                  </a:lnTo>
                  <a:lnTo>
                    <a:pt x="199" y="351"/>
                  </a:lnTo>
                  <a:lnTo>
                    <a:pt x="167" y="374"/>
                  </a:lnTo>
                  <a:lnTo>
                    <a:pt x="127" y="382"/>
                  </a:lnTo>
                  <a:lnTo>
                    <a:pt x="104" y="374"/>
                  </a:lnTo>
                  <a:lnTo>
                    <a:pt x="80" y="366"/>
                  </a:lnTo>
                  <a:lnTo>
                    <a:pt x="72" y="359"/>
                  </a:lnTo>
                  <a:lnTo>
                    <a:pt x="64" y="343"/>
                  </a:lnTo>
                  <a:lnTo>
                    <a:pt x="64" y="335"/>
                  </a:lnTo>
                  <a:lnTo>
                    <a:pt x="72" y="327"/>
                  </a:lnTo>
                  <a:lnTo>
                    <a:pt x="72" y="320"/>
                  </a:lnTo>
                  <a:lnTo>
                    <a:pt x="64" y="304"/>
                  </a:lnTo>
                  <a:lnTo>
                    <a:pt x="64" y="296"/>
                  </a:lnTo>
                  <a:lnTo>
                    <a:pt x="48" y="288"/>
                  </a:lnTo>
                  <a:lnTo>
                    <a:pt x="40" y="288"/>
                  </a:lnTo>
                  <a:lnTo>
                    <a:pt x="24" y="288"/>
                  </a:lnTo>
                  <a:lnTo>
                    <a:pt x="8" y="296"/>
                  </a:lnTo>
                  <a:lnTo>
                    <a:pt x="8" y="312"/>
                  </a:lnTo>
                  <a:lnTo>
                    <a:pt x="0" y="327"/>
                  </a:lnTo>
                  <a:lnTo>
                    <a:pt x="8" y="351"/>
                  </a:lnTo>
                  <a:lnTo>
                    <a:pt x="40" y="382"/>
                  </a:lnTo>
                  <a:lnTo>
                    <a:pt x="80" y="398"/>
                  </a:lnTo>
                  <a:lnTo>
                    <a:pt x="135" y="405"/>
                  </a:lnTo>
                  <a:lnTo>
                    <a:pt x="199" y="398"/>
                  </a:lnTo>
                  <a:lnTo>
                    <a:pt x="247" y="366"/>
                  </a:lnTo>
                  <a:lnTo>
                    <a:pt x="287" y="320"/>
                  </a:lnTo>
                  <a:lnTo>
                    <a:pt x="295" y="265"/>
                  </a:lnTo>
                  <a:lnTo>
                    <a:pt x="287" y="218"/>
                  </a:lnTo>
                  <a:lnTo>
                    <a:pt x="255" y="179"/>
                  </a:lnTo>
                  <a:lnTo>
                    <a:pt x="207" y="156"/>
                  </a:lnTo>
                  <a:lnTo>
                    <a:pt x="159" y="140"/>
                  </a:lnTo>
                  <a:lnTo>
                    <a:pt x="127" y="148"/>
                  </a:lnTo>
                  <a:lnTo>
                    <a:pt x="104" y="148"/>
                  </a:lnTo>
                  <a:lnTo>
                    <a:pt x="80" y="164"/>
                  </a:lnTo>
                  <a:lnTo>
                    <a:pt x="56" y="179"/>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27" name="Rectangle 26"/>
            <p:cNvSpPr>
              <a:spLocks noChangeArrowheads="1"/>
            </p:cNvSpPr>
            <p:nvPr/>
          </p:nvSpPr>
          <p:spPr bwMode="auto">
            <a:xfrm>
              <a:off x="155" y="1065"/>
              <a:ext cx="811" cy="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800" b="1">
                  <a:solidFill>
                    <a:srgbClr val="000000"/>
                  </a:solidFill>
                </a:rPr>
                <a:t>Optimizing</a:t>
              </a:r>
              <a:endParaRPr lang="en-US" sz="2400" b="1"/>
            </a:p>
          </p:txBody>
        </p:sp>
      </p:grpSp>
      <p:sp>
        <p:nvSpPr>
          <p:cNvPr id="28" name="Line 27"/>
          <p:cNvSpPr>
            <a:spLocks noChangeShapeType="1"/>
          </p:cNvSpPr>
          <p:nvPr/>
        </p:nvSpPr>
        <p:spPr bwMode="auto">
          <a:xfrm>
            <a:off x="477328" y="2811113"/>
            <a:ext cx="8256587"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9" name="Line 28"/>
          <p:cNvSpPr>
            <a:spLocks noChangeShapeType="1"/>
          </p:cNvSpPr>
          <p:nvPr/>
        </p:nvSpPr>
        <p:spPr bwMode="auto">
          <a:xfrm>
            <a:off x="477328" y="3903313"/>
            <a:ext cx="8256587"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0" name="Line 29"/>
          <p:cNvSpPr>
            <a:spLocks noChangeShapeType="1"/>
          </p:cNvSpPr>
          <p:nvPr/>
        </p:nvSpPr>
        <p:spPr bwMode="auto">
          <a:xfrm>
            <a:off x="477328" y="4984401"/>
            <a:ext cx="8256587" cy="158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1" name="Line 30"/>
          <p:cNvSpPr>
            <a:spLocks noChangeShapeType="1"/>
          </p:cNvSpPr>
          <p:nvPr/>
        </p:nvSpPr>
        <p:spPr bwMode="auto">
          <a:xfrm>
            <a:off x="477328" y="5970238"/>
            <a:ext cx="8256587" cy="158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2" name="Line 31"/>
          <p:cNvSpPr>
            <a:spLocks noChangeShapeType="1"/>
          </p:cNvSpPr>
          <p:nvPr/>
        </p:nvSpPr>
        <p:spPr bwMode="auto">
          <a:xfrm>
            <a:off x="2021965" y="1498251"/>
            <a:ext cx="1588" cy="522763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3" name="Rectangle 32"/>
          <p:cNvSpPr>
            <a:spLocks noChangeArrowheads="1"/>
          </p:cNvSpPr>
          <p:nvPr/>
        </p:nvSpPr>
        <p:spPr bwMode="auto">
          <a:xfrm>
            <a:off x="2091815" y="6067076"/>
            <a:ext cx="2462213"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spcBef>
                <a:spcPct val="0"/>
              </a:spcBef>
              <a:spcAft>
                <a:spcPct val="0"/>
              </a:spcAft>
              <a:buClrTx/>
              <a:buSzTx/>
              <a:buFontTx/>
              <a:buNone/>
            </a:pPr>
            <a:r>
              <a:rPr lang="en-US" sz="1600" b="1">
                <a:solidFill>
                  <a:srgbClr val="000000"/>
                </a:solidFill>
              </a:rPr>
              <a:t>Process is unpredictable,</a:t>
            </a:r>
          </a:p>
          <a:p>
            <a:pPr>
              <a:spcBef>
                <a:spcPct val="0"/>
              </a:spcBef>
              <a:spcAft>
                <a:spcPct val="0"/>
              </a:spcAft>
              <a:buClrTx/>
              <a:buSzTx/>
              <a:buFontTx/>
              <a:buNone/>
            </a:pPr>
            <a:r>
              <a:rPr lang="en-US" sz="1600" b="1">
                <a:solidFill>
                  <a:srgbClr val="000000"/>
                </a:solidFill>
              </a:rPr>
              <a:t>poorly controlled, and </a:t>
            </a:r>
          </a:p>
          <a:p>
            <a:pPr>
              <a:spcBef>
                <a:spcPct val="0"/>
              </a:spcBef>
              <a:spcAft>
                <a:spcPct val="0"/>
              </a:spcAft>
              <a:buClrTx/>
              <a:buSzTx/>
              <a:buFontTx/>
              <a:buNone/>
            </a:pPr>
            <a:r>
              <a:rPr lang="en-US" sz="1600" b="1">
                <a:solidFill>
                  <a:srgbClr val="000000"/>
                </a:solidFill>
              </a:rPr>
              <a:t>reactive</a:t>
            </a:r>
          </a:p>
        </p:txBody>
      </p:sp>
      <p:sp>
        <p:nvSpPr>
          <p:cNvPr id="34" name="Rectangle 33"/>
          <p:cNvSpPr>
            <a:spLocks noChangeArrowheads="1"/>
          </p:cNvSpPr>
          <p:nvPr/>
        </p:nvSpPr>
        <p:spPr bwMode="auto">
          <a:xfrm>
            <a:off x="2079115" y="5119338"/>
            <a:ext cx="2439988"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spcBef>
                <a:spcPct val="0"/>
              </a:spcBef>
              <a:spcAft>
                <a:spcPct val="0"/>
              </a:spcAft>
              <a:buClrTx/>
              <a:buSzTx/>
              <a:buFontTx/>
              <a:buNone/>
            </a:pPr>
            <a:r>
              <a:rPr lang="en-US" sz="1600" b="1">
                <a:solidFill>
                  <a:srgbClr val="000000"/>
                </a:solidFill>
              </a:rPr>
              <a:t>Process is characterized </a:t>
            </a:r>
          </a:p>
          <a:p>
            <a:pPr>
              <a:spcBef>
                <a:spcPct val="0"/>
              </a:spcBef>
              <a:spcAft>
                <a:spcPct val="0"/>
              </a:spcAft>
              <a:buClrTx/>
              <a:buSzTx/>
              <a:buFontTx/>
              <a:buNone/>
            </a:pPr>
            <a:r>
              <a:rPr lang="en-US" sz="1600" b="1">
                <a:solidFill>
                  <a:srgbClr val="000000"/>
                </a:solidFill>
              </a:rPr>
              <a:t>for projects and is often</a:t>
            </a:r>
          </a:p>
          <a:p>
            <a:pPr>
              <a:spcBef>
                <a:spcPct val="0"/>
              </a:spcBef>
              <a:spcAft>
                <a:spcPct val="0"/>
              </a:spcAft>
              <a:buClrTx/>
              <a:buSzTx/>
              <a:buFontTx/>
              <a:buNone/>
            </a:pPr>
            <a:r>
              <a:rPr lang="en-US" sz="1600" b="1">
                <a:solidFill>
                  <a:srgbClr val="000000"/>
                </a:solidFill>
              </a:rPr>
              <a:t>reactive</a:t>
            </a:r>
          </a:p>
        </p:txBody>
      </p:sp>
      <p:sp>
        <p:nvSpPr>
          <p:cNvPr id="35" name="Rectangle 34"/>
          <p:cNvSpPr>
            <a:spLocks noChangeArrowheads="1"/>
          </p:cNvSpPr>
          <p:nvPr/>
        </p:nvSpPr>
        <p:spPr bwMode="auto">
          <a:xfrm>
            <a:off x="2077528" y="4119213"/>
            <a:ext cx="2382837"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spcBef>
                <a:spcPct val="0"/>
              </a:spcBef>
              <a:spcAft>
                <a:spcPct val="0"/>
              </a:spcAft>
              <a:buClrTx/>
              <a:buSzTx/>
              <a:buFontTx/>
              <a:buNone/>
            </a:pPr>
            <a:r>
              <a:rPr lang="en-US" sz="1600" b="1">
                <a:solidFill>
                  <a:srgbClr val="000000"/>
                </a:solidFill>
              </a:rPr>
              <a:t>Process is characterized</a:t>
            </a:r>
          </a:p>
          <a:p>
            <a:pPr>
              <a:spcBef>
                <a:spcPct val="0"/>
              </a:spcBef>
              <a:spcAft>
                <a:spcPct val="0"/>
              </a:spcAft>
              <a:buClrTx/>
              <a:buSzTx/>
              <a:buFontTx/>
              <a:buNone/>
            </a:pPr>
            <a:r>
              <a:rPr lang="en-US" sz="1600" b="1">
                <a:solidFill>
                  <a:srgbClr val="000000"/>
                </a:solidFill>
              </a:rPr>
              <a:t>for the organization and</a:t>
            </a:r>
          </a:p>
          <a:p>
            <a:pPr>
              <a:spcBef>
                <a:spcPct val="0"/>
              </a:spcBef>
              <a:spcAft>
                <a:spcPct val="0"/>
              </a:spcAft>
              <a:buClrTx/>
              <a:buSzTx/>
              <a:buFontTx/>
              <a:buNone/>
            </a:pPr>
            <a:r>
              <a:rPr lang="en-US" sz="1600" b="1">
                <a:solidFill>
                  <a:srgbClr val="000000"/>
                </a:solidFill>
              </a:rPr>
              <a:t>is proactive</a:t>
            </a:r>
          </a:p>
          <a:p>
            <a:pPr>
              <a:spcBef>
                <a:spcPct val="0"/>
              </a:spcBef>
              <a:spcAft>
                <a:spcPct val="0"/>
              </a:spcAft>
              <a:buClrTx/>
              <a:buSzTx/>
              <a:buFontTx/>
              <a:buNone/>
            </a:pPr>
            <a:endParaRPr lang="en-US" sz="2000" b="1"/>
          </a:p>
        </p:txBody>
      </p:sp>
      <p:sp>
        <p:nvSpPr>
          <p:cNvPr id="36" name="Rectangle 35"/>
          <p:cNvSpPr>
            <a:spLocks noChangeArrowheads="1"/>
          </p:cNvSpPr>
          <p:nvPr/>
        </p:nvSpPr>
        <p:spPr bwMode="auto">
          <a:xfrm>
            <a:off x="2079115" y="3147663"/>
            <a:ext cx="20320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spcBef>
                <a:spcPct val="0"/>
              </a:spcBef>
              <a:spcAft>
                <a:spcPct val="0"/>
              </a:spcAft>
              <a:buClrTx/>
              <a:buSzTx/>
              <a:buFontTx/>
              <a:buNone/>
            </a:pPr>
            <a:r>
              <a:rPr lang="en-US" sz="1600" b="1">
                <a:solidFill>
                  <a:srgbClr val="000000"/>
                </a:solidFill>
              </a:rPr>
              <a:t>Process is measured</a:t>
            </a:r>
          </a:p>
          <a:p>
            <a:pPr>
              <a:spcBef>
                <a:spcPct val="0"/>
              </a:spcBef>
              <a:spcAft>
                <a:spcPct val="0"/>
              </a:spcAft>
              <a:buClrTx/>
              <a:buSzTx/>
              <a:buFontTx/>
              <a:buNone/>
            </a:pPr>
            <a:r>
              <a:rPr lang="en-US" sz="1600" b="1">
                <a:solidFill>
                  <a:srgbClr val="000000"/>
                </a:solidFill>
              </a:rPr>
              <a:t>and controlled</a:t>
            </a:r>
          </a:p>
        </p:txBody>
      </p:sp>
      <p:sp>
        <p:nvSpPr>
          <p:cNvPr id="37" name="Rectangle 36"/>
          <p:cNvSpPr>
            <a:spLocks noChangeArrowheads="1"/>
          </p:cNvSpPr>
          <p:nvPr/>
        </p:nvSpPr>
        <p:spPr bwMode="auto">
          <a:xfrm>
            <a:off x="2091815" y="2123726"/>
            <a:ext cx="2474913"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spcBef>
                <a:spcPct val="0"/>
              </a:spcBef>
              <a:spcAft>
                <a:spcPct val="0"/>
              </a:spcAft>
              <a:buClrTx/>
              <a:buSzTx/>
              <a:buFontTx/>
              <a:buNone/>
            </a:pPr>
            <a:r>
              <a:rPr lang="en-US" sz="1600" b="1">
                <a:solidFill>
                  <a:srgbClr val="000000"/>
                </a:solidFill>
              </a:rPr>
              <a:t>Focus is on continuous</a:t>
            </a:r>
          </a:p>
          <a:p>
            <a:pPr>
              <a:spcBef>
                <a:spcPct val="0"/>
              </a:spcBef>
              <a:spcAft>
                <a:spcPct val="0"/>
              </a:spcAft>
              <a:buClrTx/>
              <a:buSzTx/>
              <a:buFontTx/>
              <a:buNone/>
            </a:pPr>
            <a:r>
              <a:rPr lang="en-US" sz="1600" b="1">
                <a:solidFill>
                  <a:srgbClr val="000000"/>
                </a:solidFill>
              </a:rPr>
              <a:t>quantitative improvement</a:t>
            </a:r>
          </a:p>
        </p:txBody>
      </p:sp>
      <p:sp>
        <p:nvSpPr>
          <p:cNvPr id="38" name="Line 37"/>
          <p:cNvSpPr>
            <a:spLocks noChangeShapeType="1"/>
          </p:cNvSpPr>
          <p:nvPr/>
        </p:nvSpPr>
        <p:spPr bwMode="auto">
          <a:xfrm>
            <a:off x="4611178" y="1498251"/>
            <a:ext cx="1587" cy="522763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 name="Rectangle 38"/>
          <p:cNvSpPr>
            <a:spLocks noChangeArrowheads="1"/>
          </p:cNvSpPr>
          <p:nvPr/>
        </p:nvSpPr>
        <p:spPr bwMode="auto">
          <a:xfrm>
            <a:off x="580515" y="1536351"/>
            <a:ext cx="13684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dirty="0">
                <a:solidFill>
                  <a:srgbClr val="000000"/>
                </a:solidFill>
              </a:rPr>
              <a:t>Maturity Level</a:t>
            </a:r>
            <a:endParaRPr lang="en-US" sz="1600" b="1" dirty="0"/>
          </a:p>
        </p:txBody>
      </p:sp>
      <p:sp>
        <p:nvSpPr>
          <p:cNvPr id="40" name="Rectangle 39"/>
          <p:cNvSpPr>
            <a:spLocks noChangeArrowheads="1"/>
          </p:cNvSpPr>
          <p:nvPr/>
        </p:nvSpPr>
        <p:spPr bwMode="auto">
          <a:xfrm>
            <a:off x="2174365" y="1536351"/>
            <a:ext cx="23145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Process Characteristics</a:t>
            </a:r>
            <a:endParaRPr lang="en-US" sz="1600" b="1"/>
          </a:p>
        </p:txBody>
      </p:sp>
      <p:sp>
        <p:nvSpPr>
          <p:cNvPr id="41" name="Rectangle 40"/>
          <p:cNvSpPr>
            <a:spLocks noChangeArrowheads="1"/>
          </p:cNvSpPr>
          <p:nvPr/>
        </p:nvSpPr>
        <p:spPr bwMode="auto">
          <a:xfrm>
            <a:off x="5603365" y="1537938"/>
            <a:ext cx="9810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Behaviors</a:t>
            </a:r>
            <a:endParaRPr lang="en-US" sz="1600" b="1"/>
          </a:p>
        </p:txBody>
      </p:sp>
      <p:sp>
        <p:nvSpPr>
          <p:cNvPr id="42" name="Rectangle 41"/>
          <p:cNvSpPr>
            <a:spLocks noChangeArrowheads="1"/>
          </p:cNvSpPr>
          <p:nvPr/>
        </p:nvSpPr>
        <p:spPr bwMode="auto">
          <a:xfrm>
            <a:off x="4739765" y="1988788"/>
            <a:ext cx="26336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Focus on "fire prevention";</a:t>
            </a:r>
            <a:endParaRPr lang="en-US" sz="1600" b="1"/>
          </a:p>
        </p:txBody>
      </p:sp>
      <p:sp>
        <p:nvSpPr>
          <p:cNvPr id="43" name="Rectangle 42"/>
          <p:cNvSpPr>
            <a:spLocks noChangeArrowheads="1"/>
          </p:cNvSpPr>
          <p:nvPr/>
        </p:nvSpPr>
        <p:spPr bwMode="auto">
          <a:xfrm>
            <a:off x="4739765" y="2196751"/>
            <a:ext cx="2824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improvement anticipated and</a:t>
            </a:r>
            <a:endParaRPr lang="en-US" sz="1600" b="1"/>
          </a:p>
        </p:txBody>
      </p:sp>
      <p:sp>
        <p:nvSpPr>
          <p:cNvPr id="44" name="Rectangle 43"/>
          <p:cNvSpPr>
            <a:spLocks noChangeArrowheads="1"/>
          </p:cNvSpPr>
          <p:nvPr/>
        </p:nvSpPr>
        <p:spPr bwMode="auto">
          <a:xfrm>
            <a:off x="4739765" y="2406301"/>
            <a:ext cx="30495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desired, and impacts assessed.</a:t>
            </a:r>
            <a:endParaRPr lang="en-US" sz="1600" b="1"/>
          </a:p>
        </p:txBody>
      </p:sp>
      <p:sp>
        <p:nvSpPr>
          <p:cNvPr id="45" name="Rectangle 44"/>
          <p:cNvSpPr>
            <a:spLocks noChangeArrowheads="1"/>
          </p:cNvSpPr>
          <p:nvPr/>
        </p:nvSpPr>
        <p:spPr bwMode="auto">
          <a:xfrm>
            <a:off x="4727065" y="3134963"/>
            <a:ext cx="359568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Greater sense of teamwork and inter-</a:t>
            </a:r>
            <a:endParaRPr lang="en-US" sz="1600" b="1"/>
          </a:p>
        </p:txBody>
      </p:sp>
      <p:sp>
        <p:nvSpPr>
          <p:cNvPr id="46" name="Rectangle 45"/>
          <p:cNvSpPr>
            <a:spLocks noChangeArrowheads="1"/>
          </p:cNvSpPr>
          <p:nvPr/>
        </p:nvSpPr>
        <p:spPr bwMode="auto">
          <a:xfrm>
            <a:off x="4727065" y="3342926"/>
            <a:ext cx="13525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dependencies</a:t>
            </a:r>
            <a:endParaRPr lang="en-US" sz="1600" b="1"/>
          </a:p>
        </p:txBody>
      </p:sp>
      <p:sp>
        <p:nvSpPr>
          <p:cNvPr id="47" name="Rectangle 46"/>
          <p:cNvSpPr>
            <a:spLocks noChangeArrowheads="1"/>
          </p:cNvSpPr>
          <p:nvPr/>
        </p:nvSpPr>
        <p:spPr bwMode="auto">
          <a:xfrm>
            <a:off x="4739765" y="4019201"/>
            <a:ext cx="334327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Reliance on defined process.  People understand, support and follow the process.</a:t>
            </a:r>
            <a:endParaRPr lang="en-US" sz="1600" b="1"/>
          </a:p>
        </p:txBody>
      </p:sp>
      <p:grpSp>
        <p:nvGrpSpPr>
          <p:cNvPr id="48" name="Group 47"/>
          <p:cNvGrpSpPr>
            <a:grpSpLocks/>
          </p:cNvGrpSpPr>
          <p:nvPr/>
        </p:nvGrpSpPr>
        <p:grpSpPr bwMode="auto">
          <a:xfrm>
            <a:off x="4739765" y="5103463"/>
            <a:ext cx="3513138" cy="663575"/>
            <a:chOff x="2962" y="2913"/>
            <a:chExt cx="2213" cy="418"/>
          </a:xfrm>
        </p:grpSpPr>
        <p:sp>
          <p:nvSpPr>
            <p:cNvPr id="49" name="Rectangle 48"/>
            <p:cNvSpPr>
              <a:spLocks noChangeArrowheads="1"/>
            </p:cNvSpPr>
            <p:nvPr/>
          </p:nvSpPr>
          <p:spPr bwMode="auto">
            <a:xfrm>
              <a:off x="2962" y="2913"/>
              <a:ext cx="221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Over reliance on experience of good</a:t>
              </a:r>
              <a:endParaRPr lang="en-US" sz="1600" b="1"/>
            </a:p>
          </p:txBody>
        </p:sp>
        <p:sp>
          <p:nvSpPr>
            <p:cNvPr id="50" name="Rectangle 49"/>
            <p:cNvSpPr>
              <a:spLocks noChangeArrowheads="1"/>
            </p:cNvSpPr>
            <p:nvPr/>
          </p:nvSpPr>
          <p:spPr bwMode="auto">
            <a:xfrm>
              <a:off x="2962" y="3045"/>
              <a:ext cx="216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people – when they go, the process</a:t>
              </a:r>
              <a:endParaRPr lang="en-US" sz="1600" b="1"/>
            </a:p>
          </p:txBody>
        </p:sp>
        <p:sp>
          <p:nvSpPr>
            <p:cNvPr id="51" name="Rectangle 50"/>
            <p:cNvSpPr>
              <a:spLocks noChangeArrowheads="1"/>
            </p:cNvSpPr>
            <p:nvPr/>
          </p:nvSpPr>
          <p:spPr bwMode="auto">
            <a:xfrm>
              <a:off x="2962" y="3177"/>
              <a:ext cx="100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goes. “Heroics.”</a:t>
              </a:r>
              <a:endParaRPr lang="en-US" sz="1600" b="1"/>
            </a:p>
          </p:txBody>
        </p:sp>
      </p:grpSp>
      <p:sp>
        <p:nvSpPr>
          <p:cNvPr id="52" name="Rectangle 51"/>
          <p:cNvSpPr>
            <a:spLocks noChangeArrowheads="1"/>
          </p:cNvSpPr>
          <p:nvPr/>
        </p:nvSpPr>
        <p:spPr bwMode="auto">
          <a:xfrm>
            <a:off x="4749290" y="6051201"/>
            <a:ext cx="23415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Focus on "fire fighting";</a:t>
            </a:r>
            <a:endParaRPr lang="en-US" sz="1600" b="1"/>
          </a:p>
        </p:txBody>
      </p:sp>
      <p:sp>
        <p:nvSpPr>
          <p:cNvPr id="53" name="Rectangle 52"/>
          <p:cNvSpPr>
            <a:spLocks noChangeArrowheads="1"/>
          </p:cNvSpPr>
          <p:nvPr/>
        </p:nvSpPr>
        <p:spPr bwMode="auto">
          <a:xfrm>
            <a:off x="4749290" y="6260751"/>
            <a:ext cx="34718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nSpc>
                <a:spcPct val="90000"/>
              </a:lnSpc>
              <a:spcBef>
                <a:spcPct val="20000"/>
              </a:spcBef>
              <a:spcAft>
                <a:spcPct val="20000"/>
              </a:spcAft>
              <a:buClr>
                <a:schemeClr val="accent1"/>
              </a:buClr>
              <a:buSzPct val="110000"/>
              <a:buChar char="•"/>
              <a:defRPr sz="2600">
                <a:solidFill>
                  <a:schemeClr val="tx1"/>
                </a:solidFill>
                <a:latin typeface="Arial" panose="020B0604020202020204" pitchFamily="34" charset="0"/>
              </a:defRPr>
            </a:lvl1pPr>
            <a:lvl2pPr marL="742950" indent="-285750">
              <a:lnSpc>
                <a:spcPct val="90000"/>
              </a:lnSpc>
              <a:spcBef>
                <a:spcPct val="20000"/>
              </a:spcBef>
              <a:spcAft>
                <a:spcPct val="20000"/>
              </a:spcAft>
              <a:buClr>
                <a:schemeClr val="accent1"/>
              </a:buClr>
              <a:buChar char="–"/>
              <a:defRPr sz="2200">
                <a:solidFill>
                  <a:schemeClr val="tx1"/>
                </a:solidFill>
                <a:latin typeface="Arial" panose="020B0604020202020204" pitchFamily="34" charset="0"/>
              </a:defRPr>
            </a:lvl2pPr>
            <a:lvl3pPr marL="1143000" indent="-228600">
              <a:lnSpc>
                <a:spcPct val="90000"/>
              </a:lnSpc>
              <a:spcBef>
                <a:spcPct val="20000"/>
              </a:spcBef>
              <a:spcAft>
                <a:spcPct val="20000"/>
              </a:spcAft>
              <a:buClr>
                <a:schemeClr val="accent1"/>
              </a:buClr>
              <a:buChar char="•"/>
              <a:defRPr sz="2000">
                <a:solidFill>
                  <a:schemeClr val="tx1"/>
                </a:solidFill>
                <a:latin typeface="Arial" panose="020B0604020202020204" pitchFamily="34" charset="0"/>
              </a:defRPr>
            </a:lvl3pPr>
            <a:lvl4pPr marL="1600200" indent="-228600">
              <a:lnSpc>
                <a:spcPct val="90000"/>
              </a:lnSpc>
              <a:spcBef>
                <a:spcPct val="20000"/>
              </a:spcBef>
              <a:spcAft>
                <a:spcPct val="20000"/>
              </a:spcAft>
              <a:buClr>
                <a:schemeClr val="accent1"/>
              </a:buClr>
              <a:buSzPct val="70000"/>
              <a:buChar char="–"/>
              <a:defRPr>
                <a:solidFill>
                  <a:schemeClr val="tx1"/>
                </a:solidFill>
                <a:latin typeface="Arial" panose="020B0604020202020204" pitchFamily="34" charset="0"/>
              </a:defRPr>
            </a:lvl4pPr>
            <a:lvl5pPr marL="2057400" indent="-22860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5pPr>
            <a:lvl6pPr marL="25146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6pPr>
            <a:lvl7pPr marL="29718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7pPr>
            <a:lvl8pPr marL="34290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8pPr>
            <a:lvl9pPr marL="3886200" indent="-228600" eaLnBrk="0" fontAlgn="base" hangingPunct="0">
              <a:lnSpc>
                <a:spcPct val="90000"/>
              </a:lnSpc>
              <a:spcBef>
                <a:spcPct val="20000"/>
              </a:spcBef>
              <a:spcAft>
                <a:spcPct val="20000"/>
              </a:spcAft>
              <a:buClr>
                <a:schemeClr val="accent1"/>
              </a:buClr>
              <a:buSzPct val="70000"/>
              <a:buChar char="•"/>
              <a:defRPr sz="1600">
                <a:solidFill>
                  <a:schemeClr val="tx1"/>
                </a:solidFill>
                <a:latin typeface="Arial" panose="020B0604020202020204" pitchFamily="34" charset="0"/>
              </a:defRPr>
            </a:lvl9pPr>
          </a:lstStyle>
          <a:p>
            <a:pPr>
              <a:lnSpc>
                <a:spcPct val="100000"/>
              </a:lnSpc>
              <a:spcBef>
                <a:spcPct val="0"/>
              </a:spcBef>
              <a:spcAft>
                <a:spcPct val="0"/>
              </a:spcAft>
              <a:buClrTx/>
              <a:buSzTx/>
              <a:buFontTx/>
              <a:buNone/>
            </a:pPr>
            <a:r>
              <a:rPr lang="en-US" sz="1600" b="1">
                <a:solidFill>
                  <a:srgbClr val="000000"/>
                </a:solidFill>
              </a:rPr>
              <a:t>effectiveness low – frustration high.</a:t>
            </a:r>
            <a:endParaRPr lang="en-US" sz="1600" b="1"/>
          </a:p>
        </p:txBody>
      </p:sp>
    </p:spTree>
    <p:extLst>
      <p:ext uri="{BB962C8B-B14F-4D97-AF65-F5344CB8AC3E}">
        <p14:creationId xmlns:p14="http://schemas.microsoft.com/office/powerpoint/2010/main" val="19156867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rPr>
              <a:t>SQA Team Roles and Skills</a:t>
            </a:r>
            <a:endParaRPr lang="en-IN" dirty="0"/>
          </a:p>
        </p:txBody>
      </p:sp>
      <p:sp>
        <p:nvSpPr>
          <p:cNvPr id="3" name="Content Placeholder 2"/>
          <p:cNvSpPr>
            <a:spLocks noGrp="1"/>
          </p:cNvSpPr>
          <p:nvPr>
            <p:ph idx="1"/>
          </p:nvPr>
        </p:nvSpPr>
        <p:spPr/>
        <p:txBody>
          <a:bodyPr>
            <a:normAutofit/>
          </a:bodyPr>
          <a:lstStyle/>
          <a:p>
            <a:pPr marL="64008" indent="0">
              <a:buNone/>
            </a:pPr>
            <a:r>
              <a:rPr lang="en-US" sz="2800" dirty="0"/>
              <a:t>Roles: </a:t>
            </a:r>
            <a:endParaRPr lang="en-US" sz="2800" dirty="0" smtClean="0"/>
          </a:p>
          <a:p>
            <a:r>
              <a:rPr lang="en-US" sz="2800" dirty="0" smtClean="0"/>
              <a:t>SQA </a:t>
            </a:r>
            <a:r>
              <a:rPr lang="en-US" sz="2800" dirty="0"/>
              <a:t>Manager – Oversees QA strategy and planning. </a:t>
            </a:r>
            <a:endParaRPr lang="en-US" sz="2800" dirty="0" smtClean="0"/>
          </a:p>
          <a:p>
            <a:r>
              <a:rPr lang="en-US" sz="2800" dirty="0" smtClean="0"/>
              <a:t>QA </a:t>
            </a:r>
            <a:r>
              <a:rPr lang="en-US" sz="2800" dirty="0"/>
              <a:t>Analyst – Conducts reviews, audits</a:t>
            </a:r>
            <a:r>
              <a:rPr lang="en-US" sz="2800" dirty="0" smtClean="0"/>
              <a:t>.</a:t>
            </a:r>
          </a:p>
          <a:p>
            <a:r>
              <a:rPr lang="en-US" sz="2800" dirty="0" smtClean="0"/>
              <a:t>Test </a:t>
            </a:r>
            <a:r>
              <a:rPr lang="en-US" sz="2800" dirty="0"/>
              <a:t>Engineer – Designs and executes test cases.</a:t>
            </a:r>
            <a:endParaRPr lang="en-IN" sz="2800" dirty="0"/>
          </a:p>
        </p:txBody>
      </p:sp>
    </p:spTree>
    <p:extLst>
      <p:ext uri="{BB962C8B-B14F-4D97-AF65-F5344CB8AC3E}">
        <p14:creationId xmlns:p14="http://schemas.microsoft.com/office/powerpoint/2010/main" val="281937967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rPr>
              <a:t>SQA Team Roles and Skills</a:t>
            </a:r>
            <a:endParaRPr lang="en-IN" dirty="0"/>
          </a:p>
        </p:txBody>
      </p:sp>
      <p:sp>
        <p:nvSpPr>
          <p:cNvPr id="3" name="Content Placeholder 2"/>
          <p:cNvSpPr>
            <a:spLocks noGrp="1"/>
          </p:cNvSpPr>
          <p:nvPr>
            <p:ph idx="1"/>
          </p:nvPr>
        </p:nvSpPr>
        <p:spPr/>
        <p:txBody>
          <a:bodyPr>
            <a:normAutofit/>
          </a:bodyPr>
          <a:lstStyle/>
          <a:p>
            <a:pPr marL="64008" indent="0">
              <a:buNone/>
            </a:pPr>
            <a:r>
              <a:rPr lang="en-IN" sz="2800" dirty="0"/>
              <a:t>Skills: </a:t>
            </a:r>
            <a:endParaRPr lang="en-IN" sz="2800" dirty="0" smtClean="0"/>
          </a:p>
          <a:p>
            <a:r>
              <a:rPr lang="en-IN" sz="2800" dirty="0" smtClean="0"/>
              <a:t>SDLC/STLC </a:t>
            </a:r>
            <a:r>
              <a:rPr lang="en-IN" sz="2800" dirty="0"/>
              <a:t>knowledge </a:t>
            </a:r>
            <a:endParaRPr lang="en-IN" sz="2800" dirty="0" smtClean="0"/>
          </a:p>
          <a:p>
            <a:r>
              <a:rPr lang="en-IN" sz="2800" dirty="0" smtClean="0"/>
              <a:t>Tools </a:t>
            </a:r>
            <a:r>
              <a:rPr lang="en-IN" sz="2800" dirty="0"/>
              <a:t>(JIRA, Selenium, Git) </a:t>
            </a:r>
            <a:endParaRPr lang="en-IN" sz="2800" dirty="0" smtClean="0"/>
          </a:p>
          <a:p>
            <a:r>
              <a:rPr lang="en-IN" sz="2800" dirty="0" smtClean="0"/>
              <a:t>Documentation </a:t>
            </a:r>
            <a:r>
              <a:rPr lang="en-IN" sz="2800" dirty="0"/>
              <a:t>&amp; communication </a:t>
            </a:r>
            <a:endParaRPr lang="en-IN" sz="2800" dirty="0" smtClean="0"/>
          </a:p>
          <a:p>
            <a:r>
              <a:rPr lang="en-IN" sz="2800" dirty="0" smtClean="0"/>
              <a:t>Basic </a:t>
            </a:r>
            <a:r>
              <a:rPr lang="en-IN" sz="2800" dirty="0"/>
              <a:t>scripting/automation</a:t>
            </a:r>
          </a:p>
        </p:txBody>
      </p:sp>
    </p:spTree>
    <p:extLst>
      <p:ext uri="{BB962C8B-B14F-4D97-AF65-F5344CB8AC3E}">
        <p14:creationId xmlns:p14="http://schemas.microsoft.com/office/powerpoint/2010/main" val="9272543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rPr>
              <a:t>SQA Team Roles and Skills</a:t>
            </a:r>
            <a:endParaRPr lang="en-IN" dirty="0"/>
          </a:p>
        </p:txBody>
      </p:sp>
      <p:sp>
        <p:nvSpPr>
          <p:cNvPr id="3" name="Content Placeholder 2"/>
          <p:cNvSpPr>
            <a:spLocks noGrp="1"/>
          </p:cNvSpPr>
          <p:nvPr>
            <p:ph idx="1"/>
          </p:nvPr>
        </p:nvSpPr>
        <p:spPr/>
        <p:txBody>
          <a:bodyPr>
            <a:normAutofit/>
          </a:bodyPr>
          <a:lstStyle/>
          <a:p>
            <a:pPr marL="64008" indent="0">
              <a:buNone/>
            </a:pPr>
            <a:r>
              <a:rPr lang="en-US" sz="2800" dirty="0"/>
              <a:t>Org Chart or Hierarchy Tree </a:t>
            </a:r>
            <a:endParaRPr lang="en-US" sz="2800" dirty="0" smtClean="0"/>
          </a:p>
          <a:p>
            <a:pPr marL="64008" indent="0">
              <a:buNone/>
            </a:pPr>
            <a:endParaRPr lang="en-US" sz="2800" dirty="0" smtClean="0"/>
          </a:p>
          <a:p>
            <a:pPr marL="64008" indent="0">
              <a:buNone/>
            </a:pPr>
            <a:r>
              <a:rPr lang="en-US" sz="2800" dirty="0" smtClean="0"/>
              <a:t>SQA </a:t>
            </a:r>
            <a:r>
              <a:rPr lang="en-US" sz="2800" dirty="0"/>
              <a:t>Manager </a:t>
            </a:r>
            <a:endParaRPr lang="en-US" sz="2800" dirty="0" smtClean="0"/>
          </a:p>
          <a:p>
            <a:pPr marL="64008" indent="0">
              <a:buNone/>
            </a:pPr>
            <a:r>
              <a:rPr lang="en-US" sz="2800" dirty="0"/>
              <a:t> </a:t>
            </a:r>
            <a:r>
              <a:rPr lang="en-US" sz="2800" dirty="0" smtClean="0"/>
              <a:t>        ↓ </a:t>
            </a:r>
          </a:p>
          <a:p>
            <a:pPr marL="64008" indent="0">
              <a:buNone/>
            </a:pPr>
            <a:r>
              <a:rPr lang="en-US" sz="2800" dirty="0" smtClean="0"/>
              <a:t>QA </a:t>
            </a:r>
            <a:r>
              <a:rPr lang="en-US" sz="2800" dirty="0"/>
              <a:t>Analysts </a:t>
            </a:r>
            <a:endParaRPr lang="en-US" sz="2800" dirty="0" smtClean="0"/>
          </a:p>
          <a:p>
            <a:pPr marL="64008" indent="0">
              <a:buNone/>
            </a:pPr>
            <a:r>
              <a:rPr lang="en-US" sz="2800" dirty="0"/>
              <a:t> </a:t>
            </a:r>
            <a:r>
              <a:rPr lang="en-US" sz="2800" dirty="0" smtClean="0"/>
              <a:t>        ↓ </a:t>
            </a:r>
          </a:p>
          <a:p>
            <a:pPr marL="64008" indent="0">
              <a:buNone/>
            </a:pPr>
            <a:r>
              <a:rPr lang="en-US" sz="2800" dirty="0" smtClean="0"/>
              <a:t>Test </a:t>
            </a:r>
            <a:r>
              <a:rPr lang="en-US" sz="2800" dirty="0"/>
              <a:t>Engineers </a:t>
            </a:r>
            <a:endParaRPr lang="en-IN" sz="2800" dirty="0"/>
          </a:p>
        </p:txBody>
      </p:sp>
    </p:spTree>
    <p:extLst>
      <p:ext uri="{BB962C8B-B14F-4D97-AF65-F5344CB8AC3E}">
        <p14:creationId xmlns:p14="http://schemas.microsoft.com/office/powerpoint/2010/main" val="40739521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rPr>
              <a:t>SQA Team Roles and Skills</a:t>
            </a:r>
            <a:endParaRPr lang="en-IN" dirty="0"/>
          </a:p>
        </p:txBody>
      </p:sp>
      <p:pic>
        <p:nvPicPr>
          <p:cNvPr id="4" name="Content Placeholder 3"/>
          <p:cNvPicPr>
            <a:picLocks noGrp="1" noChangeAspect="1"/>
          </p:cNvPicPr>
          <p:nvPr>
            <p:ph idx="1"/>
          </p:nvPr>
        </p:nvPicPr>
        <p:blipFill>
          <a:blip r:embed="rId2"/>
          <a:stretch>
            <a:fillRect/>
          </a:stretch>
        </p:blipFill>
        <p:spPr>
          <a:xfrm>
            <a:off x="1371600" y="1905000"/>
            <a:ext cx="6477000" cy="4419600"/>
          </a:xfrm>
          <a:prstGeom prst="rect">
            <a:avLst/>
          </a:prstGeom>
        </p:spPr>
      </p:pic>
    </p:spTree>
    <p:extLst>
      <p:ext uri="{BB962C8B-B14F-4D97-AF65-F5344CB8AC3E}">
        <p14:creationId xmlns:p14="http://schemas.microsoft.com/office/powerpoint/2010/main" val="133004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rPr>
              <a:t>SQA </a:t>
            </a:r>
            <a:r>
              <a:rPr lang="en-US" dirty="0" err="1">
                <a:effectLst/>
              </a:rPr>
              <a:t>vs</a:t>
            </a:r>
            <a:r>
              <a:rPr lang="en-US" dirty="0">
                <a:effectLst/>
              </a:rPr>
              <a:t> QC </a:t>
            </a:r>
            <a:r>
              <a:rPr lang="en-US" dirty="0" err="1">
                <a:effectLst/>
              </a:rPr>
              <a:t>vs</a:t>
            </a:r>
            <a:r>
              <a:rPr lang="en-US" dirty="0">
                <a:effectLst/>
              </a:rPr>
              <a:t> Testing</a:t>
            </a:r>
            <a:endParaRPr lang="en-IN" dirty="0"/>
          </a:p>
        </p:txBody>
      </p:sp>
      <p:pic>
        <p:nvPicPr>
          <p:cNvPr id="1026" name="Picture 2" descr="https://testfort.com/wp-content/uploads/2023/12/2-Software-Quality-Assurance-Quality-Control-and-Testing-1024x51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2111375"/>
            <a:ext cx="82296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4144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rPr>
              <a:t>SQA </a:t>
            </a:r>
            <a:r>
              <a:rPr lang="en-US" dirty="0" err="1">
                <a:effectLst/>
              </a:rPr>
              <a:t>vs</a:t>
            </a:r>
            <a:r>
              <a:rPr lang="en-US" dirty="0">
                <a:effectLst/>
              </a:rPr>
              <a:t> QC </a:t>
            </a:r>
            <a:r>
              <a:rPr lang="en-US" dirty="0" err="1">
                <a:effectLst/>
              </a:rPr>
              <a:t>vs</a:t>
            </a:r>
            <a:r>
              <a:rPr lang="en-US" dirty="0">
                <a:effectLst/>
              </a:rPr>
              <a:t> Testing</a:t>
            </a:r>
            <a:endParaRPr lang="en-IN" dirty="0"/>
          </a:p>
        </p:txBody>
      </p:sp>
      <p:sp>
        <p:nvSpPr>
          <p:cNvPr id="3" name="Content Placeholder 2"/>
          <p:cNvSpPr>
            <a:spLocks noGrp="1"/>
          </p:cNvSpPr>
          <p:nvPr>
            <p:ph idx="1"/>
          </p:nvPr>
        </p:nvSpPr>
        <p:spPr/>
        <p:txBody>
          <a:bodyPr>
            <a:normAutofit fontScale="92500" lnSpcReduction="10000"/>
          </a:bodyPr>
          <a:lstStyle/>
          <a:p>
            <a:r>
              <a:rPr lang="en-US" dirty="0"/>
              <a:t>Every stage of software development requires a focus on quality. </a:t>
            </a:r>
            <a:endParaRPr lang="en-US" dirty="0" smtClean="0"/>
          </a:p>
          <a:p>
            <a:r>
              <a:rPr lang="en-US" dirty="0" smtClean="0"/>
              <a:t>QA</a:t>
            </a:r>
            <a:r>
              <a:rPr lang="en-US" dirty="0"/>
              <a:t>, QC, and testing are the three pillars that ensure the process runs smoothly and the </a:t>
            </a:r>
            <a:r>
              <a:rPr lang="en-US" dirty="0" smtClean="0"/>
              <a:t>end </a:t>
            </a:r>
            <a:r>
              <a:rPr lang="en-US" dirty="0"/>
              <a:t>product </a:t>
            </a:r>
            <a:r>
              <a:rPr lang="en-US" dirty="0" smtClean="0"/>
              <a:t>meets expectations</a:t>
            </a:r>
            <a:r>
              <a:rPr lang="en-US" dirty="0"/>
              <a:t>. </a:t>
            </a:r>
            <a:endParaRPr lang="en-US" dirty="0" smtClean="0"/>
          </a:p>
          <a:p>
            <a:r>
              <a:rPr lang="en-US" dirty="0" smtClean="0"/>
              <a:t>Finding </a:t>
            </a:r>
            <a:r>
              <a:rPr lang="en-US" dirty="0"/>
              <a:t>issues early in the software development cycle is crucial. </a:t>
            </a:r>
            <a:endParaRPr lang="en-US" dirty="0" smtClean="0"/>
          </a:p>
          <a:p>
            <a:r>
              <a:rPr lang="en-US" dirty="0" smtClean="0"/>
              <a:t>When </a:t>
            </a:r>
            <a:r>
              <a:rPr lang="en-US" dirty="0"/>
              <a:t>quality is maintained from the start through continuous testing, teams avoid costly fixes </a:t>
            </a:r>
            <a:r>
              <a:rPr lang="en-US" dirty="0" smtClean="0"/>
              <a:t>later.</a:t>
            </a:r>
            <a:r>
              <a:rPr lang="en-US" dirty="0"/>
              <a:t> </a:t>
            </a:r>
            <a:endParaRPr lang="en-IN" dirty="0"/>
          </a:p>
        </p:txBody>
      </p:sp>
    </p:spTree>
    <p:extLst>
      <p:ext uri="{BB962C8B-B14F-4D97-AF65-F5344CB8AC3E}">
        <p14:creationId xmlns:p14="http://schemas.microsoft.com/office/powerpoint/2010/main" val="22810184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effectLst/>
              </a:rPr>
              <a:t>SQA </a:t>
            </a:r>
            <a:r>
              <a:rPr lang="en-US" dirty="0" err="1">
                <a:effectLst/>
              </a:rPr>
              <a:t>vs</a:t>
            </a:r>
            <a:r>
              <a:rPr lang="en-US" dirty="0">
                <a:effectLst/>
              </a:rPr>
              <a:t> QC </a:t>
            </a:r>
            <a:r>
              <a:rPr lang="en-US" dirty="0" err="1">
                <a:effectLst/>
              </a:rPr>
              <a:t>vs</a:t>
            </a:r>
            <a:r>
              <a:rPr lang="en-US" dirty="0">
                <a:effectLst/>
              </a:rPr>
              <a:t> Testing</a:t>
            </a:r>
            <a:endParaRPr lang="en-IN" dirty="0"/>
          </a:p>
        </p:txBody>
      </p:sp>
      <p:sp>
        <p:nvSpPr>
          <p:cNvPr id="3" name="Content Placeholder 2"/>
          <p:cNvSpPr>
            <a:spLocks noGrp="1"/>
          </p:cNvSpPr>
          <p:nvPr>
            <p:ph idx="1"/>
          </p:nvPr>
        </p:nvSpPr>
        <p:spPr/>
        <p:txBody>
          <a:bodyPr/>
          <a:lstStyle/>
          <a:p>
            <a:r>
              <a:rPr lang="en-US" dirty="0"/>
              <a:t>Together, they create a cycle of prevention, detection, and improvement that minimizes risks and helps deliver reliable, efficient software. </a:t>
            </a:r>
            <a:endParaRPr lang="en-US" dirty="0" smtClean="0"/>
          </a:p>
          <a:p>
            <a:r>
              <a:rPr lang="en-US" dirty="0" smtClean="0"/>
              <a:t>QA</a:t>
            </a:r>
            <a:r>
              <a:rPr lang="en-US" dirty="0"/>
              <a:t>, QC, and testing each play distinct but complementary roles throughout the Software Development Lifecycle (SDLC). </a:t>
            </a:r>
            <a:endParaRPr lang="en-IN" dirty="0"/>
          </a:p>
        </p:txBody>
      </p:sp>
    </p:spTree>
    <p:extLst>
      <p:ext uri="{BB962C8B-B14F-4D97-AF65-F5344CB8AC3E}">
        <p14:creationId xmlns:p14="http://schemas.microsoft.com/office/powerpoint/2010/main" val="3638156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7494"/>
            <a:ext cx="8229600" cy="1027906"/>
          </a:xfrm>
        </p:spPr>
        <p:txBody>
          <a:bodyPr/>
          <a:lstStyle/>
          <a:p>
            <a:pPr algn="ctr"/>
            <a:r>
              <a:rPr lang="en-US" dirty="0">
                <a:effectLst/>
              </a:rPr>
              <a:t>SQA </a:t>
            </a:r>
            <a:r>
              <a:rPr lang="en-US" dirty="0" err="1">
                <a:effectLst/>
              </a:rPr>
              <a:t>vs</a:t>
            </a:r>
            <a:r>
              <a:rPr lang="en-US" dirty="0">
                <a:effectLst/>
              </a:rPr>
              <a:t> QC </a:t>
            </a:r>
            <a:r>
              <a:rPr lang="en-US" dirty="0" err="1">
                <a:effectLst/>
              </a:rPr>
              <a:t>vs</a:t>
            </a:r>
            <a:r>
              <a:rPr lang="en-US" dirty="0">
                <a:effectLst/>
              </a:rPr>
              <a:t> Testing</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992068174"/>
              </p:ext>
            </p:extLst>
          </p:nvPr>
        </p:nvGraphicFramePr>
        <p:xfrm>
          <a:off x="228600" y="1143001"/>
          <a:ext cx="8763001" cy="5670672"/>
        </p:xfrm>
        <a:graphic>
          <a:graphicData uri="http://schemas.openxmlformats.org/drawingml/2006/table">
            <a:tbl>
              <a:tblPr firstRow="1" bandRow="1">
                <a:tableStyleId>{5C22544A-7EE6-4342-B048-85BDC9FD1C3A}</a:tableStyleId>
              </a:tblPr>
              <a:tblGrid>
                <a:gridCol w="1517145"/>
                <a:gridCol w="2271889"/>
                <a:gridCol w="2271889"/>
                <a:gridCol w="2702078"/>
              </a:tblGrid>
              <a:tr h="345331">
                <a:tc>
                  <a:txBody>
                    <a:bodyPr/>
                    <a:lstStyle/>
                    <a:p>
                      <a:endParaRPr lang="en-IN" dirty="0"/>
                    </a:p>
                  </a:txBody>
                  <a:tcPr/>
                </a:tc>
                <a:tc>
                  <a:txBody>
                    <a:bodyPr/>
                    <a:lstStyle/>
                    <a:p>
                      <a:pPr algn="l" fontAlgn="base"/>
                      <a:r>
                        <a:rPr lang="en-IN" b="0" dirty="0">
                          <a:effectLst/>
                          <a:latin typeface="Poppins"/>
                        </a:rPr>
                        <a:t>QA</a:t>
                      </a:r>
                    </a:p>
                  </a:txBody>
                  <a:tcPr anchor="ctr"/>
                </a:tc>
                <a:tc>
                  <a:txBody>
                    <a:bodyPr/>
                    <a:lstStyle/>
                    <a:p>
                      <a:pPr algn="l" fontAlgn="base"/>
                      <a:r>
                        <a:rPr lang="en-IN" b="0">
                          <a:effectLst/>
                          <a:latin typeface="Poppins"/>
                        </a:rPr>
                        <a:t>QC</a:t>
                      </a:r>
                    </a:p>
                  </a:txBody>
                  <a:tcPr anchor="ctr"/>
                </a:tc>
                <a:tc>
                  <a:txBody>
                    <a:bodyPr/>
                    <a:lstStyle/>
                    <a:p>
                      <a:pPr algn="l" fontAlgn="base"/>
                      <a:r>
                        <a:rPr lang="en-IN" b="0" dirty="0">
                          <a:effectLst/>
                          <a:latin typeface="Poppins"/>
                        </a:rPr>
                        <a:t>Testing</a:t>
                      </a:r>
                    </a:p>
                  </a:txBody>
                  <a:tcPr anchor="ctr"/>
                </a:tc>
              </a:tr>
              <a:tr h="345331">
                <a:tc>
                  <a:txBody>
                    <a:bodyPr/>
                    <a:lstStyle/>
                    <a:p>
                      <a:pPr algn="l" fontAlgn="base"/>
                      <a:r>
                        <a:rPr lang="en-IN" b="0" dirty="0">
                          <a:effectLst/>
                          <a:latin typeface="Poppins"/>
                        </a:rPr>
                        <a:t>Approach</a:t>
                      </a:r>
                    </a:p>
                  </a:txBody>
                  <a:tcPr anchor="ctr"/>
                </a:tc>
                <a:tc>
                  <a:txBody>
                    <a:bodyPr/>
                    <a:lstStyle/>
                    <a:p>
                      <a:pPr algn="l" fontAlgn="base"/>
                      <a:r>
                        <a:rPr lang="en-IN" b="0">
                          <a:effectLst/>
                          <a:latin typeface="Poppins"/>
                        </a:rPr>
                        <a:t>Proactive</a:t>
                      </a:r>
                    </a:p>
                  </a:txBody>
                  <a:tcPr anchor="ctr"/>
                </a:tc>
                <a:tc>
                  <a:txBody>
                    <a:bodyPr/>
                    <a:lstStyle/>
                    <a:p>
                      <a:pPr algn="l" fontAlgn="base"/>
                      <a:r>
                        <a:rPr lang="en-IN" b="0">
                          <a:effectLst/>
                          <a:latin typeface="Poppins"/>
                        </a:rPr>
                        <a:t>Reactive</a:t>
                      </a:r>
                    </a:p>
                  </a:txBody>
                  <a:tcPr anchor="ctr"/>
                </a:tc>
                <a:tc>
                  <a:txBody>
                    <a:bodyPr/>
                    <a:lstStyle/>
                    <a:p>
                      <a:pPr algn="l" fontAlgn="base"/>
                      <a:r>
                        <a:rPr lang="en-IN" b="0" dirty="0">
                          <a:effectLst/>
                          <a:latin typeface="Poppins"/>
                        </a:rPr>
                        <a:t>Reactive</a:t>
                      </a:r>
                    </a:p>
                  </a:txBody>
                  <a:tcPr anchor="ctr"/>
                </a:tc>
              </a:tr>
              <a:tr h="604329">
                <a:tc>
                  <a:txBody>
                    <a:bodyPr/>
                    <a:lstStyle/>
                    <a:p>
                      <a:pPr algn="l" fontAlgn="base"/>
                      <a:r>
                        <a:rPr lang="en-IN" b="0" dirty="0">
                          <a:effectLst/>
                          <a:latin typeface="Poppins"/>
                        </a:rPr>
                        <a:t>Focus</a:t>
                      </a:r>
                    </a:p>
                  </a:txBody>
                  <a:tcPr anchor="ctr"/>
                </a:tc>
                <a:tc>
                  <a:txBody>
                    <a:bodyPr/>
                    <a:lstStyle/>
                    <a:p>
                      <a:pPr algn="l" fontAlgn="base"/>
                      <a:r>
                        <a:rPr lang="en-IN" b="0">
                          <a:effectLst/>
                          <a:latin typeface="Poppins"/>
                        </a:rPr>
                        <a:t>Process-oriented</a:t>
                      </a:r>
                    </a:p>
                  </a:txBody>
                  <a:tcPr anchor="ctr"/>
                </a:tc>
                <a:tc>
                  <a:txBody>
                    <a:bodyPr/>
                    <a:lstStyle/>
                    <a:p>
                      <a:pPr algn="l" fontAlgn="base"/>
                      <a:r>
                        <a:rPr lang="en-IN" b="0">
                          <a:effectLst/>
                          <a:latin typeface="Poppins"/>
                        </a:rPr>
                        <a:t>Product-oriented</a:t>
                      </a:r>
                    </a:p>
                  </a:txBody>
                  <a:tcPr anchor="ctr"/>
                </a:tc>
                <a:tc>
                  <a:txBody>
                    <a:bodyPr/>
                    <a:lstStyle/>
                    <a:p>
                      <a:pPr algn="l" fontAlgn="base"/>
                      <a:r>
                        <a:rPr lang="en-US" b="0" dirty="0">
                          <a:effectLst/>
                          <a:latin typeface="Poppins"/>
                        </a:rPr>
                        <a:t>Focused on finding mistakes and bugs</a:t>
                      </a:r>
                    </a:p>
                  </a:txBody>
                  <a:tcPr anchor="ctr"/>
                </a:tc>
              </a:tr>
              <a:tr h="863327">
                <a:tc>
                  <a:txBody>
                    <a:bodyPr/>
                    <a:lstStyle/>
                    <a:p>
                      <a:pPr algn="l" fontAlgn="base"/>
                      <a:r>
                        <a:rPr lang="en-IN" b="0" dirty="0">
                          <a:effectLst/>
                          <a:latin typeface="Poppins"/>
                        </a:rPr>
                        <a:t>Techniques</a:t>
                      </a:r>
                    </a:p>
                  </a:txBody>
                  <a:tcPr anchor="ctr"/>
                </a:tc>
                <a:tc>
                  <a:txBody>
                    <a:bodyPr/>
                    <a:lstStyle/>
                    <a:p>
                      <a:pPr algn="l" fontAlgn="base"/>
                      <a:r>
                        <a:rPr lang="en-IN" b="0">
                          <a:effectLst/>
                          <a:latin typeface="Poppins"/>
                        </a:rPr>
                        <a:t>Manages quality</a:t>
                      </a:r>
                    </a:p>
                  </a:txBody>
                  <a:tcPr anchor="ctr"/>
                </a:tc>
                <a:tc>
                  <a:txBody>
                    <a:bodyPr/>
                    <a:lstStyle/>
                    <a:p>
                      <a:pPr algn="l" fontAlgn="base"/>
                      <a:r>
                        <a:rPr lang="en-US" b="0">
                          <a:effectLst/>
                          <a:latin typeface="Poppins"/>
                        </a:rPr>
                        <a:t>Verifies quality of the software</a:t>
                      </a:r>
                    </a:p>
                  </a:txBody>
                  <a:tcPr anchor="ctr"/>
                </a:tc>
                <a:tc>
                  <a:txBody>
                    <a:bodyPr/>
                    <a:lstStyle/>
                    <a:p>
                      <a:pPr algn="l" fontAlgn="base"/>
                      <a:r>
                        <a:rPr lang="en-US" b="0" dirty="0">
                          <a:effectLst/>
                          <a:latin typeface="Poppins"/>
                        </a:rPr>
                        <a:t>All types of testing through manual or automated tools</a:t>
                      </a:r>
                    </a:p>
                  </a:txBody>
                  <a:tcPr anchor="ctr"/>
                </a:tc>
              </a:tr>
              <a:tr h="863327">
                <a:tc>
                  <a:txBody>
                    <a:bodyPr/>
                    <a:lstStyle/>
                    <a:p>
                      <a:pPr algn="l" fontAlgn="base"/>
                      <a:r>
                        <a:rPr lang="en-IN" b="0" dirty="0">
                          <a:effectLst/>
                          <a:latin typeface="Poppins"/>
                        </a:rPr>
                        <a:t>Timeframe</a:t>
                      </a:r>
                    </a:p>
                  </a:txBody>
                  <a:tcPr anchor="ctr"/>
                </a:tc>
                <a:tc>
                  <a:txBody>
                    <a:bodyPr/>
                    <a:lstStyle/>
                    <a:p>
                      <a:pPr algn="l" fontAlgn="base"/>
                      <a:r>
                        <a:rPr lang="en-IN" b="0">
                          <a:effectLst/>
                          <a:latin typeface="Poppins"/>
                        </a:rPr>
                        <a:t>Throughout the development process</a:t>
                      </a:r>
                    </a:p>
                  </a:txBody>
                  <a:tcPr anchor="ctr"/>
                </a:tc>
                <a:tc>
                  <a:txBody>
                    <a:bodyPr/>
                    <a:lstStyle/>
                    <a:p>
                      <a:pPr algn="l" fontAlgn="base"/>
                      <a:r>
                        <a:rPr lang="en-IN" b="0">
                          <a:effectLst/>
                          <a:latin typeface="Poppins"/>
                        </a:rPr>
                        <a:t>Before the product release</a:t>
                      </a:r>
                    </a:p>
                  </a:txBody>
                  <a:tcPr anchor="ctr"/>
                </a:tc>
                <a:tc>
                  <a:txBody>
                    <a:bodyPr/>
                    <a:lstStyle/>
                    <a:p>
                      <a:pPr algn="l" fontAlgn="base"/>
                      <a:r>
                        <a:rPr lang="en-IN" b="0" dirty="0">
                          <a:effectLst/>
                          <a:latin typeface="Poppins"/>
                        </a:rPr>
                        <a:t>Along the development process</a:t>
                      </a:r>
                    </a:p>
                  </a:txBody>
                  <a:tcPr anchor="ctr"/>
                </a:tc>
              </a:tr>
              <a:tr h="1381323">
                <a:tc>
                  <a:txBody>
                    <a:bodyPr/>
                    <a:lstStyle/>
                    <a:p>
                      <a:pPr algn="l" fontAlgn="base"/>
                      <a:r>
                        <a:rPr lang="en-IN" b="0" dirty="0" smtClean="0">
                          <a:effectLst/>
                          <a:latin typeface="Poppins"/>
                        </a:rPr>
                        <a:t>Goal</a:t>
                      </a:r>
                      <a:endParaRPr lang="en-IN" b="0" dirty="0">
                        <a:effectLst/>
                        <a:latin typeface="Poppins"/>
                      </a:endParaRPr>
                    </a:p>
                  </a:txBody>
                  <a:tcPr anchor="ctr"/>
                </a:tc>
                <a:tc>
                  <a:txBody>
                    <a:bodyPr/>
                    <a:lstStyle/>
                    <a:p>
                      <a:pPr algn="l" fontAlgn="base"/>
                      <a:r>
                        <a:rPr lang="en-US" b="0">
                          <a:effectLst/>
                          <a:latin typeface="Poppins"/>
                        </a:rPr>
                        <a:t>Define the quality standards and requirements</a:t>
                      </a:r>
                    </a:p>
                  </a:txBody>
                  <a:tcPr anchor="ctr"/>
                </a:tc>
                <a:tc>
                  <a:txBody>
                    <a:bodyPr/>
                    <a:lstStyle/>
                    <a:p>
                      <a:pPr algn="l" fontAlgn="base"/>
                      <a:r>
                        <a:rPr lang="en-US" b="0">
                          <a:effectLst/>
                          <a:latin typeface="Poppins"/>
                        </a:rPr>
                        <a:t>Ensure that the product’s quality meets the established criteria</a:t>
                      </a:r>
                    </a:p>
                  </a:txBody>
                  <a:tcPr anchor="ctr"/>
                </a:tc>
                <a:tc>
                  <a:txBody>
                    <a:bodyPr/>
                    <a:lstStyle/>
                    <a:p>
                      <a:pPr algn="l" fontAlgn="base"/>
                      <a:r>
                        <a:rPr lang="en-US" b="0" dirty="0">
                          <a:effectLst/>
                          <a:latin typeface="Poppins"/>
                        </a:rPr>
                        <a:t>Run tests to detect defects in the software and find ways to improve the quality and </a:t>
                      </a:r>
                      <a:r>
                        <a:rPr lang="en-US" b="0" dirty="0" smtClean="0">
                          <a:effectLst/>
                          <a:latin typeface="Poppins"/>
                        </a:rPr>
                        <a:t>outcomes</a:t>
                      </a:r>
                    </a:p>
                  </a:txBody>
                  <a:tcPr anchor="ctr"/>
                </a:tc>
              </a:tr>
              <a:tr h="1007232">
                <a:tc>
                  <a:txBody>
                    <a:bodyPr/>
                    <a:lstStyle/>
                    <a:p>
                      <a:pPr algn="l" fontAlgn="base"/>
                      <a:r>
                        <a:rPr lang="en-IN" b="0" dirty="0">
                          <a:effectLst/>
                          <a:latin typeface="Poppins"/>
                        </a:rPr>
                        <a:t>Executor</a:t>
                      </a:r>
                    </a:p>
                  </a:txBody>
                  <a:tcPr anchor="ctr"/>
                </a:tc>
                <a:tc>
                  <a:txBody>
                    <a:bodyPr/>
                    <a:lstStyle/>
                    <a:p>
                      <a:pPr algn="l" fontAlgn="base"/>
                      <a:r>
                        <a:rPr lang="en-US" b="0">
                          <a:effectLst/>
                          <a:latin typeface="Poppins"/>
                        </a:rPr>
                        <a:t>The entire team, including stakeholders</a:t>
                      </a:r>
                    </a:p>
                  </a:txBody>
                  <a:tcPr anchor="ctr"/>
                </a:tc>
                <a:tc>
                  <a:txBody>
                    <a:bodyPr/>
                    <a:lstStyle/>
                    <a:p>
                      <a:pPr algn="l" fontAlgn="base"/>
                      <a:r>
                        <a:rPr lang="en-US" b="0">
                          <a:effectLst/>
                          <a:latin typeface="Poppins"/>
                        </a:rPr>
                        <a:t>A small, dedicated quality team</a:t>
                      </a:r>
                    </a:p>
                  </a:txBody>
                  <a:tcPr anchor="ctr"/>
                </a:tc>
                <a:tc>
                  <a:txBody>
                    <a:bodyPr/>
                    <a:lstStyle/>
                    <a:p>
                      <a:pPr algn="l" fontAlgn="base"/>
                      <a:r>
                        <a:rPr lang="en-IN" b="0" dirty="0">
                          <a:effectLst/>
                          <a:latin typeface="Poppins"/>
                        </a:rPr>
                        <a:t>Test engineers, developers</a:t>
                      </a:r>
                    </a:p>
                  </a:txBody>
                  <a:tcPr anchor="ctr"/>
                </a:tc>
              </a:tr>
            </a:tbl>
          </a:graphicData>
        </a:graphic>
      </p:graphicFrame>
    </p:spTree>
    <p:extLst>
      <p:ext uri="{BB962C8B-B14F-4D97-AF65-F5344CB8AC3E}">
        <p14:creationId xmlns:p14="http://schemas.microsoft.com/office/powerpoint/2010/main" val="6907633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Verve">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Ver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Verve">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0800" dist="38100" dir="14700000" algn="t" rotWithShape="0">
              <a:srgbClr val="000000">
                <a:alpha val="60000"/>
              </a:srgbClr>
            </a:outerShdw>
          </a:effectLst>
          <a:scene3d>
            <a:camera prst="orthographicFront" fov="0">
              <a:rot lat="0" lon="0" rev="0"/>
            </a:camera>
            <a:lightRig rig="contrasting" dir="t">
              <a:rot lat="0" lon="0" rev="3600000"/>
            </a:lightRig>
          </a:scene3d>
          <a:sp3d prstMaterial="plastic">
            <a:bevelT w="127000" h="38200" prst="relaxedInset"/>
            <a:contourClr>
              <a:schemeClr val="phClr"/>
            </a:contourClr>
          </a:sp3d>
        </a:effectStyle>
      </a:effectStyleLst>
      <a:bgFillStyleLst>
        <a:solidFill>
          <a:schemeClr val="phClr"/>
        </a:solidFill>
        <a:gradFill rotWithShape="1">
          <a:gsLst>
            <a:gs pos="0">
              <a:schemeClr val="phClr">
                <a:shade val="48000"/>
                <a:satMod val="230000"/>
              </a:schemeClr>
            </a:gs>
            <a:gs pos="60000">
              <a:schemeClr val="phClr">
                <a:shade val="92000"/>
                <a:satMod val="230000"/>
              </a:schemeClr>
            </a:gs>
            <a:gs pos="100000">
              <a:schemeClr val="phClr">
                <a:tint val="85000"/>
                <a:satMod val="400000"/>
              </a:schemeClr>
            </a:gs>
          </a:gsLst>
          <a:lin ang="5400000" scaled="0"/>
        </a:gradFill>
        <a:blipFill>
          <a:blip xmlns:r="http://schemas.openxmlformats.org/officeDocument/2006/relationships" r:embed="rId1">
            <a:duotone>
              <a:schemeClr val="phClr">
                <a:shade val="1200"/>
                <a:satMod val="150000"/>
              </a:schemeClr>
              <a:schemeClr val="phClr">
                <a:tint val="90000"/>
                <a:satMod val="150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Verve</Template>
  <TotalTime>656</TotalTime>
  <Words>1918</Words>
  <Application>Microsoft Office PowerPoint</Application>
  <PresentationFormat>On-screen Show (4:3)</PresentationFormat>
  <Paragraphs>352</Paragraphs>
  <Slides>63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63</vt:i4>
      </vt:variant>
    </vt:vector>
  </HeadingPairs>
  <TitlesOfParts>
    <vt:vector size="73" baseType="lpstr">
      <vt:lpstr>宋体</vt:lpstr>
      <vt:lpstr>Arial</vt:lpstr>
      <vt:lpstr>Calibri</vt:lpstr>
      <vt:lpstr>Century Gothic</vt:lpstr>
      <vt:lpstr>Poppins</vt:lpstr>
      <vt:lpstr>Verdana</vt:lpstr>
      <vt:lpstr>Wingdings</vt:lpstr>
      <vt:lpstr>Wingdings 2</vt:lpstr>
      <vt:lpstr>幼圆</vt:lpstr>
      <vt:lpstr>Verve</vt:lpstr>
      <vt:lpstr>    Software Quality  and Testing</vt:lpstr>
      <vt:lpstr>What is Software?</vt:lpstr>
      <vt:lpstr>Software Quality</vt:lpstr>
      <vt:lpstr>SQ Pressman’s Definition</vt:lpstr>
      <vt:lpstr>Software Quality Assurance</vt:lpstr>
      <vt:lpstr>Software Quality Assurance</vt:lpstr>
      <vt:lpstr>Quality Control versus SQA</vt:lpstr>
      <vt:lpstr>Quality Control versus SQA</vt:lpstr>
      <vt:lpstr>Why do we care about Quality?</vt:lpstr>
      <vt:lpstr>Distinction between Software Errors and Faults</vt:lpstr>
      <vt:lpstr>Causes of Software Errors</vt:lpstr>
      <vt:lpstr>Cost of Quality</vt:lpstr>
      <vt:lpstr>Cost of Quality</vt:lpstr>
      <vt:lpstr>Cost of Quality</vt:lpstr>
      <vt:lpstr>Three Views of Quality</vt:lpstr>
      <vt:lpstr>Three Views of Quality</vt:lpstr>
      <vt:lpstr>Software Quality Factors</vt:lpstr>
      <vt:lpstr>Software Quality Factors</vt:lpstr>
      <vt:lpstr>Software Quality Factors</vt:lpstr>
      <vt:lpstr>Quality Assurance at each phase of SDLC</vt:lpstr>
      <vt:lpstr>Quality Assurance at each phase of SDLC</vt:lpstr>
      <vt:lpstr>Quality Assurance at each phase of SDLC</vt:lpstr>
      <vt:lpstr>Quality Assurance at each phase of SDLC</vt:lpstr>
      <vt:lpstr>Quality Assurance at each phase of SDLC</vt:lpstr>
      <vt:lpstr>Quality vs reliability vs security vs maintainability</vt:lpstr>
      <vt:lpstr>Quality vs reliability vs security vs maintainability</vt:lpstr>
      <vt:lpstr>Quality vs reliability vs security vs maintainability</vt:lpstr>
      <vt:lpstr>Quality vs reliability vs security vs maintainability</vt:lpstr>
      <vt:lpstr>Software Quality Models</vt:lpstr>
      <vt:lpstr>McCall’s Quality Model</vt:lpstr>
      <vt:lpstr>McCall’s Quality Model</vt:lpstr>
      <vt:lpstr>McCall’s Quality Model</vt:lpstr>
      <vt:lpstr>McCall’s Quality Model </vt:lpstr>
      <vt:lpstr>PowerPoint Presentation</vt:lpstr>
      <vt:lpstr>PowerPoint Presentation</vt:lpstr>
      <vt:lpstr>PowerPoint Presentation</vt:lpstr>
      <vt:lpstr>McCall’s Quality Model</vt:lpstr>
      <vt:lpstr>McCall’s Quality Model</vt:lpstr>
      <vt:lpstr>Boehm’s Quality Model</vt:lpstr>
      <vt:lpstr>Boehm’s Quality Model</vt:lpstr>
      <vt:lpstr>Boehm’s Quality Model</vt:lpstr>
      <vt:lpstr>Boehm’s Quality Model</vt:lpstr>
      <vt:lpstr>Boehm’s Quality Model</vt:lpstr>
      <vt:lpstr>Boehm’s Quality Model</vt:lpstr>
      <vt:lpstr>CMMI: Capability Maturity Model Integration</vt:lpstr>
      <vt:lpstr>CMMI: Capability Maturity Model Integration</vt:lpstr>
      <vt:lpstr>CMMI: Capability Maturity Model Integration</vt:lpstr>
      <vt:lpstr>CMMI: Capability Maturity Model Integration</vt:lpstr>
      <vt:lpstr>CMMI Staged Representation - 5 Maturity Levels</vt:lpstr>
      <vt:lpstr>CMMI Staged Representation - 5 Maturity Levels</vt:lpstr>
      <vt:lpstr>CMMI Staged Representation - 5 Maturity Levels</vt:lpstr>
      <vt:lpstr>CMMI Staged Representation - 5 Maturity Levels</vt:lpstr>
      <vt:lpstr>CMMI Staged Representation - 5 Maturity Levels</vt:lpstr>
      <vt:lpstr>CMMI Staged Representation - 5 Maturity Levels</vt:lpstr>
      <vt:lpstr>Behaviors at the Five Levels</vt:lpstr>
      <vt:lpstr>SQA Team Roles and Skills</vt:lpstr>
      <vt:lpstr>SQA Team Roles and Skills</vt:lpstr>
      <vt:lpstr>SQA Team Roles and Skills</vt:lpstr>
      <vt:lpstr>SQA Team Roles and Skills</vt:lpstr>
      <vt:lpstr>SQA vs QC vs Testing</vt:lpstr>
      <vt:lpstr>SQA vs QC vs Testing</vt:lpstr>
      <vt:lpstr>SQA vs QC vs Testing</vt:lpstr>
      <vt:lpstr>SQA vs QC vs Testing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Software Quality  and Testing</dc:title>
  <dc:creator>Lenovo</dc:creator>
  <cp:lastModifiedBy>SOE-III</cp:lastModifiedBy>
  <cp:revision>76</cp:revision>
  <dcterms:created xsi:type="dcterms:W3CDTF">2006-08-16T00:00:00Z</dcterms:created>
  <dcterms:modified xsi:type="dcterms:W3CDTF">2025-07-10T09:49:12Z</dcterms:modified>
</cp:coreProperties>
</file>