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7/3/2025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qualitygurus.com/link/qm/" TargetMode="External"/><Relationship Id="rId2" Type="http://schemas.openxmlformats.org/officeDocument/2006/relationships/hyperlink" Target="https://www.qualitygurus.com/link/iso90012015/"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Unit 1: Software Quality Assurance</a:t>
            </a:r>
            <a:endParaRPr lang="en-IN" dirty="0"/>
          </a:p>
        </p:txBody>
      </p:sp>
      <p:sp>
        <p:nvSpPr>
          <p:cNvPr id="3" name="Subtitle 2"/>
          <p:cNvSpPr>
            <a:spLocks noGrp="1"/>
          </p:cNvSpPr>
          <p:nvPr>
            <p:ph type="subTitle" idx="1"/>
          </p:nvPr>
        </p:nvSpPr>
        <p:spPr/>
        <p:txBody>
          <a:bodyPr/>
          <a:lstStyle/>
          <a:p>
            <a:r>
              <a:rPr lang="en-IN" dirty="0"/>
              <a:t>Cost of Quality (COQ)</a:t>
            </a:r>
          </a:p>
        </p:txBody>
      </p:sp>
    </p:spTree>
    <p:extLst>
      <p:ext uri="{BB962C8B-B14F-4D97-AF65-F5344CB8AC3E}">
        <p14:creationId xmlns:p14="http://schemas.microsoft.com/office/powerpoint/2010/main" val="907179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89548"/>
          </a:xfrm>
        </p:spPr>
        <p:txBody>
          <a:bodyPr>
            <a:normAutofit fontScale="90000"/>
          </a:bodyPr>
          <a:lstStyle/>
          <a:p>
            <a:r>
              <a:rPr lang="en-IN" dirty="0"/>
              <a:t>Cost of Quality (COQ)</a:t>
            </a:r>
          </a:p>
        </p:txBody>
      </p:sp>
      <p:sp>
        <p:nvSpPr>
          <p:cNvPr id="3" name="Content Placeholder 2"/>
          <p:cNvSpPr>
            <a:spLocks noGrp="1"/>
          </p:cNvSpPr>
          <p:nvPr>
            <p:ph idx="1"/>
          </p:nvPr>
        </p:nvSpPr>
        <p:spPr/>
        <p:txBody>
          <a:bodyPr/>
          <a:lstStyle/>
          <a:p>
            <a:r>
              <a:rPr lang="en-US" dirty="0"/>
              <a:t>Cost of Quality can be termed as the process that measures and determines where and how organizations' resources are utilized to maintain quality and prevent poor outputs. It can be regarded as a method of process improvement and quality assurance and prevents internal and external audit failures</a:t>
            </a:r>
            <a:r>
              <a:rPr lang="en-US" dirty="0" smtClean="0"/>
              <a:t>.</a:t>
            </a:r>
          </a:p>
          <a:p>
            <a:endParaRPr lang="en-US" dirty="0"/>
          </a:p>
          <a:p>
            <a:endParaRPr lang="en-IN" dirty="0"/>
          </a:p>
        </p:txBody>
      </p:sp>
    </p:spTree>
    <p:extLst>
      <p:ext uri="{BB962C8B-B14F-4D97-AF65-F5344CB8AC3E}">
        <p14:creationId xmlns:p14="http://schemas.microsoft.com/office/powerpoint/2010/main" val="3158671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5071410" cy="689301"/>
          </a:xfrm>
        </p:spPr>
        <p:txBody>
          <a:bodyPr>
            <a:normAutofit fontScale="90000"/>
          </a:bodyPr>
          <a:lstStyle/>
          <a:p>
            <a:r>
              <a:rPr lang="en-IN" dirty="0"/>
              <a:t>Cost of Quality (COQ)</a:t>
            </a:r>
          </a:p>
        </p:txBody>
      </p:sp>
      <p:pic>
        <p:nvPicPr>
          <p:cNvPr id="4" name="Content Placeholder 3"/>
          <p:cNvPicPr>
            <a:picLocks noGrp="1" noChangeAspect="1"/>
          </p:cNvPicPr>
          <p:nvPr>
            <p:ph idx="1"/>
          </p:nvPr>
        </p:nvPicPr>
        <p:blipFill>
          <a:blip r:embed="rId2"/>
          <a:stretch>
            <a:fillRect/>
          </a:stretch>
        </p:blipFill>
        <p:spPr>
          <a:xfrm>
            <a:off x="2452256" y="2133600"/>
            <a:ext cx="7900626" cy="3778250"/>
          </a:xfrm>
          <a:prstGeom prst="rect">
            <a:avLst/>
          </a:prstGeom>
        </p:spPr>
      </p:pic>
    </p:spTree>
    <p:extLst>
      <p:ext uri="{BB962C8B-B14F-4D97-AF65-F5344CB8AC3E}">
        <p14:creationId xmlns:p14="http://schemas.microsoft.com/office/powerpoint/2010/main" val="3995467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72428"/>
          </a:xfrm>
        </p:spPr>
        <p:txBody>
          <a:bodyPr/>
          <a:lstStyle/>
          <a:p>
            <a:r>
              <a:rPr lang="en-US" dirty="0"/>
              <a:t>Unit 1: Software Quality Assurance</a:t>
            </a:r>
            <a:endParaRPr lang="en-IN" dirty="0"/>
          </a:p>
        </p:txBody>
      </p:sp>
      <p:pic>
        <p:nvPicPr>
          <p:cNvPr id="4" name="Content Placeholder 3"/>
          <p:cNvPicPr>
            <a:picLocks noGrp="1" noChangeAspect="1"/>
          </p:cNvPicPr>
          <p:nvPr>
            <p:ph idx="1"/>
          </p:nvPr>
        </p:nvPicPr>
        <p:blipFill>
          <a:blip r:embed="rId2"/>
          <a:stretch>
            <a:fillRect/>
          </a:stretch>
        </p:blipFill>
        <p:spPr>
          <a:xfrm>
            <a:off x="2917766" y="1629295"/>
            <a:ext cx="7090757" cy="4929447"/>
          </a:xfrm>
          <a:prstGeom prst="rect">
            <a:avLst/>
          </a:prstGeom>
        </p:spPr>
      </p:pic>
    </p:spTree>
    <p:extLst>
      <p:ext uri="{BB962C8B-B14F-4D97-AF65-F5344CB8AC3E}">
        <p14:creationId xmlns:p14="http://schemas.microsoft.com/office/powerpoint/2010/main" val="244040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64610"/>
          </a:xfrm>
        </p:spPr>
        <p:txBody>
          <a:bodyPr>
            <a:normAutofit fontScale="90000"/>
          </a:bodyPr>
          <a:lstStyle/>
          <a:p>
            <a:r>
              <a:rPr lang="en-IN" dirty="0"/>
              <a:t>Prevention Costs:</a:t>
            </a:r>
            <a:br>
              <a:rPr lang="en-IN" dirty="0"/>
            </a:br>
            <a:endParaRPr lang="en-IN" dirty="0"/>
          </a:p>
        </p:txBody>
      </p:sp>
      <p:sp>
        <p:nvSpPr>
          <p:cNvPr id="3" name="Content Placeholder 2"/>
          <p:cNvSpPr>
            <a:spLocks noGrp="1"/>
          </p:cNvSpPr>
          <p:nvPr>
            <p:ph idx="1"/>
          </p:nvPr>
        </p:nvSpPr>
        <p:spPr>
          <a:xfrm>
            <a:off x="2589212" y="1654233"/>
            <a:ext cx="8915400" cy="4256989"/>
          </a:xfrm>
        </p:spPr>
        <p:txBody>
          <a:bodyPr>
            <a:normAutofit fontScale="92500" lnSpcReduction="20000"/>
          </a:bodyPr>
          <a:lstStyle/>
          <a:p>
            <a:r>
              <a:rPr lang="en-US" dirty="0"/>
              <a:t>1. Prevention Costs:</a:t>
            </a:r>
          </a:p>
          <a:p>
            <a:r>
              <a:rPr lang="en-US" dirty="0"/>
              <a:t>Prevention costs are the costs of all activities that are designed to prevent poor quality from arising in products or services. The examples of the prevention costs include:</a:t>
            </a:r>
          </a:p>
          <a:p>
            <a:endParaRPr lang="en-US" dirty="0"/>
          </a:p>
          <a:p>
            <a:r>
              <a:rPr lang="en-US" dirty="0"/>
              <a:t>Quality planning</a:t>
            </a:r>
          </a:p>
          <a:p>
            <a:r>
              <a:rPr lang="en-US" dirty="0"/>
              <a:t>Education and training</a:t>
            </a:r>
          </a:p>
          <a:p>
            <a:r>
              <a:rPr lang="en-US" dirty="0"/>
              <a:t>Conducting design reviews</a:t>
            </a:r>
          </a:p>
          <a:p>
            <a:r>
              <a:rPr lang="en-US" dirty="0"/>
              <a:t>Supplier reviews and selection</a:t>
            </a:r>
          </a:p>
          <a:p>
            <a:r>
              <a:rPr lang="en-US" dirty="0"/>
              <a:t>Quality system audits</a:t>
            </a:r>
          </a:p>
          <a:p>
            <a:r>
              <a:rPr lang="en-US" dirty="0"/>
              <a:t>Process planning and control</a:t>
            </a:r>
          </a:p>
          <a:p>
            <a:r>
              <a:rPr lang="en-US" dirty="0"/>
              <a:t>Product modifications</a:t>
            </a:r>
          </a:p>
          <a:p>
            <a:r>
              <a:rPr lang="en-US" dirty="0"/>
              <a:t>Equipment upgrades</a:t>
            </a:r>
            <a:endParaRPr lang="en-IN" dirty="0"/>
          </a:p>
        </p:txBody>
      </p:sp>
    </p:spTree>
    <p:extLst>
      <p:ext uri="{BB962C8B-B14F-4D97-AF65-F5344CB8AC3E}">
        <p14:creationId xmlns:p14="http://schemas.microsoft.com/office/powerpoint/2010/main" val="455235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80988"/>
          </a:xfrm>
        </p:spPr>
        <p:txBody>
          <a:bodyPr/>
          <a:lstStyle/>
          <a:p>
            <a:r>
              <a:rPr lang="en-IN" dirty="0"/>
              <a:t>2. Appraisal Costs:</a:t>
            </a:r>
          </a:p>
        </p:txBody>
      </p:sp>
      <p:sp>
        <p:nvSpPr>
          <p:cNvPr id="3" name="Content Placeholder 2"/>
          <p:cNvSpPr>
            <a:spLocks noGrp="1"/>
          </p:cNvSpPr>
          <p:nvPr>
            <p:ph idx="1"/>
          </p:nvPr>
        </p:nvSpPr>
        <p:spPr>
          <a:xfrm>
            <a:off x="2589212" y="1837113"/>
            <a:ext cx="8915400" cy="4074109"/>
          </a:xfrm>
        </p:spPr>
        <p:txBody>
          <a:bodyPr/>
          <a:lstStyle/>
          <a:p>
            <a:r>
              <a:rPr lang="en-US" dirty="0"/>
              <a:t>Appraisal costs are costs that are incurred to ensure the conformance to quality standards and performance requirements. The examples of the appraisal costs include:</a:t>
            </a:r>
          </a:p>
          <a:p>
            <a:endParaRPr lang="en-US" dirty="0"/>
          </a:p>
          <a:p>
            <a:r>
              <a:rPr lang="en-US" dirty="0"/>
              <a:t>Test and inspection (receiving, in-process and final)</a:t>
            </a:r>
          </a:p>
          <a:p>
            <a:r>
              <a:rPr lang="en-US" dirty="0"/>
              <a:t>Supplier acceptance sampling</a:t>
            </a:r>
          </a:p>
          <a:p>
            <a:r>
              <a:rPr lang="en-US" dirty="0"/>
              <a:t>Product Audits</a:t>
            </a:r>
          </a:p>
          <a:p>
            <a:r>
              <a:rPr lang="en-US" dirty="0"/>
              <a:t>Calibration</a:t>
            </a:r>
            <a:endParaRPr lang="en-IN" dirty="0"/>
          </a:p>
        </p:txBody>
      </p:sp>
    </p:spTree>
    <p:extLst>
      <p:ext uri="{BB962C8B-B14F-4D97-AF65-F5344CB8AC3E}">
        <p14:creationId xmlns:p14="http://schemas.microsoft.com/office/powerpoint/2010/main" val="1830626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64857"/>
          </a:xfrm>
        </p:spPr>
        <p:txBody>
          <a:bodyPr>
            <a:normAutofit fontScale="90000"/>
          </a:bodyPr>
          <a:lstStyle/>
          <a:p>
            <a:r>
              <a:rPr lang="en-IN" dirty="0"/>
              <a:t>3. Internal Failure Costs:</a:t>
            </a:r>
          </a:p>
        </p:txBody>
      </p:sp>
      <p:sp>
        <p:nvSpPr>
          <p:cNvPr id="3" name="Content Placeholder 2"/>
          <p:cNvSpPr>
            <a:spLocks noGrp="1"/>
          </p:cNvSpPr>
          <p:nvPr>
            <p:ph idx="1"/>
          </p:nvPr>
        </p:nvSpPr>
        <p:spPr>
          <a:xfrm>
            <a:off x="2589212" y="1654233"/>
            <a:ext cx="8915400" cy="4256989"/>
          </a:xfrm>
        </p:spPr>
        <p:txBody>
          <a:bodyPr/>
          <a:lstStyle/>
          <a:p>
            <a:r>
              <a:rPr lang="en-US" dirty="0"/>
              <a:t>Internal Failure Costs are the costs that are associated with defects found within the organization before after the customer receives the product or service. The examples of the internal failure costs include:</a:t>
            </a:r>
          </a:p>
          <a:p>
            <a:endParaRPr lang="en-US" dirty="0"/>
          </a:p>
          <a:p>
            <a:r>
              <a:rPr lang="en-US" dirty="0"/>
              <a:t>In-process scrap and rework</a:t>
            </a:r>
          </a:p>
          <a:p>
            <a:r>
              <a:rPr lang="en-US" dirty="0"/>
              <a:t>Troubleshooting and repairing</a:t>
            </a:r>
          </a:p>
          <a:p>
            <a:r>
              <a:rPr lang="en-US" dirty="0"/>
              <a:t>Design changes</a:t>
            </a:r>
          </a:p>
          <a:p>
            <a:r>
              <a:rPr lang="en-US" dirty="0"/>
              <a:t>Inventory required to support poor process yields and rejected lots</a:t>
            </a:r>
          </a:p>
          <a:p>
            <a:r>
              <a:rPr lang="en-US" dirty="0"/>
              <a:t>Re-inspection / retest of reworked items</a:t>
            </a:r>
            <a:endParaRPr lang="en-IN" dirty="0"/>
          </a:p>
        </p:txBody>
      </p:sp>
    </p:spTree>
    <p:extLst>
      <p:ext uri="{BB962C8B-B14F-4D97-AF65-F5344CB8AC3E}">
        <p14:creationId xmlns:p14="http://schemas.microsoft.com/office/powerpoint/2010/main" val="3364529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89548"/>
          </a:xfrm>
        </p:spPr>
        <p:txBody>
          <a:bodyPr>
            <a:normAutofit fontScale="90000"/>
          </a:bodyPr>
          <a:lstStyle/>
          <a:p>
            <a:r>
              <a:rPr lang="en-IN" dirty="0"/>
              <a:t>4. External Failure Costs:</a:t>
            </a:r>
          </a:p>
        </p:txBody>
      </p:sp>
      <p:sp>
        <p:nvSpPr>
          <p:cNvPr id="3" name="Content Placeholder 2"/>
          <p:cNvSpPr>
            <a:spLocks noGrp="1"/>
          </p:cNvSpPr>
          <p:nvPr>
            <p:ph idx="1"/>
          </p:nvPr>
        </p:nvSpPr>
        <p:spPr>
          <a:xfrm>
            <a:off x="2589212" y="1512916"/>
            <a:ext cx="8915400" cy="4754880"/>
          </a:xfrm>
        </p:spPr>
        <p:txBody>
          <a:bodyPr>
            <a:normAutofit lnSpcReduction="10000"/>
          </a:bodyPr>
          <a:lstStyle/>
          <a:p>
            <a:r>
              <a:rPr lang="en-US" dirty="0"/>
              <a:t>External Failure Costs are the costs that are associated with defects found after the customer receives the product or service. The examples of the external failure costs include:</a:t>
            </a:r>
          </a:p>
          <a:p>
            <a:endParaRPr lang="en-US" dirty="0"/>
          </a:p>
          <a:p>
            <a:r>
              <a:rPr lang="en-US" dirty="0"/>
              <a:t>Sales returns and allowances</a:t>
            </a:r>
          </a:p>
          <a:p>
            <a:r>
              <a:rPr lang="en-US" dirty="0"/>
              <a:t>Replacing defective products</a:t>
            </a:r>
          </a:p>
          <a:p>
            <a:r>
              <a:rPr lang="en-US" dirty="0"/>
              <a:t>Service level agreement penalties</a:t>
            </a:r>
          </a:p>
          <a:p>
            <a:r>
              <a:rPr lang="en-US" dirty="0"/>
              <a:t>Complaint handling</a:t>
            </a:r>
          </a:p>
          <a:p>
            <a:r>
              <a:rPr lang="en-US" dirty="0"/>
              <a:t>Field service labor and parts costs incurred due to warranty obligations</a:t>
            </a:r>
          </a:p>
          <a:p>
            <a:r>
              <a:rPr lang="en-US" dirty="0"/>
              <a:t>Product recalls / Legal claims</a:t>
            </a:r>
          </a:p>
          <a:p>
            <a:r>
              <a:rPr lang="en-US" dirty="0"/>
              <a:t>Lost customers and opportunities</a:t>
            </a:r>
          </a:p>
          <a:p>
            <a:r>
              <a:rPr lang="en-US" dirty="0"/>
              <a:t>Downgrading</a:t>
            </a:r>
          </a:p>
          <a:p>
            <a:r>
              <a:rPr lang="en-US" dirty="0"/>
              <a:t>Processing of customer complaints</a:t>
            </a:r>
            <a:endParaRPr lang="en-IN" dirty="0"/>
          </a:p>
        </p:txBody>
      </p:sp>
    </p:spTree>
    <p:extLst>
      <p:ext uri="{BB962C8B-B14F-4D97-AF65-F5344CB8AC3E}">
        <p14:creationId xmlns:p14="http://schemas.microsoft.com/office/powerpoint/2010/main" val="1723150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0858" y="423949"/>
            <a:ext cx="9833755" cy="1130531"/>
          </a:xfrm>
        </p:spPr>
        <p:txBody>
          <a:bodyPr>
            <a:normAutofit fontScale="90000"/>
          </a:bodyPr>
          <a:lstStyle/>
          <a:p>
            <a:r>
              <a:rPr lang="en-US" dirty="0"/>
              <a:t>Classification of the Cost of Quality - Some Examples:</a:t>
            </a:r>
            <a:endParaRPr lang="en-IN" dirty="0"/>
          </a:p>
        </p:txBody>
      </p:sp>
      <p:sp>
        <p:nvSpPr>
          <p:cNvPr id="3" name="Content Placeholder 2"/>
          <p:cNvSpPr>
            <a:spLocks noGrp="1"/>
          </p:cNvSpPr>
          <p:nvPr>
            <p:ph idx="1"/>
          </p:nvPr>
        </p:nvSpPr>
        <p:spPr>
          <a:xfrm>
            <a:off x="1454727" y="1554479"/>
            <a:ext cx="10049885" cy="4738255"/>
          </a:xfrm>
        </p:spPr>
        <p:txBody>
          <a:bodyPr>
            <a:normAutofit fontScale="70000" lnSpcReduction="20000"/>
          </a:bodyPr>
          <a:lstStyle/>
          <a:p>
            <a:r>
              <a:rPr lang="en-US" dirty="0"/>
              <a:t>Let's look at some examples to understand the classification we discussed above.</a:t>
            </a:r>
          </a:p>
          <a:p>
            <a:r>
              <a:rPr lang="en-US" dirty="0"/>
              <a:t>1. Cost of getting company certified to </a:t>
            </a:r>
            <a:r>
              <a:rPr lang="en-US" dirty="0">
                <a:hlinkClick r:id="rId2" tooltip="iso90012015"/>
              </a:rPr>
              <a:t>ISO 9001</a:t>
            </a:r>
            <a:endParaRPr lang="en-US" dirty="0"/>
          </a:p>
          <a:p>
            <a:r>
              <a:rPr lang="en-US" dirty="0"/>
              <a:t>This will be a prevention cost, as our intention is to establish a system to avoid problems from happening in the first place.</a:t>
            </a:r>
          </a:p>
          <a:p>
            <a:r>
              <a:rPr lang="en-US" dirty="0"/>
              <a:t>2. The cost of quality-related training</a:t>
            </a:r>
          </a:p>
          <a:p>
            <a:r>
              <a:rPr lang="en-US" dirty="0"/>
              <a:t>This will also be a prevention cost, as the training is being delivered to avoid or prevent poor quality.</a:t>
            </a:r>
          </a:p>
          <a:p>
            <a:r>
              <a:rPr lang="en-US" dirty="0"/>
              <a:t>3. Review of drawings</a:t>
            </a:r>
          </a:p>
          <a:p>
            <a:r>
              <a:rPr lang="en-US" dirty="0"/>
              <a:t>This is an appraisal cost, as in this case, you are checking if the drawings have been made correctly.</a:t>
            </a:r>
          </a:p>
          <a:p>
            <a:r>
              <a:rPr lang="en-US" dirty="0"/>
              <a:t>4. Preparation of </a:t>
            </a:r>
            <a:r>
              <a:rPr lang="en-US" dirty="0">
                <a:hlinkClick r:id="rId3" tooltip="qm"/>
              </a:rPr>
              <a:t>quality management</a:t>
            </a:r>
            <a:r>
              <a:rPr lang="en-US" dirty="0"/>
              <a:t> system and inspection procedures</a:t>
            </a:r>
          </a:p>
          <a:p>
            <a:r>
              <a:rPr lang="en-US" dirty="0"/>
              <a:t>This will be a prevention cost, as the </a:t>
            </a:r>
            <a:r>
              <a:rPr lang="en-US" dirty="0">
                <a:hlinkClick r:id="rId3" tooltip="qm"/>
              </a:rPr>
              <a:t>quality management</a:t>
            </a:r>
            <a:r>
              <a:rPr lang="en-US" dirty="0"/>
              <a:t> system and inspection procedures help us avoid quality problems.</a:t>
            </a:r>
          </a:p>
          <a:p>
            <a:r>
              <a:rPr lang="en-US" dirty="0"/>
              <a:t>5. Product recall and warranty repairs</a:t>
            </a:r>
          </a:p>
          <a:p>
            <a:r>
              <a:rPr lang="en-US" dirty="0"/>
              <a:t>This will obviously be an external failure cost.</a:t>
            </a:r>
          </a:p>
          <a:p>
            <a:r>
              <a:rPr lang="en-US" dirty="0"/>
              <a:t>6. Defects found by customers after receiving the product</a:t>
            </a:r>
          </a:p>
          <a:p>
            <a:r>
              <a:rPr lang="en-US" dirty="0"/>
              <a:t>Once again, this will be an external failure cost.</a:t>
            </a:r>
          </a:p>
          <a:p>
            <a:r>
              <a:rPr lang="en-US" dirty="0"/>
              <a:t>7. Inspection and re-inspection of the repaired product</a:t>
            </a:r>
          </a:p>
          <a:p>
            <a:r>
              <a:rPr lang="en-US" dirty="0"/>
              <a:t>These will be internal failure costs.</a:t>
            </a:r>
          </a:p>
          <a:p>
            <a:endParaRPr lang="en-IN" dirty="0"/>
          </a:p>
        </p:txBody>
      </p:sp>
    </p:spTree>
    <p:extLst>
      <p:ext uri="{BB962C8B-B14F-4D97-AF65-F5344CB8AC3E}">
        <p14:creationId xmlns:p14="http://schemas.microsoft.com/office/powerpoint/2010/main" val="437198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4931" y="624110"/>
            <a:ext cx="9459681" cy="614486"/>
          </a:xfrm>
        </p:spPr>
        <p:txBody>
          <a:bodyPr>
            <a:normAutofit fontScale="90000"/>
          </a:bodyPr>
          <a:lstStyle/>
          <a:p>
            <a:r>
              <a:rPr lang="en-US" dirty="0"/>
              <a:t>Understanding the Cost of Failure</a:t>
            </a:r>
            <a:endParaRPr lang="en-IN" dirty="0"/>
          </a:p>
        </p:txBody>
      </p:sp>
      <p:pic>
        <p:nvPicPr>
          <p:cNvPr id="4" name="Content Placeholder 3"/>
          <p:cNvPicPr>
            <a:picLocks noGrp="1" noChangeAspect="1"/>
          </p:cNvPicPr>
          <p:nvPr>
            <p:ph idx="1"/>
          </p:nvPr>
        </p:nvPicPr>
        <p:blipFill>
          <a:blip r:embed="rId2"/>
          <a:stretch>
            <a:fillRect/>
          </a:stretch>
        </p:blipFill>
        <p:spPr>
          <a:xfrm>
            <a:off x="2726576" y="1670859"/>
            <a:ext cx="7170726" cy="4829694"/>
          </a:xfrm>
          <a:prstGeom prst="rect">
            <a:avLst/>
          </a:prstGeom>
        </p:spPr>
      </p:pic>
    </p:spTree>
    <p:extLst>
      <p:ext uri="{BB962C8B-B14F-4D97-AF65-F5344CB8AC3E}">
        <p14:creationId xmlns:p14="http://schemas.microsoft.com/office/powerpoint/2010/main" val="2120349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81235"/>
          </a:xfrm>
        </p:spPr>
        <p:txBody>
          <a:bodyPr>
            <a:normAutofit fontScale="90000"/>
          </a:bodyPr>
          <a:lstStyle/>
          <a:p>
            <a:r>
              <a:rPr lang="en-IN" dirty="0" smtClean="0"/>
              <a:t>Quality control</a:t>
            </a:r>
            <a:endParaRPr lang="en-IN" dirty="0"/>
          </a:p>
        </p:txBody>
      </p:sp>
      <p:pic>
        <p:nvPicPr>
          <p:cNvPr id="4" name="Content Placeholder 3"/>
          <p:cNvPicPr>
            <a:picLocks noGrp="1" noChangeAspect="1"/>
          </p:cNvPicPr>
          <p:nvPr>
            <p:ph idx="1"/>
          </p:nvPr>
        </p:nvPicPr>
        <p:blipFill>
          <a:blip r:embed="rId2"/>
          <a:stretch>
            <a:fillRect/>
          </a:stretch>
        </p:blipFill>
        <p:spPr>
          <a:xfrm>
            <a:off x="2592925" y="1995055"/>
            <a:ext cx="7266581" cy="4547061"/>
          </a:xfrm>
          <a:prstGeom prst="rect">
            <a:avLst/>
          </a:prstGeom>
        </p:spPr>
      </p:pic>
    </p:spTree>
    <p:extLst>
      <p:ext uri="{BB962C8B-B14F-4D97-AF65-F5344CB8AC3E}">
        <p14:creationId xmlns:p14="http://schemas.microsoft.com/office/powerpoint/2010/main" val="629555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4807" y="624110"/>
            <a:ext cx="9409805" cy="606174"/>
          </a:xfrm>
        </p:spPr>
        <p:txBody>
          <a:bodyPr>
            <a:normAutofit fontScale="90000"/>
          </a:bodyPr>
          <a:lstStyle/>
          <a:p>
            <a:r>
              <a:rPr lang="en-IN" dirty="0"/>
              <a:t>Reliability vs. Scalability</a:t>
            </a:r>
          </a:p>
        </p:txBody>
      </p:sp>
      <p:pic>
        <p:nvPicPr>
          <p:cNvPr id="4" name="Content Placeholder 3"/>
          <p:cNvPicPr>
            <a:picLocks noGrp="1" noChangeAspect="1"/>
          </p:cNvPicPr>
          <p:nvPr>
            <p:ph idx="1"/>
          </p:nvPr>
        </p:nvPicPr>
        <p:blipFill>
          <a:blip r:embed="rId2"/>
          <a:stretch>
            <a:fillRect/>
          </a:stretch>
        </p:blipFill>
        <p:spPr>
          <a:xfrm>
            <a:off x="2261063" y="1712422"/>
            <a:ext cx="8800742" cy="4199428"/>
          </a:xfrm>
          <a:prstGeom prst="rect">
            <a:avLst/>
          </a:prstGeom>
        </p:spPr>
      </p:pic>
    </p:spTree>
    <p:extLst>
      <p:ext uri="{BB962C8B-B14F-4D97-AF65-F5344CB8AC3E}">
        <p14:creationId xmlns:p14="http://schemas.microsoft.com/office/powerpoint/2010/main" val="4195077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Reliability vs. Scalability</a:t>
            </a:r>
          </a:p>
        </p:txBody>
      </p:sp>
      <p:sp>
        <p:nvSpPr>
          <p:cNvPr id="3" name="Content Placeholder 2"/>
          <p:cNvSpPr>
            <a:spLocks noGrp="1"/>
          </p:cNvSpPr>
          <p:nvPr>
            <p:ph idx="1"/>
          </p:nvPr>
        </p:nvSpPr>
        <p:spPr>
          <a:xfrm>
            <a:off x="1737360" y="1479666"/>
            <a:ext cx="9767252" cy="1704109"/>
          </a:xfrm>
        </p:spPr>
        <p:txBody>
          <a:bodyPr/>
          <a:lstStyle/>
          <a:p>
            <a:r>
              <a:rPr lang="en-US" dirty="0"/>
              <a:t>Two key factors stand out while designing and building efficient systems: reliability and scalability. Imagine you're constructing a bridge. Reliability ensures that once it's built, it won't collapse unexpectedly. Scalability, on the other hand, is like designing a bridge that can handle not just the current traffic but also future increases in vehicles without causing gridlock.</a:t>
            </a:r>
          </a:p>
          <a:p>
            <a:endParaRPr lang="en-US" dirty="0"/>
          </a:p>
          <a:p>
            <a:endParaRPr lang="en-US" dirty="0"/>
          </a:p>
          <a:p>
            <a:endParaRPr lang="en-IN" dirty="0"/>
          </a:p>
        </p:txBody>
      </p:sp>
    </p:spTree>
    <p:extLst>
      <p:ext uri="{BB962C8B-B14F-4D97-AF65-F5344CB8AC3E}">
        <p14:creationId xmlns:p14="http://schemas.microsoft.com/office/powerpoint/2010/main" val="1794412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22799"/>
          </a:xfrm>
        </p:spPr>
        <p:txBody>
          <a:bodyPr>
            <a:normAutofit fontScale="90000"/>
          </a:bodyPr>
          <a:lstStyle/>
          <a:p>
            <a:r>
              <a:rPr lang="en-IN" dirty="0"/>
              <a:t>What is Reliability?</a:t>
            </a:r>
            <a:br>
              <a:rPr lang="en-IN" dirty="0"/>
            </a:br>
            <a:endParaRPr lang="en-IN" dirty="0"/>
          </a:p>
        </p:txBody>
      </p:sp>
      <p:sp>
        <p:nvSpPr>
          <p:cNvPr id="3" name="Content Placeholder 2"/>
          <p:cNvSpPr>
            <a:spLocks noGrp="1"/>
          </p:cNvSpPr>
          <p:nvPr>
            <p:ph idx="1"/>
          </p:nvPr>
        </p:nvSpPr>
        <p:spPr>
          <a:xfrm>
            <a:off x="2589212" y="1720735"/>
            <a:ext cx="8915400" cy="4655127"/>
          </a:xfrm>
        </p:spPr>
        <p:txBody>
          <a:bodyPr/>
          <a:lstStyle/>
          <a:p>
            <a:r>
              <a:rPr lang="en-US" dirty="0" smtClean="0"/>
              <a:t>Reliability </a:t>
            </a:r>
            <a:r>
              <a:rPr lang="en-US" dirty="0"/>
              <a:t>refers to the ability of a system, component, or process to perform its specified functions under stated conditions for a defined period of time. In simpler terms, it's about the consistency and dependability of a system in delivering its intended functionality </a:t>
            </a:r>
            <a:r>
              <a:rPr lang="en-US" dirty="0" smtClean="0"/>
              <a:t>without </a:t>
            </a:r>
            <a:r>
              <a:rPr lang="en-US" dirty="0"/>
              <a:t>failure.</a:t>
            </a:r>
            <a:endParaRPr lang="en-IN" dirty="0"/>
          </a:p>
        </p:txBody>
      </p:sp>
      <p:sp>
        <p:nvSpPr>
          <p:cNvPr id="4" name="Rectangle 3"/>
          <p:cNvSpPr/>
          <p:nvPr/>
        </p:nvSpPr>
        <p:spPr>
          <a:xfrm>
            <a:off x="2901142" y="3244334"/>
            <a:ext cx="5308577" cy="369332"/>
          </a:xfrm>
          <a:prstGeom prst="rect">
            <a:avLst/>
          </a:prstGeom>
        </p:spPr>
        <p:txBody>
          <a:bodyPr wrap="square">
            <a:spAutoFit/>
          </a:bodyPr>
          <a:lstStyle/>
          <a:p>
            <a:r>
              <a:rPr lang="en-IN" dirty="0"/>
              <a:t>Factors influencing System Reliability</a:t>
            </a:r>
          </a:p>
        </p:txBody>
      </p:sp>
    </p:spTree>
    <p:extLst>
      <p:ext uri="{BB962C8B-B14F-4D97-AF65-F5344CB8AC3E}">
        <p14:creationId xmlns:p14="http://schemas.microsoft.com/office/powerpoint/2010/main" val="3961124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7861"/>
          </a:xfrm>
        </p:spPr>
        <p:txBody>
          <a:bodyPr>
            <a:normAutofit fontScale="90000"/>
          </a:bodyPr>
          <a:lstStyle/>
          <a:p>
            <a:r>
              <a:rPr lang="en-IN" dirty="0"/>
              <a:t>Redundancy:</a:t>
            </a:r>
            <a:br>
              <a:rPr lang="en-IN" dirty="0"/>
            </a:br>
            <a:endParaRPr lang="en-IN" dirty="0"/>
          </a:p>
        </p:txBody>
      </p:sp>
      <p:sp>
        <p:nvSpPr>
          <p:cNvPr id="3" name="Content Placeholder 2"/>
          <p:cNvSpPr>
            <a:spLocks noGrp="1"/>
          </p:cNvSpPr>
          <p:nvPr>
            <p:ph idx="1"/>
          </p:nvPr>
        </p:nvSpPr>
        <p:spPr>
          <a:xfrm>
            <a:off x="2589212" y="1521229"/>
            <a:ext cx="8915400" cy="4389993"/>
          </a:xfrm>
        </p:spPr>
        <p:txBody>
          <a:bodyPr>
            <a:normAutofit fontScale="85000" lnSpcReduction="10000"/>
          </a:bodyPr>
          <a:lstStyle/>
          <a:p>
            <a:r>
              <a:rPr lang="en-US" dirty="0" smtClean="0">
                <a:solidFill>
                  <a:srgbClr val="FF0000"/>
                </a:solidFill>
              </a:rPr>
              <a:t>The </a:t>
            </a:r>
            <a:r>
              <a:rPr lang="en-US" dirty="0">
                <a:solidFill>
                  <a:srgbClr val="FF0000"/>
                </a:solidFill>
              </a:rPr>
              <a:t>use of redundancy</a:t>
            </a:r>
            <a:r>
              <a:rPr lang="en-US" dirty="0"/>
              <a:t>, such as duplicate components or backup systems, can improve system reliability by providing fallback mechanisms in case of component failures.</a:t>
            </a:r>
          </a:p>
          <a:p>
            <a:r>
              <a:rPr lang="en-US" dirty="0"/>
              <a:t>Redundancy can be implemented at various levels, including hardware redundancy, software redundancy, and data redundancy.</a:t>
            </a:r>
          </a:p>
          <a:p>
            <a:r>
              <a:rPr lang="en-US" dirty="0">
                <a:solidFill>
                  <a:srgbClr val="FF0000"/>
                </a:solidFill>
              </a:rPr>
              <a:t>System Architecture:</a:t>
            </a:r>
          </a:p>
          <a:p>
            <a:r>
              <a:rPr lang="en-US" dirty="0"/>
              <a:t>The design and architecture of the system play a crucial role in determining its reliability.</a:t>
            </a:r>
          </a:p>
          <a:p>
            <a:r>
              <a:rPr lang="en-US" dirty="0"/>
              <a:t>Well-designed architectures with clear separation of concerns, modularization, fault isolation, and graceful degradation mechanisms tend to be more reliable than monolithic or tightly coupled architectures.</a:t>
            </a:r>
          </a:p>
          <a:p>
            <a:r>
              <a:rPr lang="en-US" dirty="0">
                <a:solidFill>
                  <a:srgbClr val="FF0000"/>
                </a:solidFill>
              </a:rPr>
              <a:t>Maintenance Practices</a:t>
            </a:r>
            <a:r>
              <a:rPr lang="en-US" dirty="0"/>
              <a:t>:</a:t>
            </a:r>
          </a:p>
          <a:p>
            <a:r>
              <a:rPr lang="en-US" dirty="0"/>
              <a:t>Regular maintenance, inspection, and preventive measures can help identify and address potential issues before they lead to system failures.</a:t>
            </a:r>
          </a:p>
          <a:p>
            <a:r>
              <a:rPr lang="en-US" dirty="0"/>
              <a:t>Proper maintenance practices, including software updates, hardware replacements, and system checks, can improve system reliability and prolong its lifespan.</a:t>
            </a:r>
            <a:endParaRPr lang="en-IN" dirty="0"/>
          </a:p>
        </p:txBody>
      </p:sp>
    </p:spTree>
    <p:extLst>
      <p:ext uri="{BB962C8B-B14F-4D97-AF65-F5344CB8AC3E}">
        <p14:creationId xmlns:p14="http://schemas.microsoft.com/office/powerpoint/2010/main" val="1579439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89548"/>
          </a:xfrm>
        </p:spPr>
        <p:txBody>
          <a:bodyPr>
            <a:normAutofit fontScale="90000"/>
          </a:bodyPr>
          <a:lstStyle/>
          <a:p>
            <a:r>
              <a:rPr lang="en-IN" dirty="0"/>
              <a:t>What is Scalability?</a:t>
            </a:r>
          </a:p>
        </p:txBody>
      </p:sp>
      <p:sp>
        <p:nvSpPr>
          <p:cNvPr id="3" name="Content Placeholder 2"/>
          <p:cNvSpPr>
            <a:spLocks noGrp="1"/>
          </p:cNvSpPr>
          <p:nvPr>
            <p:ph idx="1"/>
          </p:nvPr>
        </p:nvSpPr>
        <p:spPr>
          <a:xfrm>
            <a:off x="1795549" y="1537855"/>
            <a:ext cx="9709063" cy="4206240"/>
          </a:xfrm>
        </p:spPr>
        <p:txBody>
          <a:bodyPr/>
          <a:lstStyle/>
          <a:p>
            <a:r>
              <a:rPr lang="en-US" dirty="0"/>
              <a:t>Scalability refers to the ability of a system, network, or application to handle increasing amounts of work or data without compromising performance, responsiveness, or quality of service. In simpler terms, it's about a system's ability to grow and adapt to meet changing demands and requirements effectively.</a:t>
            </a:r>
            <a:endParaRPr lang="en-IN" dirty="0"/>
          </a:p>
        </p:txBody>
      </p:sp>
    </p:spTree>
    <p:extLst>
      <p:ext uri="{BB962C8B-B14F-4D97-AF65-F5344CB8AC3E}">
        <p14:creationId xmlns:p14="http://schemas.microsoft.com/office/powerpoint/2010/main" val="3387872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1"/>
            <a:ext cx="8911687" cy="722552"/>
          </a:xfrm>
        </p:spPr>
        <p:txBody>
          <a:bodyPr/>
          <a:lstStyle/>
          <a:p>
            <a:r>
              <a:rPr lang="en-IN" dirty="0"/>
              <a:t>Factors Influencing System Scalability</a:t>
            </a:r>
          </a:p>
        </p:txBody>
      </p:sp>
      <p:sp>
        <p:nvSpPr>
          <p:cNvPr id="3" name="Content Placeholder 2"/>
          <p:cNvSpPr>
            <a:spLocks noGrp="1"/>
          </p:cNvSpPr>
          <p:nvPr>
            <p:ph idx="1"/>
          </p:nvPr>
        </p:nvSpPr>
        <p:spPr>
          <a:xfrm>
            <a:off x="1537855" y="1180407"/>
            <a:ext cx="9966757" cy="5286895"/>
          </a:xfrm>
        </p:spPr>
        <p:txBody>
          <a:bodyPr>
            <a:normAutofit fontScale="92500"/>
          </a:bodyPr>
          <a:lstStyle/>
          <a:p>
            <a:r>
              <a:rPr lang="en-US" dirty="0">
                <a:latin typeface="Times New Roman" panose="02020603050405020304" pitchFamily="18" charset="0"/>
                <a:cs typeface="Times New Roman" panose="02020603050405020304" pitchFamily="18" charset="0"/>
              </a:rPr>
              <a:t>Several factors influence the scalability of a system, determining its ability to handle increasing workloads or user demands effectively while maintaining performance, reliability, and efficiency. These factors can vary depending on the nature of the system, its architecture, and the operating environment. Here are some key factors that influence system scalability:</a:t>
            </a:r>
          </a:p>
          <a:p>
            <a:endParaRPr lang="en-US" dirty="0"/>
          </a:p>
          <a:p>
            <a:r>
              <a:rPr lang="en-US" dirty="0">
                <a:solidFill>
                  <a:srgbClr val="FF0000"/>
                </a:solidFill>
              </a:rPr>
              <a:t>Architecture Design:</a:t>
            </a:r>
          </a:p>
          <a:p>
            <a:r>
              <a:rPr lang="en-US" dirty="0"/>
              <a:t>Well-designed architectures, such as </a:t>
            </a:r>
            <a:r>
              <a:rPr lang="en-US" dirty="0" smtClean="0"/>
              <a:t>micro services, </a:t>
            </a:r>
            <a:r>
              <a:rPr lang="en-US" dirty="0"/>
              <a:t>distributed systems, and modular architectures, tend to be more scalable than monolithic or tightly coupled architectures.</a:t>
            </a:r>
          </a:p>
          <a:p>
            <a:r>
              <a:rPr lang="en-US" dirty="0"/>
              <a:t>Resource Provisioning:</a:t>
            </a:r>
          </a:p>
          <a:p>
            <a:r>
              <a:rPr lang="en-US" dirty="0"/>
              <a:t>Scalable systems should have access to sufficient resources to handle increasing workload demands effectively.</a:t>
            </a:r>
          </a:p>
          <a:p>
            <a:r>
              <a:rPr lang="en-US" dirty="0"/>
              <a:t>Horizontal and Vertical Scaling:</a:t>
            </a:r>
          </a:p>
          <a:p>
            <a:r>
              <a:rPr lang="en-US" dirty="0"/>
              <a:t>Horizontal scaling improves system capacity and fault tolerance by parallelizing tasks and load balancing.</a:t>
            </a:r>
          </a:p>
          <a:p>
            <a:r>
              <a:rPr lang="en-US" dirty="0"/>
              <a:t>Vertical scaling (scale up) involves increasing the capacity of existing resources, such as upgrading hardware components or increasing resource allocations</a:t>
            </a:r>
            <a:r>
              <a:rPr lang="en-US" dirty="0" smtClean="0"/>
              <a:t>.</a:t>
            </a:r>
            <a:endParaRPr lang="en-US" dirty="0"/>
          </a:p>
        </p:txBody>
      </p:sp>
    </p:spTree>
    <p:extLst>
      <p:ext uri="{BB962C8B-B14F-4D97-AF65-F5344CB8AC3E}">
        <p14:creationId xmlns:p14="http://schemas.microsoft.com/office/powerpoint/2010/main" val="3617817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80988"/>
          </a:xfrm>
        </p:spPr>
        <p:txBody>
          <a:bodyPr/>
          <a:lstStyle/>
          <a:p>
            <a:r>
              <a:rPr lang="en-IN" dirty="0"/>
              <a:t>Factors Influencing System Scalability</a:t>
            </a:r>
          </a:p>
        </p:txBody>
      </p:sp>
      <p:sp>
        <p:nvSpPr>
          <p:cNvPr id="3" name="Content Placeholder 2"/>
          <p:cNvSpPr>
            <a:spLocks noGrp="1"/>
          </p:cNvSpPr>
          <p:nvPr>
            <p:ph idx="1"/>
          </p:nvPr>
        </p:nvSpPr>
        <p:spPr>
          <a:xfrm>
            <a:off x="2589212" y="1546167"/>
            <a:ext cx="8915400" cy="4365055"/>
          </a:xfrm>
        </p:spPr>
        <p:txBody>
          <a:bodyPr>
            <a:normAutofit/>
          </a:bodyPr>
          <a:lstStyle/>
          <a:p>
            <a:r>
              <a:rPr lang="en-US" dirty="0">
                <a:solidFill>
                  <a:srgbClr val="FF0000"/>
                </a:solidFill>
              </a:rPr>
              <a:t>Data Management:</a:t>
            </a:r>
          </a:p>
          <a:p>
            <a:r>
              <a:rPr lang="en-US" dirty="0"/>
              <a:t>Efficient data management practices are crucial for system scalability, especially in systems dealing with large volumes of data. Factors such as data partitioning, shading, replication, and indexing influence the scalability of data storage, retrieval, and processing.</a:t>
            </a:r>
          </a:p>
          <a:p>
            <a:r>
              <a:rPr lang="en-US" dirty="0">
                <a:solidFill>
                  <a:srgbClr val="FF0000"/>
                </a:solidFill>
              </a:rPr>
              <a:t>Concurrency and Parallelism</a:t>
            </a:r>
            <a:r>
              <a:rPr lang="en-US" dirty="0"/>
              <a:t>:</a:t>
            </a:r>
          </a:p>
          <a:p>
            <a:r>
              <a:rPr lang="en-US" dirty="0"/>
              <a:t>Concurrency and parallelism techniques, such as multi-threading, asynchronous processing, and distributed computing, enable systems to handle concurrent requests and process tasks concurrently.</a:t>
            </a:r>
          </a:p>
          <a:p>
            <a:r>
              <a:rPr lang="en-US" dirty="0"/>
              <a:t>Performance Optimization:</a:t>
            </a:r>
          </a:p>
          <a:p>
            <a:r>
              <a:rPr lang="en-US" dirty="0"/>
              <a:t>Performance optimization techniques, such as caching, prefetching, lazy loading, and query optimization, improve system responsiveness and throughput, thereby enhancing scalability. </a:t>
            </a:r>
            <a:r>
              <a:rPr lang="en-US" dirty="0" err="1"/>
              <a:t>nd</a:t>
            </a:r>
            <a:r>
              <a:rPr lang="en-US" dirty="0"/>
              <a:t> user experience.</a:t>
            </a:r>
          </a:p>
          <a:p>
            <a:endParaRPr lang="en-IN" dirty="0"/>
          </a:p>
        </p:txBody>
      </p:sp>
    </p:spTree>
    <p:extLst>
      <p:ext uri="{BB962C8B-B14F-4D97-AF65-F5344CB8AC3E}">
        <p14:creationId xmlns:p14="http://schemas.microsoft.com/office/powerpoint/2010/main" val="1133004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49638486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93</TotalTime>
  <Words>967</Words>
  <Application>Microsoft Office PowerPoint</Application>
  <PresentationFormat>Widescreen</PresentationFormat>
  <Paragraphs>98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Century Gothic</vt:lpstr>
      <vt:lpstr>Times New Roman</vt:lpstr>
      <vt:lpstr>Wingdings 3</vt:lpstr>
      <vt:lpstr>Wisp</vt:lpstr>
      <vt:lpstr>Unit 1: Software Quality Assurance</vt:lpstr>
      <vt:lpstr>Cost of Quality (COQ)</vt:lpstr>
      <vt:lpstr>Cost of Quality (COQ)</vt:lpstr>
      <vt:lpstr>Unit 1: Software Quality Assurance</vt:lpstr>
      <vt:lpstr>Prevention Costs: </vt:lpstr>
      <vt:lpstr>2. Appraisal Costs:</vt:lpstr>
      <vt:lpstr>3. Internal Failure Costs:</vt:lpstr>
      <vt:lpstr>4. External Failure Costs:</vt:lpstr>
      <vt:lpstr>Classification of the Cost of Quality - Some Examples:</vt:lpstr>
      <vt:lpstr>Understanding the Cost of Failure</vt:lpstr>
      <vt:lpstr>Quality control</vt:lpstr>
      <vt:lpstr>Reliability vs. Scalability</vt:lpstr>
      <vt:lpstr>Reliability vs. Scalability</vt:lpstr>
      <vt:lpstr>What is Reliability? </vt:lpstr>
      <vt:lpstr>Redundancy: </vt:lpstr>
      <vt:lpstr>What is Scalability?</vt:lpstr>
      <vt:lpstr>Factors Influencing System Scalability</vt:lpstr>
      <vt:lpstr>Factors Influencing System Scalability</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mruh</dc:creator>
  <cp:lastModifiedBy>mruh</cp:lastModifiedBy>
  <cp:revision>30</cp:revision>
  <dcterms:created xsi:type="dcterms:W3CDTF">2025-07-03T04:08:08Z</dcterms:created>
  <dcterms:modified xsi:type="dcterms:W3CDTF">2025-07-03T05:41:46Z</dcterms:modified>
</cp:coreProperties>
</file>