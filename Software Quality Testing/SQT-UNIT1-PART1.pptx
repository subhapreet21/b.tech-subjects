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7" r:id="rId2"/>
    <p:sldId id="258" r:id="rId3"/>
    <p:sldId id="259" r:id="rId4"/>
    <p:sldId id="281" r:id="rId5"/>
    <p:sldId id="260" r:id="rId6"/>
    <p:sldId id="282" r:id="rId7"/>
    <p:sldId id="283" r:id="rId8"/>
    <p:sldId id="266" r:id="rId9"/>
    <p:sldId id="267" r:id="rId10"/>
    <p:sldId id="268" r:id="rId11"/>
    <p:sldId id="269" r:id="rId12"/>
    <p:sldId id="270" r:id="rId13"/>
    <p:sldId id="271" r:id="rId14"/>
    <p:sldId id="272" r:id="rId15"/>
    <p:sldId id="276" r:id="rId16"/>
    <p:sldId id="273" r:id="rId17"/>
    <p:sldId id="275" r:id="rId18"/>
    <p:sldId id="277" r:id="rId19"/>
    <p:sldId id="278" r:id="rId20"/>
    <p:sldId id="279" r:id="rId21"/>
    <p:sldId id="280" r:id="rId22"/>
    <p:sldId id="284" r:id="rId23"/>
    <p:sldId id="285" r:id="rId24"/>
    <p:sldId id="286" r:id="rId25"/>
    <p:sldId id="287" r:id="rId26"/>
    <p:sldId id="289" r:id="rId27"/>
    <p:sldId id="290" r:id="rId28"/>
    <p:sldId id="291" r:id="rId29"/>
    <p:sldId id="294" r:id="rId30"/>
    <p:sldId id="295" r:id="rId31"/>
    <p:sldId id="292" r:id="rId32"/>
    <p:sldId id="293" r:id="rId33"/>
    <p:sldId id="296" r:id="rId34"/>
    <p:sldId id="297" r:id="rId35"/>
    <p:sldId id="298" r:id="rId36"/>
    <p:sldId id="299" r:id="rId37"/>
    <p:sldId id="300" r:id="rId38"/>
    <p:sldId id="301" r:id="rId39"/>
    <p:sldId id="302" r:id="rId40"/>
    <p:sldId id="303" r:id="rId41"/>
    <p:sldId id="261" r:id="rId42"/>
    <p:sldId id="262" r:id="rId43"/>
    <p:sldId id="263" r:id="rId44"/>
    <p:sldId id="264" r:id="rId45"/>
    <p:sldId id="265" r:id="rId4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5" autoAdjust="0"/>
    <p:restoredTop sz="94660"/>
  </p:normalViewPr>
  <p:slideViewPr>
    <p:cSldViewPr snapToGrid="0">
      <p:cViewPr varScale="1">
        <p:scale>
          <a:sx n="115" d="100"/>
          <a:sy n="115" d="100"/>
        </p:scale>
        <p:origin x="258"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6/21/2025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6/21/2025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6/21/2025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6/21/2025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6/21/2025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6/21/2025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6/21/2025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geeksforgeeks.org/software-development-process/"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geeksforgeeks.org/what-is-a-product-in-product-management/" TargetMode="External"/><Relationship Id="rId2" Type="http://schemas.openxmlformats.org/officeDocument/2006/relationships/hyperlink" Target="https://www.geeksforgeeks.org/what-is-a-project-in-project-management/" TargetMode="External"/><Relationship Id="rId1" Type="http://schemas.openxmlformats.org/officeDocument/2006/relationships/slideLayout" Target="../slideLayouts/slideLayout2.xml"/><Relationship Id="rId4" Type="http://schemas.openxmlformats.org/officeDocument/2006/relationships/hyperlink" Target="https://www.geeksforgeeks.org/software-engineering-introduction-to-software-engineering/"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geeksforgeeks.org/software-engineering-integration-testing/" TargetMode="External"/><Relationship Id="rId7" Type="http://schemas.openxmlformats.org/officeDocument/2006/relationships/hyperlink" Target="https://www.geeksforgeeks.org/difference-between-re-testing-and-sanity-testing/" TargetMode="External"/><Relationship Id="rId2" Type="http://schemas.openxmlformats.org/officeDocument/2006/relationships/hyperlink" Target="https://www.geeksforgeeks.org/acceptance-testing-software-testing/" TargetMode="External"/><Relationship Id="rId1" Type="http://schemas.openxmlformats.org/officeDocument/2006/relationships/slideLayout" Target="../slideLayouts/slideLayout2.xml"/><Relationship Id="rId6" Type="http://schemas.openxmlformats.org/officeDocument/2006/relationships/hyperlink" Target="https://www.geeksforgeeks.org/performance-testing-software-testing/" TargetMode="External"/><Relationship Id="rId5" Type="http://schemas.openxmlformats.org/officeDocument/2006/relationships/hyperlink" Target="https://www.geeksforgeeks.org/software-testing-functional-testing/" TargetMode="External"/><Relationship Id="rId4" Type="http://schemas.openxmlformats.org/officeDocument/2006/relationships/hyperlink" Target="https://www.geeksforgeeks.org/unit-testing-software-testing/" TargetMode="Externa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geeksforgeeks.org/activities-involved-in-software-requirement-analysis" TargetMode="External"/><Relationship Id="rId2" Type="http://schemas.openxmlformats.org/officeDocument/2006/relationships/hyperlink" Target="https://www.geeksforgeeks.org/software-development" TargetMode="Externa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hyperlink" Target="https://www.geeksforgeeks.org/software-requirement-specification-srs-format"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www.geeksforgeeks.org/overview-software-documentation"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www.geeksforgeeks.org/product-management"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geeksforgeeks.org/software-engineering/software-testing-life-cycle-stlc/#2-test-planning" TargetMode="External"/><Relationship Id="rId7" Type="http://schemas.openxmlformats.org/officeDocument/2006/relationships/hyperlink" Target="https://www.geeksforgeeks.org/software-engineering/software-testing-life-cycle-stlc/#6-test-closure" TargetMode="External"/><Relationship Id="rId2" Type="http://schemas.openxmlformats.org/officeDocument/2006/relationships/hyperlink" Target="https://www.geeksforgeeks.org/software-engineering/software-testing-life-cycle-stlc/#1-requirement-analysis" TargetMode="External"/><Relationship Id="rId1" Type="http://schemas.openxmlformats.org/officeDocument/2006/relationships/slideLayout" Target="../slideLayouts/slideLayout2.xml"/><Relationship Id="rId6" Type="http://schemas.openxmlformats.org/officeDocument/2006/relationships/hyperlink" Target="https://www.geeksforgeeks.org/software-engineering/software-testing-life-cycle-stlc/#5-test-execution" TargetMode="External"/><Relationship Id="rId5" Type="http://schemas.openxmlformats.org/officeDocument/2006/relationships/hyperlink" Target="https://www.geeksforgeeks.org/software-engineering/software-testing-life-cycle-stlc/#4-test-environment-setup" TargetMode="External"/><Relationship Id="rId4" Type="http://schemas.openxmlformats.org/officeDocument/2006/relationships/hyperlink" Target="https://www.geeksforgeeks.org/software-engineering/software-testing-life-cycle-stlc/#3-test-case-development" TargetMode="Externa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www.geeksforgeeks.org/activities-involved-in-software-requirement-analysis/"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www.geeksforgeeks.org/test-plan-software-testing/"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www.geeksforgeeks.org/test-case/"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www.geeksforgeeks.org/test-execution-for-software-testing/" TargetMode="External"/><Relationship Id="rId2" Type="http://schemas.openxmlformats.org/officeDocument/2006/relationships/hyperlink" Target="https://www.geeksforgeeks.org/test-environment-a-beginners-guide/"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www.geeksforgeeks.org/test-closure-in-software-testing/"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www.theknowledgeacademy.com/courses/software-testing-training/istqb-software-testing-foundation/"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s://www.theknowledgeacademy.com/blog/what-is-automation-testing/"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s://www.theknowledgeacademy.com/blog/software-testing-principles/"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s://www.theknowledgeacademy.com/blog/software-tester-resume/"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https://www.theknowledgeacademy.com/courses/software-testing-training/certified-software-testing-manager-cstm-/"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https://www.geeksforgeeks.org/software-engineering-software-quality-assurance/"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hyperlink" Target="https://www.geeksforgeeks.org/software-testing-manual-testing/"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hyperlink" Target="https://www.geeksforgeeks.org/software-engineering-automated-testing"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https://www.geeksforgeeks.org/software-engineering-black-box-testing/" TargetMode="External"/><Relationship Id="rId2" Type="http://schemas.openxmlformats.org/officeDocument/2006/relationships/hyperlink" Target="https://www.geeksforgeeks.org/software-engineering-white-box-testing" TargetMode="External"/><Relationship Id="rId1" Type="http://schemas.openxmlformats.org/officeDocument/2006/relationships/slideLayout" Target="../slideLayouts/slideLayout2.xml"/><Relationship Id="rId4" Type="http://schemas.openxmlformats.org/officeDocument/2006/relationships/hyperlink" Target="https://www.geeksforgeeks.org/gray-box-testing-software-testing/"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545869"/>
          </a:xfrm>
        </p:spPr>
        <p:txBody>
          <a:bodyPr>
            <a:normAutofit fontScale="90000"/>
          </a:bodyPr>
          <a:lstStyle/>
          <a:p>
            <a:r>
              <a:rPr lang="en-IN" b="1" dirty="0"/>
              <a:t>Introduction to Software Testing</a:t>
            </a:r>
            <a:br>
              <a:rPr lang="en-IN" b="1" dirty="0"/>
            </a:br>
            <a:endParaRPr lang="en-IN" dirty="0"/>
          </a:p>
        </p:txBody>
      </p:sp>
      <p:sp>
        <p:nvSpPr>
          <p:cNvPr id="3" name="Content Placeholder 2"/>
          <p:cNvSpPr>
            <a:spLocks noGrp="1"/>
          </p:cNvSpPr>
          <p:nvPr>
            <p:ph idx="1"/>
          </p:nvPr>
        </p:nvSpPr>
        <p:spPr/>
        <p:txBody>
          <a:bodyPr/>
          <a:lstStyle/>
          <a:p>
            <a:pPr lvl="0"/>
            <a:r>
              <a:rPr lang="en-IN" dirty="0" smtClean="0"/>
              <a:t>What </a:t>
            </a:r>
            <a:r>
              <a:rPr lang="en-IN" dirty="0"/>
              <a:t>is Software Testing?</a:t>
            </a:r>
          </a:p>
          <a:p>
            <a:pPr lvl="0"/>
            <a:r>
              <a:rPr lang="en-IN" dirty="0"/>
              <a:t>Importance of Testing in SDLC/STLC</a:t>
            </a:r>
          </a:p>
          <a:p>
            <a:pPr lvl="0"/>
            <a:r>
              <a:rPr lang="en-IN" dirty="0"/>
              <a:t>Roles and responsibilities of a Tester</a:t>
            </a:r>
          </a:p>
          <a:p>
            <a:pPr lvl="0"/>
            <a:r>
              <a:rPr lang="en-IN" dirty="0"/>
              <a:t>QA </a:t>
            </a:r>
            <a:r>
              <a:rPr lang="en-IN" dirty="0" err="1"/>
              <a:t>vs</a:t>
            </a:r>
            <a:r>
              <a:rPr lang="en-IN" dirty="0"/>
              <a:t> QC </a:t>
            </a:r>
            <a:r>
              <a:rPr lang="en-IN" dirty="0" err="1"/>
              <a:t>vs</a:t>
            </a:r>
            <a:r>
              <a:rPr lang="en-IN" dirty="0"/>
              <a:t> Testing</a:t>
            </a:r>
          </a:p>
          <a:p>
            <a:pPr lvl="0"/>
            <a:r>
              <a:rPr lang="en-IN" dirty="0"/>
              <a:t>Types of companies: Product </a:t>
            </a:r>
            <a:r>
              <a:rPr lang="en-IN" dirty="0" err="1"/>
              <a:t>vs</a:t>
            </a:r>
            <a:r>
              <a:rPr lang="en-IN" dirty="0"/>
              <a:t> Service</a:t>
            </a:r>
          </a:p>
          <a:p>
            <a:endParaRPr lang="en-IN" dirty="0"/>
          </a:p>
        </p:txBody>
      </p:sp>
    </p:spTree>
    <p:extLst>
      <p:ext uri="{BB962C8B-B14F-4D97-AF65-F5344CB8AC3E}">
        <p14:creationId xmlns:p14="http://schemas.microsoft.com/office/powerpoint/2010/main" val="35449072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70560"/>
          </a:xfrm>
        </p:spPr>
        <p:txBody>
          <a:bodyPr>
            <a:normAutofit fontScale="90000"/>
          </a:bodyPr>
          <a:lstStyle/>
          <a:p>
            <a:r>
              <a:rPr lang="en-IN" b="1" dirty="0"/>
              <a:t/>
            </a:r>
            <a:br>
              <a:rPr lang="en-IN" b="1" dirty="0"/>
            </a:br>
            <a:endParaRPr lang="en-IN" dirty="0"/>
          </a:p>
        </p:txBody>
      </p:sp>
      <p:sp>
        <p:nvSpPr>
          <p:cNvPr id="3" name="Content Placeholder 2"/>
          <p:cNvSpPr>
            <a:spLocks noGrp="1"/>
          </p:cNvSpPr>
          <p:nvPr>
            <p:ph idx="1"/>
          </p:nvPr>
        </p:nvSpPr>
        <p:spPr>
          <a:xfrm>
            <a:off x="677334" y="739833"/>
            <a:ext cx="8596668" cy="5301529"/>
          </a:xfrm>
        </p:spPr>
        <p:txBody>
          <a:bodyPr/>
          <a:lstStyle/>
          <a:p>
            <a:pPr marL="0" lvl="0" indent="0">
              <a:buNone/>
            </a:pPr>
            <a:endParaRPr lang="en-IN" sz="2000" dirty="0" smtClean="0"/>
          </a:p>
          <a:p>
            <a:pPr marL="0" lvl="0" indent="0">
              <a:buNone/>
            </a:pPr>
            <a:endParaRPr lang="en-IN" sz="2000" dirty="0"/>
          </a:p>
          <a:p>
            <a:pPr marL="0" lvl="0" indent="0">
              <a:buNone/>
            </a:pPr>
            <a:r>
              <a:rPr lang="en-IN" sz="2000" dirty="0" smtClean="0"/>
              <a:t>What </a:t>
            </a:r>
            <a:r>
              <a:rPr lang="en-IN" sz="2000" dirty="0"/>
              <a:t>is Software Testing?</a:t>
            </a:r>
          </a:p>
          <a:p>
            <a:endParaRPr lang="en-IN" dirty="0"/>
          </a:p>
        </p:txBody>
      </p:sp>
      <p:sp>
        <p:nvSpPr>
          <p:cNvPr id="4" name="Rectangle 3"/>
          <p:cNvSpPr/>
          <p:nvPr/>
        </p:nvSpPr>
        <p:spPr>
          <a:xfrm>
            <a:off x="677334" y="2551837"/>
            <a:ext cx="8466666" cy="3693319"/>
          </a:xfrm>
          <a:prstGeom prst="rect">
            <a:avLst/>
          </a:prstGeom>
        </p:spPr>
        <p:txBody>
          <a:bodyPr wrap="square">
            <a:spAutoFit/>
          </a:bodyPr>
          <a:lstStyle/>
          <a:p>
            <a:r>
              <a:rPr lang="en-US" b="1" dirty="0">
                <a:solidFill>
                  <a:srgbClr val="273239"/>
                </a:solidFill>
                <a:latin typeface="Nunito"/>
              </a:rPr>
              <a:t>Software testing </a:t>
            </a:r>
            <a:r>
              <a:rPr lang="en-US" dirty="0">
                <a:solidFill>
                  <a:srgbClr val="273239"/>
                </a:solidFill>
                <a:latin typeface="Nunito"/>
              </a:rPr>
              <a:t>is an important process</a:t>
            </a:r>
            <a:r>
              <a:rPr lang="en-US" b="1" dirty="0">
                <a:solidFill>
                  <a:srgbClr val="273239"/>
                </a:solidFill>
                <a:latin typeface="Nunito"/>
              </a:rPr>
              <a:t> </a:t>
            </a:r>
            <a:r>
              <a:rPr lang="en-US" dirty="0">
                <a:solidFill>
                  <a:srgbClr val="273239"/>
                </a:solidFill>
                <a:latin typeface="Nunito"/>
              </a:rPr>
              <a:t>in the </a:t>
            </a:r>
            <a:r>
              <a:rPr lang="en-US" b="1" dirty="0">
                <a:solidFill>
                  <a:srgbClr val="273239"/>
                </a:solidFill>
                <a:latin typeface="Nunito"/>
              </a:rPr>
              <a:t>Software Development Lifecycle(SDLC)</a:t>
            </a:r>
            <a:r>
              <a:rPr lang="en-US" dirty="0">
                <a:solidFill>
                  <a:srgbClr val="273239"/>
                </a:solidFill>
                <a:latin typeface="Nunito"/>
              </a:rPr>
              <a:t>. It involves </a:t>
            </a:r>
            <a:r>
              <a:rPr lang="en-US" b="1" dirty="0">
                <a:solidFill>
                  <a:srgbClr val="273239"/>
                </a:solidFill>
                <a:latin typeface="Nunito"/>
              </a:rPr>
              <a:t>verifying </a:t>
            </a:r>
            <a:r>
              <a:rPr lang="en-US" dirty="0">
                <a:solidFill>
                  <a:srgbClr val="273239"/>
                </a:solidFill>
                <a:latin typeface="Nunito"/>
              </a:rPr>
              <a:t>and </a:t>
            </a:r>
            <a:r>
              <a:rPr lang="en-US" b="1" dirty="0">
                <a:solidFill>
                  <a:srgbClr val="273239"/>
                </a:solidFill>
                <a:latin typeface="Nunito"/>
              </a:rPr>
              <a:t>validating </a:t>
            </a:r>
            <a:r>
              <a:rPr lang="en-US" dirty="0">
                <a:solidFill>
                  <a:srgbClr val="273239"/>
                </a:solidFill>
                <a:latin typeface="Nunito"/>
              </a:rPr>
              <a:t>that a </a:t>
            </a:r>
            <a:r>
              <a:rPr lang="en-US" b="1" dirty="0">
                <a:solidFill>
                  <a:srgbClr val="273239"/>
                </a:solidFill>
                <a:latin typeface="Nunito"/>
              </a:rPr>
              <a:t>Software Application </a:t>
            </a:r>
            <a:r>
              <a:rPr lang="en-US" dirty="0">
                <a:solidFill>
                  <a:srgbClr val="273239"/>
                </a:solidFill>
                <a:latin typeface="Nunito"/>
              </a:rPr>
              <a:t>is free of bugs, meets the technical requirements set by its Design and Development, and satisfies user requirements efficiently and effectively</a:t>
            </a:r>
            <a:r>
              <a:rPr lang="en-US" dirty="0" smtClean="0">
                <a:solidFill>
                  <a:srgbClr val="273239"/>
                </a:solidFill>
                <a:latin typeface="Nunito"/>
              </a:rPr>
              <a:t>.</a:t>
            </a:r>
          </a:p>
          <a:p>
            <a:endParaRPr lang="en-US" dirty="0">
              <a:solidFill>
                <a:srgbClr val="273239"/>
              </a:solidFill>
              <a:latin typeface="Nunito"/>
            </a:endParaRPr>
          </a:p>
          <a:p>
            <a:r>
              <a:rPr lang="en-US" b="1" dirty="0"/>
              <a:t>Software Testing</a:t>
            </a:r>
            <a:r>
              <a:rPr lang="en-US" dirty="0"/>
              <a:t> is a process of verifying and validating whether the </a:t>
            </a:r>
            <a:r>
              <a:rPr lang="en-US" b="1" dirty="0"/>
              <a:t>Software Product </a:t>
            </a:r>
            <a:r>
              <a:rPr lang="en-US" dirty="0"/>
              <a:t>or </a:t>
            </a:r>
            <a:r>
              <a:rPr lang="en-US" b="1" dirty="0"/>
              <a:t>Application </a:t>
            </a:r>
            <a:r>
              <a:rPr lang="en-US" dirty="0"/>
              <a:t>is working as expected or not. The complete testing includes identifying errors and bugs that cause future problems for the performance of an application.</a:t>
            </a:r>
            <a:endParaRPr lang="en-US" dirty="0" smtClean="0">
              <a:solidFill>
                <a:srgbClr val="273239"/>
              </a:solidFill>
              <a:latin typeface="Nunito"/>
            </a:endParaRPr>
          </a:p>
          <a:p>
            <a:endParaRPr lang="en-US" dirty="0">
              <a:solidFill>
                <a:srgbClr val="273239"/>
              </a:solidFill>
              <a:latin typeface="Nunito"/>
            </a:endParaRPr>
          </a:p>
          <a:p>
            <a:endParaRPr lang="en-US" dirty="0" smtClean="0">
              <a:solidFill>
                <a:srgbClr val="273239"/>
              </a:solidFill>
              <a:latin typeface="Nunito"/>
            </a:endParaRPr>
          </a:p>
          <a:p>
            <a:endParaRPr lang="en-IN" dirty="0"/>
          </a:p>
        </p:txBody>
      </p:sp>
    </p:spTree>
    <p:extLst>
      <p:ext uri="{BB962C8B-B14F-4D97-AF65-F5344CB8AC3E}">
        <p14:creationId xmlns:p14="http://schemas.microsoft.com/office/powerpoint/2010/main" val="4634279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Software Testing Can be Divided into Two Steps:</a:t>
            </a:r>
            <a:br>
              <a:rPr lang="en-US" b="1" dirty="0"/>
            </a:br>
            <a:endParaRPr lang="en-IN" dirty="0"/>
          </a:p>
        </p:txBody>
      </p:sp>
      <p:sp>
        <p:nvSpPr>
          <p:cNvPr id="3" name="Content Placeholder 2"/>
          <p:cNvSpPr>
            <a:spLocks noGrp="1"/>
          </p:cNvSpPr>
          <p:nvPr>
            <p:ph idx="1"/>
          </p:nvPr>
        </p:nvSpPr>
        <p:spPr/>
        <p:txBody>
          <a:bodyPr/>
          <a:lstStyle/>
          <a:p>
            <a:pPr fontAlgn="base"/>
            <a:r>
              <a:rPr lang="en-US" b="1" dirty="0"/>
              <a:t>Software testing</a:t>
            </a:r>
            <a:r>
              <a:rPr lang="en-US" dirty="0"/>
              <a:t> mainly divides into the two parts, which is used in the </a:t>
            </a:r>
            <a:r>
              <a:rPr lang="en-US" b="1" u="sng" dirty="0">
                <a:hlinkClick r:id="rId2"/>
              </a:rPr>
              <a:t>Software Development Process</a:t>
            </a:r>
            <a:r>
              <a:rPr lang="en-US" b="1" dirty="0"/>
              <a:t>:</a:t>
            </a:r>
            <a:endParaRPr lang="en-US" dirty="0"/>
          </a:p>
          <a:p>
            <a:pPr fontAlgn="base"/>
            <a:r>
              <a:rPr lang="en-US" b="1" dirty="0"/>
              <a:t>Verification</a:t>
            </a:r>
            <a:r>
              <a:rPr lang="en-US" dirty="0"/>
              <a:t>: This step involves checking if the software is doing what is supposed to do. Its like asking, "</a:t>
            </a:r>
            <a:r>
              <a:rPr lang="en-US" b="1" dirty="0"/>
              <a:t>Are we building the product the right way?</a:t>
            </a:r>
            <a:r>
              <a:rPr lang="en-US" dirty="0"/>
              <a:t>"</a:t>
            </a:r>
          </a:p>
          <a:p>
            <a:pPr fontAlgn="base"/>
            <a:r>
              <a:rPr lang="en-US" b="1" dirty="0"/>
              <a:t>Validation</a:t>
            </a:r>
            <a:r>
              <a:rPr lang="en-US" dirty="0"/>
              <a:t>: This step verifies that the software actually meets the customer's needs and requirements. Its like asking, "</a:t>
            </a:r>
            <a:r>
              <a:rPr lang="en-US" b="1" dirty="0"/>
              <a:t>Are we building the right product?</a:t>
            </a:r>
            <a:r>
              <a:rPr lang="en-US" dirty="0"/>
              <a:t>"</a:t>
            </a:r>
          </a:p>
          <a:p>
            <a:endParaRPr lang="en-IN" dirty="0"/>
          </a:p>
        </p:txBody>
      </p:sp>
    </p:spTree>
    <p:extLst>
      <p:ext uri="{BB962C8B-B14F-4D97-AF65-F5344CB8AC3E}">
        <p14:creationId xmlns:p14="http://schemas.microsoft.com/office/powerpoint/2010/main" val="26866668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53687"/>
          </a:xfrm>
        </p:spPr>
        <p:txBody>
          <a:bodyPr>
            <a:normAutofit fontScale="90000"/>
          </a:bodyPr>
          <a:lstStyle/>
          <a:p>
            <a:r>
              <a:rPr lang="en-US" b="1" dirty="0"/>
              <a:t>Difference between Project and Product</a:t>
            </a:r>
            <a:br>
              <a:rPr lang="en-US" b="1" dirty="0"/>
            </a:br>
            <a:endParaRPr lang="en-IN" dirty="0"/>
          </a:p>
        </p:txBody>
      </p:sp>
      <p:sp>
        <p:nvSpPr>
          <p:cNvPr id="3" name="Content Placeholder 2"/>
          <p:cNvSpPr>
            <a:spLocks noGrp="1"/>
          </p:cNvSpPr>
          <p:nvPr>
            <p:ph idx="1"/>
          </p:nvPr>
        </p:nvSpPr>
        <p:spPr/>
        <p:txBody>
          <a:bodyPr>
            <a:normAutofit fontScale="92500" lnSpcReduction="10000"/>
          </a:bodyPr>
          <a:lstStyle/>
          <a:p>
            <a:pPr fontAlgn="base"/>
            <a:r>
              <a:rPr lang="en-US" b="1" dirty="0"/>
              <a:t>What is Project?</a:t>
            </a:r>
          </a:p>
          <a:p>
            <a:pPr fontAlgn="base"/>
            <a:r>
              <a:rPr lang="en-US" dirty="0"/>
              <a:t>Also known as a software </a:t>
            </a:r>
            <a:r>
              <a:rPr lang="en-US" u="sng" dirty="0">
                <a:hlinkClick r:id="rId2"/>
              </a:rPr>
              <a:t>project</a:t>
            </a:r>
            <a:r>
              <a:rPr lang="en-US" dirty="0"/>
              <a:t> comprises the steps involved in making a product before it is actually available to the market. The project can be handled by people which are as less as one person to the involvement of a lot of people (over 100). These are usually assigned by an enterprise and are undertaken to form a new product that has not already been made. </a:t>
            </a:r>
          </a:p>
          <a:p>
            <a:pPr fontAlgn="base"/>
            <a:r>
              <a:rPr lang="en-US" b="1" dirty="0"/>
              <a:t>What is Product?</a:t>
            </a:r>
          </a:p>
          <a:p>
            <a:pPr fontAlgn="base"/>
            <a:r>
              <a:rPr lang="en-US" dirty="0"/>
              <a:t>The study of </a:t>
            </a:r>
            <a:r>
              <a:rPr lang="en-US" u="sng" dirty="0">
                <a:hlinkClick r:id="rId3"/>
              </a:rPr>
              <a:t>products</a:t>
            </a:r>
            <a:r>
              <a:rPr lang="en-US" dirty="0"/>
              <a:t> is a part of </a:t>
            </a:r>
            <a:r>
              <a:rPr lang="en-US" u="sng" dirty="0">
                <a:hlinkClick r:id="rId4"/>
              </a:rPr>
              <a:t>Software engineering</a:t>
            </a:r>
            <a:r>
              <a:rPr lang="en-US" dirty="0"/>
              <a:t>. The software is built by developers on requests from the customer. After the customer is satisfied with the development process, he launches the software by manufacturing it. This can be a problem-solving software or computer based system. This is the result of a project. The software project, when completed, is called a product after it is available to the market for usage.</a:t>
            </a:r>
          </a:p>
          <a:p>
            <a:pPr fontAlgn="base"/>
            <a:r>
              <a:rPr lang="en-US" dirty="0"/>
              <a:t> </a:t>
            </a:r>
          </a:p>
          <a:p>
            <a:endParaRPr lang="en-IN" dirty="0"/>
          </a:p>
        </p:txBody>
      </p:sp>
    </p:spTree>
    <p:extLst>
      <p:ext uri="{BB962C8B-B14F-4D97-AF65-F5344CB8AC3E}">
        <p14:creationId xmlns:p14="http://schemas.microsoft.com/office/powerpoint/2010/main" val="28200710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62000"/>
          </a:xfrm>
        </p:spPr>
        <p:txBody>
          <a:bodyPr>
            <a:normAutofit fontScale="90000"/>
          </a:bodyPr>
          <a:lstStyle/>
          <a:p>
            <a:r>
              <a:rPr lang="en-IN" b="1" dirty="0"/>
              <a:t>Need for Software Testing</a:t>
            </a:r>
            <a:br>
              <a:rPr lang="en-IN" b="1" dirty="0"/>
            </a:br>
            <a:endParaRPr lang="en-IN" dirty="0"/>
          </a:p>
        </p:txBody>
      </p:sp>
      <p:sp>
        <p:nvSpPr>
          <p:cNvPr id="3" name="Content Placeholder 2"/>
          <p:cNvSpPr>
            <a:spLocks noGrp="1"/>
          </p:cNvSpPr>
          <p:nvPr>
            <p:ph idx="1"/>
          </p:nvPr>
        </p:nvSpPr>
        <p:spPr>
          <a:xfrm>
            <a:off x="677334" y="1554481"/>
            <a:ext cx="8596668" cy="4486882"/>
          </a:xfrm>
        </p:spPr>
        <p:txBody>
          <a:bodyPr>
            <a:normAutofit fontScale="85000" lnSpcReduction="20000"/>
          </a:bodyPr>
          <a:lstStyle/>
          <a:p>
            <a:r>
              <a:rPr lang="en-US" dirty="0"/>
              <a:t>Software bugs can cause potential monetary and human loss. There are many examples in history that clearly depicts that without the testing phase in </a:t>
            </a:r>
            <a:r>
              <a:rPr lang="en-US" dirty="0" smtClean="0"/>
              <a:t>software </a:t>
            </a:r>
            <a:r>
              <a:rPr lang="en-US" dirty="0"/>
              <a:t>development lot of damage was incurred. Below are some examples</a:t>
            </a:r>
            <a:r>
              <a:rPr lang="en-US" dirty="0" smtClean="0"/>
              <a:t>:</a:t>
            </a:r>
          </a:p>
          <a:p>
            <a:pPr fontAlgn="base"/>
            <a:r>
              <a:rPr lang="en-US" b="1" dirty="0"/>
              <a:t>1985: </a:t>
            </a:r>
            <a:r>
              <a:rPr lang="en-US" dirty="0"/>
              <a:t>Canada's Therac-25 radiation therapy malfunctioned due to a software bug and resulted in lethal radiation doses to patients leaving 3 injured and 3 people dead.</a:t>
            </a:r>
          </a:p>
          <a:p>
            <a:pPr fontAlgn="base"/>
            <a:r>
              <a:rPr lang="en-US" b="1" dirty="0"/>
              <a:t>1994: </a:t>
            </a:r>
            <a:r>
              <a:rPr lang="en-US" dirty="0"/>
              <a:t>China Airlines Airbus A300 crashed due to a software bug killing 264 people.</a:t>
            </a:r>
          </a:p>
          <a:p>
            <a:pPr fontAlgn="base"/>
            <a:r>
              <a:rPr lang="en-US" b="1" dirty="0"/>
              <a:t>1996: </a:t>
            </a:r>
            <a:r>
              <a:rPr lang="en-US" dirty="0"/>
              <a:t>A software bug caused U.S. bank accounts of 823 customers to be credited with 920 million US dollars.</a:t>
            </a:r>
          </a:p>
          <a:p>
            <a:pPr fontAlgn="base"/>
            <a:r>
              <a:rPr lang="en-US" b="1" dirty="0"/>
              <a:t>1999: </a:t>
            </a:r>
            <a:r>
              <a:rPr lang="en-US" dirty="0"/>
              <a:t>A software bug caused the failure of a $1.2 billion military satellite launch.</a:t>
            </a:r>
          </a:p>
          <a:p>
            <a:pPr fontAlgn="base"/>
            <a:r>
              <a:rPr lang="en-US" b="1" dirty="0"/>
              <a:t>2015: </a:t>
            </a:r>
            <a:r>
              <a:rPr lang="en-US" dirty="0"/>
              <a:t>A software bug in fighter plane F-35 resulted in making it unable to detect targets correctly.</a:t>
            </a:r>
          </a:p>
          <a:p>
            <a:pPr fontAlgn="base"/>
            <a:r>
              <a:rPr lang="en-US" b="1" dirty="0"/>
              <a:t>2015: B</a:t>
            </a:r>
            <a:r>
              <a:rPr lang="en-US" dirty="0"/>
              <a:t>loomberg terminal in London crashed due to a software bug affecting 300,000 traders on the financial market and forcing the government to postpone the 3bn pound debt sale.</a:t>
            </a:r>
          </a:p>
          <a:p>
            <a:pPr fontAlgn="base"/>
            <a:r>
              <a:rPr lang="en-US" dirty="0"/>
              <a:t>Starbucks was forced to close more than 60% of its outlet in the U.S. and Canada due to a software failure in its POS system.</a:t>
            </a:r>
          </a:p>
          <a:p>
            <a:pPr fontAlgn="base"/>
            <a:r>
              <a:rPr lang="en-US" dirty="0"/>
              <a:t>Nissan cars were forced to recall 1 million cars from the market due to a software failure in the car's airbag sensory detectors.</a:t>
            </a:r>
          </a:p>
          <a:p>
            <a:endParaRPr lang="en-IN" dirty="0"/>
          </a:p>
        </p:txBody>
      </p:sp>
    </p:spTree>
    <p:extLst>
      <p:ext uri="{BB962C8B-B14F-4D97-AF65-F5344CB8AC3E}">
        <p14:creationId xmlns:p14="http://schemas.microsoft.com/office/powerpoint/2010/main" val="40680827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Bugs in Software Testing</a:t>
            </a:r>
            <a:br>
              <a:rPr lang="en-IN" b="1" dirty="0"/>
            </a:br>
            <a:r>
              <a:rPr lang="en-US" b="1" dirty="0"/>
              <a:t>What is a Bug</a:t>
            </a:r>
            <a:endParaRPr lang="en-IN" dirty="0"/>
          </a:p>
        </p:txBody>
      </p:sp>
      <p:sp>
        <p:nvSpPr>
          <p:cNvPr id="3" name="Content Placeholder 2"/>
          <p:cNvSpPr>
            <a:spLocks noGrp="1"/>
          </p:cNvSpPr>
          <p:nvPr>
            <p:ph idx="1"/>
          </p:nvPr>
        </p:nvSpPr>
        <p:spPr>
          <a:xfrm>
            <a:off x="677334" y="1778925"/>
            <a:ext cx="8596668" cy="4547060"/>
          </a:xfrm>
        </p:spPr>
        <p:txBody>
          <a:bodyPr>
            <a:normAutofit fontScale="85000" lnSpcReduction="20000"/>
          </a:bodyPr>
          <a:lstStyle/>
          <a:p>
            <a:endParaRPr lang="en-US" b="1" dirty="0"/>
          </a:p>
          <a:p>
            <a:pPr fontAlgn="base"/>
            <a:r>
              <a:rPr lang="en-US" dirty="0"/>
              <a:t>A malfunction in the software/system is an error that may cause components or the system to fail to perform its required functions. In other words, an error encountered during the test can cause malfunction. For example, incorrect data description, statements, input data, design, etc.</a:t>
            </a:r>
          </a:p>
          <a:p>
            <a:pPr fontAlgn="base"/>
            <a:r>
              <a:rPr lang="en-US" dirty="0"/>
              <a:t>There are many different types of software testing, each with specific goals and strategies. Some of them are below:</a:t>
            </a:r>
          </a:p>
          <a:p>
            <a:pPr fontAlgn="base"/>
            <a:r>
              <a:rPr lang="en-US" b="1" u="sng" dirty="0">
                <a:hlinkClick r:id="rId2"/>
              </a:rPr>
              <a:t>Acceptance Testing</a:t>
            </a:r>
            <a:r>
              <a:rPr lang="en-US" b="1" dirty="0"/>
              <a:t>: </a:t>
            </a:r>
            <a:r>
              <a:rPr lang="en-US" dirty="0"/>
              <a:t>Ensuring that the whole system works as intended.</a:t>
            </a:r>
          </a:p>
          <a:p>
            <a:pPr fontAlgn="base"/>
            <a:r>
              <a:rPr lang="en-US" b="1" u="sng" dirty="0">
                <a:hlinkClick r:id="rId3"/>
              </a:rPr>
              <a:t>Integration Testing</a:t>
            </a:r>
            <a:r>
              <a:rPr lang="en-US" b="1" dirty="0"/>
              <a:t>:</a:t>
            </a:r>
            <a:r>
              <a:rPr lang="en-US" dirty="0"/>
              <a:t> Ensuring that software components or functions work together.</a:t>
            </a:r>
          </a:p>
          <a:p>
            <a:pPr fontAlgn="base"/>
            <a:r>
              <a:rPr lang="en-US" b="1" u="sng" dirty="0">
                <a:hlinkClick r:id="rId4"/>
              </a:rPr>
              <a:t>Unit Testing</a:t>
            </a:r>
            <a:r>
              <a:rPr lang="en-US" b="1" dirty="0"/>
              <a:t>:</a:t>
            </a:r>
            <a:r>
              <a:rPr lang="en-US" dirty="0"/>
              <a:t> To ensure that each software unit operates as expected. The unit is a testable component of the application.</a:t>
            </a:r>
          </a:p>
          <a:p>
            <a:pPr fontAlgn="base"/>
            <a:r>
              <a:rPr lang="en-US" b="1" u="sng" dirty="0">
                <a:hlinkClick r:id="rId5"/>
              </a:rPr>
              <a:t>Functional Testing</a:t>
            </a:r>
            <a:r>
              <a:rPr lang="en-US" b="1" dirty="0"/>
              <a:t>:</a:t>
            </a:r>
            <a:r>
              <a:rPr lang="en-US" dirty="0"/>
              <a:t> Evaluating activities by imitating business conditions, based on operational requirements. Checking the black box is a common way to confirm tasks.</a:t>
            </a:r>
          </a:p>
          <a:p>
            <a:pPr fontAlgn="base"/>
            <a:r>
              <a:rPr lang="en-US" b="1" u="sng" dirty="0">
                <a:hlinkClick r:id="rId6"/>
              </a:rPr>
              <a:t>Performance Testing</a:t>
            </a:r>
            <a:r>
              <a:rPr lang="en-US" b="1" dirty="0"/>
              <a:t>:</a:t>
            </a:r>
            <a:r>
              <a:rPr lang="en-US" dirty="0"/>
              <a:t> A test of how the software works under various operating loads. Load testing, for example, is used to assess performance under real-life load conditions.</a:t>
            </a:r>
          </a:p>
          <a:p>
            <a:pPr fontAlgn="base"/>
            <a:r>
              <a:rPr lang="en-US" b="1" u="sng" dirty="0">
                <a:hlinkClick r:id="rId7"/>
              </a:rPr>
              <a:t>Re-testing</a:t>
            </a:r>
            <a:r>
              <a:rPr lang="en-US" b="1" dirty="0"/>
              <a:t>:</a:t>
            </a:r>
            <a:r>
              <a:rPr lang="en-US" dirty="0"/>
              <a:t> To test whether new features are broken or degraded. Hygiene checks can be used to verify menus, functions, and commands at the highest level when there is no time for a full reversal test.</a:t>
            </a:r>
          </a:p>
          <a:p>
            <a:endParaRPr lang="en-IN" dirty="0"/>
          </a:p>
        </p:txBody>
      </p:sp>
    </p:spTree>
    <p:extLst>
      <p:ext uri="{BB962C8B-B14F-4D97-AF65-F5344CB8AC3E}">
        <p14:creationId xmlns:p14="http://schemas.microsoft.com/office/powerpoint/2010/main" val="11242040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BUG</a:t>
            </a:r>
            <a:endParaRPr lang="en-IN" dirty="0"/>
          </a:p>
        </p:txBody>
      </p:sp>
      <p:pic>
        <p:nvPicPr>
          <p:cNvPr id="6" name="Content Placeholder 5"/>
          <p:cNvPicPr>
            <a:picLocks noGrp="1" noChangeAspect="1"/>
          </p:cNvPicPr>
          <p:nvPr>
            <p:ph idx="1"/>
          </p:nvPr>
        </p:nvPicPr>
        <p:blipFill>
          <a:blip r:embed="rId2"/>
          <a:stretch>
            <a:fillRect/>
          </a:stretch>
        </p:blipFill>
        <p:spPr>
          <a:xfrm>
            <a:off x="851477" y="2160588"/>
            <a:ext cx="8249083" cy="3881437"/>
          </a:xfrm>
          <a:prstGeom prst="rect">
            <a:avLst/>
          </a:prstGeom>
        </p:spPr>
      </p:pic>
    </p:spTree>
    <p:extLst>
      <p:ext uri="{BB962C8B-B14F-4D97-AF65-F5344CB8AC3E}">
        <p14:creationId xmlns:p14="http://schemas.microsoft.com/office/powerpoint/2010/main" val="42924549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Software Development Life Cycle (SDLC)</a:t>
            </a:r>
            <a:br>
              <a:rPr lang="en-US" b="1" dirty="0"/>
            </a:br>
            <a:endParaRPr lang="en-IN" dirty="0"/>
          </a:p>
        </p:txBody>
      </p:sp>
      <p:sp>
        <p:nvSpPr>
          <p:cNvPr id="3" name="Content Placeholder 2"/>
          <p:cNvSpPr>
            <a:spLocks noGrp="1"/>
          </p:cNvSpPr>
          <p:nvPr>
            <p:ph idx="1"/>
          </p:nvPr>
        </p:nvSpPr>
        <p:spPr/>
        <p:txBody>
          <a:bodyPr/>
          <a:lstStyle/>
          <a:p>
            <a:r>
              <a:rPr lang="en-US" b="1" dirty="0"/>
              <a:t>Software development life cycle (SDLC) is a structured process that is used to design, develop, and test good-quality software.</a:t>
            </a:r>
            <a:r>
              <a:rPr lang="en-US" dirty="0"/>
              <a:t> SDLC, or software development life cycle, is a methodology that defines the entire procedure of software development step-by-step</a:t>
            </a:r>
            <a:r>
              <a:rPr lang="en-US" dirty="0" smtClean="0"/>
              <a:t>.</a:t>
            </a:r>
          </a:p>
          <a:p>
            <a:r>
              <a:rPr lang="en-US" dirty="0" smtClean="0"/>
              <a:t>The</a:t>
            </a:r>
            <a:r>
              <a:rPr lang="en-US" dirty="0"/>
              <a:t> </a:t>
            </a:r>
            <a:r>
              <a:rPr lang="en-US" b="1" dirty="0"/>
              <a:t>goal of the SDLC life cycle model</a:t>
            </a:r>
            <a:r>
              <a:rPr lang="en-US" dirty="0"/>
              <a:t> is to deliver high-quality, maintainable software that meets the user's requirements. SDLC in software engineering models outlines the plan for each stage so that each stage of the software development model can perform its task efficiently to deliver the software at a low cost within a given time frame that meets users requirements. </a:t>
            </a:r>
            <a:endParaRPr lang="en-IN" dirty="0"/>
          </a:p>
        </p:txBody>
      </p:sp>
    </p:spTree>
    <p:extLst>
      <p:ext uri="{BB962C8B-B14F-4D97-AF65-F5344CB8AC3E}">
        <p14:creationId xmlns:p14="http://schemas.microsoft.com/office/powerpoint/2010/main" val="32076659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61753"/>
          </a:xfrm>
        </p:spPr>
        <p:txBody>
          <a:bodyPr>
            <a:normAutofit fontScale="90000"/>
          </a:bodyPr>
          <a:lstStyle/>
          <a:p>
            <a:r>
              <a:rPr lang="en-US" b="1" dirty="0"/>
              <a:t>What is the Software Development Life Cycle (SDLC)?</a:t>
            </a:r>
            <a:br>
              <a:rPr lang="en-US" b="1" dirty="0"/>
            </a:br>
            <a:endParaRPr lang="en-IN" dirty="0"/>
          </a:p>
        </p:txBody>
      </p:sp>
      <p:pic>
        <p:nvPicPr>
          <p:cNvPr id="1026" name="Picture 2" descr="Lightbox"/>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32769" y="2529681"/>
            <a:ext cx="6286500" cy="3422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54115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Stages of the Software Development Life Cycle</a:t>
            </a:r>
            <a:br>
              <a:rPr lang="en-US" b="1" dirty="0"/>
            </a:br>
            <a:endParaRPr lang="en-IN" dirty="0"/>
          </a:p>
        </p:txBody>
      </p:sp>
      <p:sp>
        <p:nvSpPr>
          <p:cNvPr id="3" name="Content Placeholder 2"/>
          <p:cNvSpPr>
            <a:spLocks noGrp="1"/>
          </p:cNvSpPr>
          <p:nvPr>
            <p:ph idx="1"/>
          </p:nvPr>
        </p:nvSpPr>
        <p:spPr>
          <a:xfrm>
            <a:off x="677334" y="1795549"/>
            <a:ext cx="8596668" cy="4572000"/>
          </a:xfrm>
        </p:spPr>
        <p:txBody>
          <a:bodyPr/>
          <a:lstStyle/>
          <a:p>
            <a:r>
              <a:rPr lang="en-US" dirty="0"/>
              <a:t>SDLC specifies the task(s) to be performed at various stages by a software engineer or developer. It ensures that the end product is able to meet the customer's expectations and fits within the overall budget. Hence, it's vital for a software developer to have prior knowledge of this software development process. SDLC is a collection of these six stages, and the stages of SDLC are as follows:</a:t>
            </a:r>
            <a:endParaRPr lang="en-IN" dirty="0"/>
          </a:p>
        </p:txBody>
      </p:sp>
    </p:spTree>
    <p:extLst>
      <p:ext uri="{BB962C8B-B14F-4D97-AF65-F5344CB8AC3E}">
        <p14:creationId xmlns:p14="http://schemas.microsoft.com/office/powerpoint/2010/main" val="39504701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SDLC</a:t>
            </a:r>
            <a:endParaRPr lang="en-IN" dirty="0"/>
          </a:p>
        </p:txBody>
      </p:sp>
      <p:pic>
        <p:nvPicPr>
          <p:cNvPr id="4" name="Picture 2" descr="Lightbox"/>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94582" y="2160588"/>
            <a:ext cx="7762874" cy="38814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59666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04058"/>
          </a:xfrm>
        </p:spPr>
        <p:txBody>
          <a:bodyPr>
            <a:normAutofit fontScale="90000"/>
          </a:bodyPr>
          <a:lstStyle/>
          <a:p>
            <a:r>
              <a:rPr lang="en-US" b="1" dirty="0"/>
              <a:t>Stage-1: Planning and Requirement Analysis</a:t>
            </a:r>
            <a:br>
              <a:rPr lang="en-US" b="1" dirty="0"/>
            </a:br>
            <a:endParaRPr lang="en-IN" dirty="0"/>
          </a:p>
        </p:txBody>
      </p:sp>
      <p:sp>
        <p:nvSpPr>
          <p:cNvPr id="3" name="Content Placeholder 2"/>
          <p:cNvSpPr>
            <a:spLocks noGrp="1"/>
          </p:cNvSpPr>
          <p:nvPr>
            <p:ph idx="1"/>
          </p:nvPr>
        </p:nvSpPr>
        <p:spPr>
          <a:xfrm>
            <a:off x="677334" y="1679171"/>
            <a:ext cx="8596668" cy="4555374"/>
          </a:xfrm>
        </p:spPr>
        <p:txBody>
          <a:bodyPr/>
          <a:lstStyle/>
          <a:p>
            <a:pPr fontAlgn="base"/>
            <a:r>
              <a:rPr lang="en-US" b="1" dirty="0"/>
              <a:t>Stage-1: Planning and Requirement Analysis</a:t>
            </a:r>
          </a:p>
          <a:p>
            <a:pPr fontAlgn="base"/>
            <a:r>
              <a:rPr lang="en-US" dirty="0"/>
              <a:t>Planning is a crucial step in everything, just as in</a:t>
            </a:r>
            <a:r>
              <a:rPr lang="en-US" u="sng" dirty="0">
                <a:hlinkClick r:id="rId2"/>
              </a:rPr>
              <a:t> software development</a:t>
            </a:r>
            <a:r>
              <a:rPr lang="en-US" dirty="0"/>
              <a:t>. In this same stage, </a:t>
            </a:r>
            <a:r>
              <a:rPr lang="en-US" u="sng" dirty="0">
                <a:hlinkClick r:id="rId3"/>
              </a:rPr>
              <a:t>requirement analysis </a:t>
            </a:r>
            <a:r>
              <a:rPr lang="en-US" dirty="0"/>
              <a:t>is also performed by the developers of the organization. This is attained from customer inputs, and sales department/market surveys. </a:t>
            </a:r>
          </a:p>
          <a:p>
            <a:pPr fontAlgn="base"/>
            <a:r>
              <a:rPr lang="en-US" dirty="0"/>
              <a:t>The information from this analysis forms the building blocks of a basic project. The quality of the project is a result of planning. Thus, in this stage, the basic project is designed with all the available information.</a:t>
            </a:r>
          </a:p>
          <a:p>
            <a:r>
              <a:rPr lang="en-US" dirty="0"/>
              <a:t/>
            </a:r>
            <a:br>
              <a:rPr lang="en-US" dirty="0"/>
            </a:br>
            <a:endParaRPr lang="en-IN" dirty="0"/>
          </a:p>
        </p:txBody>
      </p:sp>
      <p:pic>
        <p:nvPicPr>
          <p:cNvPr id="4" name="Picture 3"/>
          <p:cNvPicPr>
            <a:picLocks noChangeAspect="1"/>
          </p:cNvPicPr>
          <p:nvPr/>
        </p:nvPicPr>
        <p:blipFill>
          <a:blip r:embed="rId4"/>
          <a:stretch>
            <a:fillRect/>
          </a:stretch>
        </p:blipFill>
        <p:spPr>
          <a:xfrm>
            <a:off x="1067492" y="4339244"/>
            <a:ext cx="7810501" cy="2302625"/>
          </a:xfrm>
          <a:prstGeom prst="rect">
            <a:avLst/>
          </a:prstGeom>
        </p:spPr>
      </p:pic>
    </p:spTree>
    <p:extLst>
      <p:ext uri="{BB962C8B-B14F-4D97-AF65-F5344CB8AC3E}">
        <p14:creationId xmlns:p14="http://schemas.microsoft.com/office/powerpoint/2010/main" val="20493117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53935"/>
          </a:xfrm>
        </p:spPr>
        <p:txBody>
          <a:bodyPr>
            <a:normAutofit fontScale="90000"/>
          </a:bodyPr>
          <a:lstStyle/>
          <a:p>
            <a:r>
              <a:rPr lang="en-US" b="1" dirty="0"/>
              <a:t>Stage-2: Defining Requirements</a:t>
            </a:r>
            <a:br>
              <a:rPr lang="en-US" b="1" dirty="0"/>
            </a:br>
            <a:endParaRPr lang="en-IN" dirty="0"/>
          </a:p>
        </p:txBody>
      </p:sp>
      <p:sp>
        <p:nvSpPr>
          <p:cNvPr id="3" name="Content Placeholder 2"/>
          <p:cNvSpPr>
            <a:spLocks noGrp="1"/>
          </p:cNvSpPr>
          <p:nvPr>
            <p:ph idx="1"/>
          </p:nvPr>
        </p:nvSpPr>
        <p:spPr>
          <a:xfrm>
            <a:off x="677334" y="1429789"/>
            <a:ext cx="8596668" cy="4611573"/>
          </a:xfrm>
        </p:spPr>
        <p:txBody>
          <a:bodyPr/>
          <a:lstStyle/>
          <a:p>
            <a:pPr fontAlgn="base"/>
            <a:r>
              <a:rPr lang="en-US" dirty="0" smtClean="0"/>
              <a:t>In </a:t>
            </a:r>
            <a:r>
              <a:rPr lang="en-US" dirty="0"/>
              <a:t>this stage, all the requirements for the target software are specified. These requirements get approval from customers, market analysts, and stakeholders. </a:t>
            </a:r>
            <a:br>
              <a:rPr lang="en-US" dirty="0"/>
            </a:br>
            <a:r>
              <a:rPr lang="en-US" dirty="0"/>
              <a:t>This is fulfilled by utilizing SRS (Software Requirement Specification). This is a sort of document that specifies all those things that need to be defined and created during the entire project cycle. </a:t>
            </a:r>
          </a:p>
          <a:p>
            <a:endParaRPr lang="en-IN" dirty="0"/>
          </a:p>
        </p:txBody>
      </p:sp>
      <p:pic>
        <p:nvPicPr>
          <p:cNvPr id="5" name="Picture 4"/>
          <p:cNvPicPr>
            <a:picLocks noChangeAspect="1"/>
          </p:cNvPicPr>
          <p:nvPr/>
        </p:nvPicPr>
        <p:blipFill>
          <a:blip r:embed="rId2"/>
          <a:stretch>
            <a:fillRect/>
          </a:stretch>
        </p:blipFill>
        <p:spPr>
          <a:xfrm>
            <a:off x="964276" y="3358343"/>
            <a:ext cx="8121535" cy="2451908"/>
          </a:xfrm>
          <a:prstGeom prst="rect">
            <a:avLst/>
          </a:prstGeom>
        </p:spPr>
      </p:pic>
    </p:spTree>
    <p:extLst>
      <p:ext uri="{BB962C8B-B14F-4D97-AF65-F5344CB8AC3E}">
        <p14:creationId xmlns:p14="http://schemas.microsoft.com/office/powerpoint/2010/main" val="5121715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28749"/>
          </a:xfrm>
        </p:spPr>
        <p:txBody>
          <a:bodyPr>
            <a:normAutofit fontScale="90000"/>
          </a:bodyPr>
          <a:lstStyle/>
          <a:p>
            <a:r>
              <a:rPr lang="en-IN" dirty="0"/>
              <a:t>Stage-3: Designing Architecture</a:t>
            </a:r>
            <a:br>
              <a:rPr lang="en-IN" dirty="0"/>
            </a:br>
            <a:endParaRPr lang="en-IN" dirty="0"/>
          </a:p>
        </p:txBody>
      </p:sp>
      <p:sp>
        <p:nvSpPr>
          <p:cNvPr id="3" name="Content Placeholder 2"/>
          <p:cNvSpPr>
            <a:spLocks noGrp="1"/>
          </p:cNvSpPr>
          <p:nvPr>
            <p:ph idx="1"/>
          </p:nvPr>
        </p:nvSpPr>
        <p:spPr>
          <a:xfrm>
            <a:off x="677334" y="1338349"/>
            <a:ext cx="8596668" cy="4703013"/>
          </a:xfrm>
        </p:spPr>
        <p:txBody>
          <a:bodyPr/>
          <a:lstStyle/>
          <a:p>
            <a:pPr fontAlgn="base"/>
            <a:r>
              <a:rPr lang="en-US" u="sng" dirty="0" smtClean="0">
                <a:hlinkClick r:id="rId2"/>
              </a:rPr>
              <a:t>SRS</a:t>
            </a:r>
            <a:r>
              <a:rPr lang="en-US" dirty="0"/>
              <a:t> is a reference for software designers to come up with the best architecture for the software. Hence, with the requirements defined in SRS, multiple designs for the product architecture are present in the Design Document Specification (DDS). </a:t>
            </a:r>
          </a:p>
          <a:p>
            <a:pPr fontAlgn="base"/>
            <a:r>
              <a:rPr lang="en-US" dirty="0"/>
              <a:t>This DDS is assessed by market analysts and stakeholders. After evaluating all the possible factors, the most practical and logical design is chosen for development.</a:t>
            </a:r>
          </a:p>
          <a:p>
            <a:endParaRPr lang="en-IN" dirty="0"/>
          </a:p>
        </p:txBody>
      </p:sp>
      <p:pic>
        <p:nvPicPr>
          <p:cNvPr id="5122" name="Picture 2" descr="Lightbox"/>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017" y="3441469"/>
            <a:ext cx="8865678" cy="25998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44906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45375"/>
          </a:xfrm>
        </p:spPr>
        <p:txBody>
          <a:bodyPr>
            <a:normAutofit fontScale="90000"/>
          </a:bodyPr>
          <a:lstStyle/>
          <a:p>
            <a:r>
              <a:rPr lang="en-US" b="1" dirty="0"/>
              <a:t>Stage-4: Developing Product</a:t>
            </a:r>
            <a:br>
              <a:rPr lang="en-US" b="1" dirty="0"/>
            </a:br>
            <a:endParaRPr lang="en-IN" dirty="0"/>
          </a:p>
        </p:txBody>
      </p:sp>
      <p:sp>
        <p:nvSpPr>
          <p:cNvPr id="3" name="Content Placeholder 2"/>
          <p:cNvSpPr>
            <a:spLocks noGrp="1"/>
          </p:cNvSpPr>
          <p:nvPr>
            <p:ph idx="1"/>
          </p:nvPr>
        </p:nvSpPr>
        <p:spPr>
          <a:xfrm>
            <a:off x="677334" y="1354975"/>
            <a:ext cx="8596668" cy="4686387"/>
          </a:xfrm>
        </p:spPr>
        <p:txBody>
          <a:bodyPr/>
          <a:lstStyle/>
          <a:p>
            <a:pPr fontAlgn="base"/>
            <a:r>
              <a:rPr lang="en-US" dirty="0" smtClean="0"/>
              <a:t>At </a:t>
            </a:r>
            <a:r>
              <a:rPr lang="en-US" dirty="0"/>
              <a:t>this stage, the fundamental development of the product starts. For this, developers use a specific programming code as per the design in the DDS. Hence, it is important for the coders to follow the protocols set by the association. Conventional programming tools like compilers, interpreters, debuggers, etc. are also put into use at this stage. Some popular languages like C/C++, Python, Java, etc. are put into use as per the software regulations. </a:t>
            </a:r>
          </a:p>
          <a:p>
            <a:r>
              <a:rPr lang="en-US" dirty="0"/>
              <a:t/>
            </a:r>
            <a:br>
              <a:rPr lang="en-US" dirty="0"/>
            </a:br>
            <a:endParaRPr lang="en-IN" dirty="0"/>
          </a:p>
        </p:txBody>
      </p:sp>
      <p:pic>
        <p:nvPicPr>
          <p:cNvPr id="4" name="Picture 3"/>
          <p:cNvPicPr>
            <a:picLocks noChangeAspect="1"/>
          </p:cNvPicPr>
          <p:nvPr/>
        </p:nvPicPr>
        <p:blipFill>
          <a:blip r:embed="rId2"/>
          <a:stretch>
            <a:fillRect/>
          </a:stretch>
        </p:blipFill>
        <p:spPr>
          <a:xfrm>
            <a:off x="593667" y="3399906"/>
            <a:ext cx="8492144" cy="2892830"/>
          </a:xfrm>
          <a:prstGeom prst="rect">
            <a:avLst/>
          </a:prstGeom>
        </p:spPr>
      </p:pic>
    </p:spTree>
    <p:extLst>
      <p:ext uri="{BB962C8B-B14F-4D97-AF65-F5344CB8AC3E}">
        <p14:creationId xmlns:p14="http://schemas.microsoft.com/office/powerpoint/2010/main" val="15295086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95498"/>
          </a:xfrm>
        </p:spPr>
        <p:txBody>
          <a:bodyPr>
            <a:normAutofit fontScale="90000"/>
          </a:bodyPr>
          <a:lstStyle/>
          <a:p>
            <a:r>
              <a:rPr lang="en-US" b="1" dirty="0"/>
              <a:t>Stage-5: Product Testing and Integration</a:t>
            </a:r>
            <a:br>
              <a:rPr lang="en-US" b="1" dirty="0"/>
            </a:br>
            <a:endParaRPr lang="en-IN" dirty="0"/>
          </a:p>
        </p:txBody>
      </p:sp>
      <p:sp>
        <p:nvSpPr>
          <p:cNvPr id="3" name="Content Placeholder 2"/>
          <p:cNvSpPr>
            <a:spLocks noGrp="1"/>
          </p:cNvSpPr>
          <p:nvPr>
            <p:ph idx="1"/>
          </p:nvPr>
        </p:nvSpPr>
        <p:spPr>
          <a:xfrm>
            <a:off x="677334" y="1246909"/>
            <a:ext cx="8596668" cy="4794453"/>
          </a:xfrm>
        </p:spPr>
        <p:txBody>
          <a:bodyPr>
            <a:normAutofit/>
          </a:bodyPr>
          <a:lstStyle/>
          <a:p>
            <a:pPr fontAlgn="base"/>
            <a:r>
              <a:rPr lang="en-US" b="1" dirty="0" smtClean="0"/>
              <a:t>Documentation</a:t>
            </a:r>
            <a:r>
              <a:rPr lang="en-US" b="1" dirty="0"/>
              <a:t>, Training, and Support: </a:t>
            </a:r>
            <a:r>
              <a:rPr lang="en-US" u="sng" dirty="0">
                <a:hlinkClick r:id="rId2"/>
              </a:rPr>
              <a:t>Software documentation</a:t>
            </a:r>
            <a:r>
              <a:rPr lang="en-US" dirty="0"/>
              <a:t> is an essential part of the software development life cycle. A well-written document acts as a tool and means to information repository necessary to know about software processes, functions, and maintenance. Documentation also provides information about how to use the product. Training in an attempt to improve the current or future employee performance by increasing an employee's ability to work through learning, usually by changing his attitude and developing his skills and understanding. </a:t>
            </a:r>
          </a:p>
          <a:p>
            <a:endParaRPr lang="en-IN" dirty="0"/>
          </a:p>
        </p:txBody>
      </p:sp>
      <p:pic>
        <p:nvPicPr>
          <p:cNvPr id="4" name="Picture 3"/>
          <p:cNvPicPr>
            <a:picLocks noChangeAspect="1"/>
          </p:cNvPicPr>
          <p:nvPr/>
        </p:nvPicPr>
        <p:blipFill>
          <a:blip r:embed="rId3"/>
          <a:stretch>
            <a:fillRect/>
          </a:stretch>
        </p:blipFill>
        <p:spPr>
          <a:xfrm>
            <a:off x="943712" y="3657600"/>
            <a:ext cx="7760881" cy="2202874"/>
          </a:xfrm>
          <a:prstGeom prst="rect">
            <a:avLst/>
          </a:prstGeom>
        </p:spPr>
      </p:pic>
    </p:spTree>
    <p:extLst>
      <p:ext uri="{BB962C8B-B14F-4D97-AF65-F5344CB8AC3E}">
        <p14:creationId xmlns:p14="http://schemas.microsoft.com/office/powerpoint/2010/main" val="30372368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324196"/>
            <a:ext cx="8596668" cy="1055718"/>
          </a:xfrm>
        </p:spPr>
        <p:txBody>
          <a:bodyPr>
            <a:normAutofit fontScale="90000"/>
          </a:bodyPr>
          <a:lstStyle/>
          <a:p>
            <a:r>
              <a:rPr lang="en-US" b="1" dirty="0"/>
              <a:t>Stage-6: Deployment and Maintenance of Products</a:t>
            </a:r>
            <a:br>
              <a:rPr lang="en-US" b="1" dirty="0"/>
            </a:br>
            <a:endParaRPr lang="en-IN" dirty="0"/>
          </a:p>
        </p:txBody>
      </p:sp>
      <p:sp>
        <p:nvSpPr>
          <p:cNvPr id="3" name="Content Placeholder 2"/>
          <p:cNvSpPr>
            <a:spLocks noGrp="1"/>
          </p:cNvSpPr>
          <p:nvPr>
            <p:ph idx="1"/>
          </p:nvPr>
        </p:nvSpPr>
        <p:spPr>
          <a:xfrm>
            <a:off x="677334" y="1379915"/>
            <a:ext cx="8596668" cy="4661448"/>
          </a:xfrm>
        </p:spPr>
        <p:txBody>
          <a:bodyPr/>
          <a:lstStyle/>
          <a:p>
            <a:r>
              <a:rPr lang="en-US" dirty="0"/>
              <a:t>After detailed testing, the conclusive product is released in phases as per the organization’s strategy. Then it is tested in a real industrial environment. It is important to ensure its smooth performance. If it performs well, the organization sends out the product as a whole. After retrieving beneficial feedback, the company releases it as it is or with auxiliary improvements to make it further helpful for the customers. However, this alone is not enough. Therefore, along with the deployment, the </a:t>
            </a:r>
            <a:r>
              <a:rPr lang="en-US" u="sng" dirty="0">
                <a:hlinkClick r:id="rId2"/>
              </a:rPr>
              <a:t>product's supervision</a:t>
            </a:r>
            <a:r>
              <a:rPr lang="en-US" dirty="0"/>
              <a:t>. </a:t>
            </a:r>
            <a:endParaRPr lang="en-IN" dirty="0"/>
          </a:p>
        </p:txBody>
      </p:sp>
      <p:pic>
        <p:nvPicPr>
          <p:cNvPr id="5" name="Picture 4"/>
          <p:cNvPicPr>
            <a:picLocks noChangeAspect="1"/>
          </p:cNvPicPr>
          <p:nvPr/>
        </p:nvPicPr>
        <p:blipFill>
          <a:blip r:embed="rId3"/>
          <a:stretch>
            <a:fillRect/>
          </a:stretch>
        </p:blipFill>
        <p:spPr>
          <a:xfrm>
            <a:off x="477289" y="3441816"/>
            <a:ext cx="8126384" cy="3682192"/>
          </a:xfrm>
          <a:prstGeom prst="rect">
            <a:avLst/>
          </a:prstGeom>
        </p:spPr>
      </p:pic>
    </p:spTree>
    <p:extLst>
      <p:ext uri="{BB962C8B-B14F-4D97-AF65-F5344CB8AC3E}">
        <p14:creationId xmlns:p14="http://schemas.microsoft.com/office/powerpoint/2010/main" val="24290073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Software Testing Life Cycle (STLC)</a:t>
            </a:r>
            <a:br>
              <a:rPr lang="en-US" b="1" dirty="0"/>
            </a:br>
            <a:endParaRPr lang="en-IN" dirty="0"/>
          </a:p>
        </p:txBody>
      </p:sp>
      <p:sp>
        <p:nvSpPr>
          <p:cNvPr id="3" name="Content Placeholder 2"/>
          <p:cNvSpPr>
            <a:spLocks noGrp="1"/>
          </p:cNvSpPr>
          <p:nvPr>
            <p:ph idx="1"/>
          </p:nvPr>
        </p:nvSpPr>
        <p:spPr>
          <a:xfrm>
            <a:off x="677334" y="1562793"/>
            <a:ext cx="8596668" cy="4478569"/>
          </a:xfrm>
        </p:spPr>
        <p:txBody>
          <a:bodyPr>
            <a:normAutofit fontScale="92500" lnSpcReduction="10000"/>
          </a:bodyPr>
          <a:lstStyle/>
          <a:p>
            <a:r>
              <a:rPr lang="en-US" dirty="0"/>
              <a:t>The </a:t>
            </a:r>
            <a:r>
              <a:rPr lang="en-US" b="1" dirty="0"/>
              <a:t>Software Testing Life Cycle (STLC) </a:t>
            </a:r>
            <a:r>
              <a:rPr lang="en-US" dirty="0"/>
              <a:t>in which a process to verify whether the Software Quality meets to the expectations or not</a:t>
            </a:r>
            <a:r>
              <a:rPr lang="en-US" dirty="0" smtClean="0"/>
              <a:t>.</a:t>
            </a:r>
          </a:p>
          <a:p>
            <a:endParaRPr lang="en-US" dirty="0"/>
          </a:p>
          <a:p>
            <a:pPr fontAlgn="base"/>
            <a:r>
              <a:rPr lang="en-US" b="1" dirty="0" smtClean="0"/>
              <a:t>Phases </a:t>
            </a:r>
            <a:r>
              <a:rPr lang="en-US" b="1" dirty="0"/>
              <a:t>of STLC</a:t>
            </a:r>
          </a:p>
          <a:p>
            <a:pPr fontAlgn="base"/>
            <a:r>
              <a:rPr lang="en-US" dirty="0"/>
              <a:t>There are the six major phases of the </a:t>
            </a:r>
            <a:r>
              <a:rPr lang="en-US" b="1" dirty="0"/>
              <a:t>Software Testing Life Cycle (STLC) </a:t>
            </a:r>
            <a:r>
              <a:rPr lang="en-US" dirty="0"/>
              <a:t>in which we are discussing here in detail.</a:t>
            </a:r>
          </a:p>
          <a:p>
            <a:pPr fontAlgn="base"/>
            <a:r>
              <a:rPr lang="en-US" b="1" dirty="0"/>
              <a:t>Table of Content</a:t>
            </a:r>
          </a:p>
          <a:p>
            <a:pPr fontAlgn="base"/>
            <a:r>
              <a:rPr lang="en-US" u="sng" dirty="0">
                <a:hlinkClick r:id="rId2"/>
              </a:rPr>
              <a:t>1. Requirement Analysis</a:t>
            </a:r>
            <a:endParaRPr lang="en-US" dirty="0"/>
          </a:p>
          <a:p>
            <a:pPr fontAlgn="base"/>
            <a:r>
              <a:rPr lang="en-US" u="sng" dirty="0">
                <a:hlinkClick r:id="rId3"/>
              </a:rPr>
              <a:t>2. Test Planning</a:t>
            </a:r>
            <a:endParaRPr lang="en-US" dirty="0"/>
          </a:p>
          <a:p>
            <a:pPr fontAlgn="base"/>
            <a:r>
              <a:rPr lang="en-US" u="sng" dirty="0">
                <a:hlinkClick r:id="rId4"/>
              </a:rPr>
              <a:t>3. Test Case Development</a:t>
            </a:r>
            <a:endParaRPr lang="en-US" dirty="0"/>
          </a:p>
          <a:p>
            <a:pPr fontAlgn="base"/>
            <a:r>
              <a:rPr lang="en-US" u="sng" dirty="0">
                <a:hlinkClick r:id="rId5"/>
              </a:rPr>
              <a:t>4. Test Environment Setup</a:t>
            </a:r>
            <a:endParaRPr lang="en-US" dirty="0"/>
          </a:p>
          <a:p>
            <a:pPr fontAlgn="base"/>
            <a:r>
              <a:rPr lang="en-US" u="sng" dirty="0">
                <a:hlinkClick r:id="rId6"/>
              </a:rPr>
              <a:t>5. Test Execution</a:t>
            </a:r>
            <a:endParaRPr lang="en-US" dirty="0"/>
          </a:p>
          <a:p>
            <a:pPr fontAlgn="base"/>
            <a:r>
              <a:rPr lang="en-US" u="sng" dirty="0">
                <a:hlinkClick r:id="rId7"/>
              </a:rPr>
              <a:t>6. Test Closure</a:t>
            </a:r>
            <a:endParaRPr lang="en-US" dirty="0"/>
          </a:p>
          <a:p>
            <a:endParaRPr lang="en-IN" dirty="0"/>
          </a:p>
        </p:txBody>
      </p:sp>
    </p:spTree>
    <p:extLst>
      <p:ext uri="{BB962C8B-B14F-4D97-AF65-F5344CB8AC3E}">
        <p14:creationId xmlns:p14="http://schemas.microsoft.com/office/powerpoint/2010/main" val="26004345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t>Software Testing Life Cycle (STLC)</a:t>
            </a:r>
            <a:endParaRPr lang="en-IN" dirty="0"/>
          </a:p>
        </p:txBody>
      </p:sp>
      <p:pic>
        <p:nvPicPr>
          <p:cNvPr id="8194" name="Picture 2" descr="Lightbox"/>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67933" y="2160588"/>
            <a:ext cx="7016172" cy="38814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86245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78873"/>
          </a:xfrm>
        </p:spPr>
        <p:txBody>
          <a:bodyPr>
            <a:normAutofit fontScale="90000"/>
          </a:bodyPr>
          <a:lstStyle/>
          <a:p>
            <a:r>
              <a:rPr lang="en-US" b="1" dirty="0"/>
              <a:t>1. Requirement Analysis</a:t>
            </a:r>
            <a:br>
              <a:rPr lang="en-US" b="1" dirty="0"/>
            </a:br>
            <a:endParaRPr lang="en-IN" dirty="0"/>
          </a:p>
        </p:txBody>
      </p:sp>
      <p:sp>
        <p:nvSpPr>
          <p:cNvPr id="3" name="Content Placeholder 2"/>
          <p:cNvSpPr>
            <a:spLocks noGrp="1"/>
          </p:cNvSpPr>
          <p:nvPr>
            <p:ph idx="1"/>
          </p:nvPr>
        </p:nvSpPr>
        <p:spPr>
          <a:xfrm>
            <a:off x="677334" y="1363287"/>
            <a:ext cx="8596668" cy="4879571"/>
          </a:xfrm>
        </p:spPr>
        <p:txBody>
          <a:bodyPr>
            <a:normAutofit fontScale="85000" lnSpcReduction="10000"/>
          </a:bodyPr>
          <a:lstStyle/>
          <a:p>
            <a:pPr fontAlgn="base"/>
            <a:r>
              <a:rPr lang="en-US" b="1" u="sng" dirty="0" smtClean="0">
                <a:hlinkClick r:id="rId2"/>
              </a:rPr>
              <a:t>Requirement </a:t>
            </a:r>
            <a:r>
              <a:rPr lang="en-US" b="1" u="sng" dirty="0">
                <a:hlinkClick r:id="rId2"/>
              </a:rPr>
              <a:t>Analysis</a:t>
            </a:r>
            <a:r>
              <a:rPr lang="en-US" dirty="0"/>
              <a:t> is the first step of the </a:t>
            </a:r>
            <a:r>
              <a:rPr lang="en-US" b="1" dirty="0"/>
              <a:t>Software Testing Life Cycle (STLC)</a:t>
            </a:r>
            <a:r>
              <a:rPr lang="en-US" dirty="0"/>
              <a:t>. In this phase quality assurance team understands the requirements like what is to be tested. If anything is missing or not understandable then the quality assurance team meets with the stakeholders to better understand the detailed knowledge of requirements.</a:t>
            </a:r>
            <a:r>
              <a:rPr lang="en-US" b="1" dirty="0"/>
              <a:t>                  </a:t>
            </a:r>
            <a:endParaRPr lang="en-US" dirty="0"/>
          </a:p>
          <a:p>
            <a:pPr fontAlgn="base"/>
            <a:r>
              <a:rPr lang="en-US" b="1" dirty="0"/>
              <a:t>The activities that take place during the Requirement Analysis stage include:</a:t>
            </a:r>
            <a:endParaRPr lang="en-US" dirty="0"/>
          </a:p>
          <a:p>
            <a:pPr fontAlgn="base"/>
            <a:r>
              <a:rPr lang="en-US" dirty="0"/>
              <a:t>Reviewing the software requirements document (SRD) and other related documents</a:t>
            </a:r>
          </a:p>
          <a:p>
            <a:pPr fontAlgn="base"/>
            <a:r>
              <a:rPr lang="en-US" dirty="0"/>
              <a:t>Interviewing stakeholders to gather additional information</a:t>
            </a:r>
          </a:p>
          <a:p>
            <a:pPr fontAlgn="base"/>
            <a:r>
              <a:rPr lang="en-US" dirty="0"/>
              <a:t>Identifying any ambiguities or inconsistencies in the requirements</a:t>
            </a:r>
          </a:p>
          <a:p>
            <a:pPr fontAlgn="base"/>
            <a:r>
              <a:rPr lang="en-US" dirty="0"/>
              <a:t>Identifying any missing or incomplete requirements</a:t>
            </a:r>
          </a:p>
          <a:p>
            <a:pPr fontAlgn="base"/>
            <a:r>
              <a:rPr lang="en-US" dirty="0"/>
              <a:t>Identifying any potential risks or issues that may impact the testing process</a:t>
            </a:r>
          </a:p>
          <a:p>
            <a:pPr fontAlgn="base"/>
            <a:r>
              <a:rPr lang="en-US" dirty="0"/>
              <a:t>Creating a requirement traceability matrix (RTM) to map requirements to test cases</a:t>
            </a:r>
            <a:br>
              <a:rPr lang="en-US" dirty="0"/>
            </a:br>
            <a:r>
              <a:rPr lang="en-US" dirty="0"/>
              <a:t>At the end of this stage, the testing team should have a clear understanding of the software requirements and should have identified any potential issues that may impact the testing process. This will help to ensure that the testing process is focused on the most important areas of the software and that the testing team is able to deliver high-quality results.</a:t>
            </a:r>
          </a:p>
          <a:p>
            <a:endParaRPr lang="en-IN" dirty="0"/>
          </a:p>
        </p:txBody>
      </p:sp>
    </p:spTree>
    <p:extLst>
      <p:ext uri="{BB962C8B-B14F-4D97-AF65-F5344CB8AC3E}">
        <p14:creationId xmlns:p14="http://schemas.microsoft.com/office/powerpoint/2010/main" val="10297186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37309"/>
          </a:xfrm>
        </p:spPr>
        <p:txBody>
          <a:bodyPr>
            <a:normAutofit fontScale="90000"/>
          </a:bodyPr>
          <a:lstStyle/>
          <a:p>
            <a:r>
              <a:rPr lang="en-US" b="1" dirty="0"/>
              <a:t>2. Test Planning</a:t>
            </a:r>
            <a:br>
              <a:rPr lang="en-US" b="1" dirty="0"/>
            </a:br>
            <a:endParaRPr lang="en-IN" dirty="0"/>
          </a:p>
        </p:txBody>
      </p:sp>
      <p:sp>
        <p:nvSpPr>
          <p:cNvPr id="3" name="Content Placeholder 2"/>
          <p:cNvSpPr>
            <a:spLocks noGrp="1"/>
          </p:cNvSpPr>
          <p:nvPr>
            <p:ph idx="1"/>
          </p:nvPr>
        </p:nvSpPr>
        <p:spPr>
          <a:xfrm>
            <a:off x="677334" y="1363287"/>
            <a:ext cx="8596668" cy="4678075"/>
          </a:xfrm>
        </p:spPr>
        <p:txBody>
          <a:bodyPr>
            <a:normAutofit fontScale="92500" lnSpcReduction="10000"/>
          </a:bodyPr>
          <a:lstStyle/>
          <a:p>
            <a:pPr fontAlgn="base"/>
            <a:r>
              <a:rPr lang="en-US" b="1" u="sng" dirty="0" smtClean="0">
                <a:hlinkClick r:id="rId2"/>
              </a:rPr>
              <a:t>Test </a:t>
            </a:r>
            <a:r>
              <a:rPr lang="en-US" b="1" u="sng" dirty="0">
                <a:hlinkClick r:id="rId2"/>
              </a:rPr>
              <a:t>Planning</a:t>
            </a:r>
            <a:r>
              <a:rPr lang="en-US" dirty="0"/>
              <a:t> is the most efficient phase of the software testing life cycle where all testing plans are defined. In this phase manager of the testing, team calculates the estimated effort and cost for the testing work. This phase gets started once the requirement-gathering phase is completed</a:t>
            </a:r>
            <a:r>
              <a:rPr lang="en-US" dirty="0" smtClean="0"/>
              <a:t>.</a:t>
            </a:r>
          </a:p>
          <a:p>
            <a:pPr fontAlgn="base"/>
            <a:r>
              <a:rPr lang="en-US" b="1" dirty="0"/>
              <a:t>The activities that take place during the Test Planning stage include:</a:t>
            </a:r>
            <a:endParaRPr lang="en-US" dirty="0"/>
          </a:p>
          <a:p>
            <a:pPr fontAlgn="base"/>
            <a:r>
              <a:rPr lang="en-US" dirty="0"/>
              <a:t>Identifying the testing objectives and scope</a:t>
            </a:r>
          </a:p>
          <a:p>
            <a:pPr fontAlgn="base"/>
            <a:r>
              <a:rPr lang="en-US" dirty="0"/>
              <a:t>Developing a test strategy: selecting the testing methods and techniques that will be used</a:t>
            </a:r>
          </a:p>
          <a:p>
            <a:pPr fontAlgn="base"/>
            <a:r>
              <a:rPr lang="en-US" dirty="0"/>
              <a:t>Identifying the testing environment and resources needed</a:t>
            </a:r>
          </a:p>
          <a:p>
            <a:pPr fontAlgn="base"/>
            <a:r>
              <a:rPr lang="en-US" dirty="0"/>
              <a:t>Identifying the test cases that will be executed and the test data that will be used</a:t>
            </a:r>
          </a:p>
          <a:p>
            <a:pPr fontAlgn="base"/>
            <a:r>
              <a:rPr lang="en-US" dirty="0"/>
              <a:t>Estimating the time and cost required for testing</a:t>
            </a:r>
          </a:p>
          <a:p>
            <a:pPr fontAlgn="base"/>
            <a:r>
              <a:rPr lang="en-US" dirty="0"/>
              <a:t>Identifying the test deliverables and milestones</a:t>
            </a:r>
          </a:p>
          <a:p>
            <a:pPr fontAlgn="base"/>
            <a:r>
              <a:rPr lang="en-US" dirty="0"/>
              <a:t>Assigning roles and responsibilities to the testing team</a:t>
            </a:r>
          </a:p>
          <a:p>
            <a:pPr fontAlgn="base"/>
            <a:r>
              <a:rPr lang="en-US" dirty="0"/>
              <a:t>Reviewing and approving the test plan</a:t>
            </a:r>
          </a:p>
          <a:p>
            <a:pPr fontAlgn="base"/>
            <a:endParaRPr lang="en-US" dirty="0"/>
          </a:p>
          <a:p>
            <a:endParaRPr lang="en-IN" dirty="0"/>
          </a:p>
        </p:txBody>
      </p:sp>
    </p:spTree>
    <p:extLst>
      <p:ext uri="{BB962C8B-B14F-4D97-AF65-F5344CB8AC3E}">
        <p14:creationId xmlns:p14="http://schemas.microsoft.com/office/powerpoint/2010/main" val="29519308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20684"/>
          </a:xfrm>
        </p:spPr>
        <p:txBody>
          <a:bodyPr>
            <a:normAutofit fontScale="90000"/>
          </a:bodyPr>
          <a:lstStyle/>
          <a:p>
            <a:r>
              <a:rPr lang="en-US" b="1" dirty="0"/>
              <a:t>Test Case Development</a:t>
            </a:r>
            <a:br>
              <a:rPr lang="en-US" b="1" dirty="0"/>
            </a:br>
            <a:endParaRPr lang="en-IN" dirty="0"/>
          </a:p>
        </p:txBody>
      </p:sp>
      <p:sp>
        <p:nvSpPr>
          <p:cNvPr id="3" name="Content Placeholder 2"/>
          <p:cNvSpPr>
            <a:spLocks noGrp="1"/>
          </p:cNvSpPr>
          <p:nvPr>
            <p:ph idx="1"/>
          </p:nvPr>
        </p:nvSpPr>
        <p:spPr>
          <a:xfrm>
            <a:off x="677334" y="1496291"/>
            <a:ext cx="8596668" cy="4545071"/>
          </a:xfrm>
        </p:spPr>
        <p:txBody>
          <a:bodyPr>
            <a:normAutofit fontScale="92500" lnSpcReduction="10000"/>
          </a:bodyPr>
          <a:lstStyle/>
          <a:p>
            <a:pPr fontAlgn="base"/>
            <a:r>
              <a:rPr lang="en-US" dirty="0" smtClean="0"/>
              <a:t>The</a:t>
            </a:r>
            <a:r>
              <a:rPr lang="en-US" dirty="0"/>
              <a:t> </a:t>
            </a:r>
            <a:r>
              <a:rPr lang="en-US" b="1" u="sng" dirty="0">
                <a:hlinkClick r:id="rId2"/>
              </a:rPr>
              <a:t>Test Case Development</a:t>
            </a:r>
            <a:r>
              <a:rPr lang="en-US" dirty="0"/>
              <a:t> phase gets started once the test planning phase is completed. In this phase testing team notes down the detailed test cases. The testing team also prepares the required test data for the testing. When the test cases are prepared then they are reviewed by the quality assurance team.</a:t>
            </a:r>
          </a:p>
          <a:p>
            <a:pPr fontAlgn="base"/>
            <a:r>
              <a:rPr lang="en-US" b="1" dirty="0"/>
              <a:t>The activities that take place during the Test Case Development stage include:</a:t>
            </a:r>
            <a:endParaRPr lang="en-US" dirty="0"/>
          </a:p>
          <a:p>
            <a:pPr fontAlgn="base"/>
            <a:r>
              <a:rPr lang="en-US" dirty="0"/>
              <a:t>Identifying the test cases that will be developed</a:t>
            </a:r>
          </a:p>
          <a:p>
            <a:pPr fontAlgn="base"/>
            <a:r>
              <a:rPr lang="en-US" dirty="0"/>
              <a:t>Writing test cases that are clear, concise, and easy to understand</a:t>
            </a:r>
          </a:p>
          <a:p>
            <a:pPr fontAlgn="base"/>
            <a:r>
              <a:rPr lang="en-US" dirty="0"/>
              <a:t>Creating test data and test scenarios that will be used in the test cases</a:t>
            </a:r>
          </a:p>
          <a:p>
            <a:pPr fontAlgn="base"/>
            <a:r>
              <a:rPr lang="en-US" dirty="0"/>
              <a:t>Identifying the expected results for each test case</a:t>
            </a:r>
          </a:p>
          <a:p>
            <a:pPr fontAlgn="base"/>
            <a:r>
              <a:rPr lang="en-US" dirty="0"/>
              <a:t>Reviewing and validating the test cases</a:t>
            </a:r>
          </a:p>
          <a:p>
            <a:pPr fontAlgn="base"/>
            <a:r>
              <a:rPr lang="en-US" dirty="0"/>
              <a:t>Updating the requirement traceability matrix (RTM) to map requirements to test cases</a:t>
            </a:r>
          </a:p>
          <a:p>
            <a:r>
              <a:rPr lang="en-US" dirty="0"/>
              <a:t/>
            </a:r>
            <a:br>
              <a:rPr lang="en-US" dirty="0"/>
            </a:br>
            <a:endParaRPr lang="en-IN" dirty="0"/>
          </a:p>
        </p:txBody>
      </p:sp>
    </p:spTree>
    <p:extLst>
      <p:ext uri="{BB962C8B-B14F-4D97-AF65-F5344CB8AC3E}">
        <p14:creationId xmlns:p14="http://schemas.microsoft.com/office/powerpoint/2010/main" val="28180967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360218"/>
            <a:ext cx="8596668" cy="572655"/>
          </a:xfrm>
        </p:spPr>
        <p:txBody>
          <a:bodyPr>
            <a:normAutofit fontScale="90000"/>
          </a:bodyPr>
          <a:lstStyle/>
          <a:p>
            <a:r>
              <a:rPr lang="en-US" b="1" dirty="0"/>
              <a:t>4. Test Environment Setup</a:t>
            </a:r>
            <a:br>
              <a:rPr lang="en-US" b="1" dirty="0"/>
            </a:br>
            <a:endParaRPr lang="en-IN" dirty="0"/>
          </a:p>
        </p:txBody>
      </p:sp>
      <p:sp>
        <p:nvSpPr>
          <p:cNvPr id="3" name="Content Placeholder 2"/>
          <p:cNvSpPr>
            <a:spLocks noGrp="1"/>
          </p:cNvSpPr>
          <p:nvPr>
            <p:ph idx="1"/>
          </p:nvPr>
        </p:nvSpPr>
        <p:spPr>
          <a:xfrm>
            <a:off x="677334" y="1099127"/>
            <a:ext cx="8596668" cy="4942235"/>
          </a:xfrm>
        </p:spPr>
        <p:txBody>
          <a:bodyPr>
            <a:normAutofit fontScale="62500" lnSpcReduction="20000"/>
          </a:bodyPr>
          <a:lstStyle/>
          <a:p>
            <a:pPr fontAlgn="base"/>
            <a:r>
              <a:rPr lang="en-US" b="1" u="sng" dirty="0" smtClean="0">
                <a:hlinkClick r:id="rId2"/>
              </a:rPr>
              <a:t>Test </a:t>
            </a:r>
            <a:r>
              <a:rPr lang="en-US" b="1" u="sng" dirty="0">
                <a:hlinkClick r:id="rId2"/>
              </a:rPr>
              <a:t>Environment Setup</a:t>
            </a:r>
            <a:r>
              <a:rPr lang="en-US" dirty="0"/>
              <a:t> is an important part of the STLC. Basically, the test environment decides the conditions on which software is tested. This is independent activity and can be started along with test case development. In this process, the testing team is not involved. either the developer or the customer creates the testing environment.</a:t>
            </a:r>
          </a:p>
          <a:p>
            <a:pPr fontAlgn="base"/>
            <a:r>
              <a:rPr lang="en-US" sz="2600" b="1" dirty="0">
                <a:solidFill>
                  <a:srgbClr val="FF0000"/>
                </a:solidFill>
              </a:rPr>
              <a:t>5. Test Execution</a:t>
            </a:r>
          </a:p>
          <a:p>
            <a:pPr fontAlgn="base"/>
            <a:r>
              <a:rPr lang="en-US" dirty="0"/>
              <a:t>In </a:t>
            </a:r>
            <a:r>
              <a:rPr lang="en-US" b="1" u="sng" dirty="0">
                <a:hlinkClick r:id="rId3"/>
              </a:rPr>
              <a:t>Test Execution</a:t>
            </a:r>
            <a:r>
              <a:rPr lang="en-US" dirty="0"/>
              <a:t>, after the test case development and test environment setup test execution phase gets started. In this phase testing team starts executing test cases based on prepared test cases in the earlier step.</a:t>
            </a:r>
          </a:p>
          <a:p>
            <a:pPr fontAlgn="base"/>
            <a:r>
              <a:rPr lang="en-US" b="1" dirty="0"/>
              <a:t>The activities that take place during the test execution stage of the Software Testing Life Cycle (STLC) include:</a:t>
            </a:r>
            <a:endParaRPr lang="en-US" dirty="0"/>
          </a:p>
          <a:p>
            <a:pPr fontAlgn="base"/>
            <a:r>
              <a:rPr lang="en-US" b="1" dirty="0"/>
              <a:t>Test execution:</a:t>
            </a:r>
            <a:r>
              <a:rPr lang="en-US" dirty="0"/>
              <a:t> The test cases and scripts created in the test design stage are run against the software application to identify any defects or issues.</a:t>
            </a:r>
          </a:p>
          <a:p>
            <a:pPr fontAlgn="base"/>
            <a:r>
              <a:rPr lang="en-US" b="1" dirty="0"/>
              <a:t>Defect logging:</a:t>
            </a:r>
            <a:r>
              <a:rPr lang="en-US" dirty="0"/>
              <a:t> Any defects or issues that are found during test execution are logged in a defect tracking system, along with details such as the severity, priority, and description of the issue.</a:t>
            </a:r>
          </a:p>
          <a:p>
            <a:pPr fontAlgn="base"/>
            <a:r>
              <a:rPr lang="en-US" b="1" dirty="0"/>
              <a:t>Test data preparation:</a:t>
            </a:r>
            <a:r>
              <a:rPr lang="en-US" dirty="0"/>
              <a:t> Test data is prepared and loaded into the system for test execution</a:t>
            </a:r>
          </a:p>
          <a:p>
            <a:pPr fontAlgn="base"/>
            <a:r>
              <a:rPr lang="en-US" b="1" dirty="0"/>
              <a:t>Test environment setup:</a:t>
            </a:r>
            <a:r>
              <a:rPr lang="en-US" dirty="0"/>
              <a:t> The necessary hardware, software, and network configurations are set up for test execution</a:t>
            </a:r>
          </a:p>
          <a:p>
            <a:pPr fontAlgn="base"/>
            <a:r>
              <a:rPr lang="en-US" b="1" dirty="0"/>
              <a:t>Test execution: </a:t>
            </a:r>
            <a:r>
              <a:rPr lang="en-US" dirty="0"/>
              <a:t>The test cases and scripts are run, and the results are collected and analyzed.</a:t>
            </a:r>
          </a:p>
          <a:p>
            <a:pPr fontAlgn="base"/>
            <a:r>
              <a:rPr lang="en-US" b="1" dirty="0"/>
              <a:t>Test result analysis:</a:t>
            </a:r>
            <a:r>
              <a:rPr lang="en-US" dirty="0"/>
              <a:t> The results of the test execution are analyzed to determine the software's performance and identify any defects or issues.</a:t>
            </a:r>
          </a:p>
          <a:p>
            <a:pPr fontAlgn="base"/>
            <a:r>
              <a:rPr lang="en-US" b="1" dirty="0"/>
              <a:t>Defect retesting:</a:t>
            </a:r>
            <a:r>
              <a:rPr lang="en-US" dirty="0"/>
              <a:t> Any defects that are identified during test execution are retested to ensure that they have been fixed correctly.</a:t>
            </a:r>
          </a:p>
          <a:p>
            <a:pPr fontAlgn="base"/>
            <a:r>
              <a:rPr lang="en-US" b="1" dirty="0"/>
              <a:t>Test Reporting:</a:t>
            </a:r>
            <a:r>
              <a:rPr lang="en-US" dirty="0"/>
              <a:t> Test results are documented and reported to the relevant stakeholders.</a:t>
            </a:r>
          </a:p>
          <a:p>
            <a:endParaRPr lang="en-IN" dirty="0"/>
          </a:p>
        </p:txBody>
      </p:sp>
    </p:spTree>
    <p:extLst>
      <p:ext uri="{BB962C8B-B14F-4D97-AF65-F5344CB8AC3E}">
        <p14:creationId xmlns:p14="http://schemas.microsoft.com/office/powerpoint/2010/main" val="41486586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28996"/>
          </a:xfrm>
        </p:spPr>
        <p:txBody>
          <a:bodyPr>
            <a:normAutofit fontScale="90000"/>
          </a:bodyPr>
          <a:lstStyle/>
          <a:p>
            <a:r>
              <a:rPr lang="en-US" b="1" dirty="0"/>
              <a:t>6. Test Closure</a:t>
            </a:r>
            <a:br>
              <a:rPr lang="en-US" b="1" dirty="0"/>
            </a:br>
            <a:endParaRPr lang="en-IN" dirty="0"/>
          </a:p>
        </p:txBody>
      </p:sp>
      <p:sp>
        <p:nvSpPr>
          <p:cNvPr id="3" name="Content Placeholder 2"/>
          <p:cNvSpPr>
            <a:spLocks noGrp="1"/>
          </p:cNvSpPr>
          <p:nvPr>
            <p:ph idx="1"/>
          </p:nvPr>
        </p:nvSpPr>
        <p:spPr>
          <a:xfrm>
            <a:off x="677334" y="1396539"/>
            <a:ext cx="8596668" cy="4644824"/>
          </a:xfrm>
        </p:spPr>
        <p:txBody>
          <a:bodyPr>
            <a:normAutofit fontScale="70000" lnSpcReduction="20000"/>
          </a:bodyPr>
          <a:lstStyle/>
          <a:p>
            <a:pPr fontAlgn="base"/>
            <a:r>
              <a:rPr lang="en-US" b="1" u="sng" dirty="0" smtClean="0">
                <a:hlinkClick r:id="rId2"/>
              </a:rPr>
              <a:t>Test </a:t>
            </a:r>
            <a:r>
              <a:rPr lang="en-US" b="1" u="sng" dirty="0">
                <a:hlinkClick r:id="rId2"/>
              </a:rPr>
              <a:t>Closure</a:t>
            </a:r>
            <a:r>
              <a:rPr lang="en-US" dirty="0"/>
              <a:t> is the final stage of the Software Testing Life Cycle (STLC) where all testing-related activities are completed and documented. The main objective of the test closure stage is to ensure that all testing-related activities have been completed and that the software is ready for release.</a:t>
            </a:r>
          </a:p>
          <a:p>
            <a:pPr fontAlgn="base"/>
            <a:r>
              <a:rPr lang="en-US" dirty="0"/>
              <a:t>At the end of the test closure stage, the testing team should have a clear understanding of the software's quality and reliability, and any defects or issues that were identified during testing should have been resolved. The test closure stage also includes documenting the testing process and any lessons learned so that they can be used to improve future testing processes</a:t>
            </a:r>
          </a:p>
          <a:p>
            <a:pPr fontAlgn="base"/>
            <a:r>
              <a:rPr lang="en-US" dirty="0"/>
              <a:t>Test closure is the final stage of the Software Testing Life Cycle (STLC) where all testing-related activities are completed and documented. The main activities that take place during the test closure stage include:</a:t>
            </a:r>
          </a:p>
          <a:p>
            <a:pPr fontAlgn="base"/>
            <a:r>
              <a:rPr lang="en-US" b="1" dirty="0">
                <a:solidFill>
                  <a:srgbClr val="FF0000"/>
                </a:solidFill>
              </a:rPr>
              <a:t>Test summary report:</a:t>
            </a:r>
            <a:r>
              <a:rPr lang="en-US" dirty="0"/>
              <a:t> A report is created that summarizes the overall testing process, including the number of test cases executed, the number of defects found, and the overall pass/fail rate.</a:t>
            </a:r>
          </a:p>
          <a:p>
            <a:pPr fontAlgn="base"/>
            <a:r>
              <a:rPr lang="en-US" b="1" dirty="0">
                <a:solidFill>
                  <a:srgbClr val="FF0000"/>
                </a:solidFill>
              </a:rPr>
              <a:t>Defect tracking</a:t>
            </a:r>
            <a:r>
              <a:rPr lang="en-US" b="1" dirty="0"/>
              <a:t>:</a:t>
            </a:r>
            <a:r>
              <a:rPr lang="en-US" dirty="0"/>
              <a:t> All defects that were identified during testing are tracked and managed until they are resolved.</a:t>
            </a:r>
          </a:p>
          <a:p>
            <a:pPr fontAlgn="base"/>
            <a:r>
              <a:rPr lang="en-US" b="1" dirty="0">
                <a:solidFill>
                  <a:srgbClr val="FF0000"/>
                </a:solidFill>
              </a:rPr>
              <a:t>Test environment clean-up</a:t>
            </a:r>
            <a:r>
              <a:rPr lang="en-US" b="1" dirty="0"/>
              <a:t>: </a:t>
            </a:r>
            <a:r>
              <a:rPr lang="en-US" dirty="0"/>
              <a:t>The test environment is cleaned up, and all test data and test artifacts are archived.</a:t>
            </a:r>
          </a:p>
          <a:p>
            <a:pPr fontAlgn="base"/>
            <a:r>
              <a:rPr lang="en-US" b="1" dirty="0">
                <a:solidFill>
                  <a:srgbClr val="FF0000"/>
                </a:solidFill>
              </a:rPr>
              <a:t>Test closure report</a:t>
            </a:r>
            <a:r>
              <a:rPr lang="en-US" b="1" dirty="0"/>
              <a:t>:</a:t>
            </a:r>
            <a:r>
              <a:rPr lang="en-US" dirty="0"/>
              <a:t> A report is created that documents all the testing-related activities that took place, including the testing objectives, scope, schedule, and resources used.</a:t>
            </a:r>
          </a:p>
          <a:p>
            <a:pPr fontAlgn="base"/>
            <a:r>
              <a:rPr lang="en-US" b="1" dirty="0">
                <a:solidFill>
                  <a:srgbClr val="FF0000"/>
                </a:solidFill>
              </a:rPr>
              <a:t>Knowledge transfer</a:t>
            </a:r>
            <a:r>
              <a:rPr lang="en-US" b="1" dirty="0"/>
              <a:t>:</a:t>
            </a:r>
            <a:r>
              <a:rPr lang="en-US" dirty="0"/>
              <a:t> Knowledge about the software and testing process is shared with the rest of the team and any stakeholders who may need to maintain or support the software in the future.</a:t>
            </a:r>
          </a:p>
          <a:p>
            <a:pPr fontAlgn="base"/>
            <a:r>
              <a:rPr lang="en-US" b="1" dirty="0">
                <a:solidFill>
                  <a:srgbClr val="FF0000"/>
                </a:solidFill>
              </a:rPr>
              <a:t>Feedback and improvements</a:t>
            </a:r>
            <a:r>
              <a:rPr lang="en-US" b="1" dirty="0"/>
              <a:t>:</a:t>
            </a:r>
            <a:r>
              <a:rPr lang="en-US" dirty="0"/>
              <a:t> Feedback from the testing process is collected and used to improve future testing processes</a:t>
            </a:r>
          </a:p>
          <a:p>
            <a:endParaRPr lang="en-IN" dirty="0"/>
          </a:p>
        </p:txBody>
      </p:sp>
    </p:spTree>
    <p:extLst>
      <p:ext uri="{BB962C8B-B14F-4D97-AF65-F5344CB8AC3E}">
        <p14:creationId xmlns:p14="http://schemas.microsoft.com/office/powerpoint/2010/main" val="6335320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62247"/>
          </a:xfrm>
        </p:spPr>
        <p:txBody>
          <a:bodyPr>
            <a:normAutofit fontScale="90000"/>
          </a:bodyPr>
          <a:lstStyle/>
          <a:p>
            <a:pPr lvl="0"/>
            <a:r>
              <a:rPr lang="en-IN" dirty="0"/>
              <a:t>Roles and responsibilities of a Tester</a:t>
            </a:r>
            <a:br>
              <a:rPr lang="en-IN" dirty="0"/>
            </a:br>
            <a:endParaRPr lang="en-IN" dirty="0"/>
          </a:p>
        </p:txBody>
      </p:sp>
      <p:sp>
        <p:nvSpPr>
          <p:cNvPr id="3" name="Content Placeholder 2"/>
          <p:cNvSpPr>
            <a:spLocks noGrp="1"/>
          </p:cNvSpPr>
          <p:nvPr>
            <p:ph idx="1"/>
          </p:nvPr>
        </p:nvSpPr>
        <p:spPr>
          <a:xfrm>
            <a:off x="677334" y="1446415"/>
            <a:ext cx="8596668" cy="4594947"/>
          </a:xfrm>
        </p:spPr>
        <p:txBody>
          <a:bodyPr/>
          <a:lstStyle/>
          <a:p>
            <a:r>
              <a:rPr lang="en-US" b="1" dirty="0"/>
              <a:t>Software Tester Roles and Responsibilities</a:t>
            </a:r>
          </a:p>
          <a:p>
            <a:endParaRPr lang="en-IN" dirty="0"/>
          </a:p>
        </p:txBody>
      </p:sp>
      <p:pic>
        <p:nvPicPr>
          <p:cNvPr id="4" name="Picture 3"/>
          <p:cNvPicPr>
            <a:picLocks noChangeAspect="1"/>
          </p:cNvPicPr>
          <p:nvPr/>
        </p:nvPicPr>
        <p:blipFill>
          <a:blip r:embed="rId2"/>
          <a:stretch>
            <a:fillRect/>
          </a:stretch>
        </p:blipFill>
        <p:spPr>
          <a:xfrm>
            <a:off x="927543" y="1929680"/>
            <a:ext cx="8096250" cy="4286250"/>
          </a:xfrm>
          <a:prstGeom prst="rect">
            <a:avLst/>
          </a:prstGeom>
        </p:spPr>
      </p:pic>
    </p:spTree>
    <p:extLst>
      <p:ext uri="{BB962C8B-B14F-4D97-AF65-F5344CB8AC3E}">
        <p14:creationId xmlns:p14="http://schemas.microsoft.com/office/powerpoint/2010/main" val="41792265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454429"/>
          </a:xfrm>
        </p:spPr>
        <p:txBody>
          <a:bodyPr>
            <a:normAutofit fontScale="90000"/>
          </a:bodyPr>
          <a:lstStyle/>
          <a:p>
            <a:r>
              <a:rPr lang="en-IN" dirty="0"/>
              <a:t>Roles and responsibilities of a Tester</a:t>
            </a:r>
            <a:br>
              <a:rPr lang="en-IN" dirty="0"/>
            </a:br>
            <a:r>
              <a:rPr lang="en-US" dirty="0"/>
              <a:t/>
            </a:r>
            <a:br>
              <a:rPr lang="en-US" dirty="0"/>
            </a:br>
            <a:endParaRPr lang="en-IN" dirty="0"/>
          </a:p>
        </p:txBody>
      </p:sp>
      <p:sp>
        <p:nvSpPr>
          <p:cNvPr id="3" name="Content Placeholder 2"/>
          <p:cNvSpPr>
            <a:spLocks noGrp="1"/>
          </p:cNvSpPr>
          <p:nvPr>
            <p:ph idx="1"/>
          </p:nvPr>
        </p:nvSpPr>
        <p:spPr>
          <a:xfrm>
            <a:off x="677334" y="1213659"/>
            <a:ext cx="8596668" cy="4827704"/>
          </a:xfrm>
        </p:spPr>
        <p:txBody>
          <a:bodyPr>
            <a:normAutofit fontScale="55000" lnSpcReduction="20000"/>
          </a:bodyPr>
          <a:lstStyle/>
          <a:p>
            <a:endParaRPr lang="en-US" dirty="0" smtClean="0"/>
          </a:p>
          <a:p>
            <a:r>
              <a:rPr lang="en-US" dirty="0">
                <a:solidFill>
                  <a:srgbClr val="FF0000"/>
                </a:solidFill>
              </a:rPr>
              <a:t>Junior Test Engineers </a:t>
            </a:r>
            <a:r>
              <a:rPr lang="en-US" dirty="0"/>
              <a:t>generally work under the guidance of senior members of the testing team. Their primary role involves carrying out test cases, recording the outcomes of these tests, and pinpointing any issues or defects that arise during testing. Additionally, they might be involved in the initial phases of test planning and offer insights to improve testing procedures. Overall, they support the senior members in ensuring the quality and effectiveness of the testing process.</a:t>
            </a:r>
          </a:p>
          <a:p>
            <a:r>
              <a:rPr lang="en-US" dirty="0" smtClean="0"/>
              <a:t>2</a:t>
            </a:r>
            <a:r>
              <a:rPr lang="en-US" dirty="0">
                <a:solidFill>
                  <a:srgbClr val="FF0000"/>
                </a:solidFill>
              </a:rPr>
              <a:t>) Test Analyst</a:t>
            </a:r>
          </a:p>
          <a:p>
            <a:r>
              <a:rPr lang="en-US" dirty="0"/>
              <a:t>Test Analysts are responsible for </a:t>
            </a:r>
            <a:r>
              <a:rPr lang="en-US" dirty="0" smtClean="0"/>
              <a:t>analyzing </a:t>
            </a:r>
            <a:r>
              <a:rPr lang="en-US" dirty="0"/>
              <a:t>software requirements, designing test cases, and executing tests to ensure that software products meet specified requirements. They also play a crucial role in identifying defects and collaborating with development teams to resolve issues.</a:t>
            </a:r>
          </a:p>
          <a:p>
            <a:r>
              <a:rPr lang="en-US" dirty="0"/>
              <a:t>3) </a:t>
            </a:r>
            <a:r>
              <a:rPr lang="en-US" dirty="0">
                <a:solidFill>
                  <a:srgbClr val="FF0000"/>
                </a:solidFill>
              </a:rPr>
              <a:t>Test Engineer</a:t>
            </a:r>
          </a:p>
          <a:p>
            <a:r>
              <a:rPr lang="en-US" dirty="0"/>
              <a:t>Test Engineers are involved in the design, development, and execution of test cases to evaluate the functionality and performance of software applications. They work closely with developers to understand product requirements and ensure comprehensive test coverage.</a:t>
            </a:r>
          </a:p>
          <a:p>
            <a:r>
              <a:rPr lang="en-US" dirty="0"/>
              <a:t>4</a:t>
            </a:r>
            <a:r>
              <a:rPr lang="en-US" dirty="0">
                <a:solidFill>
                  <a:srgbClr val="FF0000"/>
                </a:solidFill>
              </a:rPr>
              <a:t>) Test Automation Engineer</a:t>
            </a:r>
          </a:p>
          <a:p>
            <a:r>
              <a:rPr lang="en-US" dirty="0"/>
              <a:t>Test Automation Engineers </a:t>
            </a:r>
            <a:r>
              <a:rPr lang="en-US" dirty="0" smtClean="0"/>
              <a:t>specialize </a:t>
            </a:r>
            <a:r>
              <a:rPr lang="en-US" dirty="0"/>
              <a:t>in developing automated test scripts and frameworks to streamline the testing process and improve efficiency. They are proficient in scripting languages and automation tools and play a crucial role in continuous integration and delivery pipelines.</a:t>
            </a:r>
          </a:p>
          <a:p>
            <a:r>
              <a:rPr lang="en-US" dirty="0"/>
              <a:t>Unlock your potential with </a:t>
            </a:r>
            <a:r>
              <a:rPr lang="en-US" dirty="0">
                <a:hlinkClick r:id="rId2" tooltip="ISTQB Software Testing certification"/>
              </a:rPr>
              <a:t>ISTQB Software Testing certification</a:t>
            </a:r>
            <a:r>
              <a:rPr lang="en-US" dirty="0"/>
              <a:t>! Gain recognized skills and advance your career in software testing today!</a:t>
            </a:r>
          </a:p>
          <a:p>
            <a:r>
              <a:rPr lang="en-US" dirty="0"/>
              <a:t>5) </a:t>
            </a:r>
            <a:r>
              <a:rPr lang="en-US" dirty="0">
                <a:solidFill>
                  <a:srgbClr val="FF0000"/>
                </a:solidFill>
              </a:rPr>
              <a:t>Senior Test Engineer</a:t>
            </a:r>
          </a:p>
          <a:p>
            <a:r>
              <a:rPr lang="en-US" dirty="0"/>
              <a:t>Senior Test Engineers lead testing efforts, develop test strategies, and mentor junior members of the testing team. They possess extensive knowledge of testing methodologies and tools and are responsible for ensuring the overall quality of software products.</a:t>
            </a:r>
          </a:p>
          <a:p>
            <a:r>
              <a:rPr lang="en-US" dirty="0"/>
              <a:t>6) </a:t>
            </a:r>
            <a:r>
              <a:rPr lang="en-US" dirty="0">
                <a:solidFill>
                  <a:srgbClr val="FF0000"/>
                </a:solidFill>
              </a:rPr>
              <a:t>Test Manager</a:t>
            </a:r>
          </a:p>
          <a:p>
            <a:r>
              <a:rPr lang="en-US" dirty="0"/>
              <a:t>Test Managers oversee testing activities, allocate resources, and define testing strategies to meet project objectives. They collaborate with stakeholders to </a:t>
            </a:r>
            <a:r>
              <a:rPr lang="en-US" dirty="0" err="1"/>
              <a:t>prioritise</a:t>
            </a:r>
            <a:r>
              <a:rPr lang="en-US" dirty="0"/>
              <a:t> testing efforts and ensure that testing processes align with project timelines and goals.</a:t>
            </a:r>
          </a:p>
          <a:p>
            <a:endParaRPr lang="en-IN" dirty="0"/>
          </a:p>
        </p:txBody>
      </p:sp>
    </p:spTree>
    <p:extLst>
      <p:ext uri="{BB962C8B-B14F-4D97-AF65-F5344CB8AC3E}">
        <p14:creationId xmlns:p14="http://schemas.microsoft.com/office/powerpoint/2010/main" val="11330295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66419" cy="712124"/>
          </a:xfrm>
        </p:spPr>
        <p:txBody>
          <a:bodyPr>
            <a:normAutofit fontScale="90000"/>
          </a:bodyPr>
          <a:lstStyle/>
          <a:p>
            <a:r>
              <a:rPr lang="en-US" b="1" dirty="0"/>
              <a:t>Critical skills for hiring Software Testers</a:t>
            </a:r>
            <a:br>
              <a:rPr lang="en-US" b="1" dirty="0"/>
            </a:br>
            <a:endParaRPr lang="en-IN" dirty="0"/>
          </a:p>
        </p:txBody>
      </p:sp>
      <p:pic>
        <p:nvPicPr>
          <p:cNvPr id="4" name="Content Placeholder 3"/>
          <p:cNvPicPr>
            <a:picLocks noGrp="1" noChangeAspect="1"/>
          </p:cNvPicPr>
          <p:nvPr>
            <p:ph idx="1"/>
          </p:nvPr>
        </p:nvPicPr>
        <p:blipFill>
          <a:blip r:embed="rId2"/>
          <a:stretch>
            <a:fillRect/>
          </a:stretch>
        </p:blipFill>
        <p:spPr>
          <a:xfrm>
            <a:off x="1310217" y="1704110"/>
            <a:ext cx="7331603" cy="4472246"/>
          </a:xfrm>
          <a:prstGeom prst="rect">
            <a:avLst/>
          </a:prstGeom>
        </p:spPr>
      </p:pic>
    </p:spTree>
    <p:extLst>
      <p:ext uri="{BB962C8B-B14F-4D97-AF65-F5344CB8AC3E}">
        <p14:creationId xmlns:p14="http://schemas.microsoft.com/office/powerpoint/2010/main" val="14367967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487680"/>
          </a:xfrm>
        </p:spPr>
        <p:txBody>
          <a:bodyPr>
            <a:normAutofit fontScale="90000"/>
          </a:bodyPr>
          <a:lstStyle/>
          <a:p>
            <a:r>
              <a:rPr lang="en-IN" dirty="0" smtClean="0"/>
              <a:t>testing</a:t>
            </a:r>
            <a:endParaRPr lang="en-IN" dirty="0"/>
          </a:p>
        </p:txBody>
      </p:sp>
      <p:sp>
        <p:nvSpPr>
          <p:cNvPr id="3" name="Content Placeholder 2"/>
          <p:cNvSpPr>
            <a:spLocks noGrp="1"/>
          </p:cNvSpPr>
          <p:nvPr>
            <p:ph idx="1"/>
          </p:nvPr>
        </p:nvSpPr>
        <p:spPr>
          <a:xfrm>
            <a:off x="677334" y="1155470"/>
            <a:ext cx="8596668" cy="5536276"/>
          </a:xfrm>
        </p:spPr>
        <p:txBody>
          <a:bodyPr>
            <a:normAutofit fontScale="85000" lnSpcReduction="10000"/>
          </a:bodyPr>
          <a:lstStyle/>
          <a:p>
            <a:r>
              <a:rPr lang="en-US" sz="2000" dirty="0"/>
              <a:t>1) Automation tests</a:t>
            </a:r>
          </a:p>
          <a:p>
            <a:r>
              <a:rPr lang="en-US" sz="2000" dirty="0">
                <a:hlinkClick r:id="rId2" tooltip="Automation tests"/>
              </a:rPr>
              <a:t>Automation tests</a:t>
            </a:r>
            <a:r>
              <a:rPr lang="en-US" sz="2000" dirty="0"/>
              <a:t>, facilitated by mastery of test automation tools and frameworks, streamline testing processes and broaden test coverage. They expedite repetitive test execution, relieving testers of manual tasks to focus on complex scenarios. This accelerates testing cycles, ensuring thorough examination of critical software aspects for higher-quality releases.</a:t>
            </a:r>
          </a:p>
          <a:p>
            <a:r>
              <a:rPr lang="en-US" sz="2000" dirty="0"/>
              <a:t>2) Understanding of Agile and </a:t>
            </a:r>
            <a:r>
              <a:rPr lang="en-US" sz="2000" dirty="0" err="1"/>
              <a:t>DevOps</a:t>
            </a:r>
            <a:r>
              <a:rPr lang="en-US" sz="2000" dirty="0"/>
              <a:t> methodologies</a:t>
            </a:r>
          </a:p>
          <a:p>
            <a:r>
              <a:rPr lang="en-US" sz="2000" dirty="0"/>
              <a:t>Testers need a strong understanding of Agile and </a:t>
            </a:r>
            <a:r>
              <a:rPr lang="en-US" sz="2000" dirty="0" err="1"/>
              <a:t>DevOps</a:t>
            </a:r>
            <a:r>
              <a:rPr lang="en-US" sz="2000" dirty="0"/>
              <a:t> methodologies to collaborate effectively with development teams. This involves active participation in sprint planning and stand-up meetings, as well as seamless integration of testing into the continuous delivery pipeline. By aligning with Agile and </a:t>
            </a:r>
            <a:r>
              <a:rPr lang="en-US" sz="2000" dirty="0" err="1"/>
              <a:t>DevOps</a:t>
            </a:r>
            <a:r>
              <a:rPr lang="en-US" sz="2000" dirty="0"/>
              <a:t> principles, testers promote collaboration and rapid delivery of quality software.</a:t>
            </a:r>
          </a:p>
          <a:p>
            <a:r>
              <a:rPr lang="en-US" sz="2000" dirty="0"/>
              <a:t>3) Familiarity with Software Development Life Cycle (SDLC)</a:t>
            </a:r>
          </a:p>
          <a:p>
            <a:r>
              <a:rPr lang="en-US" sz="2000" dirty="0"/>
              <a:t>Testers must grasp the Software Development Life Cycle (SDLC) phases, encompassing requirements analysis, design, implementation, testing, and maintenance. Understanding testing alignment with each phase ensures comprehensive coverage and early defect detection. This knowledge fosters collaboration with developers and stakeholders, facilitating smoother project execution and delivery of high-quality software products</a:t>
            </a:r>
            <a:r>
              <a:rPr lang="en-US" sz="2000" dirty="0" smtClean="0"/>
              <a:t>.</a:t>
            </a:r>
            <a:endParaRPr lang="en-US" sz="2000" dirty="0"/>
          </a:p>
        </p:txBody>
      </p:sp>
    </p:spTree>
    <p:extLst>
      <p:ext uri="{BB962C8B-B14F-4D97-AF65-F5344CB8AC3E}">
        <p14:creationId xmlns:p14="http://schemas.microsoft.com/office/powerpoint/2010/main" val="7785379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46545"/>
          </a:xfrm>
        </p:spPr>
        <p:txBody>
          <a:bodyPr>
            <a:normAutofit fontScale="90000"/>
          </a:bodyPr>
          <a:lstStyle/>
          <a:p>
            <a:r>
              <a:rPr lang="en-US" dirty="0"/>
              <a:t>4) Effective communication skills</a:t>
            </a:r>
            <a:br>
              <a:rPr lang="en-US" dirty="0"/>
            </a:br>
            <a:endParaRPr lang="en-IN" dirty="0"/>
          </a:p>
        </p:txBody>
      </p:sp>
      <p:sp>
        <p:nvSpPr>
          <p:cNvPr id="3" name="Content Placeholder 2"/>
          <p:cNvSpPr>
            <a:spLocks noGrp="1"/>
          </p:cNvSpPr>
          <p:nvPr>
            <p:ph idx="1"/>
          </p:nvPr>
        </p:nvSpPr>
        <p:spPr/>
        <p:txBody>
          <a:bodyPr>
            <a:normAutofit fontScale="70000" lnSpcReduction="20000"/>
          </a:bodyPr>
          <a:lstStyle/>
          <a:p>
            <a:r>
              <a:rPr lang="en-US" dirty="0"/>
              <a:t>4) Effective communication skills</a:t>
            </a:r>
          </a:p>
          <a:p>
            <a:r>
              <a:rPr lang="en-US" dirty="0"/>
              <a:t>Effective communication skills are vital for testers to engage with team members, stakeholders, and clients proficiently. Clear and concise communication ensures accurate transmission of testing status, defect reports, and resolutions. This fosters collaboration and alignment among project stakeholders, facilitating smoother project execution.</a:t>
            </a:r>
          </a:p>
          <a:p>
            <a:r>
              <a:rPr lang="en-US" dirty="0"/>
              <a:t>Testers need to convey complex technical information in a manner understandable to non-technical stakeholders, fostering transparency and trust in the testing process. Strong communication abilities enable testers to articulate testing strategies, discuss findings, and address concerns promptly.</a:t>
            </a:r>
          </a:p>
          <a:p>
            <a:r>
              <a:rPr lang="en-US" dirty="0"/>
              <a:t>Dive into essential </a:t>
            </a:r>
            <a:r>
              <a:rPr lang="en-US" dirty="0">
                <a:hlinkClick r:id="rId2" tooltip="software testing principles"/>
              </a:rPr>
              <a:t>software testing principles</a:t>
            </a:r>
            <a:r>
              <a:rPr lang="en-US" dirty="0"/>
              <a:t> to ensure top-notch product quality. Build your expertise and enhance software reliability today!</a:t>
            </a:r>
          </a:p>
          <a:p>
            <a:r>
              <a:rPr lang="en-US" dirty="0"/>
              <a:t>5) Test preparation abilities</a:t>
            </a:r>
          </a:p>
          <a:p>
            <a:r>
              <a:rPr lang="en-US" dirty="0"/>
              <a:t>Testers need the capability to craft thorough test plans, cases, and scenarios aligned with software requirements and user stories. This entails a deep understanding of the application's functionality and goals, enabling testers to define precise test objectives. They must design test cases encompassing diverse usage scenarios and edge cases to ensure robust software validation.</a:t>
            </a:r>
          </a:p>
          <a:p>
            <a:r>
              <a:rPr lang="en-US" dirty="0"/>
              <a:t>This rigorous method ensures thorough test coverage and assists in identifying possible problems early in the development phase. Testers significantly enhance the overall quality of the product by contributing to the software's reliability and customer satisfaction through rigorous testing planning.</a:t>
            </a:r>
          </a:p>
          <a:p>
            <a:endParaRPr lang="en-IN" dirty="0"/>
          </a:p>
        </p:txBody>
      </p:sp>
    </p:spTree>
    <p:extLst>
      <p:ext uri="{BB962C8B-B14F-4D97-AF65-F5344CB8AC3E}">
        <p14:creationId xmlns:p14="http://schemas.microsoft.com/office/powerpoint/2010/main" val="41725920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20189"/>
          </a:xfrm>
        </p:spPr>
        <p:txBody>
          <a:bodyPr>
            <a:normAutofit fontScale="90000"/>
          </a:bodyPr>
          <a:lstStyle/>
          <a:p>
            <a:r>
              <a:rPr lang="en-US" dirty="0"/>
              <a:t>6) Logical and rational thinking</a:t>
            </a:r>
            <a:br>
              <a:rPr lang="en-US" dirty="0"/>
            </a:br>
            <a:endParaRPr lang="en-IN" dirty="0"/>
          </a:p>
        </p:txBody>
      </p:sp>
      <p:sp>
        <p:nvSpPr>
          <p:cNvPr id="3" name="Content Placeholder 2"/>
          <p:cNvSpPr>
            <a:spLocks noGrp="1"/>
          </p:cNvSpPr>
          <p:nvPr>
            <p:ph idx="1"/>
          </p:nvPr>
        </p:nvSpPr>
        <p:spPr/>
        <p:txBody>
          <a:bodyPr/>
          <a:lstStyle/>
          <a:p>
            <a:r>
              <a:rPr lang="en-US" dirty="0" smtClean="0"/>
              <a:t>Logical </a:t>
            </a:r>
            <a:r>
              <a:rPr lang="en-US" dirty="0"/>
              <a:t>and rational thinking are essential attributes for Software Testers. They entail the ability to methodically </a:t>
            </a:r>
            <a:r>
              <a:rPr lang="en-US" dirty="0" err="1"/>
              <a:t>analyse</a:t>
            </a:r>
            <a:r>
              <a:rPr lang="en-US" dirty="0"/>
              <a:t> intricate systems, discern potential risks, and devise effective test strategies. These skills are essential when crafting a </a:t>
            </a:r>
            <a:r>
              <a:rPr lang="en-US" dirty="0">
                <a:hlinkClick r:id="rId2" tooltip="Software Tester Resume"/>
              </a:rPr>
              <a:t>Software Tester Resume</a:t>
            </a:r>
            <a:r>
              <a:rPr lang="en-US" dirty="0"/>
              <a:t>, as testers must critically evaluate software requirements to ensure they align with system functionalities.</a:t>
            </a:r>
          </a:p>
          <a:p>
            <a:r>
              <a:rPr lang="en-US" dirty="0"/>
              <a:t>Understanding how various components interact within the system aids in identifying vulnerabilities and potential failure points. By formulating comprehensive test strategies, testers can proactively mitigate risks and uphold the overall quality of the software product. This approach fosters a systematic and thorough testing process, eventually improving the performance and dependability of the software.</a:t>
            </a:r>
          </a:p>
          <a:p>
            <a:endParaRPr lang="en-IN" dirty="0"/>
          </a:p>
          <a:p>
            <a:endParaRPr lang="en-IN" dirty="0"/>
          </a:p>
        </p:txBody>
      </p:sp>
    </p:spTree>
    <p:extLst>
      <p:ext uri="{BB962C8B-B14F-4D97-AF65-F5344CB8AC3E}">
        <p14:creationId xmlns:p14="http://schemas.microsoft.com/office/powerpoint/2010/main" val="7491190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432263"/>
            <a:ext cx="8596668" cy="623454"/>
          </a:xfrm>
        </p:spPr>
        <p:txBody>
          <a:bodyPr>
            <a:normAutofit fontScale="90000"/>
          </a:bodyPr>
          <a:lstStyle/>
          <a:p>
            <a:r>
              <a:rPr lang="en-IN" b="1" dirty="0"/>
              <a:t>Advantages of Software Testing</a:t>
            </a:r>
            <a:br>
              <a:rPr lang="en-IN" b="1" dirty="0"/>
            </a:br>
            <a:endParaRPr lang="en-IN" dirty="0"/>
          </a:p>
        </p:txBody>
      </p:sp>
      <p:sp>
        <p:nvSpPr>
          <p:cNvPr id="3" name="Content Placeholder 2"/>
          <p:cNvSpPr>
            <a:spLocks noGrp="1"/>
          </p:cNvSpPr>
          <p:nvPr>
            <p:ph idx="1"/>
          </p:nvPr>
        </p:nvSpPr>
        <p:spPr>
          <a:xfrm>
            <a:off x="677334" y="1122218"/>
            <a:ext cx="8596668" cy="4721629"/>
          </a:xfrm>
        </p:spPr>
        <p:txBody>
          <a:bodyPr>
            <a:normAutofit fontScale="85000" lnSpcReduction="10000"/>
          </a:bodyPr>
          <a:lstStyle/>
          <a:p>
            <a:r>
              <a:rPr lang="en-US" dirty="0"/>
              <a:t>Software testing offers several advantages, including:</a:t>
            </a:r>
          </a:p>
          <a:p>
            <a:r>
              <a:rPr lang="en-US" dirty="0"/>
              <a:t>1) Identification of defects and issues before software deployment.</a:t>
            </a:r>
          </a:p>
          <a:p>
            <a:r>
              <a:rPr lang="en-US" dirty="0"/>
              <a:t>2) Assurance of software quality and reliability.</a:t>
            </a:r>
          </a:p>
          <a:p>
            <a:r>
              <a:rPr lang="en-US" dirty="0"/>
              <a:t>3) Validation of software functionality and compliance with specified requirements.</a:t>
            </a:r>
          </a:p>
          <a:p>
            <a:r>
              <a:rPr lang="en-US" dirty="0"/>
              <a:t>4) Reduction of overall development costs by detecting and fixing defects early in the development process.</a:t>
            </a:r>
          </a:p>
          <a:p>
            <a:r>
              <a:rPr lang="en-US" dirty="0"/>
              <a:t>5) Improved customer satisfaction through the delivery of high-quality software products.</a:t>
            </a:r>
          </a:p>
          <a:p>
            <a:r>
              <a:rPr lang="en-US" dirty="0"/>
              <a:t>6) Minimisation of business risks associated with software failures, such as financial consequences as well as reputational harm.</a:t>
            </a:r>
          </a:p>
          <a:p>
            <a:r>
              <a:rPr lang="en-US" dirty="0"/>
              <a:t>7) Enhancement of product competitiveness by ensuring superior quality and performance compared to competitors.</a:t>
            </a:r>
          </a:p>
          <a:p>
            <a:r>
              <a:rPr lang="en-US" dirty="0"/>
              <a:t>8) Facilitate regulatory compliance by ensuring adherence to industry standards and regulations.</a:t>
            </a:r>
          </a:p>
          <a:p>
            <a:r>
              <a:rPr lang="en-US" dirty="0"/>
              <a:t>9) </a:t>
            </a:r>
            <a:r>
              <a:rPr lang="en-US" dirty="0" err="1"/>
              <a:t>Optimisation</a:t>
            </a:r>
            <a:r>
              <a:rPr lang="en-US" dirty="0"/>
              <a:t> of software performance and scalability through thorough testing of various usage scenarios and load conditions.</a:t>
            </a:r>
          </a:p>
          <a:p>
            <a:endParaRPr lang="en-IN" dirty="0"/>
          </a:p>
        </p:txBody>
      </p:sp>
    </p:spTree>
    <p:extLst>
      <p:ext uri="{BB962C8B-B14F-4D97-AF65-F5344CB8AC3E}">
        <p14:creationId xmlns:p14="http://schemas.microsoft.com/office/powerpoint/2010/main" val="27332779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28749"/>
          </a:xfrm>
        </p:spPr>
        <p:txBody>
          <a:bodyPr>
            <a:normAutofit fontScale="90000"/>
          </a:bodyPr>
          <a:lstStyle/>
          <a:p>
            <a:r>
              <a:rPr lang="en-IN" b="1" dirty="0"/>
              <a:t>Disadvantages of Software Testing</a:t>
            </a:r>
            <a:br>
              <a:rPr lang="en-IN" b="1" dirty="0"/>
            </a:br>
            <a:endParaRPr lang="en-IN" dirty="0"/>
          </a:p>
        </p:txBody>
      </p:sp>
      <p:sp>
        <p:nvSpPr>
          <p:cNvPr id="3" name="Content Placeholder 2"/>
          <p:cNvSpPr>
            <a:spLocks noGrp="1"/>
          </p:cNvSpPr>
          <p:nvPr>
            <p:ph idx="1"/>
          </p:nvPr>
        </p:nvSpPr>
        <p:spPr>
          <a:xfrm>
            <a:off x="677334" y="1787237"/>
            <a:ext cx="8596668" cy="4254126"/>
          </a:xfrm>
        </p:spPr>
        <p:txBody>
          <a:bodyPr>
            <a:normAutofit fontScale="92500" lnSpcReduction="20000"/>
          </a:bodyPr>
          <a:lstStyle/>
          <a:p>
            <a:r>
              <a:rPr lang="en-US" b="1" dirty="0"/>
              <a:t>Disadvantages of Software Testing</a:t>
            </a:r>
          </a:p>
          <a:p>
            <a:r>
              <a:rPr lang="en-US" dirty="0"/>
              <a:t>Despite its benefits, Software Testing also has some limitations, such as:</a:t>
            </a:r>
          </a:p>
          <a:p>
            <a:r>
              <a:rPr lang="en-US" dirty="0"/>
              <a:t>1) Time and resource limitations might limit the depth and scope of testing.</a:t>
            </a:r>
          </a:p>
          <a:p>
            <a:r>
              <a:rPr lang="en-US" dirty="0"/>
              <a:t>2) Over-reliance on automated testing may cause certain aspects of software </a:t>
            </a:r>
            <a:r>
              <a:rPr lang="en-US" dirty="0" err="1"/>
              <a:t>behaviour</a:t>
            </a:r>
            <a:r>
              <a:rPr lang="en-US" dirty="0"/>
              <a:t> to be overlooked.</a:t>
            </a:r>
          </a:p>
          <a:p>
            <a:r>
              <a:rPr lang="en-US" dirty="0"/>
              <a:t>3) Testing cannot guarantee the absence of defects; it can only reduce their likelihood.</a:t>
            </a:r>
          </a:p>
          <a:p>
            <a:r>
              <a:rPr lang="en-US" dirty="0"/>
              <a:t>4) Increased complexity of software systems may lead to challenges in test case design and execution.</a:t>
            </a:r>
          </a:p>
          <a:p>
            <a:r>
              <a:rPr lang="en-US" dirty="0"/>
              <a:t>5) Inadequate documentation or incomplete requirements may hinder the effectiveness of testing efforts.</a:t>
            </a:r>
          </a:p>
          <a:p>
            <a:r>
              <a:rPr lang="en-US" dirty="0"/>
              <a:t>6) Limited access to real-world testing environments may impact the accuracy of test results.</a:t>
            </a:r>
          </a:p>
          <a:p>
            <a:r>
              <a:rPr lang="en-US" dirty="0"/>
              <a:t>Master your skills with </a:t>
            </a:r>
            <a:r>
              <a:rPr lang="en-US" dirty="0">
                <a:hlinkClick r:id="rId2" tooltip="Certified Software Testing Manager (CSTM) Training"/>
              </a:rPr>
              <a:t>Certified Software Testing Manager (CSTM) Training</a:t>
            </a:r>
            <a:r>
              <a:rPr lang="en-US" dirty="0"/>
              <a:t>. Sign up now to become a certified testing manager!</a:t>
            </a:r>
          </a:p>
          <a:p>
            <a:endParaRPr lang="en-IN" dirty="0"/>
          </a:p>
        </p:txBody>
      </p:sp>
    </p:spTree>
    <p:extLst>
      <p:ext uri="{BB962C8B-B14F-4D97-AF65-F5344CB8AC3E}">
        <p14:creationId xmlns:p14="http://schemas.microsoft.com/office/powerpoint/2010/main" val="11740996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84728"/>
            <a:ext cx="8596668" cy="914399"/>
          </a:xfrm>
        </p:spPr>
        <p:txBody>
          <a:bodyPr>
            <a:normAutofit fontScale="90000"/>
          </a:bodyPr>
          <a:lstStyle/>
          <a:p>
            <a:r>
              <a:rPr lang="en-US" dirty="0"/>
              <a:t>Difference between Quality Assurance (QA) and Quality Control (QC)</a:t>
            </a:r>
            <a:endParaRPr lang="en-IN" dirty="0"/>
          </a:p>
        </p:txBody>
      </p:sp>
      <p:pic>
        <p:nvPicPr>
          <p:cNvPr id="4" name="Content Placeholder 3"/>
          <p:cNvPicPr>
            <a:picLocks noGrp="1" noChangeAspect="1"/>
          </p:cNvPicPr>
          <p:nvPr>
            <p:ph idx="1"/>
          </p:nvPr>
        </p:nvPicPr>
        <p:blipFill>
          <a:blip r:embed="rId2"/>
          <a:stretch>
            <a:fillRect/>
          </a:stretch>
        </p:blipFill>
        <p:spPr>
          <a:xfrm>
            <a:off x="1099127" y="1163783"/>
            <a:ext cx="8765309" cy="5759090"/>
          </a:xfrm>
          <a:prstGeom prst="rect">
            <a:avLst/>
          </a:prstGeom>
        </p:spPr>
      </p:pic>
    </p:spTree>
    <p:extLst>
      <p:ext uri="{BB962C8B-B14F-4D97-AF65-F5344CB8AC3E}">
        <p14:creationId xmlns:p14="http://schemas.microsoft.com/office/powerpoint/2010/main" val="42534610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846831" y="2160588"/>
            <a:ext cx="8258376" cy="3881437"/>
          </a:xfrm>
          <a:prstGeom prst="rect">
            <a:avLst/>
          </a:prstGeom>
        </p:spPr>
      </p:pic>
    </p:spTree>
    <p:extLst>
      <p:ext uri="{BB962C8B-B14F-4D97-AF65-F5344CB8AC3E}">
        <p14:creationId xmlns:p14="http://schemas.microsoft.com/office/powerpoint/2010/main" val="230262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462742"/>
          </a:xfrm>
        </p:spPr>
        <p:txBody>
          <a:bodyPr>
            <a:normAutofit fontScale="90000"/>
          </a:bodyPr>
          <a:lstStyle/>
          <a:p>
            <a:r>
              <a:rPr lang="en-US" b="1" dirty="0"/>
              <a:t>What is Quality Assurance (QA)?</a:t>
            </a:r>
            <a:br>
              <a:rPr lang="en-US" b="1" dirty="0"/>
            </a:br>
            <a:endParaRPr lang="en-IN" dirty="0"/>
          </a:p>
        </p:txBody>
      </p:sp>
      <p:sp>
        <p:nvSpPr>
          <p:cNvPr id="3" name="Content Placeholder 2"/>
          <p:cNvSpPr>
            <a:spLocks noGrp="1"/>
          </p:cNvSpPr>
          <p:nvPr>
            <p:ph idx="1"/>
          </p:nvPr>
        </p:nvSpPr>
        <p:spPr>
          <a:xfrm>
            <a:off x="677334" y="1596045"/>
            <a:ext cx="8596668" cy="4445318"/>
          </a:xfrm>
        </p:spPr>
        <p:txBody>
          <a:bodyPr>
            <a:normAutofit fontScale="85000" lnSpcReduction="20000"/>
          </a:bodyPr>
          <a:lstStyle/>
          <a:p>
            <a:pPr fontAlgn="base"/>
            <a:r>
              <a:rPr lang="en-US" u="sng" dirty="0" smtClean="0">
                <a:hlinkClick r:id="rId2"/>
              </a:rPr>
              <a:t>Quality </a:t>
            </a:r>
            <a:r>
              <a:rPr lang="en-US" u="sng" dirty="0">
                <a:hlinkClick r:id="rId2"/>
              </a:rPr>
              <a:t>assurance</a:t>
            </a:r>
            <a:r>
              <a:rPr lang="en-US" dirty="0"/>
              <a:t> is a method of making the software application with fewer defects and mistakes when it is finally released to the end users. Quality Assurance is defined as an activity that ensures the approaches, techniques, methods, and processes designed for the projects are implemented correctly. It recognizes defects in the process. Quality Assurance is completed before Quality Control. </a:t>
            </a:r>
          </a:p>
          <a:p>
            <a:pPr fontAlgn="base"/>
            <a:r>
              <a:rPr lang="en-US" dirty="0"/>
              <a:t>It focuses on preventing defects.</a:t>
            </a:r>
          </a:p>
          <a:p>
            <a:pPr fontAlgn="base"/>
            <a:r>
              <a:rPr lang="en-US" dirty="0"/>
              <a:t>It is a proactive process and is preventive in nature.</a:t>
            </a:r>
          </a:p>
          <a:p>
            <a:pPr fontAlgn="base"/>
            <a:r>
              <a:rPr lang="en-US" dirty="0"/>
              <a:t>It helps to recognize flaws in the process.</a:t>
            </a:r>
          </a:p>
          <a:p>
            <a:pPr fontAlgn="base"/>
            <a:r>
              <a:rPr lang="en-US" dirty="0"/>
              <a:t>These activities monitor and verify that the processes used to manage and create deliverables have been followed. </a:t>
            </a:r>
          </a:p>
          <a:p>
            <a:pPr fontAlgn="base"/>
            <a:r>
              <a:rPr lang="en-US" b="1" dirty="0"/>
              <a:t>Characteristics of Quality Assurance</a:t>
            </a:r>
          </a:p>
          <a:p>
            <a:pPr fontAlgn="base"/>
            <a:r>
              <a:rPr lang="en-US" b="1" dirty="0"/>
              <a:t>Process-Oriented:</a:t>
            </a:r>
            <a:r>
              <a:rPr lang="en-US" dirty="0"/>
              <a:t> To guarantee constant product quality, it places a strong emphasis on the creation and application of reliable procedures and standards.</a:t>
            </a:r>
          </a:p>
          <a:p>
            <a:pPr fontAlgn="base"/>
            <a:r>
              <a:rPr lang="en-US" b="1" dirty="0"/>
              <a:t>Proactive Process: </a:t>
            </a:r>
            <a:r>
              <a:rPr lang="en-US" dirty="0"/>
              <a:t>Quality Assurance (QA) tries to prevent errors by enhancing procedures, guaranteeing that quality is integrated into the product from the start.</a:t>
            </a:r>
          </a:p>
          <a:p>
            <a:pPr fontAlgn="base"/>
            <a:r>
              <a:rPr lang="en-US" b="1" dirty="0"/>
              <a:t>Continuous Improvement</a:t>
            </a:r>
            <a:r>
              <a:rPr lang="en-US" dirty="0"/>
              <a:t>: To improve quality over time, QA includes constant process assessment and improvement.</a:t>
            </a:r>
          </a:p>
          <a:p>
            <a:endParaRPr lang="en-IN" dirty="0"/>
          </a:p>
        </p:txBody>
      </p:sp>
    </p:spTree>
    <p:extLst>
      <p:ext uri="{BB962C8B-B14F-4D97-AF65-F5344CB8AC3E}">
        <p14:creationId xmlns:p14="http://schemas.microsoft.com/office/powerpoint/2010/main" val="14781145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53935"/>
          </a:xfrm>
        </p:spPr>
        <p:txBody>
          <a:bodyPr>
            <a:normAutofit fontScale="90000"/>
          </a:bodyPr>
          <a:lstStyle/>
          <a:p>
            <a:r>
              <a:rPr lang="en-IN" b="1" dirty="0"/>
              <a:t>What is Quality Control?</a:t>
            </a:r>
            <a:br>
              <a:rPr lang="en-IN" b="1" dirty="0"/>
            </a:br>
            <a:endParaRPr lang="en-IN" dirty="0"/>
          </a:p>
        </p:txBody>
      </p:sp>
      <p:sp>
        <p:nvSpPr>
          <p:cNvPr id="3" name="Content Placeholder 2"/>
          <p:cNvSpPr>
            <a:spLocks noGrp="1"/>
          </p:cNvSpPr>
          <p:nvPr>
            <p:ph idx="1"/>
          </p:nvPr>
        </p:nvSpPr>
        <p:spPr>
          <a:xfrm>
            <a:off x="677334" y="1354975"/>
            <a:ext cx="8596668" cy="4686387"/>
          </a:xfrm>
        </p:spPr>
        <p:txBody>
          <a:bodyPr/>
          <a:lstStyle/>
          <a:p>
            <a:pPr fontAlgn="base"/>
            <a:r>
              <a:rPr lang="en-US" b="1" dirty="0"/>
              <a:t>What is Quality Control?</a:t>
            </a:r>
          </a:p>
          <a:p>
            <a:pPr fontAlgn="base"/>
            <a:r>
              <a:rPr lang="en-US" dirty="0"/>
              <a:t>Quality Control is a software engineering process that is used to ensure that the approaches, techniques, methods, and processes designed for the project are followed correctly. Quality control activities operate and verify that the application meet the defined quality standards. </a:t>
            </a:r>
          </a:p>
          <a:p>
            <a:pPr fontAlgn="base"/>
            <a:r>
              <a:rPr lang="en-US" dirty="0"/>
              <a:t>It focuses on an examination of the quality of the end products and the final outcome rather than focusing on the processes used to create a product.</a:t>
            </a:r>
          </a:p>
          <a:p>
            <a:pPr fontAlgn="base"/>
            <a:r>
              <a:rPr lang="en-US" dirty="0"/>
              <a:t>It is a reactive process and is detection in nature.</a:t>
            </a:r>
          </a:p>
          <a:p>
            <a:pPr fontAlgn="base"/>
            <a:r>
              <a:rPr lang="en-US" dirty="0"/>
              <a:t>These activities monitor and verify that the project deliverables meet the defined quality standards</a:t>
            </a:r>
          </a:p>
          <a:p>
            <a:endParaRPr lang="en-IN" dirty="0"/>
          </a:p>
        </p:txBody>
      </p:sp>
    </p:spTree>
    <p:extLst>
      <p:ext uri="{BB962C8B-B14F-4D97-AF65-F5344CB8AC3E}">
        <p14:creationId xmlns:p14="http://schemas.microsoft.com/office/powerpoint/2010/main" val="2815321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2675449" y="2160588"/>
            <a:ext cx="4601140" cy="3881437"/>
          </a:xfrm>
          <a:prstGeom prst="rect">
            <a:avLst/>
          </a:prstGeom>
        </p:spPr>
      </p:pic>
    </p:spTree>
    <p:extLst>
      <p:ext uri="{BB962C8B-B14F-4D97-AF65-F5344CB8AC3E}">
        <p14:creationId xmlns:p14="http://schemas.microsoft.com/office/powerpoint/2010/main" val="26525745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20684"/>
          </a:xfrm>
        </p:spPr>
        <p:txBody>
          <a:bodyPr>
            <a:normAutofit fontScale="90000"/>
          </a:bodyPr>
          <a:lstStyle/>
          <a:p>
            <a:r>
              <a:rPr lang="en-US" dirty="0"/>
              <a:t>Characteristics of Quality Control</a:t>
            </a:r>
            <a:br>
              <a:rPr lang="en-US" dirty="0"/>
            </a:br>
            <a:endParaRPr lang="en-IN" dirty="0"/>
          </a:p>
        </p:txBody>
      </p:sp>
      <p:sp>
        <p:nvSpPr>
          <p:cNvPr id="3" name="Content Placeholder 2"/>
          <p:cNvSpPr>
            <a:spLocks noGrp="1"/>
          </p:cNvSpPr>
          <p:nvPr>
            <p:ph idx="1"/>
          </p:nvPr>
        </p:nvSpPr>
        <p:spPr>
          <a:xfrm>
            <a:off x="677334" y="1438103"/>
            <a:ext cx="8596668" cy="4603260"/>
          </a:xfrm>
        </p:spPr>
        <p:txBody>
          <a:bodyPr/>
          <a:lstStyle/>
          <a:p>
            <a:r>
              <a:rPr lang="en-US" dirty="0"/>
              <a:t>Characteristics of Quality Control</a:t>
            </a:r>
          </a:p>
          <a:p>
            <a:r>
              <a:rPr lang="en-US" b="1" dirty="0">
                <a:solidFill>
                  <a:srgbClr val="FF0000"/>
                </a:solidFill>
              </a:rPr>
              <a:t>Reactive Process</a:t>
            </a:r>
            <a:r>
              <a:rPr lang="en-US" dirty="0"/>
              <a:t>: It is the process to find and fix the flaws in the completed product, with focus on finding problems rather than solving them.</a:t>
            </a:r>
          </a:p>
          <a:p>
            <a:r>
              <a:rPr lang="en-US" dirty="0">
                <a:solidFill>
                  <a:srgbClr val="FF0000"/>
                </a:solidFill>
              </a:rPr>
              <a:t>Defect Identification</a:t>
            </a:r>
            <a:r>
              <a:rPr lang="en-US" dirty="0"/>
              <a:t>: With testing and inspection, the goal is to find the defect as early as possible..</a:t>
            </a:r>
          </a:p>
          <a:p>
            <a:r>
              <a:rPr lang="en-US" dirty="0">
                <a:solidFill>
                  <a:srgbClr val="FF0000"/>
                </a:solidFill>
              </a:rPr>
              <a:t>Product-oriented:</a:t>
            </a:r>
            <a:r>
              <a:rPr lang="en-US" dirty="0"/>
              <a:t> It entails examining, evaluating, and verifying the product to make sure it satisfies the required standards of quality.</a:t>
            </a:r>
            <a:endParaRPr lang="en-IN" dirty="0"/>
          </a:p>
        </p:txBody>
      </p:sp>
    </p:spTree>
    <p:extLst>
      <p:ext uri="{BB962C8B-B14F-4D97-AF65-F5344CB8AC3E}">
        <p14:creationId xmlns:p14="http://schemas.microsoft.com/office/powerpoint/2010/main" val="157709774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595745"/>
          </a:xfrm>
        </p:spPr>
        <p:txBody>
          <a:bodyPr>
            <a:normAutofit fontScale="90000"/>
          </a:bodyPr>
          <a:lstStyle/>
          <a:p>
            <a:r>
              <a:rPr lang="en-IN" dirty="0" smtClean="0"/>
              <a:t>QA /QC</a:t>
            </a:r>
            <a:endParaRPr lang="en-IN" dirty="0"/>
          </a:p>
        </p:txBody>
      </p:sp>
      <p:pic>
        <p:nvPicPr>
          <p:cNvPr id="1026" name="Picture 2" descr="QA Testing vs. QC Testing: What’s the Difference? | Synoptek"/>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68933" y="1266849"/>
            <a:ext cx="8013469" cy="55911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98339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
            <a:ext cx="8596668" cy="1145308"/>
          </a:xfrm>
        </p:spPr>
        <p:txBody>
          <a:bodyPr>
            <a:normAutofit fontScale="90000"/>
          </a:bodyPr>
          <a:lstStyle/>
          <a:p>
            <a:r>
              <a:rPr lang="en-US" b="1" dirty="0"/>
              <a:t>Key Differences Between Product-Based and Service-Based Company:</a:t>
            </a:r>
            <a:br>
              <a:rPr lang="en-US" b="1" dirty="0"/>
            </a:br>
            <a:endParaRPr lang="en-IN"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4017897691"/>
              </p:ext>
            </p:extLst>
          </p:nvPr>
        </p:nvGraphicFramePr>
        <p:xfrm>
          <a:off x="471054" y="1274618"/>
          <a:ext cx="8571346" cy="5495639"/>
        </p:xfrm>
        <a:graphic>
          <a:graphicData uri="http://schemas.openxmlformats.org/drawingml/2006/table">
            <a:tbl>
              <a:tblPr/>
              <a:tblGrid>
                <a:gridCol w="4285673"/>
                <a:gridCol w="4285673"/>
              </a:tblGrid>
              <a:tr h="278077">
                <a:tc>
                  <a:txBody>
                    <a:bodyPr/>
                    <a:lstStyle/>
                    <a:p>
                      <a:pPr algn="ctr" rtl="0" fontAlgn="base"/>
                      <a:r>
                        <a:rPr lang="en-IN" sz="800" b="1" dirty="0">
                          <a:effectLst/>
                        </a:rPr>
                        <a:t>Product-Based Company</a:t>
                      </a:r>
                    </a:p>
                  </a:txBody>
                  <a:tcPr marL="21544" marR="21544" marT="53859" marB="5385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rtl="0" fontAlgn="base"/>
                      <a:r>
                        <a:rPr lang="en-IN" sz="800" b="1" dirty="0">
                          <a:effectLst/>
                        </a:rPr>
                        <a:t>Service-Based Company</a:t>
                      </a:r>
                    </a:p>
                  </a:txBody>
                  <a:tcPr marL="53859" marR="53859" marT="53859" marB="5385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r>
              <a:tr h="834810">
                <a:tc>
                  <a:txBody>
                    <a:bodyPr/>
                    <a:lstStyle/>
                    <a:p>
                      <a:pPr algn="ctr" fontAlgn="ctr"/>
                      <a:r>
                        <a:rPr lang="en-US" sz="700" b="0">
                          <a:effectLst/>
                        </a:rPr>
                        <a:t>These are the companies that have their own products to sell. Examples are Google, Alphabet, Facebook, Adobe, etc.</a:t>
                      </a:r>
                    </a:p>
                  </a:txBody>
                  <a:tcPr marL="53859" marR="53859" marT="75402" marB="75402"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700" b="0">
                          <a:effectLst/>
                        </a:rPr>
                        <a:t>These companies may or may not have their products, but their primary business is service. They work for other organizations or we can say they are clients of Product Based companies. Examples are Infosys, Wipro, TCS, Cognizant, etc.</a:t>
                      </a:r>
                    </a:p>
                  </a:txBody>
                  <a:tcPr marL="53859" marR="53859" marT="75402" marB="75402"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573932">
                <a:tc>
                  <a:txBody>
                    <a:bodyPr/>
                    <a:lstStyle/>
                    <a:p>
                      <a:pPr algn="ctr" fontAlgn="ctr"/>
                      <a:r>
                        <a:rPr lang="en-US" sz="700" b="0">
                          <a:effectLst/>
                        </a:rPr>
                        <a:t>These hire a very limited number of candidates from top colleges like IITs and NITs, and they generally don't conduct campus placements in tier 3 colleges.</a:t>
                      </a:r>
                    </a:p>
                  </a:txBody>
                  <a:tcPr marL="53859" marR="53859" marT="75402" marB="75402"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700" b="0">
                          <a:effectLst/>
                        </a:rPr>
                        <a:t>These are the mass recruiters in campus placements.</a:t>
                      </a:r>
                    </a:p>
                  </a:txBody>
                  <a:tcPr marL="53859" marR="53859" marT="75402" marB="75402"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443493">
                <a:tc>
                  <a:txBody>
                    <a:bodyPr/>
                    <a:lstStyle/>
                    <a:p>
                      <a:pPr algn="ctr" fontAlgn="ctr"/>
                      <a:r>
                        <a:rPr lang="en-US" sz="700" b="0">
                          <a:effectLst/>
                        </a:rPr>
                        <a:t>These provide high salaries and hikes, also the salary is revised based on the cost of living.</a:t>
                      </a:r>
                    </a:p>
                  </a:txBody>
                  <a:tcPr marL="53859" marR="53859" marT="75402" marB="75402"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700" b="0">
                          <a:effectLst/>
                        </a:rPr>
                        <a:t>These provide comparatively less salary and hikes. </a:t>
                      </a:r>
                    </a:p>
                  </a:txBody>
                  <a:tcPr marL="53859" marR="53859" marT="75402" marB="75402"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573932">
                <a:tc>
                  <a:txBody>
                    <a:bodyPr/>
                    <a:lstStyle/>
                    <a:p>
                      <a:pPr algn="ctr" fontAlgn="ctr"/>
                      <a:r>
                        <a:rPr lang="en-US" sz="700" b="0">
                          <a:effectLst/>
                        </a:rPr>
                        <a:t>These conduct more interview rounds, and cracking interviews is a bit more difficult than Service-Based companies.</a:t>
                      </a:r>
                    </a:p>
                  </a:txBody>
                  <a:tcPr marL="53859" marR="53859" marT="75402" marB="75402"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700" b="0">
                          <a:effectLst/>
                        </a:rPr>
                        <a:t>Cracking interview is relatively easy and has few rounds.</a:t>
                      </a:r>
                    </a:p>
                  </a:txBody>
                  <a:tcPr marL="53859" marR="53859" marT="75402" marB="75402"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704369">
                <a:tc>
                  <a:txBody>
                    <a:bodyPr/>
                    <a:lstStyle/>
                    <a:p>
                      <a:pPr algn="ctr" fontAlgn="ctr"/>
                      <a:r>
                        <a:rPr lang="en-US" sz="700" b="0">
                          <a:effectLst/>
                        </a:rPr>
                        <a:t>The Learning curve is good, optimized, and efficient means are used. Also, you get to work on the latest technologies.</a:t>
                      </a:r>
                    </a:p>
                  </a:txBody>
                  <a:tcPr marL="53859" marR="53859" marT="75402" marB="75402"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700" b="0">
                          <a:effectLst/>
                        </a:rPr>
                        <a:t>The learning curve is average. Generally, they put freshers into support projects where the chances are that one does not have the choice to select his/her domain.</a:t>
                      </a:r>
                    </a:p>
                  </a:txBody>
                  <a:tcPr marL="53859" marR="53859" marT="75402" marB="75402"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443493">
                <a:tc>
                  <a:txBody>
                    <a:bodyPr/>
                    <a:lstStyle/>
                    <a:p>
                      <a:pPr algn="ctr" fontAlgn="ctr"/>
                      <a:r>
                        <a:rPr lang="en-US" sz="700" b="0">
                          <a:effectLst/>
                        </a:rPr>
                        <a:t>Flexible office timings, all you need to do is finish your work in the given time frame.</a:t>
                      </a:r>
                    </a:p>
                  </a:txBody>
                  <a:tcPr marL="53859" marR="53859" marT="75402" marB="75402"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700" b="0">
                          <a:effectLst/>
                        </a:rPr>
                        <a:t>Strict office timings, around 7-9 working hours per day.</a:t>
                      </a:r>
                    </a:p>
                  </a:txBody>
                  <a:tcPr marL="53859" marR="53859" marT="75402" marB="75402"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313054">
                <a:tc>
                  <a:txBody>
                    <a:bodyPr/>
                    <a:lstStyle/>
                    <a:p>
                      <a:pPr algn="ctr" fontAlgn="ctr"/>
                      <a:r>
                        <a:rPr lang="en-IN" sz="700" b="0">
                          <a:effectLst/>
                        </a:rPr>
                        <a:t>Relatively high job security.</a:t>
                      </a:r>
                    </a:p>
                  </a:txBody>
                  <a:tcPr marL="53859" marR="53859" marT="75402" marB="75402"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700" b="0">
                          <a:effectLst/>
                        </a:rPr>
                        <a:t>Relatively low job security.</a:t>
                      </a:r>
                    </a:p>
                  </a:txBody>
                  <a:tcPr marL="53859" marR="53859" marT="75402" marB="75402"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443493">
                <a:tc>
                  <a:txBody>
                    <a:bodyPr/>
                    <a:lstStyle/>
                    <a:p>
                      <a:pPr algn="ctr" fontAlgn="ctr"/>
                      <a:r>
                        <a:rPr lang="en-US" sz="700" b="0">
                          <a:effectLst/>
                        </a:rPr>
                        <a:t>Turnaround time is quick as products are bought instantaneously by Very hikes consumers.</a:t>
                      </a:r>
                    </a:p>
                  </a:txBody>
                  <a:tcPr marL="53859" marR="53859" marT="75402" marB="75402"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700" b="0">
                          <a:effectLst/>
                        </a:rPr>
                        <a:t>Turnaround time is low and is dependent on the consumer's requirements.</a:t>
                      </a:r>
                    </a:p>
                  </a:txBody>
                  <a:tcPr marL="53859" marR="53859" marT="75402" marB="75402"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443493">
                <a:tc>
                  <a:txBody>
                    <a:bodyPr/>
                    <a:lstStyle/>
                    <a:p>
                      <a:pPr algn="ctr" fontAlgn="ctr"/>
                      <a:r>
                        <a:rPr lang="en-US" sz="700" b="0">
                          <a:effectLst/>
                        </a:rPr>
                        <a:t>A lot of revenue is invested in marketing and advertisement by these companies.</a:t>
                      </a:r>
                    </a:p>
                  </a:txBody>
                  <a:tcPr marL="53859" marR="53859" marT="75402" marB="75402"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700" b="0">
                          <a:effectLst/>
                        </a:rPr>
                        <a:t>Very little is invested in marketing as these companies directly contact clients.</a:t>
                      </a:r>
                    </a:p>
                  </a:txBody>
                  <a:tcPr marL="53859" marR="53859" marT="75402" marB="75402"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443493">
                <a:tc>
                  <a:txBody>
                    <a:bodyPr/>
                    <a:lstStyle/>
                    <a:p>
                      <a:pPr algn="ctr" fontAlgn="ctr"/>
                      <a:r>
                        <a:rPr lang="en-US" sz="700" b="0" dirty="0">
                          <a:effectLst/>
                        </a:rPr>
                        <a:t>The client pays for tangible products after performing various tests physically.</a:t>
                      </a:r>
                    </a:p>
                  </a:txBody>
                  <a:tcPr marL="53859" marR="53859" marT="75402" marB="75402"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700" b="0" dirty="0">
                          <a:effectLst/>
                        </a:rPr>
                        <a:t>There is no physical experience with the product and the client only pays for that.</a:t>
                      </a:r>
                    </a:p>
                  </a:txBody>
                  <a:tcPr marL="53859" marR="53859" marT="75402" marB="75402"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bl>
          </a:graphicData>
        </a:graphic>
      </p:graphicFrame>
      <p:sp>
        <p:nvSpPr>
          <p:cNvPr id="6" name="Rectangle 1"/>
          <p:cNvSpPr>
            <a:spLocks noChangeArrowheads="1"/>
          </p:cNvSpPr>
          <p:nvPr/>
        </p:nvSpPr>
        <p:spPr bwMode="auto">
          <a:xfrm>
            <a:off x="-4448284" y="-140762"/>
            <a:ext cx="20734533" cy="5539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smtClean="0">
                <a:ln>
                  <a:noFill/>
                </a:ln>
                <a:solidFill>
                  <a:srgbClr val="273239"/>
                </a:solidFill>
                <a:effectLst/>
                <a:latin typeface="Nunito"/>
              </a:rPr>
              <a:t>Conclusion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816907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520931"/>
          </a:xfrm>
        </p:spPr>
        <p:txBody>
          <a:bodyPr>
            <a:noAutofit/>
          </a:bodyPr>
          <a:lstStyle/>
          <a:p>
            <a:pPr fontAlgn="base"/>
            <a:r>
              <a:rPr lang="en-US" sz="1600" b="1" dirty="0"/>
              <a:t>Types of Software Testing</a:t>
            </a:r>
            <a:br>
              <a:rPr lang="en-US" sz="1600" b="1" dirty="0"/>
            </a:br>
            <a:endParaRPr lang="en-IN" sz="1600" dirty="0"/>
          </a:p>
        </p:txBody>
      </p:sp>
      <p:pic>
        <p:nvPicPr>
          <p:cNvPr id="4" name="Content Placeholder 3"/>
          <p:cNvPicPr>
            <a:picLocks noGrp="1" noChangeAspect="1"/>
          </p:cNvPicPr>
          <p:nvPr>
            <p:ph idx="1"/>
          </p:nvPr>
        </p:nvPicPr>
        <p:blipFill>
          <a:blip r:embed="rId2"/>
          <a:stretch>
            <a:fillRect/>
          </a:stretch>
        </p:blipFill>
        <p:spPr>
          <a:xfrm>
            <a:off x="1238596" y="1130531"/>
            <a:ext cx="7198822" cy="5112327"/>
          </a:xfrm>
          <a:prstGeom prst="rect">
            <a:avLst/>
          </a:prstGeom>
        </p:spPr>
      </p:pic>
    </p:spTree>
    <p:extLst>
      <p:ext uri="{BB962C8B-B14F-4D97-AF65-F5344CB8AC3E}">
        <p14:creationId xmlns:p14="http://schemas.microsoft.com/office/powerpoint/2010/main" val="168623784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base"/>
            <a:r>
              <a:rPr lang="en-US" b="1" dirty="0"/>
              <a:t>1. Manual Testing</a:t>
            </a:r>
            <a:br>
              <a:rPr lang="en-US" b="1" dirty="0"/>
            </a:br>
            <a:r>
              <a:rPr lang="en-US" b="1" dirty="0" smtClean="0"/>
              <a:t/>
            </a:r>
            <a:br>
              <a:rPr lang="en-US" b="1" dirty="0" smtClean="0"/>
            </a:br>
            <a:r>
              <a:rPr lang="en-US" b="1" dirty="0"/>
              <a:t/>
            </a:r>
            <a:br>
              <a:rPr lang="en-US" b="1" dirty="0"/>
            </a:br>
            <a:r>
              <a:rPr lang="en-US" b="1" dirty="0" smtClean="0"/>
              <a:t/>
            </a:r>
            <a:br>
              <a:rPr lang="en-US" b="1" dirty="0" smtClean="0"/>
            </a:br>
            <a:r>
              <a:rPr lang="en-US" b="1" u="sng" dirty="0" smtClean="0">
                <a:hlinkClick r:id="rId2"/>
              </a:rPr>
              <a:t>Manual </a:t>
            </a:r>
            <a:r>
              <a:rPr lang="en-US" b="1" u="sng" dirty="0">
                <a:hlinkClick r:id="rId2"/>
              </a:rPr>
              <a:t>Testing</a:t>
            </a:r>
            <a:r>
              <a:rPr lang="en-US" b="1" dirty="0"/>
              <a:t> </a:t>
            </a:r>
            <a:r>
              <a:rPr lang="en-US" dirty="0"/>
              <a:t>is a technique to test the software that is carried out using the functions and features of an application. Which means manual testing will check the defect manually with trying one by one function is working as expected.</a:t>
            </a:r>
            <a:br>
              <a:rPr lang="en-US" dirty="0"/>
            </a:br>
            <a:endParaRPr lang="en-IN" dirty="0"/>
          </a:p>
        </p:txBody>
      </p:sp>
      <p:sp>
        <p:nvSpPr>
          <p:cNvPr id="3" name="Content Placeholder 2"/>
          <p:cNvSpPr>
            <a:spLocks noGrp="1"/>
          </p:cNvSpPr>
          <p:nvPr>
            <p:ph idx="1"/>
          </p:nvPr>
        </p:nvSpPr>
        <p:spPr/>
        <p:txBody>
          <a:bodyPr/>
          <a:lstStyle/>
          <a:p>
            <a:endParaRPr lang="en-IN" dirty="0"/>
          </a:p>
        </p:txBody>
      </p:sp>
    </p:spTree>
    <p:extLst>
      <p:ext uri="{BB962C8B-B14F-4D97-AF65-F5344CB8AC3E}">
        <p14:creationId xmlns:p14="http://schemas.microsoft.com/office/powerpoint/2010/main" val="122883124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2. Automation Testing</a:t>
            </a:r>
            <a:br>
              <a:rPr lang="en-IN" dirty="0"/>
            </a:br>
            <a:endParaRPr lang="en-IN" dirty="0"/>
          </a:p>
        </p:txBody>
      </p:sp>
      <p:sp>
        <p:nvSpPr>
          <p:cNvPr id="3" name="Content Placeholder 2"/>
          <p:cNvSpPr>
            <a:spLocks noGrp="1"/>
          </p:cNvSpPr>
          <p:nvPr>
            <p:ph idx="1"/>
          </p:nvPr>
        </p:nvSpPr>
        <p:spPr/>
        <p:txBody>
          <a:bodyPr/>
          <a:lstStyle/>
          <a:p>
            <a:pPr fontAlgn="base"/>
            <a:r>
              <a:rPr lang="en-US" b="1" u="sng" dirty="0" smtClean="0">
                <a:hlinkClick r:id="rId2"/>
              </a:rPr>
              <a:t>Automation </a:t>
            </a:r>
            <a:r>
              <a:rPr lang="en-US" b="1" u="sng" dirty="0">
                <a:hlinkClick r:id="rId2"/>
              </a:rPr>
              <a:t>Testing</a:t>
            </a:r>
            <a:r>
              <a:rPr lang="en-US" dirty="0"/>
              <a:t> It is a technique where the Tester writes scripts independently and uses suitable Software or Automation Tools to test the software. It is an Automation Process of a Manual Process. It allows for executing repetitive tasks without the use of a Manual Tester.</a:t>
            </a:r>
          </a:p>
          <a:p>
            <a:endParaRPr lang="en-IN" dirty="0"/>
          </a:p>
        </p:txBody>
      </p:sp>
    </p:spTree>
    <p:extLst>
      <p:ext uri="{BB962C8B-B14F-4D97-AF65-F5344CB8AC3E}">
        <p14:creationId xmlns:p14="http://schemas.microsoft.com/office/powerpoint/2010/main" val="166330981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Types of Manual Testing</a:t>
            </a:r>
            <a:br>
              <a:rPr lang="en-US" b="1" dirty="0"/>
            </a:br>
            <a:endParaRPr lang="en-IN" dirty="0"/>
          </a:p>
        </p:txBody>
      </p:sp>
      <p:sp>
        <p:nvSpPr>
          <p:cNvPr id="3" name="Content Placeholder 2"/>
          <p:cNvSpPr>
            <a:spLocks noGrp="1"/>
          </p:cNvSpPr>
          <p:nvPr>
            <p:ph idx="1"/>
          </p:nvPr>
        </p:nvSpPr>
        <p:spPr/>
        <p:txBody>
          <a:bodyPr>
            <a:normAutofit fontScale="85000" lnSpcReduction="20000"/>
          </a:bodyPr>
          <a:lstStyle/>
          <a:p>
            <a:pPr fontAlgn="base"/>
            <a:r>
              <a:rPr lang="en-US" dirty="0" smtClean="0"/>
              <a:t>Manual </a:t>
            </a:r>
            <a:r>
              <a:rPr lang="en-US" dirty="0"/>
              <a:t>testing will be divided into further types which is following:</a:t>
            </a:r>
          </a:p>
          <a:p>
            <a:pPr fontAlgn="base"/>
            <a:r>
              <a:rPr lang="en-US" b="1" dirty="0"/>
              <a:t>1. White Box Testing</a:t>
            </a:r>
          </a:p>
          <a:p>
            <a:pPr fontAlgn="base"/>
            <a:r>
              <a:rPr lang="en-US" b="1" u="sng" dirty="0">
                <a:hlinkClick r:id="rId2"/>
              </a:rPr>
              <a:t>White Box Testing</a:t>
            </a:r>
            <a:r>
              <a:rPr lang="en-US" dirty="0"/>
              <a:t> is a software testing technique that involves testing the internal structure and workings of a software application. The tester has access to the source code and uses this knowledge to design test cases that can verify the correctness of the software at the code level.</a:t>
            </a:r>
          </a:p>
          <a:p>
            <a:pPr fontAlgn="base"/>
            <a:r>
              <a:rPr lang="en-US" b="1" dirty="0"/>
              <a:t>2. Black Box Testing</a:t>
            </a:r>
          </a:p>
          <a:p>
            <a:pPr fontAlgn="base"/>
            <a:r>
              <a:rPr lang="en-US" b="1" u="sng" dirty="0">
                <a:hlinkClick r:id="rId3"/>
              </a:rPr>
              <a:t>Black-Box Testing</a:t>
            </a:r>
            <a:r>
              <a:rPr lang="en-US" dirty="0"/>
              <a:t> is a type of software testing in which the tester is not concerned with the internal knowledge or implementation details of the software but rather focuses on validating the functionality based on the provided specifications or requirements.</a:t>
            </a:r>
          </a:p>
          <a:p>
            <a:pPr fontAlgn="base"/>
            <a:r>
              <a:rPr lang="en-US" b="1" dirty="0"/>
              <a:t>3. Gray Box Testing</a:t>
            </a:r>
          </a:p>
          <a:p>
            <a:pPr fontAlgn="base"/>
            <a:r>
              <a:rPr lang="en-US" b="1" u="sng" dirty="0">
                <a:hlinkClick r:id="rId4"/>
              </a:rPr>
              <a:t>Gray Box Testing</a:t>
            </a:r>
            <a:r>
              <a:rPr lang="en-US" b="1" dirty="0"/>
              <a:t> </a:t>
            </a:r>
            <a:r>
              <a:rPr lang="en-US" dirty="0"/>
              <a:t>is a software testing technique that is a combination of the </a:t>
            </a:r>
            <a:r>
              <a:rPr lang="en-US" b="1" dirty="0"/>
              <a:t>Black Box Testing</a:t>
            </a:r>
            <a:r>
              <a:rPr lang="en-US" dirty="0"/>
              <a:t> technique and the </a:t>
            </a:r>
            <a:r>
              <a:rPr lang="en-US" b="1" dirty="0"/>
              <a:t>White Box Testing </a:t>
            </a:r>
            <a:r>
              <a:rPr lang="en-US" dirty="0"/>
              <a:t>technique. In the Black Box Testing technique, the tester is unaware of the internal structure of the item being tested and in White Box Testing the internal structure is known to the tester.</a:t>
            </a:r>
          </a:p>
          <a:p>
            <a:endParaRPr lang="en-IN" dirty="0"/>
          </a:p>
        </p:txBody>
      </p:sp>
    </p:spTree>
    <p:extLst>
      <p:ext uri="{BB962C8B-B14F-4D97-AF65-F5344CB8AC3E}">
        <p14:creationId xmlns:p14="http://schemas.microsoft.com/office/powerpoint/2010/main" val="396037058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spTree>
    <p:extLst>
      <p:ext uri="{BB962C8B-B14F-4D97-AF65-F5344CB8AC3E}">
        <p14:creationId xmlns:p14="http://schemas.microsoft.com/office/powerpoint/2010/main" val="23744522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2153</TotalTime>
  <Words>2014</Words>
  <Application>Microsoft Office PowerPoint</Application>
  <PresentationFormat>Widescreen</PresentationFormat>
  <Paragraphs>250</Paragraphs>
  <Slides>45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45</vt:i4>
      </vt:variant>
    </vt:vector>
  </HeadingPairs>
  <TitlesOfParts>
    <vt:vector size="50" baseType="lpstr">
      <vt:lpstr>Arial</vt:lpstr>
      <vt:lpstr>Nunito</vt:lpstr>
      <vt:lpstr>Trebuchet MS</vt:lpstr>
      <vt:lpstr>Wingdings 3</vt:lpstr>
      <vt:lpstr>Facet</vt:lpstr>
      <vt:lpstr>Introduction to Software Testing </vt:lpstr>
      <vt:lpstr> </vt:lpstr>
      <vt:lpstr>Software Testing Can be Divided into Two Steps: </vt:lpstr>
      <vt:lpstr>Difference between Project and Product </vt:lpstr>
      <vt:lpstr>Need for Software Testing </vt:lpstr>
      <vt:lpstr>Bugs in Software Testing What is a Bug</vt:lpstr>
      <vt:lpstr>BUG</vt:lpstr>
      <vt:lpstr>Software Development Life Cycle (SDLC) </vt:lpstr>
      <vt:lpstr>What is the Software Development Life Cycle (SDLC)? </vt:lpstr>
      <vt:lpstr>Stages of the Software Development Life Cycle </vt:lpstr>
      <vt:lpstr>SDLC</vt:lpstr>
      <vt:lpstr>Stage-1: Planning and Requirement Analysis </vt:lpstr>
      <vt:lpstr>Stage-2: Defining Requirements </vt:lpstr>
      <vt:lpstr>Stage-3: Designing Architecture </vt:lpstr>
      <vt:lpstr>Stage-4: Developing Product </vt:lpstr>
      <vt:lpstr>Stage-5: Product Testing and Integration </vt:lpstr>
      <vt:lpstr>Stage-6: Deployment and Maintenance of Products </vt:lpstr>
      <vt:lpstr>Software Testing Life Cycle (STLC) </vt:lpstr>
      <vt:lpstr>Software Testing Life Cycle (STLC)</vt:lpstr>
      <vt:lpstr>1. Requirement Analysis </vt:lpstr>
      <vt:lpstr>2. Test Planning </vt:lpstr>
      <vt:lpstr>Test Case Development </vt:lpstr>
      <vt:lpstr>4. Test Environment Setup </vt:lpstr>
      <vt:lpstr>6. Test Closure </vt:lpstr>
      <vt:lpstr>Roles and responsibilities of a Tester </vt:lpstr>
      <vt:lpstr>Roles and responsibilities of a Tester  </vt:lpstr>
      <vt:lpstr>Critical skills for hiring Software Testers </vt:lpstr>
      <vt:lpstr>testing</vt:lpstr>
      <vt:lpstr>4) Effective communication skills </vt:lpstr>
      <vt:lpstr>6) Logical and rational thinking </vt:lpstr>
      <vt:lpstr>Advantages of Software Testing </vt:lpstr>
      <vt:lpstr>Disadvantages of Software Testing </vt:lpstr>
      <vt:lpstr>Difference between Quality Assurance (QA) and Quality Control (QC)</vt:lpstr>
      <vt:lpstr>PowerPoint Presentation</vt:lpstr>
      <vt:lpstr>What is Quality Assurance (QA)? </vt:lpstr>
      <vt:lpstr>What is Quality Control? </vt:lpstr>
      <vt:lpstr>PowerPoint Presentation</vt:lpstr>
      <vt:lpstr>Characteristics of Quality Control </vt:lpstr>
      <vt:lpstr>QA /QC</vt:lpstr>
      <vt:lpstr>Key Differences Between Product-Based and Service-Based Company: </vt:lpstr>
      <vt:lpstr>Types of Software Testing </vt:lpstr>
      <vt:lpstr>1. Manual Testing    Manual Testing is a technique to test the software that is carried out using the functions and features of an application. Which means manual testing will check the defect manually with trying one by one function is working as expected. </vt:lpstr>
      <vt:lpstr>2. Automation Testing </vt:lpstr>
      <vt:lpstr>Types of Manual Testing </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mruh</dc:creator>
  <cp:lastModifiedBy>mruh</cp:lastModifiedBy>
  <cp:revision>50</cp:revision>
  <dcterms:created xsi:type="dcterms:W3CDTF">2025-06-16T04:03:02Z</dcterms:created>
  <dcterms:modified xsi:type="dcterms:W3CDTF">2025-06-21T09:06:16Z</dcterms:modified>
</cp:coreProperties>
</file>