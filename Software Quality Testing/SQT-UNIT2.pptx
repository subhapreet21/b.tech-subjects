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6/30/2025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6/30/2025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6/30/2025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6/30/2025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6/30/2025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6/30/2025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6/30/2025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6/30/2025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6/30/2025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6/30/2025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6/30/2025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6/30/2025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6/30/2025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6/30/2025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6/30/2025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6/30/2025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6/30/2025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6/30/2025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Test Scenarios</a:t>
            </a:r>
          </a:p>
        </p:txBody>
      </p:sp>
      <p:sp>
        <p:nvSpPr>
          <p:cNvPr id="3" name="Subtitle 2"/>
          <p:cNvSpPr>
            <a:spLocks noGrp="1"/>
          </p:cNvSpPr>
          <p:nvPr>
            <p:ph type="subTitle" idx="1"/>
          </p:nvPr>
        </p:nvSpPr>
        <p:spPr/>
        <p:txBody>
          <a:bodyPr/>
          <a:lstStyle/>
          <a:p>
            <a:r>
              <a:rPr lang="en-IN" dirty="0" smtClean="0"/>
              <a:t>UNIT-2</a:t>
            </a:r>
            <a:endParaRPr lang="en-IN" dirty="0"/>
          </a:p>
        </p:txBody>
      </p:sp>
    </p:spTree>
    <p:extLst>
      <p:ext uri="{BB962C8B-B14F-4D97-AF65-F5344CB8AC3E}">
        <p14:creationId xmlns:p14="http://schemas.microsoft.com/office/powerpoint/2010/main" val="1175090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Test Scenarios</a:t>
            </a:r>
          </a:p>
        </p:txBody>
      </p:sp>
      <p:sp>
        <p:nvSpPr>
          <p:cNvPr id="3" name="Content Placeholder 2"/>
          <p:cNvSpPr>
            <a:spLocks noGrp="1"/>
          </p:cNvSpPr>
          <p:nvPr>
            <p:ph idx="1"/>
          </p:nvPr>
        </p:nvSpPr>
        <p:spPr/>
        <p:txBody>
          <a:bodyPr/>
          <a:lstStyle/>
          <a:p>
            <a:r>
              <a:rPr lang="en-US" dirty="0"/>
              <a:t>Test cases are the set of actions to execute and test a particular feature of the application on the other hand test scenarios are any functionality that can be tested. Test cases are derived from test scenarios whereas test scenarios are derived from SRS, BRS, etc. Test cases help in the exhaustive testing of the application and test scenarios help in the agile way of testing the application. Test cases are focused on how to test and what to test on the other hand test scenarios are focused on what to test. Test cases require more time and resources as compared to test scenarios. Test cases are low-level actions and test scenarios are high-level actions.</a:t>
            </a:r>
            <a:endParaRPr lang="en-IN" dirty="0"/>
          </a:p>
        </p:txBody>
      </p:sp>
    </p:spTree>
    <p:extLst>
      <p:ext uri="{BB962C8B-B14F-4D97-AF65-F5344CB8AC3E}">
        <p14:creationId xmlns:p14="http://schemas.microsoft.com/office/powerpoint/2010/main" val="1203831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Test cases </a:t>
            </a:r>
          </a:p>
        </p:txBody>
      </p:sp>
      <p:sp>
        <p:nvSpPr>
          <p:cNvPr id="3" name="Content Placeholder 2"/>
          <p:cNvSpPr>
            <a:spLocks noGrp="1"/>
          </p:cNvSpPr>
          <p:nvPr>
            <p:ph idx="1"/>
          </p:nvPr>
        </p:nvSpPr>
        <p:spPr/>
        <p:txBody>
          <a:bodyPr/>
          <a:lstStyle/>
          <a:p>
            <a:r>
              <a:rPr lang="en-US" dirty="0"/>
              <a:t>Test cases are the set of actions to execute and test a particular feature of the application on the other hand test scenarios are any functionality that can be tested. Test cases are derived from test scenarios whereas test scenarios are derived from SRS, BRS, etc. Test cases help in the exhaustive testing of the application and test scenarios help in the agile way of testing the application. Test cases are focused on how to test and what to test on the other hand test scenarios are focused on what to test. Test cases require more time and resources as compared to test scenarios. Test cases are low-level actions and test scenarios are high-level actions.</a:t>
            </a:r>
            <a:endParaRPr lang="en-IN" dirty="0"/>
          </a:p>
        </p:txBody>
      </p:sp>
    </p:spTree>
    <p:extLst>
      <p:ext uri="{BB962C8B-B14F-4D97-AF65-F5344CB8AC3E}">
        <p14:creationId xmlns:p14="http://schemas.microsoft.com/office/powerpoint/2010/main" val="3474848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Test Case ?</a:t>
            </a:r>
            <a:endParaRPr lang="en-IN" dirty="0"/>
          </a:p>
        </p:txBody>
      </p:sp>
      <p:sp>
        <p:nvSpPr>
          <p:cNvPr id="3" name="Content Placeholder 2"/>
          <p:cNvSpPr>
            <a:spLocks noGrp="1"/>
          </p:cNvSpPr>
          <p:nvPr>
            <p:ph idx="1"/>
          </p:nvPr>
        </p:nvSpPr>
        <p:spPr/>
        <p:txBody>
          <a:bodyPr>
            <a:normAutofit lnSpcReduction="10000"/>
          </a:bodyPr>
          <a:lstStyle/>
          <a:p>
            <a:r>
              <a:rPr lang="en-US" dirty="0"/>
              <a:t>Test cases are sets of actions that are executed to verify particular features or functionality of software applications. It consists of test data, test steps, preconditions, and </a:t>
            </a:r>
            <a:r>
              <a:rPr lang="en-US" dirty="0" smtClean="0"/>
              <a:t>post conditions </a:t>
            </a:r>
            <a:r>
              <a:rPr lang="en-US" dirty="0"/>
              <a:t>that are developed for specific test scenarios to verify any requirement.</a:t>
            </a:r>
          </a:p>
          <a:p>
            <a:endParaRPr lang="en-US" dirty="0"/>
          </a:p>
          <a:p>
            <a:r>
              <a:rPr lang="en-US" dirty="0"/>
              <a:t>Test cases are mostly derived from test scenarios.</a:t>
            </a:r>
          </a:p>
          <a:p>
            <a:r>
              <a:rPr lang="en-US" dirty="0"/>
              <a:t>It helps in the exhaustive testing of software.</a:t>
            </a:r>
          </a:p>
          <a:p>
            <a:r>
              <a:rPr lang="en-US" dirty="0"/>
              <a:t>Test cases include test steps, data, and expected outcomes for testing.</a:t>
            </a:r>
          </a:p>
          <a:p>
            <a:r>
              <a:rPr lang="en-US" dirty="0"/>
              <a:t>These are low-level actions and require more time and resources for execution.</a:t>
            </a:r>
            <a:endParaRPr lang="en-IN" dirty="0"/>
          </a:p>
        </p:txBody>
      </p:sp>
    </p:spTree>
    <p:extLst>
      <p:ext uri="{BB962C8B-B14F-4D97-AF65-F5344CB8AC3E}">
        <p14:creationId xmlns:p14="http://schemas.microsoft.com/office/powerpoint/2010/main" val="4097360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Test Scenario ?</a:t>
            </a:r>
            <a:endParaRPr lang="en-IN" dirty="0"/>
          </a:p>
        </p:txBody>
      </p:sp>
      <p:sp>
        <p:nvSpPr>
          <p:cNvPr id="3" name="Content Placeholder 2"/>
          <p:cNvSpPr>
            <a:spLocks noGrp="1"/>
          </p:cNvSpPr>
          <p:nvPr>
            <p:ph idx="1"/>
          </p:nvPr>
        </p:nvSpPr>
        <p:spPr/>
        <p:txBody>
          <a:bodyPr/>
          <a:lstStyle/>
          <a:p>
            <a:r>
              <a:rPr lang="en-US" dirty="0"/>
              <a:t>A test scenario is a collective set of test cases that helps the testing team determine the positive and negative features of the project.</a:t>
            </a:r>
          </a:p>
          <a:p>
            <a:endParaRPr lang="en-US" dirty="0"/>
          </a:p>
          <a:p>
            <a:r>
              <a:rPr lang="en-US" dirty="0"/>
              <a:t>It provides a high-level description of what has to be tested.</a:t>
            </a:r>
          </a:p>
          <a:p>
            <a:r>
              <a:rPr lang="en-US" dirty="0"/>
              <a:t>It is defined as a linear statement.</a:t>
            </a:r>
          </a:p>
          <a:p>
            <a:r>
              <a:rPr lang="en-US" dirty="0"/>
              <a:t>It is a detailed document that covers end to end functionality of a software application.</a:t>
            </a:r>
          </a:p>
          <a:p>
            <a:r>
              <a:rPr lang="en-US" dirty="0"/>
              <a:t>It is a useful exercise for saving time.</a:t>
            </a:r>
          </a:p>
          <a:p>
            <a:r>
              <a:rPr lang="en-US" dirty="0"/>
              <a:t>It is simple to maintain as adding and modifying test cases is simple.</a:t>
            </a:r>
            <a:endParaRPr lang="en-IN" dirty="0"/>
          </a:p>
        </p:txBody>
      </p:sp>
    </p:spTree>
    <p:extLst>
      <p:ext uri="{BB962C8B-B14F-4D97-AF65-F5344CB8AC3E}">
        <p14:creationId xmlns:p14="http://schemas.microsoft.com/office/powerpoint/2010/main" val="3491814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623456"/>
            <a:ext cx="8761413" cy="1005840"/>
          </a:xfrm>
        </p:spPr>
        <p:txBody>
          <a:bodyPr/>
          <a:lstStyle/>
          <a:p>
            <a:r>
              <a:rPr lang="en-US" dirty="0"/>
              <a:t>Difference Between Test case and Test Scenarios: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82574267"/>
              </p:ext>
            </p:extLst>
          </p:nvPr>
        </p:nvGraphicFramePr>
        <p:xfrm>
          <a:off x="1005840" y="1787234"/>
          <a:ext cx="8910528" cy="5636834"/>
        </p:xfrm>
        <a:graphic>
          <a:graphicData uri="http://schemas.openxmlformats.org/drawingml/2006/table">
            <a:tbl>
              <a:tblPr/>
              <a:tblGrid>
                <a:gridCol w="2970176"/>
                <a:gridCol w="2970176"/>
                <a:gridCol w="2970176"/>
              </a:tblGrid>
              <a:tr h="660585">
                <a:tc>
                  <a:txBody>
                    <a:bodyPr/>
                    <a:lstStyle/>
                    <a:p>
                      <a:pPr algn="ctr" fontAlgn="ctr"/>
                      <a:r>
                        <a:rPr lang="en-IN" sz="1200" b="1" dirty="0">
                          <a:effectLst/>
                        </a:rPr>
                        <a:t>Definition</a:t>
                      </a:r>
                      <a:endParaRPr lang="en-IN" sz="1200" b="0" dirty="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Test cases contain definite test steps, data, and expected outcomes for testing all the features of the software under test.</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A test scenario is a high-level document that describes end-to-end functionality to be tested.</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50936">
                <a:tc>
                  <a:txBody>
                    <a:bodyPr/>
                    <a:lstStyle/>
                    <a:p>
                      <a:pPr algn="ctr" fontAlgn="ctr"/>
                      <a:r>
                        <a:rPr lang="en-IN" sz="1200" b="1">
                          <a:effectLst/>
                        </a:rPr>
                        <a:t>Testing focus</a:t>
                      </a:r>
                      <a:endParaRPr lang="en-IN" sz="1200" b="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They are focused on what to test and how to test.</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Test scenarios are focused on what to test.</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350936">
                <a:tc>
                  <a:txBody>
                    <a:bodyPr/>
                    <a:lstStyle/>
                    <a:p>
                      <a:pPr algn="ctr" fontAlgn="ctr"/>
                      <a:r>
                        <a:rPr lang="en-IN" sz="1200" b="1">
                          <a:effectLst/>
                        </a:rPr>
                        <a:t>Action Level</a:t>
                      </a:r>
                      <a:endParaRPr lang="en-IN" sz="1200" b="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dirty="0">
                          <a:effectLst/>
                        </a:rPr>
                        <a:t>These are low-level actions.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rPr>
                        <a:t>These are high-level actions.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660585">
                <a:tc>
                  <a:txBody>
                    <a:bodyPr/>
                    <a:lstStyle/>
                    <a:p>
                      <a:pPr algn="ctr" fontAlgn="ctr"/>
                      <a:r>
                        <a:rPr lang="en-IN" sz="1200" b="1">
                          <a:effectLst/>
                        </a:rPr>
                        <a:t>Purpose</a:t>
                      </a:r>
                      <a:endParaRPr lang="en-IN" sz="1200" b="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The aim that is main regarding the test case is to verify the test situation by applying steps.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Writing the test scenario's primary objective is an address end to get rid of the functionality of a software program.</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54152">
                <a:tc>
                  <a:txBody>
                    <a:bodyPr/>
                    <a:lstStyle/>
                    <a:p>
                      <a:pPr algn="ctr" fontAlgn="ctr"/>
                      <a:r>
                        <a:rPr lang="en-IN" sz="1200" b="1" dirty="0">
                          <a:effectLst/>
                        </a:rPr>
                        <a:t>Time requirement</a:t>
                      </a:r>
                      <a:endParaRPr lang="en-IN" sz="1200" b="0" dirty="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It takes more time in comparison to trying circumstances.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It will take less time as compared to test cases.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54152">
                <a:tc>
                  <a:txBody>
                    <a:bodyPr/>
                    <a:lstStyle/>
                    <a:p>
                      <a:pPr algn="ctr" fontAlgn="ctr"/>
                      <a:r>
                        <a:rPr lang="en-IN" sz="1200" b="1">
                          <a:effectLst/>
                        </a:rPr>
                        <a:t>Maintenance</a:t>
                      </a:r>
                      <a:endParaRPr lang="en-IN" sz="1200" b="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The test cases are hard to maintain.</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Test scenarios are really easy to maintain due to their high-level design.</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54152">
                <a:tc>
                  <a:txBody>
                    <a:bodyPr/>
                    <a:lstStyle/>
                    <a:p>
                      <a:pPr algn="ctr" fontAlgn="ctr"/>
                      <a:r>
                        <a:rPr lang="en-IN" sz="1200" b="1">
                          <a:effectLst/>
                        </a:rPr>
                        <a:t>Way of testing</a:t>
                      </a:r>
                      <a:endParaRPr lang="en-IN" sz="1200" b="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Test case helps in exhaustive testing of the application.</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Test scenario helps in agile way of testing of the application.</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557368">
                <a:tc>
                  <a:txBody>
                    <a:bodyPr/>
                    <a:lstStyle/>
                    <a:p>
                      <a:pPr algn="ctr" fontAlgn="ctr"/>
                      <a:r>
                        <a:rPr lang="en-IN" sz="1200" b="1">
                          <a:effectLst/>
                        </a:rPr>
                        <a:t>Resource requirement</a:t>
                      </a:r>
                      <a:endParaRPr lang="en-IN" sz="1200" b="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to write the test, we need extra resources to generate and do test situations.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Fewer resources are sufficient to write test scenarios.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54152">
                <a:tc>
                  <a:txBody>
                    <a:bodyPr/>
                    <a:lstStyle/>
                    <a:p>
                      <a:pPr algn="ctr" fontAlgn="ctr"/>
                      <a:r>
                        <a:rPr lang="en-IN" sz="1200" b="1">
                          <a:effectLst/>
                        </a:rPr>
                        <a:t>Derived from documents</a:t>
                      </a:r>
                      <a:endParaRPr lang="en-IN" sz="1200" b="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Test cases are derived from test scenarios.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Test scenarios are usually derived from documents like SRS, BRS, etc.</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557368">
                <a:tc>
                  <a:txBody>
                    <a:bodyPr/>
                    <a:lstStyle/>
                    <a:p>
                      <a:pPr algn="ctr" fontAlgn="ctr"/>
                      <a:r>
                        <a:rPr lang="en-IN" sz="1200" b="1">
                          <a:effectLst/>
                        </a:rPr>
                        <a:t>Ambiguity</a:t>
                      </a:r>
                      <a:endParaRPr lang="en-IN" sz="1200" b="0">
                        <a:effectLst/>
                      </a:endParaRP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There is no ambiguity in test cases as they define test steps, prerequisites, and expected outcomes.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Test scenarios can be ambiguous as these are one-liners.</a:t>
                      </a:r>
                    </a:p>
                  </a:txBody>
                  <a:tcPr marL="35586" marR="35586" marT="49821" marB="4982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4166823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of Test Case:</a:t>
            </a:r>
          </a:p>
        </p:txBody>
      </p:sp>
      <p:sp>
        <p:nvSpPr>
          <p:cNvPr id="3" name="Content Placeholder 2"/>
          <p:cNvSpPr>
            <a:spLocks noGrp="1"/>
          </p:cNvSpPr>
          <p:nvPr>
            <p:ph idx="1"/>
          </p:nvPr>
        </p:nvSpPr>
        <p:spPr>
          <a:xfrm>
            <a:off x="1154954" y="2286000"/>
            <a:ext cx="8825659" cy="3466407"/>
          </a:xfrm>
        </p:spPr>
        <p:txBody>
          <a:bodyPr/>
          <a:lstStyle/>
          <a:p>
            <a:r>
              <a:rPr lang="en-US" dirty="0"/>
              <a:t>Check the </a:t>
            </a:r>
            <a:r>
              <a:rPr lang="en-US" dirty="0" err="1"/>
              <a:t>behaviour</a:t>
            </a:r>
            <a:r>
              <a:rPr lang="en-US" dirty="0"/>
              <a:t> of the system when an invalid user id and invalid password are entered.</a:t>
            </a:r>
          </a:p>
          <a:p>
            <a:r>
              <a:rPr lang="en-US" dirty="0"/>
              <a:t>Check the </a:t>
            </a:r>
            <a:r>
              <a:rPr lang="en-US" dirty="0" err="1"/>
              <a:t>behaviour</a:t>
            </a:r>
            <a:r>
              <a:rPr lang="en-US" dirty="0"/>
              <a:t> of the system when a valid user id and valid password are entered.</a:t>
            </a:r>
          </a:p>
          <a:p>
            <a:r>
              <a:rPr lang="en-US" dirty="0"/>
              <a:t>Check the </a:t>
            </a:r>
            <a:r>
              <a:rPr lang="en-US" dirty="0" err="1"/>
              <a:t>behaviour</a:t>
            </a:r>
            <a:r>
              <a:rPr lang="en-US" dirty="0"/>
              <a:t> of the system when a valid user id and invalid password are entered.</a:t>
            </a:r>
          </a:p>
          <a:p>
            <a:r>
              <a:rPr lang="en-US" dirty="0"/>
              <a:t>Check the </a:t>
            </a:r>
            <a:r>
              <a:rPr lang="en-US" dirty="0" err="1"/>
              <a:t>behaviour</a:t>
            </a:r>
            <a:r>
              <a:rPr lang="en-US" dirty="0"/>
              <a:t> of the system when an invalid user id and valid password are entered.</a:t>
            </a:r>
          </a:p>
          <a:p>
            <a:r>
              <a:rPr lang="en-US" dirty="0"/>
              <a:t>Check the system </a:t>
            </a:r>
            <a:r>
              <a:rPr lang="en-US" dirty="0" err="1"/>
              <a:t>behaviour</a:t>
            </a:r>
            <a:r>
              <a:rPr lang="en-US" dirty="0"/>
              <a:t> when 'Keep me signed in' is selected.</a:t>
            </a:r>
            <a:endParaRPr lang="en-IN" dirty="0"/>
          </a:p>
        </p:txBody>
      </p:sp>
    </p:spTree>
    <p:extLst>
      <p:ext uri="{BB962C8B-B14F-4D97-AF65-F5344CB8AC3E}">
        <p14:creationId xmlns:p14="http://schemas.microsoft.com/office/powerpoint/2010/main" val="28728865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665018"/>
            <a:ext cx="8761413" cy="1014153"/>
          </a:xfrm>
        </p:spPr>
        <p:txBody>
          <a:bodyPr/>
          <a:lstStyle/>
          <a:p>
            <a:r>
              <a:rPr lang="en-US" dirty="0"/>
              <a:t>Positive vs Negative vs Destructive Test Cases</a:t>
            </a:r>
            <a:endParaRPr lang="en-IN" dirty="0"/>
          </a:p>
        </p:txBody>
      </p:sp>
      <p:sp>
        <p:nvSpPr>
          <p:cNvPr id="3" name="Content Placeholder 2"/>
          <p:cNvSpPr>
            <a:spLocks noGrp="1"/>
          </p:cNvSpPr>
          <p:nvPr>
            <p:ph idx="1"/>
          </p:nvPr>
        </p:nvSpPr>
        <p:spPr>
          <a:xfrm>
            <a:off x="1154954" y="2344189"/>
            <a:ext cx="8825659" cy="4389120"/>
          </a:xfrm>
        </p:spPr>
        <p:txBody>
          <a:bodyPr>
            <a:normAutofit fontScale="85000" lnSpcReduction="10000"/>
          </a:bodyPr>
          <a:lstStyle/>
          <a:p>
            <a:r>
              <a:rPr lang="en-US" dirty="0">
                <a:solidFill>
                  <a:srgbClr val="FF0000"/>
                </a:solidFill>
              </a:rPr>
              <a:t>A test case </a:t>
            </a:r>
            <a:r>
              <a:rPr lang="en-US" dirty="0"/>
              <a:t>is a set of conditions or variables under which a tester will determine whether an application, software system or website meets specifications and performs as expected. A test case can be positive or negative, meaning that it tests for the correct functionality or missing functionality</a:t>
            </a:r>
            <a:r>
              <a:rPr lang="en-US" dirty="0" smtClean="0"/>
              <a:t>.</a:t>
            </a:r>
          </a:p>
          <a:p>
            <a:r>
              <a:rPr lang="en-US" dirty="0" smtClean="0"/>
              <a:t> </a:t>
            </a:r>
            <a:r>
              <a:rPr lang="en-US" dirty="0">
                <a:solidFill>
                  <a:srgbClr val="FF0000"/>
                </a:solidFill>
              </a:rPr>
              <a:t>What are Test Cases?</a:t>
            </a:r>
          </a:p>
          <a:p>
            <a:r>
              <a:rPr lang="en-US" dirty="0"/>
              <a:t>A test case is a set of conditions or variables under which a tester will determine whether an application, software system or one of its features is working as it should. There are three main types of test cases:</a:t>
            </a:r>
          </a:p>
          <a:p>
            <a:r>
              <a:rPr lang="en-US" dirty="0" smtClean="0">
                <a:solidFill>
                  <a:srgbClr val="FF0000"/>
                </a:solidFill>
              </a:rPr>
              <a:t>Positive </a:t>
            </a:r>
            <a:r>
              <a:rPr lang="en-US" dirty="0">
                <a:solidFill>
                  <a:srgbClr val="FF0000"/>
                </a:solidFill>
              </a:rPr>
              <a:t>test cases</a:t>
            </a:r>
            <a:r>
              <a:rPr lang="en-US" dirty="0"/>
              <a:t>: These are ones in which the system being tested is expected to work correctly. These tests are designed to show that the system can handle valid input and produce the expected output.</a:t>
            </a:r>
          </a:p>
          <a:p>
            <a:r>
              <a:rPr lang="en-US" dirty="0">
                <a:solidFill>
                  <a:srgbClr val="FF0000"/>
                </a:solidFill>
              </a:rPr>
              <a:t>Negative test cases</a:t>
            </a:r>
            <a:r>
              <a:rPr lang="en-US" dirty="0"/>
              <a:t>: These are those in which the system being tested is expected to fail. These tests help ensure that the system can handle invalid input gracefully and produce error messages or other appropriate outputs when necessary.</a:t>
            </a:r>
          </a:p>
          <a:p>
            <a:r>
              <a:rPr lang="en-US" dirty="0">
                <a:solidFill>
                  <a:srgbClr val="FF0000"/>
                </a:solidFill>
              </a:rPr>
              <a:t>Destructive test cases</a:t>
            </a:r>
            <a:r>
              <a:rPr lang="en-US" dirty="0"/>
              <a:t>: These are those in which the system being tested is deliberately broken in order to test its recovery capabilities. These tests help ensure that the system can withstand unexpected failures and still function properly.</a:t>
            </a:r>
            <a:endParaRPr lang="en-IN" dirty="0"/>
          </a:p>
        </p:txBody>
      </p:sp>
    </p:spTree>
    <p:extLst>
      <p:ext uri="{BB962C8B-B14F-4D97-AF65-F5344CB8AC3E}">
        <p14:creationId xmlns:p14="http://schemas.microsoft.com/office/powerpoint/2010/main" val="1493857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723207"/>
            <a:ext cx="8761413" cy="490451"/>
          </a:xfrm>
        </p:spPr>
        <p:txBody>
          <a:bodyPr/>
          <a:lstStyle/>
          <a:p>
            <a:r>
              <a:rPr lang="en-US" sz="2000" dirty="0"/>
              <a:t>Positive Test Cases vs Negative Test Cases vs Destructive Test Cases</a:t>
            </a:r>
            <a:endParaRPr lang="en-IN" sz="20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29373240"/>
              </p:ext>
            </p:extLst>
          </p:nvPr>
        </p:nvGraphicFramePr>
        <p:xfrm>
          <a:off x="1521228" y="1487976"/>
          <a:ext cx="8104912" cy="6789250"/>
        </p:xfrm>
        <a:graphic>
          <a:graphicData uri="http://schemas.openxmlformats.org/drawingml/2006/table">
            <a:tbl>
              <a:tblPr/>
              <a:tblGrid>
                <a:gridCol w="2026228"/>
                <a:gridCol w="2026228"/>
                <a:gridCol w="2026228"/>
                <a:gridCol w="2026228"/>
              </a:tblGrid>
              <a:tr h="162536">
                <a:tc>
                  <a:txBody>
                    <a:bodyPr/>
                    <a:lstStyle/>
                    <a:p>
                      <a:pPr algn="ctr" fontAlgn="base"/>
                      <a:r>
                        <a:rPr lang="en-IN" sz="1100" b="1" dirty="0">
                          <a:effectLst/>
                        </a:rPr>
                        <a:t>Factor </a:t>
                      </a:r>
                    </a:p>
                  </a:txBody>
                  <a:tcPr marL="13967" marR="13967" marT="34917" marB="3491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100" b="1">
                          <a:effectLst/>
                        </a:rPr>
                        <a:t>Positive Test Cases</a:t>
                      </a:r>
                    </a:p>
                  </a:txBody>
                  <a:tcPr marL="34917" marR="34917" marT="34917" marB="3491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100" b="1">
                          <a:effectLst/>
                        </a:rPr>
                        <a:t>Negative Test Cases</a:t>
                      </a:r>
                    </a:p>
                  </a:txBody>
                  <a:tcPr marL="34917" marR="34917" marT="34917" marB="3491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100" b="1">
                          <a:effectLst/>
                        </a:rPr>
                        <a:t>Destructive Test Cases</a:t>
                      </a:r>
                    </a:p>
                  </a:txBody>
                  <a:tcPr marL="34917" marR="34917" marT="34917" marB="3491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r>
              <a:tr h="296394">
                <a:tc>
                  <a:txBody>
                    <a:bodyPr/>
                    <a:lstStyle/>
                    <a:p>
                      <a:pPr algn="ctr" fontAlgn="ctr"/>
                      <a:r>
                        <a:rPr lang="en-IN" sz="1100" b="1" dirty="0">
                          <a:effectLst/>
                        </a:rPr>
                        <a:t>Functionality</a:t>
                      </a:r>
                      <a:endParaRPr lang="en-IN" sz="1100" b="0" dirty="0">
                        <a:effectLst/>
                      </a:endParaRP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a:effectLst/>
                        </a:rPr>
                        <a:t>Test cases that test the basic functionality of the software.</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a:effectLst/>
                        </a:rPr>
                        <a:t>Test cases that test for errors or unexpected behavior.</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a:effectLst/>
                        </a:rPr>
                        <a:t>Test cases that delete or modify data.</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1133">
                <a:tc>
                  <a:txBody>
                    <a:bodyPr/>
                    <a:lstStyle/>
                    <a:p>
                      <a:pPr algn="ctr" fontAlgn="ctr"/>
                      <a:r>
                        <a:rPr lang="en-IN" sz="1100" b="1">
                          <a:effectLst/>
                        </a:rPr>
                        <a:t>Usability</a:t>
                      </a:r>
                      <a:endParaRPr lang="en-IN" sz="1100" b="0">
                        <a:effectLst/>
                      </a:endParaRP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Test cases that test for user-friendliness and easy navigation.</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Test cases that test for confusing interfaces or difficult navigation.</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a:effectLst/>
                        </a:rPr>
                        <a:t>Test cases that delete user data or preferences.</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1133">
                <a:tc>
                  <a:txBody>
                    <a:bodyPr/>
                    <a:lstStyle/>
                    <a:p>
                      <a:pPr algn="ctr" fontAlgn="ctr"/>
                      <a:r>
                        <a:rPr lang="en-IN" sz="1100" b="1">
                          <a:effectLst/>
                        </a:rPr>
                        <a:t>Performance</a:t>
                      </a:r>
                      <a:endParaRPr lang="en-IN" sz="1100" b="0">
                        <a:effectLst/>
                      </a:endParaRP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Test cases that test for fast loading times and response times.</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Test cases that test for slow loading times and response times.</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a:effectLst/>
                        </a:rPr>
                        <a:t>Test cases that delete cached data or user preferences.</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1133">
                <a:tc>
                  <a:txBody>
                    <a:bodyPr/>
                    <a:lstStyle/>
                    <a:p>
                      <a:pPr algn="ctr" fontAlgn="ctr"/>
                      <a:r>
                        <a:rPr lang="en-IN" sz="1100" b="1">
                          <a:effectLst/>
                        </a:rPr>
                        <a:t>Security</a:t>
                      </a:r>
                      <a:endParaRPr lang="en-IN" sz="1100" b="0">
                        <a:effectLst/>
                      </a:endParaRP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a:effectLst/>
                        </a:rPr>
                        <a:t>Test cases that test for proper authentication and authorization.</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Test cases that test for vulnerabilities and exploits.</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a:effectLst/>
                        </a:rPr>
                        <a:t>Test cases that delete user data or preferences.</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525872">
                <a:tc>
                  <a:txBody>
                    <a:bodyPr/>
                    <a:lstStyle/>
                    <a:p>
                      <a:pPr algn="ctr" fontAlgn="ctr"/>
                      <a:r>
                        <a:rPr lang="en-IN" sz="1100" b="1">
                          <a:effectLst/>
                        </a:rPr>
                        <a:t>Design</a:t>
                      </a:r>
                      <a:endParaRPr lang="en-IN" sz="1100" b="0">
                        <a:effectLst/>
                      </a:endParaRP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a:effectLst/>
                        </a:rPr>
                        <a:t>Test cases are tests that are designed to ensure that a system works as expected.</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Test cases are tests that are designed to ensure that a system does not work as expected.</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Test cases are tests that are designed to deliberately break a system in order to test its robustness.</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411133">
                <a:tc>
                  <a:txBody>
                    <a:bodyPr/>
                    <a:lstStyle/>
                    <a:p>
                      <a:pPr algn="ctr" fontAlgn="ctr"/>
                      <a:r>
                        <a:rPr lang="en-IN" sz="1100" b="1" dirty="0">
                          <a:effectLst/>
                        </a:rPr>
                        <a:t>Data</a:t>
                      </a:r>
                      <a:endParaRPr lang="en-IN" sz="1100" b="0" dirty="0">
                        <a:effectLst/>
                      </a:endParaRP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A positive test case is run on unaltered data</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A negative test case is run on altered data</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100" b="0" dirty="0">
                          <a:effectLst/>
                        </a:rPr>
                        <a:t>A destructive test case is run on permanently altered data.</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r h="2017480">
                <a:tc>
                  <a:txBody>
                    <a:bodyPr/>
                    <a:lstStyle/>
                    <a:p>
                      <a:pPr algn="ctr" fontAlgn="ctr"/>
                      <a:r>
                        <a:rPr lang="en-IN" sz="1100" b="1">
                          <a:effectLst/>
                        </a:rPr>
                        <a:t>Example</a:t>
                      </a:r>
                      <a:endParaRPr lang="en-IN" sz="1100" b="0">
                        <a:effectLst/>
                      </a:endParaRP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base">
                        <a:buFont typeface="Arial" panose="020B0604020202020204" pitchFamily="34" charset="0"/>
                        <a:buChar char="•"/>
                      </a:pPr>
                      <a:r>
                        <a:rPr lang="en-US" sz="1100" b="0">
                          <a:solidFill>
                            <a:srgbClr val="273239"/>
                          </a:solidFill>
                          <a:effectLst/>
                        </a:rPr>
                        <a:t>The software should allow a user to input their username and password in order to log in.</a:t>
                      </a:r>
                    </a:p>
                    <a:p>
                      <a:pPr algn="l" fontAlgn="base">
                        <a:buFont typeface="Arial" panose="020B0604020202020204" pitchFamily="34" charset="0"/>
                        <a:buChar char="•"/>
                      </a:pPr>
                      <a:r>
                        <a:rPr lang="en-US" sz="1100" b="0">
                          <a:solidFill>
                            <a:srgbClr val="273239"/>
                          </a:solidFill>
                          <a:effectLst/>
                        </a:rPr>
                        <a:t>The software should allow the user to view all of their past and current orders.</a:t>
                      </a:r>
                    </a:p>
                    <a:p>
                      <a:pPr algn="l" fontAlgn="base">
                        <a:buFont typeface="Arial" panose="020B0604020202020204" pitchFamily="34" charset="0"/>
                        <a:buChar char="•"/>
                      </a:pPr>
                      <a:r>
                        <a:rPr lang="en-US" sz="1100" b="0">
                          <a:solidFill>
                            <a:srgbClr val="273239"/>
                          </a:solidFill>
                          <a:effectLst/>
                        </a:rPr>
                        <a:t>The software should allow the user to view the details of a specific order.</a:t>
                      </a:r>
                    </a:p>
                    <a:p>
                      <a:pPr algn="l" fontAlgn="base">
                        <a:buFont typeface="Arial" panose="020B0604020202020204" pitchFamily="34" charset="0"/>
                        <a:buChar char="•"/>
                      </a:pPr>
                      <a:r>
                        <a:rPr lang="en-US" sz="1100" b="0">
                          <a:solidFill>
                            <a:srgbClr val="273239"/>
                          </a:solidFill>
                          <a:effectLst/>
                        </a:rPr>
                        <a:t>The software should allow the user to search for an order by order number.</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base">
                        <a:buFont typeface="Arial" panose="020B0604020202020204" pitchFamily="34" charset="0"/>
                        <a:buChar char="•"/>
                      </a:pPr>
                      <a:r>
                        <a:rPr lang="en-US" sz="1100" b="0" dirty="0">
                          <a:solidFill>
                            <a:srgbClr val="273239"/>
                          </a:solidFill>
                          <a:effectLst/>
                        </a:rPr>
                        <a:t>The software should not allow a user to log in with an invalid username and password.</a:t>
                      </a:r>
                    </a:p>
                    <a:p>
                      <a:pPr algn="l" fontAlgn="base">
                        <a:buFont typeface="Arial" panose="020B0604020202020204" pitchFamily="34" charset="0"/>
                        <a:buChar char="•"/>
                      </a:pPr>
                      <a:r>
                        <a:rPr lang="en-US" sz="1100" b="0" dirty="0">
                          <a:solidFill>
                            <a:srgbClr val="273239"/>
                          </a:solidFill>
                          <a:effectLst/>
                        </a:rPr>
                        <a:t>The software should not allow the user to view orders they do not have permission to access.</a:t>
                      </a:r>
                    </a:p>
                    <a:p>
                      <a:pPr algn="l" fontAlgn="base">
                        <a:buFont typeface="Arial" panose="020B0604020202020204" pitchFamily="34" charset="0"/>
                        <a:buChar char="•"/>
                      </a:pPr>
                      <a:r>
                        <a:rPr lang="en-US" sz="1100" b="0" dirty="0">
                          <a:solidFill>
                            <a:srgbClr val="273239"/>
                          </a:solidFill>
                          <a:effectLst/>
                        </a:rPr>
                        <a:t>The software should not allow the user to view the details of an order they do not have permission to access.</a:t>
                      </a:r>
                    </a:p>
                    <a:p>
                      <a:pPr algn="l" fontAlgn="base">
                        <a:buFont typeface="Arial" panose="020B0604020202020204" pitchFamily="34" charset="0"/>
                        <a:buChar char="•"/>
                      </a:pPr>
                      <a:r>
                        <a:rPr lang="en-US" sz="1100" b="0" dirty="0">
                          <a:solidFill>
                            <a:srgbClr val="273239"/>
                          </a:solidFill>
                          <a:effectLst/>
                        </a:rPr>
                        <a:t>The software should not allow the user to search for an order by an invalid order number.</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l" fontAlgn="base">
                        <a:buFont typeface="Arial" panose="020B0604020202020204" pitchFamily="34" charset="0"/>
                        <a:buChar char="•"/>
                      </a:pPr>
                      <a:r>
                        <a:rPr lang="en-US" sz="1100" b="0" dirty="0">
                          <a:solidFill>
                            <a:srgbClr val="273239"/>
                          </a:solidFill>
                          <a:effectLst/>
                        </a:rPr>
                        <a:t>The software should allow a user to log in with a valid username and password.</a:t>
                      </a:r>
                    </a:p>
                    <a:p>
                      <a:pPr algn="l" fontAlgn="base">
                        <a:buFont typeface="Arial" panose="020B0604020202020204" pitchFamily="34" charset="0"/>
                        <a:buChar char="•"/>
                      </a:pPr>
                      <a:r>
                        <a:rPr lang="en-US" sz="1100" b="0" dirty="0">
                          <a:solidFill>
                            <a:srgbClr val="273239"/>
                          </a:solidFill>
                          <a:effectLst/>
                        </a:rPr>
                        <a:t>The software should allow the user to view all of their past and current orders.</a:t>
                      </a:r>
                    </a:p>
                    <a:p>
                      <a:pPr algn="l" fontAlgn="base">
                        <a:buFont typeface="Arial" panose="020B0604020202020204" pitchFamily="34" charset="0"/>
                        <a:buChar char="•"/>
                      </a:pPr>
                      <a:r>
                        <a:rPr lang="en-US" sz="1100" b="0" dirty="0">
                          <a:solidFill>
                            <a:srgbClr val="273239"/>
                          </a:solidFill>
                          <a:effectLst/>
                        </a:rPr>
                        <a:t>The software should allow the user to view the details of a specific order.</a:t>
                      </a:r>
                    </a:p>
                    <a:p>
                      <a:pPr algn="l" fontAlgn="base">
                        <a:buFont typeface="Arial" panose="020B0604020202020204" pitchFamily="34" charset="0"/>
                        <a:buChar char="•"/>
                      </a:pPr>
                      <a:r>
                        <a:rPr lang="en-US" sz="1100" b="0" dirty="0">
                          <a:solidFill>
                            <a:srgbClr val="273239"/>
                          </a:solidFill>
                          <a:effectLst/>
                        </a:rPr>
                        <a:t>The software should allow the user to search for an order by order number.</a:t>
                      </a:r>
                    </a:p>
                  </a:txBody>
                  <a:tcPr marL="34917" marR="34917" marT="48884" marB="4888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6080201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1182</TotalTime>
  <Words>1458</Words>
  <Application>Microsoft Office PowerPoint</Application>
  <PresentationFormat>Widescreen</PresentationFormat>
  <Paragraphs>107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Ion Boardroom</vt:lpstr>
      <vt:lpstr>Test Scenarios</vt:lpstr>
      <vt:lpstr>Test Scenarios</vt:lpstr>
      <vt:lpstr>Test cases </vt:lpstr>
      <vt:lpstr>What is a Test Case ?</vt:lpstr>
      <vt:lpstr>What is a Test Scenario ?</vt:lpstr>
      <vt:lpstr>Difference Between Test case and Test Scenarios:</vt:lpstr>
      <vt:lpstr>Example of Test Case:</vt:lpstr>
      <vt:lpstr>Positive vs Negative vs Destructive Test Cases</vt:lpstr>
      <vt:lpstr>Positive Test Cases vs Negative Test Cases vs Destructive Test Cases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mruh</dc:creator>
  <cp:lastModifiedBy>mruh</cp:lastModifiedBy>
  <cp:revision>11</cp:revision>
  <dcterms:created xsi:type="dcterms:W3CDTF">2025-06-30T08:47:11Z</dcterms:created>
  <dcterms:modified xsi:type="dcterms:W3CDTF">2025-07-01T04:29:48Z</dcterms:modified>
</cp:coreProperties>
</file>