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02" r:id="rId41"/>
    <p:sldId id="303" r:id="rId42"/>
    <p:sldId id="304" r:id="rId43"/>
    <p:sldId id="307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87579"/>
            <a:ext cx="7767319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1692" y="1532314"/>
            <a:ext cx="7996555" cy="4666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vro.apache.org/" TargetMode="External"/><Relationship Id="rId2" Type="http://schemas.openxmlformats.org/officeDocument/2006/relationships/hyperlink" Target="http://incubator.apache.org/ambari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://incubator.apache.org/chukwa/" TargetMode="External"/><Relationship Id="rId4" Type="http://schemas.openxmlformats.org/officeDocument/2006/relationships/hyperlink" Target="http://cassandra.apache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hive.apache.org/" TargetMode="External"/><Relationship Id="rId2" Type="http://schemas.openxmlformats.org/officeDocument/2006/relationships/hyperlink" Target="http://hbase.apach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://pig.apache.org/" TargetMode="External"/><Relationship Id="rId4" Type="http://schemas.openxmlformats.org/officeDocument/2006/relationships/hyperlink" Target="http://mahout.apache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tez.incubator.apache.org/" TargetMode="External"/><Relationship Id="rId2" Type="http://schemas.openxmlformats.org/officeDocument/2006/relationships/hyperlink" Target="http://spark.incubator.apach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://zookeeper.apache.org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102" y="7620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5334000"/>
            </a:xfrm>
            <a:custGeom>
              <a:avLst/>
              <a:gdLst/>
              <a:ahLst/>
              <a:cxnLst/>
              <a:rect l="l" t="t" r="r" b="b"/>
              <a:pathLst>
                <a:path w="9144000" h="5334000">
                  <a:moveTo>
                    <a:pt x="0" y="5334000"/>
                  </a:moveTo>
                  <a:lnTo>
                    <a:pt x="9144000" y="53340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5333999"/>
              <a:ext cx="9144000" cy="1524000"/>
            </a:xfrm>
            <a:custGeom>
              <a:avLst/>
              <a:gdLst/>
              <a:ahLst/>
              <a:cxnLst/>
              <a:rect l="l" t="t" r="r" b="b"/>
              <a:pathLst>
                <a:path w="9144000" h="1524000">
                  <a:moveTo>
                    <a:pt x="9144000" y="0"/>
                  </a:moveTo>
                  <a:lnTo>
                    <a:pt x="0" y="0"/>
                  </a:lnTo>
                  <a:lnTo>
                    <a:pt x="0" y="1523999"/>
                  </a:lnTo>
                  <a:lnTo>
                    <a:pt x="9144000" y="152399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5410200"/>
              <a:ext cx="2240280" cy="1356360"/>
            </a:xfrm>
            <a:custGeom>
              <a:avLst/>
              <a:gdLst/>
              <a:ahLst/>
              <a:cxnLst/>
              <a:rect l="l" t="t" r="r" b="b"/>
              <a:pathLst>
                <a:path w="2240280" h="1356359">
                  <a:moveTo>
                    <a:pt x="2240280" y="0"/>
                  </a:moveTo>
                  <a:lnTo>
                    <a:pt x="0" y="0"/>
                  </a:lnTo>
                  <a:lnTo>
                    <a:pt x="0" y="1356360"/>
                  </a:lnTo>
                  <a:lnTo>
                    <a:pt x="2240280" y="1356360"/>
                  </a:lnTo>
                  <a:lnTo>
                    <a:pt x="2240280" y="0"/>
                  </a:lnTo>
                  <a:close/>
                </a:path>
              </a:pathLst>
            </a:custGeom>
            <a:solidFill>
              <a:srgbClr val="DA1F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59151" y="5410200"/>
              <a:ext cx="6784975" cy="1347470"/>
            </a:xfrm>
            <a:custGeom>
              <a:avLst/>
              <a:gdLst/>
              <a:ahLst/>
              <a:cxnLst/>
              <a:rect l="l" t="t" r="r" b="b"/>
              <a:pathLst>
                <a:path w="6784975" h="1347470">
                  <a:moveTo>
                    <a:pt x="6784848" y="0"/>
                  </a:moveTo>
                  <a:lnTo>
                    <a:pt x="0" y="0"/>
                  </a:lnTo>
                  <a:lnTo>
                    <a:pt x="0" y="1347216"/>
                  </a:lnTo>
                  <a:lnTo>
                    <a:pt x="6784848" y="1347216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2C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5940" y="2014855"/>
            <a:ext cx="7097278" cy="2025747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5260"/>
              </a:lnSpc>
              <a:spcBef>
                <a:spcPts val="220"/>
              </a:spcBef>
            </a:pPr>
            <a:r>
              <a:rPr lang="en-IN" sz="4400" b="1" u="sng" spc="-20" dirty="0">
                <a:solidFill>
                  <a:srgbClr val="DEF5F9"/>
                </a:solidFill>
                <a:uFill>
                  <a:solidFill>
                    <a:srgbClr val="DEF5F9"/>
                  </a:solidFill>
                </a:uFill>
                <a:latin typeface="Arial"/>
                <a:cs typeface="Arial"/>
              </a:rPr>
              <a:t>BIG DATA ANALYTICS</a:t>
            </a:r>
            <a:br>
              <a:rPr lang="en-IN" sz="4400" b="1" u="sng" spc="-20" dirty="0">
                <a:solidFill>
                  <a:srgbClr val="DEF5F9"/>
                </a:solidFill>
                <a:uFill>
                  <a:solidFill>
                    <a:srgbClr val="DEF5F9"/>
                  </a:solidFill>
                </a:uFill>
                <a:latin typeface="Arial"/>
                <a:cs typeface="Arial"/>
              </a:rPr>
            </a:br>
            <a:r>
              <a:rPr lang="en-IN" sz="4400" b="1" u="sng" spc="-20" dirty="0">
                <a:solidFill>
                  <a:srgbClr val="DEF5F9"/>
                </a:solidFill>
                <a:uFill>
                  <a:solidFill>
                    <a:srgbClr val="DEF5F9"/>
                  </a:solidFill>
                </a:uFill>
                <a:latin typeface="Arial"/>
                <a:cs typeface="Arial"/>
              </a:rPr>
              <a:t>UNIT:2</a:t>
            </a:r>
            <a:br>
              <a:rPr lang="en-IN" sz="4400" b="1" u="sng" spc="-20" dirty="0">
                <a:solidFill>
                  <a:srgbClr val="DEF5F9"/>
                </a:solidFill>
                <a:uFill>
                  <a:solidFill>
                    <a:srgbClr val="DEF5F9"/>
                  </a:solidFill>
                </a:uFill>
                <a:latin typeface="Arial"/>
                <a:cs typeface="Arial"/>
              </a:rPr>
            </a:br>
            <a:r>
              <a:rPr sz="4400" b="1" spc="-20" dirty="0">
                <a:solidFill>
                  <a:srgbClr val="DEF5F9"/>
                </a:solidFill>
                <a:latin typeface="Arial"/>
                <a:cs typeface="Arial"/>
              </a:rPr>
              <a:t>H</a:t>
            </a:r>
            <a:r>
              <a:rPr lang="en-IN" sz="4400" b="1" spc="-20" dirty="0">
                <a:solidFill>
                  <a:srgbClr val="DEF5F9"/>
                </a:solidFill>
                <a:latin typeface="Arial"/>
                <a:cs typeface="Arial"/>
              </a:rPr>
              <a:t>ADOOP</a:t>
            </a:r>
            <a:endParaRPr sz="4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1194" y="5382869"/>
            <a:ext cx="6093206" cy="81990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Compiled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By:-</a:t>
            </a:r>
            <a:r>
              <a:rPr sz="24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IN" sz="2400" spc="-10" dirty="0">
                <a:solidFill>
                  <a:srgbClr val="FFFFFF"/>
                </a:solidFill>
                <a:latin typeface="Arial MT"/>
                <a:cs typeface="Arial MT"/>
              </a:rPr>
              <a:t>SRIKANTH DASARI</a:t>
            </a:r>
            <a:endParaRPr sz="2400" dirty="0">
              <a:latin typeface="Arial MT"/>
              <a:cs typeface="Arial MT"/>
            </a:endParaRPr>
          </a:p>
          <a:p>
            <a:pPr marL="1841500" marR="5080">
              <a:lnSpc>
                <a:spcPct val="114199"/>
              </a:lnSpc>
            </a:pPr>
            <a:r>
              <a:rPr lang="en-IN" sz="2400" spc="-10" dirty="0">
                <a:solidFill>
                  <a:srgbClr val="FFFFFF"/>
                </a:solidFill>
                <a:latin typeface="Arial MT"/>
                <a:cs typeface="Arial MT"/>
              </a:rPr>
              <a:t>MALLAREDDY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E3D28FAB-E4F3-D0D0-3880-B488DB2C06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3218" y="304800"/>
            <a:ext cx="1501451" cy="1129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Data</a:t>
            </a:r>
            <a:r>
              <a:rPr sz="2000" spc="-50" dirty="0"/>
              <a:t> </a:t>
            </a:r>
            <a:r>
              <a:rPr sz="2000" dirty="0"/>
              <a:t>format,</a:t>
            </a:r>
            <a:r>
              <a:rPr sz="2000" spc="-75" dirty="0"/>
              <a:t> </a:t>
            </a:r>
            <a:r>
              <a:rPr sz="2000" dirty="0"/>
              <a:t>analyzing</a:t>
            </a:r>
            <a:r>
              <a:rPr sz="2000" spc="-40" dirty="0"/>
              <a:t> </a:t>
            </a:r>
            <a:r>
              <a:rPr sz="2000" dirty="0"/>
              <a:t>data</a:t>
            </a:r>
            <a:r>
              <a:rPr sz="2000" spc="-40" dirty="0"/>
              <a:t> </a:t>
            </a:r>
            <a:r>
              <a:rPr sz="2000" dirty="0"/>
              <a:t>with</a:t>
            </a:r>
            <a:r>
              <a:rPr sz="2000" spc="-35" dirty="0"/>
              <a:t> </a:t>
            </a:r>
            <a:r>
              <a:rPr sz="2000" dirty="0"/>
              <a:t>Hadoop,</a:t>
            </a:r>
            <a:r>
              <a:rPr sz="2000" spc="-55" dirty="0"/>
              <a:t> </a:t>
            </a:r>
            <a:r>
              <a:rPr sz="2000" dirty="0"/>
              <a:t>scaling</a:t>
            </a:r>
            <a:r>
              <a:rPr sz="2000" spc="-40" dirty="0"/>
              <a:t> </a:t>
            </a:r>
            <a:r>
              <a:rPr sz="2000" spc="-20" dirty="0"/>
              <a:t>out,</a:t>
            </a:r>
            <a:endParaRPr sz="2000" dirty="0"/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Hadoop</a:t>
            </a:r>
            <a:r>
              <a:rPr sz="2000" spc="-55" dirty="0"/>
              <a:t> </a:t>
            </a:r>
            <a:r>
              <a:rPr sz="2000" dirty="0"/>
              <a:t>streaming,</a:t>
            </a:r>
            <a:r>
              <a:rPr sz="2000" spc="-85" dirty="0"/>
              <a:t> </a:t>
            </a:r>
            <a:r>
              <a:rPr sz="2000" dirty="0"/>
              <a:t>Hadoop</a:t>
            </a:r>
            <a:r>
              <a:rPr sz="2000" spc="-55" dirty="0"/>
              <a:t> </a:t>
            </a:r>
            <a:r>
              <a:rPr sz="2000" spc="-10" dirty="0"/>
              <a:t>pipes,</a:t>
            </a:r>
            <a:endParaRPr sz="2000" dirty="0"/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design</a:t>
            </a:r>
            <a:r>
              <a:rPr sz="2000" spc="-5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dirty="0"/>
              <a:t>Hadoop</a:t>
            </a:r>
            <a:r>
              <a:rPr sz="2000" spc="-50" dirty="0"/>
              <a:t> </a:t>
            </a:r>
            <a:r>
              <a:rPr sz="2000" dirty="0"/>
              <a:t>distributed</a:t>
            </a:r>
            <a:r>
              <a:rPr sz="2000" spc="-50" dirty="0"/>
              <a:t> </a:t>
            </a:r>
            <a:r>
              <a:rPr sz="2000" dirty="0"/>
              <a:t>file</a:t>
            </a:r>
            <a:r>
              <a:rPr sz="2000" spc="-35" dirty="0"/>
              <a:t> </a:t>
            </a:r>
            <a:r>
              <a:rPr sz="2000" dirty="0"/>
              <a:t>system</a:t>
            </a:r>
            <a:r>
              <a:rPr sz="2000" spc="-55" dirty="0"/>
              <a:t> </a:t>
            </a:r>
            <a:r>
              <a:rPr sz="2000" dirty="0"/>
              <a:t>(HDFS),</a:t>
            </a:r>
            <a:r>
              <a:rPr sz="2000" spc="-50" dirty="0"/>
              <a:t> </a:t>
            </a:r>
            <a:r>
              <a:rPr sz="2000" dirty="0"/>
              <a:t>HDFS</a:t>
            </a:r>
            <a:r>
              <a:rPr sz="2000" spc="-40" dirty="0"/>
              <a:t> </a:t>
            </a:r>
            <a:r>
              <a:rPr sz="2000" spc="-10" dirty="0"/>
              <a:t>concepts,</a:t>
            </a:r>
            <a:endParaRPr sz="2000" dirty="0"/>
          </a:p>
          <a:p>
            <a:pPr marL="332740" marR="5080" indent="-320040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3375" algn="l"/>
              </a:tabLst>
            </a:pPr>
            <a:r>
              <a:rPr sz="2000" dirty="0"/>
              <a:t>Java</a:t>
            </a:r>
            <a:r>
              <a:rPr sz="2000" spc="200" dirty="0"/>
              <a:t> </a:t>
            </a:r>
            <a:r>
              <a:rPr sz="2000" dirty="0"/>
              <a:t>interface,</a:t>
            </a:r>
            <a:r>
              <a:rPr sz="2000" spc="195" dirty="0"/>
              <a:t> </a:t>
            </a:r>
            <a:r>
              <a:rPr sz="2000" dirty="0"/>
              <a:t>data</a:t>
            </a:r>
            <a:r>
              <a:rPr sz="2000" spc="204" dirty="0"/>
              <a:t> </a:t>
            </a:r>
            <a:r>
              <a:rPr sz="2000" dirty="0"/>
              <a:t>flow,</a:t>
            </a:r>
            <a:r>
              <a:rPr sz="2000" spc="185" dirty="0"/>
              <a:t> </a:t>
            </a:r>
            <a:r>
              <a:rPr sz="2000" dirty="0"/>
              <a:t>Hadoop</a:t>
            </a:r>
            <a:r>
              <a:rPr sz="2000" spc="195" dirty="0"/>
              <a:t> </a:t>
            </a:r>
            <a:r>
              <a:rPr sz="2000" dirty="0"/>
              <a:t>I/O,</a:t>
            </a:r>
            <a:r>
              <a:rPr sz="2000" spc="190" dirty="0"/>
              <a:t> </a:t>
            </a:r>
            <a:r>
              <a:rPr sz="2000" dirty="0"/>
              <a:t>data</a:t>
            </a:r>
            <a:r>
              <a:rPr sz="2000" spc="204" dirty="0"/>
              <a:t> </a:t>
            </a:r>
            <a:r>
              <a:rPr sz="2000" dirty="0"/>
              <a:t>integrity,</a:t>
            </a:r>
            <a:r>
              <a:rPr sz="2000" spc="190" dirty="0"/>
              <a:t> </a:t>
            </a:r>
            <a:r>
              <a:rPr sz="2000" spc="-10" dirty="0"/>
              <a:t>compression, serialization,</a:t>
            </a:r>
            <a:endParaRPr sz="2000" dirty="0"/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Avro,</a:t>
            </a:r>
            <a:r>
              <a:rPr sz="2000" spc="290" dirty="0"/>
              <a:t> </a:t>
            </a:r>
            <a:r>
              <a:rPr sz="2000" spc="-10" dirty="0"/>
              <a:t>file-</a:t>
            </a:r>
            <a:r>
              <a:rPr sz="2000" dirty="0"/>
              <a:t>based</a:t>
            </a:r>
            <a:r>
              <a:rPr sz="2000" spc="290" dirty="0"/>
              <a:t> </a:t>
            </a:r>
            <a:r>
              <a:rPr sz="2000" dirty="0"/>
              <a:t>data</a:t>
            </a:r>
            <a:r>
              <a:rPr sz="2000" spc="275" dirty="0"/>
              <a:t> </a:t>
            </a:r>
            <a:r>
              <a:rPr sz="2000" dirty="0"/>
              <a:t>structures,</a:t>
            </a:r>
            <a:r>
              <a:rPr sz="2000" spc="280" dirty="0"/>
              <a:t> </a:t>
            </a:r>
            <a:r>
              <a:rPr sz="2000" dirty="0"/>
              <a:t>MapReduce</a:t>
            </a:r>
            <a:r>
              <a:rPr sz="2000" spc="285" dirty="0"/>
              <a:t> </a:t>
            </a:r>
            <a:r>
              <a:rPr sz="2000" dirty="0"/>
              <a:t>workflows,</a:t>
            </a:r>
            <a:r>
              <a:rPr sz="2000" spc="280" dirty="0"/>
              <a:t> </a:t>
            </a:r>
            <a:r>
              <a:rPr sz="2000" dirty="0"/>
              <a:t>unit</a:t>
            </a:r>
            <a:r>
              <a:rPr sz="2000" spc="270" dirty="0"/>
              <a:t> </a:t>
            </a:r>
            <a:r>
              <a:rPr sz="2000" spc="-10" dirty="0"/>
              <a:t>tests</a:t>
            </a:r>
            <a:endParaRPr sz="2000" dirty="0"/>
          </a:p>
          <a:p>
            <a:pPr marL="332740">
              <a:lnSpc>
                <a:spcPct val="100000"/>
              </a:lnSpc>
            </a:pPr>
            <a:r>
              <a:rPr sz="2000" dirty="0"/>
              <a:t>with</a:t>
            </a:r>
            <a:r>
              <a:rPr sz="2000" spc="-20" dirty="0"/>
              <a:t> </a:t>
            </a:r>
            <a:r>
              <a:rPr sz="2000" dirty="0"/>
              <a:t>MRUnit,</a:t>
            </a:r>
            <a:r>
              <a:rPr sz="2000" spc="-30" dirty="0"/>
              <a:t> </a:t>
            </a:r>
            <a:r>
              <a:rPr sz="2000" dirty="0"/>
              <a:t>test</a:t>
            </a:r>
            <a:r>
              <a:rPr sz="2000" spc="-50" dirty="0"/>
              <a:t> </a:t>
            </a:r>
            <a:r>
              <a:rPr sz="2000" dirty="0"/>
              <a:t>data</a:t>
            </a:r>
            <a:r>
              <a:rPr sz="2000" spc="-30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dirty="0"/>
              <a:t>local</a:t>
            </a:r>
            <a:r>
              <a:rPr sz="2000" spc="-20" dirty="0"/>
              <a:t> </a:t>
            </a:r>
            <a:r>
              <a:rPr sz="2000" spc="-10" dirty="0"/>
              <a:t>tests,</a:t>
            </a:r>
            <a:endParaRPr sz="2000" dirty="0"/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anatomy</a:t>
            </a:r>
            <a:r>
              <a:rPr sz="2000" spc="-45" dirty="0"/>
              <a:t> </a:t>
            </a:r>
            <a:r>
              <a:rPr sz="2000" dirty="0"/>
              <a:t>of</a:t>
            </a:r>
            <a:r>
              <a:rPr sz="2000" spc="-15" dirty="0"/>
              <a:t> </a:t>
            </a:r>
            <a:r>
              <a:rPr sz="2000" dirty="0"/>
              <a:t>MapReduce</a:t>
            </a:r>
            <a:r>
              <a:rPr sz="2000" spc="-45" dirty="0"/>
              <a:t> </a:t>
            </a:r>
            <a:r>
              <a:rPr sz="2000" dirty="0"/>
              <a:t>job</a:t>
            </a:r>
            <a:r>
              <a:rPr sz="2000" spc="-20" dirty="0"/>
              <a:t> </a:t>
            </a:r>
            <a:r>
              <a:rPr sz="2000" dirty="0"/>
              <a:t>run,</a:t>
            </a:r>
            <a:r>
              <a:rPr sz="2000" spc="-25" dirty="0"/>
              <a:t> </a:t>
            </a:r>
            <a:r>
              <a:rPr sz="2000" dirty="0"/>
              <a:t>classic</a:t>
            </a:r>
            <a:r>
              <a:rPr sz="2000" spc="-35" dirty="0"/>
              <a:t> </a:t>
            </a:r>
            <a:r>
              <a:rPr sz="2000" spc="-10" dirty="0"/>
              <a:t>Map-reduce,</a:t>
            </a:r>
            <a:endParaRPr sz="2000" dirty="0"/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YARN,</a:t>
            </a:r>
            <a:r>
              <a:rPr sz="2000" spc="310" dirty="0"/>
              <a:t> </a:t>
            </a:r>
            <a:r>
              <a:rPr sz="2000" dirty="0"/>
              <a:t>failures</a:t>
            </a:r>
            <a:r>
              <a:rPr sz="2000" spc="310" dirty="0"/>
              <a:t> </a:t>
            </a:r>
            <a:r>
              <a:rPr sz="2000" dirty="0"/>
              <a:t>in</a:t>
            </a:r>
            <a:r>
              <a:rPr sz="2000" spc="305" dirty="0"/>
              <a:t> </a:t>
            </a:r>
            <a:r>
              <a:rPr sz="2000" dirty="0"/>
              <a:t>classic</a:t>
            </a:r>
            <a:r>
              <a:rPr sz="2000" spc="305" dirty="0"/>
              <a:t> </a:t>
            </a:r>
            <a:r>
              <a:rPr sz="2000" spc="-10" dirty="0"/>
              <a:t>Map-</a:t>
            </a:r>
            <a:r>
              <a:rPr sz="2000" dirty="0"/>
              <a:t>reduce</a:t>
            </a:r>
            <a:r>
              <a:rPr sz="2000" spc="310" dirty="0"/>
              <a:t> </a:t>
            </a:r>
            <a:r>
              <a:rPr sz="2000" dirty="0"/>
              <a:t>and</a:t>
            </a:r>
            <a:r>
              <a:rPr sz="2000" spc="305" dirty="0"/>
              <a:t> </a:t>
            </a:r>
            <a:r>
              <a:rPr sz="2000" dirty="0"/>
              <a:t>YARN,</a:t>
            </a:r>
            <a:r>
              <a:rPr sz="2000" spc="290" dirty="0"/>
              <a:t> </a:t>
            </a:r>
            <a:r>
              <a:rPr sz="2000" dirty="0"/>
              <a:t>job</a:t>
            </a:r>
            <a:r>
              <a:rPr sz="2000" spc="320" dirty="0"/>
              <a:t> </a:t>
            </a:r>
            <a:r>
              <a:rPr sz="2000" spc="-10" dirty="0"/>
              <a:t>scheduling,</a:t>
            </a:r>
            <a:endParaRPr sz="2000" dirty="0"/>
          </a:p>
          <a:p>
            <a:pPr marL="332740">
              <a:lnSpc>
                <a:spcPct val="100000"/>
              </a:lnSpc>
            </a:pPr>
            <a:r>
              <a:rPr sz="2000" dirty="0"/>
              <a:t>shuffle</a:t>
            </a:r>
            <a:r>
              <a:rPr sz="2000" spc="-50" dirty="0"/>
              <a:t> </a:t>
            </a:r>
            <a:r>
              <a:rPr sz="2000" dirty="0"/>
              <a:t>andsort,</a:t>
            </a:r>
            <a:r>
              <a:rPr sz="2000" spc="-65" dirty="0"/>
              <a:t> </a:t>
            </a:r>
            <a:r>
              <a:rPr sz="2000" dirty="0"/>
              <a:t>task</a:t>
            </a:r>
            <a:r>
              <a:rPr sz="2000" spc="-40" dirty="0"/>
              <a:t> </a:t>
            </a:r>
            <a:r>
              <a:rPr sz="2000" spc="-10" dirty="0"/>
              <a:t>execution,</a:t>
            </a:r>
            <a:endParaRPr sz="2000" dirty="0"/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/>
              <a:t>MapReduce</a:t>
            </a:r>
            <a:r>
              <a:rPr sz="2000" spc="-35" dirty="0"/>
              <a:t> </a:t>
            </a:r>
            <a:r>
              <a:rPr sz="2000" dirty="0"/>
              <a:t>types,</a:t>
            </a:r>
            <a:r>
              <a:rPr sz="2000" spc="-35" dirty="0"/>
              <a:t> </a:t>
            </a:r>
            <a:r>
              <a:rPr sz="2000" dirty="0"/>
              <a:t>input</a:t>
            </a:r>
            <a:r>
              <a:rPr sz="2000" spc="-5" dirty="0"/>
              <a:t> </a:t>
            </a:r>
            <a:r>
              <a:rPr sz="2000" dirty="0"/>
              <a:t>formats,</a:t>
            </a:r>
            <a:r>
              <a:rPr sz="2000" spc="-45" dirty="0"/>
              <a:t> </a:t>
            </a:r>
            <a:r>
              <a:rPr sz="2000" dirty="0"/>
              <a:t>output</a:t>
            </a:r>
            <a:r>
              <a:rPr sz="2000" spc="-30" dirty="0"/>
              <a:t> </a:t>
            </a:r>
            <a:r>
              <a:rPr sz="2000" spc="-10" dirty="0"/>
              <a:t>formats</a:t>
            </a:r>
            <a:endParaRPr sz="200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194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Contents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9E2FF4AC-C377-8C7D-DF2D-30537E58C5D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2501"/>
            <a:ext cx="7802880" cy="4271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167513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b="1" dirty="0">
                <a:latin typeface="Arial"/>
                <a:cs typeface="Arial"/>
              </a:rPr>
              <a:t>open-</a:t>
            </a:r>
            <a:r>
              <a:rPr sz="2900" b="1" spc="-10" dirty="0">
                <a:latin typeface="Arial"/>
                <a:cs typeface="Arial"/>
              </a:rPr>
              <a:t>source </a:t>
            </a:r>
            <a:r>
              <a:rPr sz="2900" b="1" dirty="0">
                <a:latin typeface="Arial"/>
                <a:cs typeface="Arial"/>
              </a:rPr>
              <a:t>software</a:t>
            </a:r>
            <a:r>
              <a:rPr sz="2900" b="1" spc="-55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framework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storing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and</a:t>
            </a:r>
            <a:endParaRPr sz="2900" dirty="0">
              <a:latin typeface="Arial MT"/>
              <a:cs typeface="Arial MT"/>
            </a:endParaRPr>
          </a:p>
          <a:p>
            <a:pPr marL="332740" marR="791845" algn="just">
              <a:lnSpc>
                <a:spcPct val="100000"/>
              </a:lnSpc>
              <a:spcBef>
                <a:spcPts val="5"/>
              </a:spcBef>
            </a:pPr>
            <a:r>
              <a:rPr sz="2900" dirty="0">
                <a:latin typeface="Arial MT"/>
                <a:cs typeface="Arial MT"/>
              </a:rPr>
              <a:t>processing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large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datasets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ranging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size </a:t>
            </a:r>
            <a:r>
              <a:rPr sz="2900" dirty="0">
                <a:latin typeface="Arial MT"/>
                <a:cs typeface="Arial MT"/>
              </a:rPr>
              <a:t>from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b="1" dirty="0">
                <a:latin typeface="Arial"/>
                <a:cs typeface="Arial"/>
              </a:rPr>
              <a:t>gigabytes</a:t>
            </a:r>
            <a:r>
              <a:rPr sz="2900" b="1" spc="-15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b="1" spc="-10" dirty="0">
                <a:latin typeface="Arial"/>
                <a:cs typeface="Arial"/>
              </a:rPr>
              <a:t>petabytes</a:t>
            </a:r>
            <a:r>
              <a:rPr sz="2900" spc="-10" dirty="0">
                <a:latin typeface="Arial MT"/>
                <a:cs typeface="Arial MT"/>
              </a:rPr>
              <a:t>.</a:t>
            </a:r>
            <a:endParaRPr sz="2900" dirty="0">
              <a:latin typeface="Arial MT"/>
              <a:cs typeface="Arial MT"/>
            </a:endParaRPr>
          </a:p>
          <a:p>
            <a:pPr marL="332740" marR="1260475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was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developed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at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18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Apache </a:t>
            </a:r>
            <a:r>
              <a:rPr sz="2900" dirty="0">
                <a:latin typeface="Arial MT"/>
                <a:cs typeface="Arial MT"/>
              </a:rPr>
              <a:t>Software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Foundation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2005.</a:t>
            </a:r>
            <a:endParaRPr sz="2900" dirty="0">
              <a:latin typeface="Arial MT"/>
              <a:cs typeface="Arial MT"/>
            </a:endParaRPr>
          </a:p>
          <a:p>
            <a:pPr marL="332105" indent="-319405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sz="2900" dirty="0">
                <a:latin typeface="Arial MT"/>
                <a:cs typeface="Arial MT"/>
              </a:rPr>
              <a:t>It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written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Java.</a:t>
            </a:r>
            <a:endParaRPr sz="2900" dirty="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traditional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approach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like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RDBMS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not </a:t>
            </a:r>
            <a:r>
              <a:rPr sz="2900" dirty="0">
                <a:latin typeface="Arial MT"/>
                <a:cs typeface="Arial MT"/>
              </a:rPr>
              <a:t>sufficient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due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heterogeneity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data.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Apache</a:t>
            </a:r>
            <a:r>
              <a:rPr sz="4400" spc="-190" dirty="0"/>
              <a:t> </a:t>
            </a:r>
            <a:r>
              <a:rPr sz="4400" spc="-10" dirty="0"/>
              <a:t>Hadoop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10413" y="126720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EE218485-F0C1-B38A-9D73-654EC96ABB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2501"/>
            <a:ext cx="7894320" cy="4244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So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comes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solution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5" dirty="0">
                <a:latin typeface="Arial MT"/>
                <a:cs typeface="Arial MT"/>
              </a:rPr>
              <a:t> the </a:t>
            </a:r>
            <a:r>
              <a:rPr sz="2900" dirty="0">
                <a:latin typeface="Arial MT"/>
                <a:cs typeface="Arial MT"/>
              </a:rPr>
              <a:t>problem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big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i.e.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storing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processing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big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some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extra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capabilities.</a:t>
            </a:r>
            <a:endParaRPr sz="2900" dirty="0">
              <a:latin typeface="Arial MT"/>
              <a:cs typeface="Arial MT"/>
            </a:endParaRPr>
          </a:p>
          <a:p>
            <a:pPr marL="332740" marR="45339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Its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co-founder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Doug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Cutting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named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his </a:t>
            </a:r>
            <a:r>
              <a:rPr sz="2900" dirty="0">
                <a:latin typeface="Arial MT"/>
                <a:cs typeface="Arial MT"/>
              </a:rPr>
              <a:t>son’s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toy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elephant.</a:t>
            </a:r>
            <a:endParaRPr sz="2900" dirty="0">
              <a:latin typeface="Arial MT"/>
              <a:cs typeface="Arial MT"/>
            </a:endParaRPr>
          </a:p>
          <a:p>
            <a:pPr marL="332740" marR="208279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There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mainly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two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components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Hadoop </a:t>
            </a:r>
            <a:r>
              <a:rPr sz="2900" dirty="0">
                <a:latin typeface="Arial MT"/>
                <a:cs typeface="Arial MT"/>
              </a:rPr>
              <a:t>which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50" dirty="0">
                <a:latin typeface="Arial MT"/>
                <a:cs typeface="Arial MT"/>
              </a:rPr>
              <a:t> :</a:t>
            </a:r>
            <a:endParaRPr sz="2900" dirty="0">
              <a:latin typeface="Arial MT"/>
              <a:cs typeface="Arial MT"/>
            </a:endParaRPr>
          </a:p>
          <a:p>
            <a:pPr marL="379730" algn="just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-5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Hadoop</a:t>
            </a:r>
            <a:r>
              <a:rPr sz="2600" b="1" spc="-2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Distributed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File</a:t>
            </a:r>
            <a:r>
              <a:rPr sz="2600" b="1" spc="-5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System</a:t>
            </a:r>
            <a:r>
              <a:rPr sz="2600" b="1" spc="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(HDFS)</a:t>
            </a:r>
            <a:endParaRPr sz="2600" dirty="0">
              <a:latin typeface="Arial"/>
              <a:cs typeface="Arial"/>
            </a:endParaRPr>
          </a:p>
          <a:p>
            <a:pPr marL="379730" algn="just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10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b="1" spc="-50" dirty="0">
                <a:latin typeface="Arial"/>
                <a:cs typeface="Arial"/>
              </a:rPr>
              <a:t>Yet</a:t>
            </a:r>
            <a:r>
              <a:rPr sz="2600" b="1" spc="-114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Another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Resource</a:t>
            </a:r>
            <a:r>
              <a:rPr sz="2600" b="1" spc="-40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Negotiator(YARN).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Apache</a:t>
            </a:r>
            <a:r>
              <a:rPr sz="4400" spc="-190" dirty="0"/>
              <a:t> </a:t>
            </a:r>
            <a:r>
              <a:rPr sz="4400" spc="-10" dirty="0"/>
              <a:t>Hadoop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67B461C1-86B5-41E6-0222-817FE799F2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2501"/>
            <a:ext cx="8079740" cy="5156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97155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designed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scale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up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from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single </a:t>
            </a:r>
            <a:r>
              <a:rPr sz="2900" dirty="0">
                <a:latin typeface="Arial MT"/>
                <a:cs typeface="Arial MT"/>
              </a:rPr>
              <a:t>server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thousands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machines,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each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offering </a:t>
            </a:r>
            <a:r>
              <a:rPr sz="2900" dirty="0">
                <a:latin typeface="Arial MT"/>
                <a:cs typeface="Arial MT"/>
              </a:rPr>
              <a:t>local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computation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storage.</a:t>
            </a:r>
            <a:endParaRPr sz="2900" dirty="0">
              <a:latin typeface="Arial MT"/>
              <a:cs typeface="Arial MT"/>
            </a:endParaRPr>
          </a:p>
          <a:p>
            <a:pPr marL="332740" marR="52197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Applications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built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using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run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on </a:t>
            </a:r>
            <a:r>
              <a:rPr sz="2900" dirty="0">
                <a:latin typeface="Arial MT"/>
                <a:cs typeface="Arial MT"/>
              </a:rPr>
              <a:t>large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sets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distributed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across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clusters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of </a:t>
            </a:r>
            <a:r>
              <a:rPr sz="2900" dirty="0">
                <a:latin typeface="Arial MT"/>
                <a:cs typeface="Arial MT"/>
              </a:rPr>
              <a:t>commodity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computers.</a:t>
            </a:r>
            <a:endParaRPr sz="2900" dirty="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Commodity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computers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cheap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widely </a:t>
            </a:r>
            <a:r>
              <a:rPr sz="2900" dirty="0">
                <a:latin typeface="Arial MT"/>
                <a:cs typeface="Arial MT"/>
              </a:rPr>
              <a:t>available,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these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useful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achieving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greater </a:t>
            </a:r>
            <a:r>
              <a:rPr sz="2900" dirty="0">
                <a:latin typeface="Arial MT"/>
                <a:cs typeface="Arial MT"/>
              </a:rPr>
              <a:t>computational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power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low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cost.</a:t>
            </a:r>
            <a:endParaRPr sz="2900" dirty="0">
              <a:latin typeface="Arial MT"/>
              <a:cs typeface="Arial MT"/>
            </a:endParaRPr>
          </a:p>
          <a:p>
            <a:pPr marL="332740" marR="532765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In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resides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distributed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file </a:t>
            </a:r>
            <a:r>
              <a:rPr sz="2900" dirty="0">
                <a:latin typeface="Arial MT"/>
                <a:cs typeface="Arial MT"/>
              </a:rPr>
              <a:t>system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which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called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Distributed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i="1" dirty="0">
                <a:latin typeface="Arial"/>
                <a:cs typeface="Arial"/>
              </a:rPr>
              <a:t>Why</a:t>
            </a:r>
            <a:r>
              <a:rPr sz="4400" b="1" i="1" spc="-10" dirty="0">
                <a:latin typeface="Arial"/>
                <a:cs typeface="Arial"/>
              </a:rPr>
              <a:t> Hadoop?</a:t>
            </a:r>
            <a:endParaRPr sz="4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413" y="126720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075" y="236561"/>
            <a:ext cx="3105150" cy="709683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B4A4CC7E-12AA-154C-38F2-047399B87F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388240"/>
            <a:ext cx="8281010" cy="56380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635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800" dirty="0">
                <a:latin typeface="Arial MT"/>
                <a:cs typeface="Arial MT"/>
              </a:rPr>
              <a:t>In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Hadoop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13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resides</a:t>
            </a:r>
            <a:r>
              <a:rPr sz="2800" spc="13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14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distributed</a:t>
            </a:r>
            <a:r>
              <a:rPr sz="2800" spc="135" dirty="0">
                <a:latin typeface="Arial MT"/>
                <a:cs typeface="Arial MT"/>
              </a:rPr>
              <a:t>  </a:t>
            </a:r>
            <a:r>
              <a:rPr sz="2800" spc="-20" dirty="0">
                <a:latin typeface="Arial MT"/>
                <a:cs typeface="Arial MT"/>
              </a:rPr>
              <a:t>file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4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which</a:t>
            </a:r>
            <a:r>
              <a:rPr sz="2800" spc="4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5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48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475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Hadoop</a:t>
            </a:r>
            <a:r>
              <a:rPr sz="2800" b="1" spc="47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Distributed </a:t>
            </a:r>
            <a:r>
              <a:rPr sz="2800" b="1" dirty="0">
                <a:latin typeface="Arial"/>
                <a:cs typeface="Arial"/>
              </a:rPr>
              <a:t>File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system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800" dirty="0">
                <a:latin typeface="Arial MT"/>
                <a:cs typeface="Arial MT"/>
              </a:rPr>
              <a:t>HDFS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splits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files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blocks</a:t>
            </a:r>
            <a:r>
              <a:rPr sz="2800" spc="6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6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sends</a:t>
            </a:r>
            <a:r>
              <a:rPr sz="2800" spc="6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them </a:t>
            </a:r>
            <a:r>
              <a:rPr sz="2800" dirty="0">
                <a:latin typeface="Arial MT"/>
                <a:cs typeface="Arial MT"/>
              </a:rPr>
              <a:t>across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various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nodes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form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large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clusters.</a:t>
            </a:r>
            <a:endParaRPr sz="2800" dirty="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2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Hadoop</a:t>
            </a:r>
            <a:r>
              <a:rPr sz="2800" spc="2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Distributed</a:t>
            </a:r>
            <a:r>
              <a:rPr sz="2800" spc="2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</a:t>
            </a:r>
            <a:r>
              <a:rPr sz="2800" spc="2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22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(HDFS)</a:t>
            </a:r>
            <a:r>
              <a:rPr sz="2800" spc="2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based</a:t>
            </a:r>
            <a:r>
              <a:rPr sz="2800" spc="6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6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6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Google</a:t>
            </a:r>
            <a:r>
              <a:rPr sz="2800" spc="6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File</a:t>
            </a:r>
            <a:r>
              <a:rPr sz="2800" spc="6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6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(GFS)</a:t>
            </a:r>
            <a:r>
              <a:rPr sz="2800" spc="63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 </a:t>
            </a:r>
            <a:r>
              <a:rPr sz="2800" dirty="0">
                <a:latin typeface="Arial MT"/>
                <a:cs typeface="Arial MT"/>
              </a:rPr>
              <a:t>provides</a:t>
            </a:r>
            <a:r>
              <a:rPr sz="2800" spc="51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5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distributed</a:t>
            </a:r>
            <a:r>
              <a:rPr sz="2800" spc="52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file</a:t>
            </a:r>
            <a:r>
              <a:rPr sz="2800" spc="52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system</a:t>
            </a:r>
            <a:r>
              <a:rPr sz="2800" spc="53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515" dirty="0">
                <a:latin typeface="Arial MT"/>
                <a:cs typeface="Arial MT"/>
              </a:rPr>
              <a:t>  </a:t>
            </a:r>
            <a:r>
              <a:rPr sz="2800" spc="-25" dirty="0">
                <a:latin typeface="Arial MT"/>
                <a:cs typeface="Arial MT"/>
              </a:rPr>
              <a:t>is </a:t>
            </a:r>
            <a:r>
              <a:rPr sz="2800" dirty="0">
                <a:latin typeface="Arial MT"/>
                <a:cs typeface="Arial MT"/>
              </a:rPr>
              <a:t>designed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run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commodity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hardware.</a:t>
            </a:r>
            <a:endParaRPr sz="2800" dirty="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800" dirty="0">
                <a:latin typeface="Arial MT"/>
                <a:cs typeface="Arial MT"/>
              </a:rPr>
              <a:t>Commodity</a:t>
            </a:r>
            <a:r>
              <a:rPr sz="2800" spc="38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hardware</a:t>
            </a:r>
            <a:r>
              <a:rPr sz="2800" spc="39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400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cheap</a:t>
            </a:r>
            <a:r>
              <a:rPr sz="2800" spc="405" dirty="0">
                <a:latin typeface="Arial MT"/>
                <a:cs typeface="Arial MT"/>
              </a:rPr>
              <a:t> 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405" dirty="0">
                <a:latin typeface="Arial MT"/>
                <a:cs typeface="Arial MT"/>
              </a:rPr>
              <a:t>  </a:t>
            </a:r>
            <a:r>
              <a:rPr sz="2800" spc="-10" dirty="0">
                <a:latin typeface="Arial MT"/>
                <a:cs typeface="Arial MT"/>
              </a:rPr>
              <a:t>widely </a:t>
            </a:r>
            <a:r>
              <a:rPr sz="2800" dirty="0">
                <a:latin typeface="Arial MT"/>
                <a:cs typeface="Arial MT"/>
              </a:rPr>
              <a:t>available,</a:t>
            </a:r>
            <a:r>
              <a:rPr sz="2800" spc="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useful</a:t>
            </a:r>
            <a:r>
              <a:rPr sz="2800" spc="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achieving</a:t>
            </a:r>
            <a:r>
              <a:rPr sz="2800" spc="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greater </a:t>
            </a:r>
            <a:r>
              <a:rPr sz="2800" dirty="0">
                <a:latin typeface="Arial MT"/>
                <a:cs typeface="Arial MT"/>
              </a:rPr>
              <a:t>computational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power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low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cost.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5893"/>
            <a:ext cx="7767319" cy="1244600"/>
          </a:xfrm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HDFS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F0AACA51-C5E9-8B4B-64C4-51623B4DA16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2501"/>
            <a:ext cx="8223250" cy="5036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635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It</a:t>
            </a:r>
            <a:r>
              <a:rPr sz="2900" spc="4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4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highly</a:t>
            </a:r>
            <a:r>
              <a:rPr sz="2900" spc="4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fault-</a:t>
            </a:r>
            <a:r>
              <a:rPr sz="2900" dirty="0">
                <a:latin typeface="Arial MT"/>
                <a:cs typeface="Arial MT"/>
              </a:rPr>
              <a:t>tolerant</a:t>
            </a:r>
            <a:r>
              <a:rPr sz="2900" spc="4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4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4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designed</a:t>
            </a:r>
            <a:r>
              <a:rPr sz="2900" spc="4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44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be </a:t>
            </a:r>
            <a:r>
              <a:rPr sz="2900" dirty="0">
                <a:latin typeface="Arial MT"/>
                <a:cs typeface="Arial MT"/>
              </a:rPr>
              <a:t>deployed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on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low-</a:t>
            </a:r>
            <a:r>
              <a:rPr sz="2900" dirty="0">
                <a:latin typeface="Arial MT"/>
                <a:cs typeface="Arial MT"/>
              </a:rPr>
              <a:t>cost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hardware.</a:t>
            </a:r>
            <a:endParaRPr sz="29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It</a:t>
            </a:r>
            <a:r>
              <a:rPr sz="2900" spc="420" dirty="0">
                <a:latin typeface="Arial MT"/>
                <a:cs typeface="Arial MT"/>
              </a:rPr>
              <a:t>   </a:t>
            </a:r>
            <a:r>
              <a:rPr sz="2900" dirty="0">
                <a:latin typeface="Arial MT"/>
                <a:cs typeface="Arial MT"/>
              </a:rPr>
              <a:t>provides</a:t>
            </a:r>
            <a:r>
              <a:rPr sz="2900" spc="425" dirty="0">
                <a:latin typeface="Arial MT"/>
                <a:cs typeface="Arial MT"/>
              </a:rPr>
              <a:t>   </a:t>
            </a:r>
            <a:r>
              <a:rPr sz="2900" dirty="0">
                <a:latin typeface="Arial MT"/>
                <a:cs typeface="Arial MT"/>
              </a:rPr>
              <a:t>high</a:t>
            </a:r>
            <a:r>
              <a:rPr sz="2900" spc="430" dirty="0">
                <a:latin typeface="Arial MT"/>
                <a:cs typeface="Arial MT"/>
              </a:rPr>
              <a:t>   </a:t>
            </a:r>
            <a:r>
              <a:rPr sz="2900" dirty="0">
                <a:latin typeface="Arial MT"/>
                <a:cs typeface="Arial MT"/>
              </a:rPr>
              <a:t>throughput</a:t>
            </a:r>
            <a:r>
              <a:rPr sz="2900" spc="425" dirty="0">
                <a:latin typeface="Arial MT"/>
                <a:cs typeface="Arial MT"/>
              </a:rPr>
              <a:t>   </a:t>
            </a:r>
            <a:r>
              <a:rPr sz="2900" dirty="0">
                <a:latin typeface="Arial MT"/>
                <a:cs typeface="Arial MT"/>
              </a:rPr>
              <a:t>access</a:t>
            </a:r>
            <a:r>
              <a:rPr sz="2900" spc="430" dirty="0">
                <a:latin typeface="Arial MT"/>
                <a:cs typeface="Arial MT"/>
              </a:rPr>
              <a:t>   </a:t>
            </a:r>
            <a:r>
              <a:rPr sz="2900" spc="-25" dirty="0">
                <a:latin typeface="Arial MT"/>
                <a:cs typeface="Arial MT"/>
              </a:rPr>
              <a:t>to </a:t>
            </a:r>
            <a:r>
              <a:rPr sz="2900" dirty="0">
                <a:latin typeface="Arial MT"/>
                <a:cs typeface="Arial MT"/>
              </a:rPr>
              <a:t>application</a:t>
            </a:r>
            <a:r>
              <a:rPr sz="2900" spc="28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3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30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2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suitable</a:t>
            </a:r>
            <a:r>
              <a:rPr sz="2900" spc="2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29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applications </a:t>
            </a:r>
            <a:r>
              <a:rPr sz="2900" dirty="0">
                <a:latin typeface="Arial MT"/>
                <a:cs typeface="Arial MT"/>
              </a:rPr>
              <a:t>having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large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datasets.</a:t>
            </a:r>
            <a:endParaRPr sz="2900">
              <a:latin typeface="Arial MT"/>
              <a:cs typeface="Arial MT"/>
            </a:endParaRPr>
          </a:p>
          <a:p>
            <a:pPr marL="332740" marR="5715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70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framework</a:t>
            </a:r>
            <a:r>
              <a:rPr sz="2900" spc="7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includes</a:t>
            </a:r>
            <a:r>
              <a:rPr sz="2900" spc="7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7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following</a:t>
            </a:r>
            <a:r>
              <a:rPr sz="2900" spc="72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two </a:t>
            </a:r>
            <a:r>
              <a:rPr sz="2900" dirty="0">
                <a:latin typeface="Arial MT"/>
                <a:cs typeface="Arial MT"/>
              </a:rPr>
              <a:t>modules</a:t>
            </a:r>
            <a:r>
              <a:rPr sz="2900" spc="-90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:</a:t>
            </a:r>
            <a:endParaRPr sz="2900">
              <a:latin typeface="Arial MT"/>
              <a:cs typeface="Arial MT"/>
            </a:endParaRPr>
          </a:p>
          <a:p>
            <a:pPr marL="652145" marR="5080" indent="-273050" algn="just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5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Hadoop</a:t>
            </a:r>
            <a:r>
              <a:rPr sz="2600" spc="1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Common:</a:t>
            </a:r>
            <a:r>
              <a:rPr sz="2600" spc="1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These</a:t>
            </a:r>
            <a:r>
              <a:rPr sz="2600" spc="2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are</a:t>
            </a:r>
            <a:r>
              <a:rPr sz="2600" spc="1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Java</a:t>
            </a:r>
            <a:r>
              <a:rPr sz="2600" spc="2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libraries</a:t>
            </a:r>
            <a:r>
              <a:rPr sz="2600" spc="25" dirty="0">
                <a:latin typeface="Arial MT"/>
                <a:cs typeface="Arial MT"/>
              </a:rPr>
              <a:t>  </a:t>
            </a:r>
            <a:r>
              <a:rPr sz="2600" spc="-114" dirty="0">
                <a:latin typeface="Arial MT"/>
                <a:cs typeface="Arial MT"/>
              </a:rPr>
              <a:t>and </a:t>
            </a:r>
            <a:r>
              <a:rPr sz="2600" dirty="0">
                <a:latin typeface="Arial MT"/>
                <a:cs typeface="Arial MT"/>
              </a:rPr>
              <a:t>utilities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required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by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other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Hadoop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modules.</a:t>
            </a:r>
            <a:endParaRPr sz="2600">
              <a:latin typeface="Arial MT"/>
              <a:cs typeface="Arial MT"/>
            </a:endParaRPr>
          </a:p>
          <a:p>
            <a:pPr marL="652145" marR="6985" indent="-273050" algn="just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5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Hadoop</a:t>
            </a:r>
            <a:r>
              <a:rPr sz="2600" spc="38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YARN:</a:t>
            </a:r>
            <a:r>
              <a:rPr sz="2600" spc="37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This</a:t>
            </a:r>
            <a:r>
              <a:rPr sz="2600" spc="37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is</a:t>
            </a:r>
            <a:r>
              <a:rPr sz="2600" spc="380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36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framework</a:t>
            </a:r>
            <a:r>
              <a:rPr sz="2600" spc="375" dirty="0">
                <a:latin typeface="Arial MT"/>
                <a:cs typeface="Arial MT"/>
              </a:rPr>
              <a:t> 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375" dirty="0">
                <a:latin typeface="Arial MT"/>
                <a:cs typeface="Arial MT"/>
              </a:rPr>
              <a:t>  </a:t>
            </a:r>
            <a:r>
              <a:rPr sz="2600" spc="-145" dirty="0">
                <a:latin typeface="Arial MT"/>
                <a:cs typeface="Arial MT"/>
              </a:rPr>
              <a:t>job </a:t>
            </a:r>
            <a:r>
              <a:rPr sz="2600" dirty="0">
                <a:latin typeface="Arial MT"/>
                <a:cs typeface="Arial MT"/>
              </a:rPr>
              <a:t>scheduling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cluster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resource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management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HDFS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9EDAE9FD-5926-FBA6-E9AD-81BE45AC11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0465" y="6320428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676400"/>
            <a:ext cx="8400288" cy="4267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25095"/>
            <a:ext cx="5034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Hadoop</a:t>
            </a:r>
            <a:r>
              <a:rPr sz="4400" spc="-25" dirty="0"/>
              <a:t> </a:t>
            </a:r>
            <a:r>
              <a:rPr sz="4400" spc="-10" dirty="0"/>
              <a:t>Ecosystem/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688340" y="696213"/>
            <a:ext cx="30099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464646"/>
                </a:solidFill>
                <a:latin typeface="Arial MT"/>
                <a:cs typeface="Arial MT"/>
              </a:rPr>
              <a:t>Architecture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413" y="126720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31083873-9C84-E387-89F5-6E2F13E1888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Hadoop</a:t>
            </a:r>
            <a:r>
              <a:rPr sz="4400" spc="-20" dirty="0"/>
              <a:t> </a:t>
            </a:r>
            <a:r>
              <a:rPr sz="4400" dirty="0"/>
              <a:t>Core</a:t>
            </a:r>
            <a:r>
              <a:rPr sz="4400" spc="-30" dirty="0"/>
              <a:t> </a:t>
            </a:r>
            <a:r>
              <a:rPr sz="4400" spc="-10" dirty="0"/>
              <a:t>Components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91692" y="1532314"/>
            <a:ext cx="7996555" cy="4865433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32105" indent="-319405" algn="l">
              <a:lnSpc>
                <a:spcPct val="100000"/>
              </a:lnSpc>
              <a:spcBef>
                <a:spcPts val="819"/>
              </a:spcBef>
              <a:buClr>
                <a:srgbClr val="DA1F28"/>
              </a:buClr>
              <a:buSzPct val="58928"/>
              <a:buFont typeface="Wingdings"/>
              <a:buChar char=""/>
              <a:tabLst>
                <a:tab pos="332105" algn="l"/>
              </a:tabLst>
            </a:pPr>
            <a:r>
              <a:rPr sz="2800" b="1" dirty="0">
                <a:latin typeface="Arial"/>
                <a:cs typeface="Arial"/>
              </a:rPr>
              <a:t>Hadoop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Distributed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File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System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(HDFS):</a:t>
            </a:r>
            <a:endParaRPr sz="2800" dirty="0">
              <a:latin typeface="Arial"/>
              <a:cs typeface="Arial"/>
            </a:endParaRPr>
          </a:p>
          <a:p>
            <a:pPr marL="379730" algn="l">
              <a:lnSpc>
                <a:spcPct val="100000"/>
              </a:lnSpc>
              <a:spcBef>
                <a:spcPts val="620"/>
              </a:spcBef>
            </a:pPr>
            <a:r>
              <a:rPr sz="1650" spc="330" dirty="0">
                <a:solidFill>
                  <a:srgbClr val="2CA1BE"/>
                </a:solidFill>
              </a:rPr>
              <a:t>🞑</a:t>
            </a:r>
            <a:r>
              <a:rPr sz="1650" spc="145" dirty="0">
                <a:solidFill>
                  <a:srgbClr val="2CA1BE"/>
                </a:solidFill>
              </a:rPr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distributed</a:t>
            </a:r>
            <a:r>
              <a:rPr spc="-15" dirty="0"/>
              <a:t> </a:t>
            </a:r>
            <a:r>
              <a:rPr dirty="0"/>
              <a:t>over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cluster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computers</a:t>
            </a:r>
            <a:endParaRPr sz="1650" dirty="0"/>
          </a:p>
          <a:p>
            <a:pPr algn="l">
              <a:lnSpc>
                <a:spcPct val="100000"/>
              </a:lnSpc>
              <a:spcBef>
                <a:spcPts val="1985"/>
              </a:spcBef>
            </a:pPr>
            <a:endParaRPr sz="1650" dirty="0"/>
          </a:p>
          <a:p>
            <a:pPr marL="332105" indent="-319405" algn="l">
              <a:lnSpc>
                <a:spcPct val="100000"/>
              </a:lnSpc>
              <a:buClr>
                <a:srgbClr val="DA1F28"/>
              </a:buClr>
              <a:buSzPct val="58928"/>
              <a:buFont typeface="Wingdings"/>
              <a:buChar char=""/>
              <a:tabLst>
                <a:tab pos="332105" algn="l"/>
              </a:tabLst>
            </a:pPr>
            <a:r>
              <a:rPr sz="2800" b="1" spc="-45" dirty="0">
                <a:latin typeface="Arial"/>
                <a:cs typeface="Arial"/>
              </a:rPr>
              <a:t>Yet</a:t>
            </a:r>
            <a:r>
              <a:rPr sz="2800" b="1" spc="-1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Another</a:t>
            </a:r>
            <a:r>
              <a:rPr sz="2800" b="1" spc="-16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Resource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Negotiator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(YARN):</a:t>
            </a:r>
            <a:endParaRPr sz="2800" dirty="0">
              <a:latin typeface="Arial"/>
              <a:cs typeface="Arial"/>
            </a:endParaRPr>
          </a:p>
          <a:p>
            <a:pPr marL="652145" marR="8255" indent="-273050" algn="l">
              <a:lnSpc>
                <a:spcPct val="100000"/>
              </a:lnSpc>
              <a:spcBef>
                <a:spcPts val="605"/>
              </a:spcBef>
              <a:tabLst>
                <a:tab pos="1391285" algn="l"/>
                <a:tab pos="1776095" algn="l"/>
                <a:tab pos="2109470" algn="l"/>
                <a:tab pos="3696335" algn="l"/>
                <a:tab pos="4216400" algn="l"/>
                <a:tab pos="4787900" algn="l"/>
                <a:tab pos="6409690" algn="l"/>
                <a:tab pos="7083425" algn="l"/>
              </a:tabLst>
            </a:pPr>
            <a:r>
              <a:rPr sz="1650" spc="330" dirty="0">
                <a:solidFill>
                  <a:srgbClr val="2CA1BE"/>
                </a:solidFill>
              </a:rPr>
              <a:t>🞑</a:t>
            </a:r>
            <a:r>
              <a:rPr sz="1650" spc="180" dirty="0">
                <a:solidFill>
                  <a:srgbClr val="2CA1BE"/>
                </a:solidFill>
              </a:rPr>
              <a:t> </a:t>
            </a:r>
            <a:r>
              <a:rPr spc="-20" dirty="0"/>
              <a:t>This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framework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25" dirty="0"/>
              <a:t>job</a:t>
            </a:r>
            <a:r>
              <a:rPr dirty="0"/>
              <a:t>	</a:t>
            </a:r>
            <a:r>
              <a:rPr spc="-10" dirty="0"/>
              <a:t>scheduling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10" dirty="0"/>
              <a:t>cluster </a:t>
            </a:r>
            <a:r>
              <a:rPr dirty="0"/>
              <a:t>resource</a:t>
            </a:r>
            <a:r>
              <a:rPr spc="-125" dirty="0"/>
              <a:t> </a:t>
            </a:r>
            <a:r>
              <a:rPr spc="-10" dirty="0"/>
              <a:t>management.</a:t>
            </a:r>
            <a:endParaRPr sz="1650" dirty="0"/>
          </a:p>
          <a:p>
            <a:pPr algn="l">
              <a:lnSpc>
                <a:spcPct val="100000"/>
              </a:lnSpc>
              <a:spcBef>
                <a:spcPts val="1989"/>
              </a:spcBef>
            </a:pPr>
            <a:endParaRPr sz="1650" dirty="0"/>
          </a:p>
          <a:p>
            <a:pPr marL="332105" indent="-319405" algn="l">
              <a:lnSpc>
                <a:spcPct val="100000"/>
              </a:lnSpc>
              <a:buClr>
                <a:srgbClr val="DA1F28"/>
              </a:buClr>
              <a:buSzPct val="58928"/>
              <a:buFont typeface="Wingdings"/>
              <a:buChar char=""/>
              <a:tabLst>
                <a:tab pos="332105" algn="l"/>
              </a:tabLst>
            </a:pPr>
            <a:r>
              <a:rPr sz="2800" b="1" dirty="0">
                <a:latin typeface="Arial"/>
                <a:cs typeface="Arial"/>
              </a:rPr>
              <a:t>Hadoop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MapReduce:</a:t>
            </a:r>
            <a:endParaRPr sz="2800" dirty="0">
              <a:latin typeface="Arial"/>
              <a:cs typeface="Arial"/>
            </a:endParaRPr>
          </a:p>
          <a:p>
            <a:pPr marL="652145" marR="5080" indent="-273050" algn="l">
              <a:lnSpc>
                <a:spcPct val="100000"/>
              </a:lnSpc>
              <a:spcBef>
                <a:spcPts val="620"/>
              </a:spcBef>
            </a:pPr>
            <a:r>
              <a:rPr sz="1650" spc="330" dirty="0">
                <a:solidFill>
                  <a:srgbClr val="2CA1BE"/>
                </a:solidFill>
              </a:rPr>
              <a:t>🞑</a:t>
            </a:r>
            <a:r>
              <a:rPr sz="1650" spc="150" dirty="0">
                <a:solidFill>
                  <a:srgbClr val="2CA1BE"/>
                </a:solidFill>
              </a:rPr>
              <a:t> </a:t>
            </a:r>
            <a:r>
              <a:rPr dirty="0"/>
              <a:t>This</a:t>
            </a:r>
            <a:r>
              <a:rPr spc="120" dirty="0"/>
              <a:t> </a:t>
            </a:r>
            <a:r>
              <a:rPr dirty="0"/>
              <a:t>is</a:t>
            </a:r>
            <a:r>
              <a:rPr spc="130" dirty="0"/>
              <a:t> </a:t>
            </a:r>
            <a:r>
              <a:rPr spc="-55" dirty="0"/>
              <a:t>YARN-</a:t>
            </a:r>
            <a:r>
              <a:rPr dirty="0"/>
              <a:t>based</a:t>
            </a:r>
            <a:r>
              <a:rPr spc="114" dirty="0"/>
              <a:t> </a:t>
            </a:r>
            <a:r>
              <a:rPr dirty="0"/>
              <a:t>system</a:t>
            </a:r>
            <a:r>
              <a:rPr spc="114" dirty="0"/>
              <a:t> </a:t>
            </a:r>
            <a:r>
              <a:rPr dirty="0"/>
              <a:t>for</a:t>
            </a:r>
            <a:r>
              <a:rPr spc="105" dirty="0"/>
              <a:t> </a:t>
            </a:r>
            <a:r>
              <a:rPr dirty="0"/>
              <a:t>parallel</a:t>
            </a:r>
            <a:r>
              <a:rPr spc="135" dirty="0"/>
              <a:t> </a:t>
            </a:r>
            <a:r>
              <a:rPr dirty="0"/>
              <a:t>processing</a:t>
            </a:r>
            <a:r>
              <a:rPr spc="125" dirty="0"/>
              <a:t> </a:t>
            </a:r>
            <a:r>
              <a:rPr spc="-25" dirty="0"/>
              <a:t>of </a:t>
            </a:r>
            <a:r>
              <a:rPr dirty="0"/>
              <a:t>large</a:t>
            </a:r>
            <a:r>
              <a:rPr spc="-50" dirty="0"/>
              <a:t> </a:t>
            </a:r>
            <a:r>
              <a:rPr dirty="0"/>
              <a:t>data</a:t>
            </a:r>
            <a:r>
              <a:rPr spc="-65" dirty="0"/>
              <a:t> </a:t>
            </a:r>
            <a:r>
              <a:rPr spc="-10" dirty="0"/>
              <a:t>sets.</a:t>
            </a:r>
            <a:endParaRPr sz="1650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4470395-CB2F-58DE-24F3-4CAD5462E5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6239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2"/>
              </a:rPr>
              <a:t>Ambari™</a:t>
            </a:r>
            <a:r>
              <a:rPr dirty="0"/>
              <a:t>:</a:t>
            </a:r>
            <a:r>
              <a:rPr spc="-10" dirty="0"/>
              <a:t> </a:t>
            </a:r>
            <a:r>
              <a:rPr dirty="0"/>
              <a:t>A</a:t>
            </a:r>
            <a:r>
              <a:rPr spc="-130" dirty="0"/>
              <a:t> </a:t>
            </a:r>
            <a:r>
              <a:rPr spc="-25" dirty="0"/>
              <a:t>web-</a:t>
            </a:r>
            <a:r>
              <a:rPr dirty="0"/>
              <a:t>based tool</a:t>
            </a:r>
            <a:r>
              <a:rPr spc="-1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dirty="0"/>
              <a:t>provisioning,</a:t>
            </a:r>
            <a:r>
              <a:rPr spc="10" dirty="0"/>
              <a:t> </a:t>
            </a:r>
            <a:r>
              <a:rPr spc="-10" dirty="0"/>
              <a:t>managing, </a:t>
            </a:r>
            <a:r>
              <a:rPr dirty="0"/>
              <a:t>and</a:t>
            </a:r>
            <a:r>
              <a:rPr spc="114" dirty="0"/>
              <a:t> </a:t>
            </a:r>
            <a:r>
              <a:rPr dirty="0"/>
              <a:t>monitoring</a:t>
            </a:r>
            <a:r>
              <a:rPr spc="120" dirty="0"/>
              <a:t> </a:t>
            </a:r>
            <a:r>
              <a:rPr dirty="0"/>
              <a:t>Apache</a:t>
            </a:r>
            <a:r>
              <a:rPr spc="120" dirty="0"/>
              <a:t> </a:t>
            </a:r>
            <a:r>
              <a:rPr dirty="0"/>
              <a:t>Hadoop</a:t>
            </a:r>
            <a:r>
              <a:rPr spc="120" dirty="0"/>
              <a:t> </a:t>
            </a:r>
            <a:r>
              <a:rPr dirty="0"/>
              <a:t>clusters</a:t>
            </a:r>
            <a:r>
              <a:rPr spc="125" dirty="0"/>
              <a:t> </a:t>
            </a:r>
            <a:r>
              <a:rPr dirty="0"/>
              <a:t>which</a:t>
            </a:r>
            <a:r>
              <a:rPr spc="114" dirty="0"/>
              <a:t> </a:t>
            </a:r>
            <a:r>
              <a:rPr spc="-10" dirty="0"/>
              <a:t>includes </a:t>
            </a:r>
            <a:r>
              <a:rPr dirty="0"/>
              <a:t>support</a:t>
            </a:r>
            <a:r>
              <a:rPr spc="300" dirty="0"/>
              <a:t> </a:t>
            </a:r>
            <a:r>
              <a:rPr dirty="0"/>
              <a:t>for</a:t>
            </a:r>
            <a:r>
              <a:rPr spc="300" dirty="0"/>
              <a:t> </a:t>
            </a:r>
            <a:r>
              <a:rPr dirty="0"/>
              <a:t>Hadoop</a:t>
            </a:r>
            <a:r>
              <a:rPr spc="300" dirty="0"/>
              <a:t> </a:t>
            </a:r>
            <a:r>
              <a:rPr dirty="0"/>
              <a:t>HDFS,</a:t>
            </a:r>
            <a:r>
              <a:rPr spc="305" dirty="0"/>
              <a:t> </a:t>
            </a:r>
            <a:r>
              <a:rPr dirty="0"/>
              <a:t>Hadoop</a:t>
            </a:r>
            <a:r>
              <a:rPr spc="305" dirty="0"/>
              <a:t> </a:t>
            </a:r>
            <a:r>
              <a:rPr dirty="0"/>
              <a:t>MapReduce,</a:t>
            </a:r>
            <a:r>
              <a:rPr spc="315" dirty="0"/>
              <a:t> </a:t>
            </a:r>
            <a:r>
              <a:rPr spc="-10" dirty="0"/>
              <a:t>Hive, </a:t>
            </a:r>
            <a:r>
              <a:rPr dirty="0"/>
              <a:t>HCatalog,</a:t>
            </a:r>
            <a:r>
              <a:rPr spc="-40" dirty="0"/>
              <a:t> </a:t>
            </a:r>
            <a:r>
              <a:rPr dirty="0"/>
              <a:t>HBase,</a:t>
            </a:r>
            <a:r>
              <a:rPr spc="-75" dirty="0"/>
              <a:t> </a:t>
            </a:r>
            <a:r>
              <a:rPr spc="-20" dirty="0"/>
              <a:t>ZooKeeper,</a:t>
            </a:r>
            <a:r>
              <a:rPr spc="-50" dirty="0"/>
              <a:t> </a:t>
            </a:r>
            <a:r>
              <a:rPr dirty="0"/>
              <a:t>Oozie,</a:t>
            </a:r>
            <a:r>
              <a:rPr spc="-70" dirty="0"/>
              <a:t> </a:t>
            </a:r>
            <a:r>
              <a:rPr dirty="0"/>
              <a:t>Pig</a:t>
            </a:r>
            <a:r>
              <a:rPr spc="-7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Sqoop.</a:t>
            </a:r>
          </a:p>
          <a:p>
            <a:pPr marL="332105" indent="-319405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b="1" u="sng" spc="-3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3"/>
              </a:rPr>
              <a:t>Avro™</a:t>
            </a:r>
            <a:r>
              <a:rPr spc="-30" dirty="0"/>
              <a:t>:</a:t>
            </a:r>
            <a:r>
              <a:rPr spc="-140" dirty="0"/>
              <a:t> </a:t>
            </a:r>
            <a:r>
              <a:rPr dirty="0"/>
              <a:t>A</a:t>
            </a:r>
            <a:r>
              <a:rPr spc="-165" dirty="0"/>
              <a:t> </a:t>
            </a:r>
            <a:r>
              <a:rPr dirty="0"/>
              <a:t>data</a:t>
            </a:r>
            <a:r>
              <a:rPr spc="-145" dirty="0"/>
              <a:t> </a:t>
            </a:r>
            <a:r>
              <a:rPr dirty="0"/>
              <a:t>serialization</a:t>
            </a:r>
            <a:r>
              <a:rPr spc="-35" dirty="0"/>
              <a:t> </a:t>
            </a:r>
            <a:r>
              <a:rPr spc="-10" dirty="0"/>
              <a:t>system.</a:t>
            </a:r>
          </a:p>
          <a:p>
            <a:pPr marL="332740" marR="5715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4"/>
              </a:rPr>
              <a:t>Cassandra™</a:t>
            </a:r>
            <a:r>
              <a:rPr dirty="0"/>
              <a:t>:</a:t>
            </a:r>
            <a:r>
              <a:rPr spc="40" dirty="0"/>
              <a:t> </a:t>
            </a:r>
            <a:r>
              <a:rPr dirty="0"/>
              <a:t>A</a:t>
            </a:r>
            <a:r>
              <a:rPr spc="-100" dirty="0"/>
              <a:t> </a:t>
            </a:r>
            <a:r>
              <a:rPr dirty="0"/>
              <a:t>scalable</a:t>
            </a:r>
            <a:r>
              <a:rPr spc="30" dirty="0"/>
              <a:t> </a:t>
            </a:r>
            <a:r>
              <a:rPr spc="-20" dirty="0"/>
              <a:t>multi-</a:t>
            </a:r>
            <a:r>
              <a:rPr dirty="0"/>
              <a:t>master</a:t>
            </a:r>
            <a:r>
              <a:rPr spc="40" dirty="0"/>
              <a:t> </a:t>
            </a:r>
            <a:r>
              <a:rPr dirty="0"/>
              <a:t>database</a:t>
            </a:r>
            <a:r>
              <a:rPr spc="35" dirty="0"/>
              <a:t> </a:t>
            </a:r>
            <a:r>
              <a:rPr dirty="0"/>
              <a:t>with</a:t>
            </a:r>
            <a:r>
              <a:rPr spc="50" dirty="0"/>
              <a:t> </a:t>
            </a:r>
            <a:r>
              <a:rPr spc="-25" dirty="0"/>
              <a:t>no </a:t>
            </a:r>
            <a:r>
              <a:rPr dirty="0"/>
              <a:t>single</a:t>
            </a:r>
            <a:r>
              <a:rPr spc="-30" dirty="0"/>
              <a:t> </a:t>
            </a:r>
            <a:r>
              <a:rPr dirty="0"/>
              <a:t>points</a:t>
            </a:r>
            <a:r>
              <a:rPr spc="-3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failure.</a:t>
            </a:r>
          </a:p>
          <a:p>
            <a:pPr marL="332740" marR="5715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5"/>
              </a:rPr>
              <a:t>Chukwa™</a:t>
            </a:r>
            <a:r>
              <a:rPr dirty="0"/>
              <a:t>:</a:t>
            </a:r>
            <a:r>
              <a:rPr spc="5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data</a:t>
            </a:r>
            <a:r>
              <a:rPr spc="60" dirty="0"/>
              <a:t> </a:t>
            </a:r>
            <a:r>
              <a:rPr dirty="0"/>
              <a:t>collection</a:t>
            </a:r>
            <a:r>
              <a:rPr spc="55" dirty="0"/>
              <a:t> </a:t>
            </a:r>
            <a:r>
              <a:rPr dirty="0"/>
              <a:t>system</a:t>
            </a:r>
            <a:r>
              <a:rPr spc="70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dirty="0"/>
              <a:t>managing</a:t>
            </a:r>
            <a:r>
              <a:rPr spc="60" dirty="0"/>
              <a:t> </a:t>
            </a:r>
            <a:r>
              <a:rPr spc="-10" dirty="0"/>
              <a:t>large </a:t>
            </a:r>
            <a:r>
              <a:rPr dirty="0"/>
              <a:t>distributed</a:t>
            </a:r>
            <a:r>
              <a:rPr spc="-65" dirty="0"/>
              <a:t> </a:t>
            </a:r>
            <a:r>
              <a:rPr spc="-10" dirty="0"/>
              <a:t>systems.</a:t>
            </a: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  <a:tab pos="1882775" algn="l"/>
                <a:tab pos="2825750" algn="l"/>
                <a:tab pos="3620135" algn="l"/>
                <a:tab pos="4008754" algn="l"/>
                <a:tab pos="5089525" algn="l"/>
                <a:tab pos="6597015" algn="l"/>
                <a:tab pos="7238365" algn="l"/>
              </a:tabLst>
            </a:pPr>
            <a:r>
              <a:rPr b="1" u="sng" spc="-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5"/>
              </a:rPr>
              <a:t>Flume™</a:t>
            </a:r>
            <a:r>
              <a:rPr spc="-10" dirty="0"/>
              <a:t>:</a:t>
            </a:r>
            <a:r>
              <a:rPr dirty="0"/>
              <a:t>	A</a:t>
            </a:r>
            <a:r>
              <a:rPr spc="240" dirty="0"/>
              <a:t> </a:t>
            </a:r>
            <a:r>
              <a:rPr spc="-20" dirty="0"/>
              <a:t>tool</a:t>
            </a:r>
            <a:r>
              <a:rPr dirty="0"/>
              <a:t>	</a:t>
            </a:r>
            <a:r>
              <a:rPr spc="-20" dirty="0"/>
              <a:t>used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collect,</a:t>
            </a:r>
            <a:r>
              <a:rPr dirty="0"/>
              <a:t>	</a:t>
            </a:r>
            <a:r>
              <a:rPr spc="-10" dirty="0"/>
              <a:t>aggregate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20" dirty="0"/>
              <a:t>move </a:t>
            </a:r>
            <a:r>
              <a:rPr dirty="0"/>
              <a:t>huge</a:t>
            </a:r>
            <a:r>
              <a:rPr spc="-55" dirty="0"/>
              <a:t> </a:t>
            </a:r>
            <a:r>
              <a:rPr dirty="0"/>
              <a:t>amounts</a:t>
            </a:r>
            <a:r>
              <a:rPr spc="-5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streaming</a:t>
            </a:r>
            <a:r>
              <a:rPr spc="-6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into</a:t>
            </a:r>
            <a:r>
              <a:rPr spc="-55" dirty="0"/>
              <a:t> </a:t>
            </a:r>
            <a:r>
              <a:rPr spc="-10" dirty="0"/>
              <a:t>HDFS.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Other</a:t>
            </a:r>
            <a:r>
              <a:rPr sz="4000" spc="-95" dirty="0"/>
              <a:t> </a:t>
            </a:r>
            <a:r>
              <a:rPr sz="4000" spc="-10" dirty="0"/>
              <a:t>Ecosystem Components/Projects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638986B1-8BBE-575E-408C-32D1DA06F28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3"/>
            <a:ext cx="7997825" cy="403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6985" indent="-320040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2"/>
              </a:rPr>
              <a:t>HBase™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scalable,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distributed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supports </a:t>
            </a:r>
            <a:r>
              <a:rPr sz="2400" dirty="0">
                <a:latin typeface="Arial MT"/>
                <a:cs typeface="Arial MT"/>
              </a:rPr>
              <a:t>structured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storage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tables.</a:t>
            </a:r>
            <a:endParaRPr sz="2400">
              <a:latin typeface="Arial MT"/>
              <a:cs typeface="Arial MT"/>
            </a:endParaRPr>
          </a:p>
          <a:p>
            <a:pPr marL="332740" marR="8255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  <a:tab pos="1517015" algn="l"/>
                <a:tab pos="1852295" algn="l"/>
                <a:tab pos="2595880" algn="l"/>
                <a:tab pos="4239260" algn="l"/>
                <a:tab pos="6169025" algn="l"/>
                <a:tab pos="6828790" algn="l"/>
              </a:tabLst>
            </a:pPr>
            <a:r>
              <a:rPr sz="2400" b="1" u="sng" spc="-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3"/>
              </a:rPr>
              <a:t>Hive™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warehouse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infrastructure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provides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summarization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querying.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4"/>
              </a:rPr>
              <a:t>Mahout™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Scalable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mining</a:t>
            </a:r>
            <a:endParaRPr sz="24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library.</a:t>
            </a:r>
            <a:endParaRPr sz="2400">
              <a:latin typeface="Arial MT"/>
              <a:cs typeface="Arial MT"/>
            </a:endParaRPr>
          </a:p>
          <a:p>
            <a:pPr marL="332740" marR="117475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b="1" u="sng" spc="-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4"/>
              </a:rPr>
              <a:t>Oozie™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server-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workflow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scheduling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manage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jobs;</a:t>
            </a:r>
            <a:endParaRPr sz="24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  <a:tab pos="1359535" algn="l"/>
                <a:tab pos="1710689" algn="l"/>
                <a:tab pos="3179445" algn="l"/>
                <a:tab pos="4582160" algn="l"/>
                <a:tab pos="6003925" algn="l"/>
                <a:tab pos="6677659" algn="l"/>
              </a:tabLst>
            </a:pPr>
            <a:r>
              <a:rPr sz="2400" b="1" u="sng" spc="-10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5"/>
              </a:rPr>
              <a:t>Pig™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high-</a:t>
            </a:r>
            <a:r>
              <a:rPr sz="2400" spc="-20" dirty="0">
                <a:latin typeface="Arial MT"/>
                <a:cs typeface="Arial MT"/>
              </a:rPr>
              <a:t>level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data-</a:t>
            </a:r>
            <a:r>
              <a:rPr sz="2400" spc="-20" dirty="0">
                <a:latin typeface="Arial MT"/>
                <a:cs typeface="Arial MT"/>
              </a:rPr>
              <a:t>flow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language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execution</a:t>
            </a:r>
            <a:endParaRPr sz="24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framework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parallel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Other</a:t>
            </a:r>
            <a:r>
              <a:rPr sz="4000" spc="-95" dirty="0"/>
              <a:t> </a:t>
            </a:r>
            <a:r>
              <a:rPr sz="4000" spc="-10" dirty="0"/>
              <a:t>Ecosystem Components/Projects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5701B965-9EB7-8E91-2025-9152A60C1F1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3"/>
            <a:ext cx="7995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2"/>
              </a:rPr>
              <a:t>Spark™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fast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Hadoop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5267" y="1991995"/>
            <a:ext cx="33534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9539">
              <a:lnSpc>
                <a:spcPct val="100000"/>
              </a:lnSpc>
              <a:spcBef>
                <a:spcPts val="100"/>
              </a:spcBef>
              <a:tabLst>
                <a:tab pos="1061085" algn="l"/>
                <a:tab pos="1628139" algn="l"/>
                <a:tab pos="1784985" algn="l"/>
                <a:tab pos="2131060" algn="l"/>
                <a:tab pos="3170555" algn="l"/>
              </a:tabLst>
            </a:pPr>
            <a:r>
              <a:rPr sz="2400" spc="-10" dirty="0">
                <a:latin typeface="Arial MT"/>
                <a:cs typeface="Arial MT"/>
              </a:rPr>
              <a:t>provides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simple model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that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10" dirty="0">
                <a:latin typeface="Arial MT"/>
                <a:cs typeface="Arial MT"/>
              </a:rPr>
              <a:t>supports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0414" y="1991995"/>
            <a:ext cx="2326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979" marR="5080" indent="-208915">
              <a:lnSpc>
                <a:spcPct val="100000"/>
              </a:lnSpc>
              <a:spcBef>
                <a:spcPts val="100"/>
              </a:spcBef>
              <a:tabLst>
                <a:tab pos="855344" algn="l"/>
                <a:tab pos="1063625" algn="l"/>
                <a:tab pos="2062480" algn="l"/>
              </a:tabLst>
            </a:pP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expressive </a:t>
            </a:r>
            <a:r>
              <a:rPr sz="2400" spc="-20" dirty="0">
                <a:latin typeface="Arial MT"/>
                <a:cs typeface="Arial MT"/>
              </a:rPr>
              <a:t>wide</a:t>
            </a:r>
            <a:r>
              <a:rPr sz="2400" dirty="0">
                <a:latin typeface="Arial MT"/>
                <a:cs typeface="Arial MT"/>
              </a:rPr>
              <a:t>		</a:t>
            </a:r>
            <a:r>
              <a:rPr sz="2400" spc="-10" dirty="0">
                <a:latin typeface="Arial MT"/>
                <a:cs typeface="Arial MT"/>
              </a:rPr>
              <a:t>range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40" dirty="0">
                <a:latin typeface="Arial MT"/>
                <a:cs typeface="Arial MT"/>
              </a:rPr>
              <a:t>of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732" y="1991995"/>
            <a:ext cx="18351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data.</a:t>
            </a:r>
            <a:r>
              <a:rPr sz="2400" spc="185" dirty="0">
                <a:latin typeface="Arial MT"/>
                <a:cs typeface="Arial MT"/>
              </a:rPr>
              <a:t>   </a:t>
            </a:r>
            <a:r>
              <a:rPr sz="2400" spc="-10" dirty="0">
                <a:latin typeface="Arial MT"/>
                <a:cs typeface="Arial MT"/>
              </a:rPr>
              <a:t>Spark programming applications.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1692" y="3177666"/>
            <a:ext cx="7997190" cy="349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3"/>
              </a:rPr>
              <a:t>Scoop™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connectivity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tool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moving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between </a:t>
            </a:r>
            <a:r>
              <a:rPr sz="2400" dirty="0">
                <a:latin typeface="Arial MT"/>
                <a:cs typeface="Arial MT"/>
              </a:rPr>
              <a:t>relational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databases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warehouses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Hadoop.</a:t>
            </a:r>
            <a:endParaRPr sz="2400">
              <a:latin typeface="Arial MT"/>
              <a:cs typeface="Arial MT"/>
            </a:endParaRPr>
          </a:p>
          <a:p>
            <a:pPr marL="332740" marR="5715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3"/>
              </a:rPr>
              <a:t>Tez™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generalized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data-</a:t>
            </a:r>
            <a:r>
              <a:rPr sz="2400" dirty="0">
                <a:latin typeface="Arial MT"/>
                <a:cs typeface="Arial MT"/>
              </a:rPr>
              <a:t>flow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programming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framework, </a:t>
            </a:r>
            <a:r>
              <a:rPr sz="2400" dirty="0">
                <a:latin typeface="Arial MT"/>
                <a:cs typeface="Arial MT"/>
              </a:rPr>
              <a:t>built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YARN,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powerful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flexible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engine.</a:t>
            </a:r>
            <a:endParaRPr sz="24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1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b="1" u="sng" dirty="0">
                <a:solidFill>
                  <a:srgbClr val="FF8118"/>
                </a:solidFill>
                <a:uFill>
                  <a:solidFill>
                    <a:srgbClr val="FF8118"/>
                  </a:solidFill>
                </a:uFill>
                <a:latin typeface="Arial"/>
                <a:cs typeface="Arial"/>
                <a:hlinkClick r:id="rId4"/>
              </a:rPr>
              <a:t>ZooKeeper™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high-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coordination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distributed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applications.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available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4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4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4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operations,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components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depend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Other</a:t>
            </a:r>
            <a:r>
              <a:rPr sz="4000" spc="-95" dirty="0"/>
              <a:t> </a:t>
            </a:r>
            <a:r>
              <a:rPr sz="4000" spc="-10" dirty="0"/>
              <a:t>Ecosystem Components/Projects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6">
            <a:extLst>
              <a:ext uri="{FF2B5EF4-FFF2-40B4-BE49-F238E27FC236}">
                <a16:creationId xmlns:a16="http://schemas.microsoft.com/office/drawing/2014/main" id="{EF296F05-3ED2-4727-4399-F37BD474C85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2501"/>
            <a:ext cx="8147684" cy="4713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A</a:t>
            </a:r>
            <a:r>
              <a:rPr sz="2900" spc="6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data/file</a:t>
            </a:r>
            <a:r>
              <a:rPr sz="2900" spc="25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20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defines</a:t>
            </a:r>
            <a:r>
              <a:rPr sz="2900" spc="25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how</a:t>
            </a:r>
            <a:r>
              <a:rPr sz="2900" spc="20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information</a:t>
            </a:r>
            <a:r>
              <a:rPr sz="2900" spc="30" dirty="0">
                <a:latin typeface="Arial MT"/>
                <a:cs typeface="Arial MT"/>
              </a:rPr>
              <a:t>  </a:t>
            </a:r>
            <a:r>
              <a:rPr sz="2900" spc="-25" dirty="0">
                <a:latin typeface="Arial MT"/>
                <a:cs typeface="Arial MT"/>
              </a:rPr>
              <a:t>is </a:t>
            </a:r>
            <a:r>
              <a:rPr sz="2900" dirty="0">
                <a:latin typeface="Arial MT"/>
                <a:cs typeface="Arial MT"/>
              </a:rPr>
              <a:t>stored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HDFS.</a:t>
            </a:r>
            <a:endParaRPr sz="290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does</a:t>
            </a:r>
            <a:r>
              <a:rPr sz="2900" spc="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not</a:t>
            </a:r>
            <a:r>
              <a:rPr sz="2900" spc="1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have</a:t>
            </a:r>
            <a:r>
              <a:rPr sz="2900" spc="1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1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default</a:t>
            </a:r>
            <a:r>
              <a:rPr sz="2900" spc="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file</a:t>
            </a:r>
            <a:r>
              <a:rPr sz="2900" spc="1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114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and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choice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depends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on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its</a:t>
            </a:r>
            <a:r>
              <a:rPr sz="2900" spc="-20" dirty="0">
                <a:latin typeface="Arial MT"/>
                <a:cs typeface="Arial MT"/>
              </a:rPr>
              <a:t> use.</a:t>
            </a:r>
            <a:endParaRPr sz="2900">
              <a:latin typeface="Arial MT"/>
              <a:cs typeface="Arial MT"/>
            </a:endParaRPr>
          </a:p>
          <a:p>
            <a:pPr marL="332740" marR="5715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The</a:t>
            </a:r>
            <a:r>
              <a:rPr sz="2900" spc="600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big</a:t>
            </a:r>
            <a:r>
              <a:rPr sz="2900" spc="595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problem</a:t>
            </a:r>
            <a:r>
              <a:rPr sz="2900" spc="600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600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600" dirty="0">
                <a:latin typeface="Arial MT"/>
                <a:cs typeface="Arial MT"/>
              </a:rPr>
              <a:t>  </a:t>
            </a:r>
            <a:r>
              <a:rPr sz="2900" dirty="0">
                <a:latin typeface="Arial MT"/>
                <a:cs typeface="Arial MT"/>
              </a:rPr>
              <a:t>performance</a:t>
            </a:r>
            <a:r>
              <a:rPr sz="2900" spc="590" dirty="0">
                <a:latin typeface="Arial MT"/>
                <a:cs typeface="Arial MT"/>
              </a:rPr>
              <a:t>  </a:t>
            </a:r>
            <a:r>
              <a:rPr sz="2900" spc="-25" dirty="0">
                <a:latin typeface="Arial MT"/>
                <a:cs typeface="Arial MT"/>
              </a:rPr>
              <a:t>of </a:t>
            </a:r>
            <a:r>
              <a:rPr sz="2900" dirty="0">
                <a:latin typeface="Arial MT"/>
                <a:cs typeface="Arial MT"/>
              </a:rPr>
              <a:t>applications</a:t>
            </a:r>
            <a:r>
              <a:rPr sz="2900" spc="5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509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use</a:t>
            </a:r>
            <a:r>
              <a:rPr sz="2900" spc="5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HDFS</a:t>
            </a:r>
            <a:r>
              <a:rPr sz="2900" spc="509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5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509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information </a:t>
            </a:r>
            <a:r>
              <a:rPr sz="2900" dirty="0">
                <a:latin typeface="Arial MT"/>
                <a:cs typeface="Arial MT"/>
              </a:rPr>
              <a:t>search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time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writing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time.</a:t>
            </a:r>
            <a:endParaRPr sz="2900">
              <a:latin typeface="Arial MT"/>
              <a:cs typeface="Arial MT"/>
            </a:endParaRPr>
          </a:p>
          <a:p>
            <a:pPr marL="332740" marR="5715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Managing</a:t>
            </a:r>
            <a:r>
              <a:rPr sz="2900" spc="3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3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processing</a:t>
            </a:r>
            <a:r>
              <a:rPr sz="2900" spc="3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3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storage</a:t>
            </a:r>
            <a:r>
              <a:rPr sz="2900" spc="3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37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large </a:t>
            </a:r>
            <a:r>
              <a:rPr sz="2900" dirty="0">
                <a:latin typeface="Arial MT"/>
                <a:cs typeface="Arial MT"/>
              </a:rPr>
              <a:t>volumes</a:t>
            </a:r>
            <a:r>
              <a:rPr sz="2900" spc="59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6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information</a:t>
            </a:r>
            <a:r>
              <a:rPr sz="2900" spc="6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5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very</a:t>
            </a:r>
            <a:r>
              <a:rPr sz="2900" spc="6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complex</a:t>
            </a:r>
            <a:r>
              <a:rPr sz="2900" spc="59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that’s </a:t>
            </a:r>
            <a:r>
              <a:rPr sz="2900" dirty="0">
                <a:latin typeface="Arial MT"/>
                <a:cs typeface="Arial MT"/>
              </a:rPr>
              <a:t>why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certain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required.</a:t>
            </a:r>
            <a:endParaRPr sz="29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360933"/>
            <a:ext cx="3881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spc="-185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22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FORMAT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6525B380-59EA-0CEA-44E3-7AD03A2049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2501"/>
            <a:ext cx="8147050" cy="2802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  <a:tab pos="1170305" algn="l"/>
                <a:tab pos="2437130" algn="l"/>
                <a:tab pos="2946400" algn="l"/>
                <a:tab pos="3557904" algn="l"/>
                <a:tab pos="5622925" algn="l"/>
                <a:tab pos="6296660" algn="l"/>
                <a:tab pos="7540625" algn="l"/>
              </a:tabLst>
            </a:pPr>
            <a:r>
              <a:rPr sz="2900" spc="-25" dirty="0">
                <a:latin typeface="Arial MT"/>
                <a:cs typeface="Arial MT"/>
              </a:rPr>
              <a:t>The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10" dirty="0">
                <a:latin typeface="Arial MT"/>
                <a:cs typeface="Arial MT"/>
              </a:rPr>
              <a:t>choice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25" dirty="0">
                <a:latin typeface="Arial MT"/>
                <a:cs typeface="Arial MT"/>
              </a:rPr>
              <a:t>of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25" dirty="0">
                <a:latin typeface="Arial MT"/>
                <a:cs typeface="Arial MT"/>
              </a:rPr>
              <a:t>an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10" dirty="0">
                <a:latin typeface="Arial MT"/>
                <a:cs typeface="Arial MT"/>
              </a:rPr>
              <a:t>appropriate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20" dirty="0">
                <a:latin typeface="Arial MT"/>
                <a:cs typeface="Arial MT"/>
              </a:rPr>
              <a:t>file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10" dirty="0">
                <a:latin typeface="Arial MT"/>
                <a:cs typeface="Arial MT"/>
              </a:rPr>
              <a:t>format</a:t>
            </a:r>
            <a:r>
              <a:rPr sz="2900" dirty="0">
                <a:latin typeface="Arial MT"/>
                <a:cs typeface="Arial MT"/>
              </a:rPr>
              <a:t>	</a:t>
            </a:r>
            <a:r>
              <a:rPr sz="2900" spc="-25" dirty="0">
                <a:latin typeface="Arial MT"/>
                <a:cs typeface="Arial MT"/>
              </a:rPr>
              <a:t>can </a:t>
            </a:r>
            <a:r>
              <a:rPr sz="2900" dirty="0">
                <a:latin typeface="Arial MT"/>
                <a:cs typeface="Arial MT"/>
              </a:rPr>
              <a:t>produce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following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benefits:</a:t>
            </a:r>
            <a:endParaRPr sz="290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615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10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Optimum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writing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-10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Optimum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reading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time</a:t>
            </a:r>
            <a:endParaRPr sz="260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10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File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divisibility</a:t>
            </a:r>
            <a:endParaRPr sz="260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600"/>
              </a:spcBef>
            </a:pPr>
            <a:r>
              <a:rPr sz="1800" spc="360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800" spc="-15" dirty="0">
                <a:solidFill>
                  <a:srgbClr val="2CA1BE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Adaptive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scheme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compression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support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360933"/>
            <a:ext cx="3881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spc="-185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22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FORMAT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CBC005FC-4DFC-DE6D-9996-99F7B25183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2501"/>
            <a:ext cx="8135620" cy="41833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49784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Some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most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commonly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used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formats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of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ecosystem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:</a:t>
            </a:r>
            <a:endParaRPr sz="2900" dirty="0">
              <a:latin typeface="Arial MT"/>
              <a:cs typeface="Arial MT"/>
            </a:endParaRPr>
          </a:p>
          <a:p>
            <a:pPr marL="332740" marR="5080" lvl="1" indent="468630" algn="just">
              <a:lnSpc>
                <a:spcPct val="99500"/>
              </a:lnSpc>
              <a:spcBef>
                <a:spcPts val="750"/>
              </a:spcBef>
              <a:buFont typeface="SimSun"/>
              <a:buChar char="●"/>
              <a:tabLst>
                <a:tab pos="801370" algn="l"/>
              </a:tabLst>
            </a:pPr>
            <a:r>
              <a:rPr sz="2900" b="1" spc="-50" dirty="0">
                <a:latin typeface="Arial"/>
                <a:cs typeface="Arial"/>
              </a:rPr>
              <a:t>Text/CSV:</a:t>
            </a:r>
            <a:r>
              <a:rPr sz="2900" b="1" spc="-185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18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plain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text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file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or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CSV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most </a:t>
            </a:r>
            <a:r>
              <a:rPr sz="2900" dirty="0">
                <a:latin typeface="Arial MT"/>
                <a:cs typeface="Arial MT"/>
              </a:rPr>
              <a:t>common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both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outside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within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</a:t>
            </a:r>
            <a:r>
              <a:rPr sz="2900" dirty="0">
                <a:latin typeface="Arial MT"/>
                <a:cs typeface="Arial MT"/>
              </a:rPr>
              <a:t>Hadoop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ecosystem.</a:t>
            </a:r>
            <a:endParaRPr sz="2900" dirty="0">
              <a:latin typeface="Arial MT"/>
              <a:cs typeface="Arial MT"/>
            </a:endParaRPr>
          </a:p>
          <a:p>
            <a:pPr marL="332740" marR="591820" lvl="1" indent="468630" algn="just">
              <a:lnSpc>
                <a:spcPct val="99800"/>
              </a:lnSpc>
              <a:spcBef>
                <a:spcPts val="740"/>
              </a:spcBef>
              <a:buFont typeface="SimSun"/>
              <a:buChar char="●"/>
              <a:tabLst>
                <a:tab pos="801370" algn="l"/>
              </a:tabLst>
            </a:pPr>
            <a:r>
              <a:rPr sz="2900" b="1" dirty="0">
                <a:latin typeface="Arial"/>
                <a:cs typeface="Arial"/>
              </a:rPr>
              <a:t>SequenceFile:</a:t>
            </a:r>
            <a:r>
              <a:rPr sz="2900" b="1" spc="-125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SequenceFile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format </a:t>
            </a:r>
            <a:r>
              <a:rPr sz="2900" dirty="0">
                <a:latin typeface="Arial MT"/>
                <a:cs typeface="Arial MT"/>
              </a:rPr>
              <a:t>stores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binary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format,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this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format </a:t>
            </a:r>
            <a:r>
              <a:rPr sz="2900" dirty="0">
                <a:latin typeface="Arial MT"/>
                <a:cs typeface="Arial MT"/>
              </a:rPr>
              <a:t>accepts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compression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but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does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not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store metadata.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360933"/>
            <a:ext cx="3881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spc="-185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22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FORMAT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BCA858E8-2181-62F8-0214-156B37BB20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7073"/>
            <a:ext cx="8032750" cy="4972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82395" algn="just">
              <a:lnSpc>
                <a:spcPct val="99800"/>
              </a:lnSpc>
              <a:spcBef>
                <a:spcPts val="110"/>
              </a:spcBef>
              <a:buFont typeface="SimSun"/>
              <a:buChar char="●"/>
              <a:tabLst>
                <a:tab pos="1395095" algn="l"/>
              </a:tabLst>
            </a:pPr>
            <a:r>
              <a:rPr sz="2900" b="1" spc="-30" dirty="0">
                <a:latin typeface="Arial"/>
                <a:cs typeface="Arial"/>
              </a:rPr>
              <a:t>Avro:</a:t>
            </a:r>
            <a:r>
              <a:rPr sz="2900" b="1" spc="-185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Avro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row-based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storage </a:t>
            </a:r>
            <a:r>
              <a:rPr sz="2900" dirty="0">
                <a:latin typeface="Arial MT"/>
                <a:cs typeface="Arial MT"/>
              </a:rPr>
              <a:t>format.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This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includes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definition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the </a:t>
            </a:r>
            <a:r>
              <a:rPr sz="2900" dirty="0">
                <a:latin typeface="Arial MT"/>
                <a:cs typeface="Arial MT"/>
              </a:rPr>
              <a:t>scheme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your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JSON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format.</a:t>
            </a:r>
            <a:r>
              <a:rPr sz="2900" spc="-2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Avro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allows </a:t>
            </a:r>
            <a:r>
              <a:rPr sz="2900" dirty="0">
                <a:latin typeface="Arial MT"/>
                <a:cs typeface="Arial MT"/>
              </a:rPr>
              <a:t>block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compression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along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its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divisibility, </a:t>
            </a:r>
            <a:r>
              <a:rPr sz="2900" dirty="0">
                <a:latin typeface="Arial MT"/>
                <a:cs typeface="Arial MT"/>
              </a:rPr>
              <a:t>making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good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choice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most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cases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when </a:t>
            </a:r>
            <a:r>
              <a:rPr sz="2900" dirty="0">
                <a:latin typeface="Arial MT"/>
                <a:cs typeface="Arial MT"/>
              </a:rPr>
              <a:t>using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Hadoop.</a:t>
            </a:r>
            <a:endParaRPr sz="2900" dirty="0">
              <a:latin typeface="Arial MT"/>
              <a:cs typeface="Arial MT"/>
            </a:endParaRPr>
          </a:p>
          <a:p>
            <a:pPr marL="12700" marR="15875" indent="1382395" algn="just">
              <a:lnSpc>
                <a:spcPct val="99800"/>
              </a:lnSpc>
              <a:spcBef>
                <a:spcPts val="740"/>
              </a:spcBef>
              <a:buFont typeface="SimSun"/>
              <a:buChar char="●"/>
              <a:tabLst>
                <a:tab pos="1395095" algn="l"/>
              </a:tabLst>
            </a:pPr>
            <a:r>
              <a:rPr sz="2900" b="1" dirty="0">
                <a:latin typeface="Arial"/>
                <a:cs typeface="Arial"/>
              </a:rPr>
              <a:t>Parquet:</a:t>
            </a:r>
            <a:r>
              <a:rPr sz="2900" b="1" spc="-40" dirty="0">
                <a:latin typeface="Arial"/>
                <a:cs typeface="Arial"/>
              </a:rPr>
              <a:t> </a:t>
            </a:r>
            <a:r>
              <a:rPr sz="2900" dirty="0">
                <a:latin typeface="Arial MT"/>
                <a:cs typeface="Arial MT"/>
              </a:rPr>
              <a:t>Parquet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column-</a:t>
            </a:r>
            <a:r>
              <a:rPr sz="2900" spc="-10" dirty="0">
                <a:latin typeface="Arial MT"/>
                <a:cs typeface="Arial MT"/>
              </a:rPr>
              <a:t>based </a:t>
            </a:r>
            <a:r>
              <a:rPr sz="2900" dirty="0">
                <a:latin typeface="Arial MT"/>
                <a:cs typeface="Arial MT"/>
              </a:rPr>
              <a:t>binary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storage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can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nested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data </a:t>
            </a:r>
            <a:r>
              <a:rPr sz="2900" dirty="0">
                <a:latin typeface="Arial MT"/>
                <a:cs typeface="Arial MT"/>
              </a:rPr>
              <a:t>structures.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This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very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efficient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terms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of </a:t>
            </a:r>
            <a:r>
              <a:rPr sz="2900" dirty="0">
                <a:latin typeface="Arial MT"/>
                <a:cs typeface="Arial MT"/>
              </a:rPr>
              <a:t>disk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input/output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operations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when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necessary </a:t>
            </a:r>
            <a:r>
              <a:rPr sz="2900" dirty="0">
                <a:latin typeface="Arial MT"/>
                <a:cs typeface="Arial MT"/>
              </a:rPr>
              <a:t>columns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be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used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specified.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360933"/>
            <a:ext cx="3881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spc="-185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22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FORMAT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0C325EBD-28C9-D2F9-0EDC-D81C4296A7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7073"/>
            <a:ext cx="8101330" cy="36468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1382395" algn="just">
              <a:lnSpc>
                <a:spcPct val="99500"/>
              </a:lnSpc>
              <a:spcBef>
                <a:spcPts val="120"/>
              </a:spcBef>
              <a:buFont typeface="SimSun"/>
              <a:buChar char="●"/>
              <a:tabLst>
                <a:tab pos="1395095" algn="l"/>
              </a:tabLst>
            </a:pPr>
            <a:r>
              <a:rPr sz="2900" b="1" dirty="0">
                <a:latin typeface="Arial"/>
                <a:cs typeface="Arial"/>
              </a:rPr>
              <a:t>RCFile</a:t>
            </a:r>
            <a:r>
              <a:rPr sz="2900" b="1" spc="-2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(Record</a:t>
            </a:r>
            <a:r>
              <a:rPr sz="2900" b="1" spc="-4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Columnar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File):</a:t>
            </a:r>
            <a:r>
              <a:rPr sz="2900" b="1" spc="-105" dirty="0">
                <a:latin typeface="Arial"/>
                <a:cs typeface="Arial"/>
              </a:rPr>
              <a:t> </a:t>
            </a:r>
            <a:r>
              <a:rPr sz="2900" spc="-10" dirty="0">
                <a:latin typeface="Arial MT"/>
                <a:cs typeface="Arial MT"/>
              </a:rPr>
              <a:t>RCFile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columnar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divides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into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groups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rows,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inside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it,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stored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columns.</a:t>
            </a:r>
            <a:endParaRPr sz="2900" dirty="0">
              <a:latin typeface="Arial MT"/>
              <a:cs typeface="Arial MT"/>
            </a:endParaRPr>
          </a:p>
          <a:p>
            <a:pPr marL="12700" marR="8890" indent="1382395" algn="just">
              <a:lnSpc>
                <a:spcPct val="99800"/>
              </a:lnSpc>
              <a:spcBef>
                <a:spcPts val="740"/>
              </a:spcBef>
              <a:buFont typeface="SimSun"/>
              <a:buChar char="●"/>
              <a:tabLst>
                <a:tab pos="1395095" algn="l"/>
              </a:tabLst>
            </a:pPr>
            <a:r>
              <a:rPr sz="2900" b="1" dirty="0">
                <a:latin typeface="Arial"/>
                <a:cs typeface="Arial"/>
              </a:rPr>
              <a:t>ORC</a:t>
            </a:r>
            <a:r>
              <a:rPr sz="2900" b="1" spc="-2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(Optimized</a:t>
            </a:r>
            <a:r>
              <a:rPr sz="2900" b="1" spc="-50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Row</a:t>
            </a:r>
            <a:r>
              <a:rPr sz="2900" b="1" spc="-35" dirty="0">
                <a:latin typeface="Arial"/>
                <a:cs typeface="Arial"/>
              </a:rPr>
              <a:t> </a:t>
            </a:r>
            <a:r>
              <a:rPr sz="2900" b="1" dirty="0">
                <a:latin typeface="Arial"/>
                <a:cs typeface="Arial"/>
              </a:rPr>
              <a:t>Columnar):</a:t>
            </a:r>
            <a:r>
              <a:rPr sz="2900" b="1" spc="-100" dirty="0">
                <a:latin typeface="Arial"/>
                <a:cs typeface="Arial"/>
              </a:rPr>
              <a:t> </a:t>
            </a:r>
            <a:r>
              <a:rPr sz="2900" spc="-25" dirty="0">
                <a:latin typeface="Arial MT"/>
                <a:cs typeface="Arial MT"/>
              </a:rPr>
              <a:t>ORC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considered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evolution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RCFile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format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all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its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benefits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alongside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some </a:t>
            </a:r>
            <a:r>
              <a:rPr sz="2900" dirty="0">
                <a:latin typeface="Arial MT"/>
                <a:cs typeface="Arial MT"/>
              </a:rPr>
              <a:t>improvements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such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as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better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compression, </a:t>
            </a:r>
            <a:r>
              <a:rPr sz="2900" dirty="0">
                <a:latin typeface="Arial MT"/>
                <a:cs typeface="Arial MT"/>
              </a:rPr>
              <a:t>allowing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faster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queries.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8340" y="360933"/>
            <a:ext cx="38811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spc="-185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22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FORMAT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B2E39066-9ED7-4124-D939-ACF8A2327B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2501"/>
            <a:ext cx="8121650" cy="5156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While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MapReduce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programming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model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25" dirty="0">
                <a:latin typeface="Arial MT"/>
                <a:cs typeface="Arial MT"/>
              </a:rPr>
              <a:t> at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heart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Hadoop,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low-</a:t>
            </a:r>
            <a:r>
              <a:rPr sz="2900" dirty="0">
                <a:latin typeface="Arial MT"/>
                <a:cs typeface="Arial MT"/>
              </a:rPr>
              <a:t>level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as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such </a:t>
            </a:r>
            <a:r>
              <a:rPr sz="2900" dirty="0">
                <a:latin typeface="Arial MT"/>
                <a:cs typeface="Arial MT"/>
              </a:rPr>
              <a:t>becomes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unproductive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way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developers</a:t>
            </a:r>
            <a:r>
              <a:rPr sz="2900" spc="7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write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complex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analysis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jobs.</a:t>
            </a:r>
            <a:endParaRPr sz="2900" dirty="0">
              <a:latin typeface="Arial MT"/>
              <a:cs typeface="Arial MT"/>
            </a:endParaRPr>
          </a:p>
          <a:p>
            <a:pPr marL="332740" marR="149225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160" dirty="0">
                <a:latin typeface="Arial MT"/>
                <a:cs typeface="Arial MT"/>
              </a:rPr>
              <a:t>To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increase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developer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productivity,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several </a:t>
            </a:r>
            <a:r>
              <a:rPr sz="2900" dirty="0">
                <a:latin typeface="Arial MT"/>
                <a:cs typeface="Arial MT"/>
              </a:rPr>
              <a:t>higher-level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languages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APIs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have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been </a:t>
            </a:r>
            <a:r>
              <a:rPr sz="2900" dirty="0">
                <a:latin typeface="Arial MT"/>
                <a:cs typeface="Arial MT"/>
              </a:rPr>
              <a:t>created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abstract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away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low-</a:t>
            </a:r>
            <a:r>
              <a:rPr sz="2900" dirty="0">
                <a:latin typeface="Arial MT"/>
                <a:cs typeface="Arial MT"/>
              </a:rPr>
              <a:t>level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details </a:t>
            </a:r>
            <a:r>
              <a:rPr sz="2900" dirty="0">
                <a:latin typeface="Arial MT"/>
                <a:cs typeface="Arial MT"/>
              </a:rPr>
              <a:t>of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MapReduce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programming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model.</a:t>
            </a:r>
            <a:endParaRPr sz="2900" dirty="0">
              <a:latin typeface="Arial MT"/>
              <a:cs typeface="Arial MT"/>
            </a:endParaRPr>
          </a:p>
          <a:p>
            <a:pPr marL="332740" marR="292735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There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several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choices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available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writing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analysis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jobs.</a:t>
            </a:r>
            <a:endParaRPr sz="29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695"/>
              </a:spcBef>
            </a:pPr>
            <a:r>
              <a:rPr sz="2900" spc="-50" dirty="0">
                <a:latin typeface="Arial MT"/>
                <a:cs typeface="Arial MT"/>
              </a:rPr>
              <a:t>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Analysing</a:t>
            </a:r>
            <a:r>
              <a:rPr sz="4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with</a:t>
            </a:r>
            <a:r>
              <a:rPr sz="4400" u="sng" spc="-3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spc="-3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6EC4EA32-E0BC-0922-77EE-BC074D66D7D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2501"/>
            <a:ext cx="8039734" cy="5067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The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Hive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Pig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projects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are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popular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choices </a:t>
            </a:r>
            <a:r>
              <a:rPr sz="2900" dirty="0">
                <a:latin typeface="Arial MT"/>
                <a:cs typeface="Arial MT"/>
              </a:rPr>
              <a:t>that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provide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SQL-like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procedural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flow- </a:t>
            </a:r>
            <a:r>
              <a:rPr sz="2900" dirty="0">
                <a:latin typeface="Arial MT"/>
                <a:cs typeface="Arial MT"/>
              </a:rPr>
              <a:t>like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languages,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respectively.</a:t>
            </a:r>
            <a:endParaRPr sz="2900" dirty="0">
              <a:latin typeface="Arial MT"/>
              <a:cs typeface="Arial MT"/>
            </a:endParaRPr>
          </a:p>
          <a:p>
            <a:pPr marL="332740" marR="133985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HBase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also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popular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way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store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and </a:t>
            </a:r>
            <a:r>
              <a:rPr sz="2900" dirty="0">
                <a:latin typeface="Arial MT"/>
                <a:cs typeface="Arial MT"/>
              </a:rPr>
              <a:t>analyze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HDFS.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It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column-</a:t>
            </a:r>
            <a:r>
              <a:rPr sz="2900" spc="-10" dirty="0">
                <a:latin typeface="Arial MT"/>
                <a:cs typeface="Arial MT"/>
              </a:rPr>
              <a:t>oriented </a:t>
            </a:r>
            <a:r>
              <a:rPr sz="2900" dirty="0">
                <a:latin typeface="Arial MT"/>
                <a:cs typeface="Arial MT"/>
              </a:rPr>
              <a:t>database,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unlike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MapReduce,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provides </a:t>
            </a:r>
            <a:r>
              <a:rPr sz="2900" dirty="0">
                <a:latin typeface="Arial MT"/>
                <a:cs typeface="Arial MT"/>
              </a:rPr>
              <a:t>random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read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write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access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3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with</a:t>
            </a:r>
            <a:r>
              <a:rPr sz="2900" spc="-1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low </a:t>
            </a:r>
            <a:r>
              <a:rPr sz="2900" spc="-10" dirty="0">
                <a:latin typeface="Arial MT"/>
                <a:cs typeface="Arial MT"/>
              </a:rPr>
              <a:t>latency.</a:t>
            </a:r>
            <a:endParaRPr sz="2900" dirty="0">
              <a:latin typeface="Arial MT"/>
              <a:cs typeface="Arial MT"/>
            </a:endParaRPr>
          </a:p>
          <a:p>
            <a:pPr marL="332740" marR="507365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Arial MT"/>
                <a:cs typeface="Arial MT"/>
              </a:rPr>
              <a:t>MapReduce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jobs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can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read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and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write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in </a:t>
            </a:r>
            <a:r>
              <a:rPr sz="2900" dirty="0">
                <a:latin typeface="Arial MT"/>
                <a:cs typeface="Arial MT"/>
              </a:rPr>
              <a:t>HBase’s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table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format,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but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data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processing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is </a:t>
            </a:r>
            <a:r>
              <a:rPr sz="2900" dirty="0">
                <a:latin typeface="Arial MT"/>
                <a:cs typeface="Arial MT"/>
              </a:rPr>
              <a:t>often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done</a:t>
            </a:r>
            <a:r>
              <a:rPr sz="2900" spc="-4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via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HBase’s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own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client</a:t>
            </a:r>
            <a:r>
              <a:rPr sz="2900" spc="-190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API.</a:t>
            </a:r>
            <a:endParaRPr sz="29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Analysing</a:t>
            </a:r>
            <a:r>
              <a:rPr sz="4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Data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with</a:t>
            </a:r>
            <a:r>
              <a:rPr sz="4400" u="sng" spc="-3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spc="-3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021F1D6D-33B3-5DE7-BFB6-BD08B8CF97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3"/>
            <a:ext cx="8147050" cy="4316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6350" indent="-320040" algn="just">
              <a:lnSpc>
                <a:spcPct val="100000"/>
              </a:lnSpc>
              <a:spcBef>
                <a:spcPts val="100"/>
              </a:spcBef>
              <a:buSzPct val="60416"/>
              <a:buFont typeface="Wingdings"/>
              <a:buChar char=""/>
              <a:tabLst>
                <a:tab pos="332740" algn="l"/>
                <a:tab pos="434340" algn="l"/>
              </a:tabLst>
            </a:pPr>
            <a:r>
              <a:rPr sz="2400" dirty="0">
                <a:solidFill>
                  <a:srgbClr val="DA1F28"/>
                </a:solidFill>
                <a:latin typeface="Arial MT"/>
                <a:cs typeface="Arial MT"/>
              </a:rPr>
              <a:t>	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comes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distribution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developers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programmers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60" dirty="0">
                <a:latin typeface="Arial MT"/>
                <a:cs typeface="Arial MT"/>
              </a:rPr>
              <a:t>  </a:t>
            </a:r>
            <a:r>
              <a:rPr sz="2400" spc="-20" dirty="0">
                <a:latin typeface="Arial MT"/>
                <a:cs typeface="Arial MT"/>
              </a:rPr>
              <a:t>Map- </a:t>
            </a:r>
            <a:r>
              <a:rPr sz="2400" dirty="0">
                <a:latin typeface="Arial MT"/>
                <a:cs typeface="Arial MT"/>
              </a:rPr>
              <a:t>Reduce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programming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languages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Ruby,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Perl,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Python,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C++,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etc.</a:t>
            </a:r>
            <a:endParaRPr sz="2400" dirty="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1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language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read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input(STDIN)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keyboard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input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output(STDOUT).</a:t>
            </a:r>
            <a:endParaRPr sz="2400" dirty="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Although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Framework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completely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java </a:t>
            </a:r>
            <a:r>
              <a:rPr sz="2400" dirty="0">
                <a:latin typeface="Arial MT"/>
                <a:cs typeface="Arial MT"/>
              </a:rPr>
              <a:t>programs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not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necessarily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code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Java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programming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language.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5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u="sng" spc="-4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Streaming</a:t>
            </a:r>
            <a:r>
              <a:rPr sz="4400" spc="-4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BEBE18A5-EAF0-92E4-F125-CD063E70D3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3"/>
            <a:ext cx="8146415" cy="312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4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advantage</a:t>
            </a:r>
            <a:r>
              <a:rPr sz="2400" spc="43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4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4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streaming</a:t>
            </a:r>
            <a:r>
              <a:rPr sz="2400" spc="4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utility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Java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5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4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non-</a:t>
            </a:r>
            <a:r>
              <a:rPr sz="2400" dirty="0">
                <a:latin typeface="Arial MT"/>
                <a:cs typeface="Arial MT"/>
              </a:rPr>
              <a:t>Java</a:t>
            </a:r>
            <a:r>
              <a:rPr sz="2400" spc="5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programmed </a:t>
            </a:r>
            <a:r>
              <a:rPr sz="2400" dirty="0">
                <a:latin typeface="Arial MT"/>
                <a:cs typeface="Arial MT"/>
              </a:rPr>
              <a:t>MapReduce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jobs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clusters.</a:t>
            </a:r>
            <a:endParaRPr sz="2400">
              <a:latin typeface="Arial MT"/>
              <a:cs typeface="Arial MT"/>
            </a:endParaRPr>
          </a:p>
          <a:p>
            <a:pPr marL="332740" marR="5715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Hadoop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streaming</a:t>
            </a:r>
            <a:r>
              <a:rPr sz="2400" spc="3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supports</a:t>
            </a:r>
            <a:r>
              <a:rPr sz="2400" spc="3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Perl,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Python,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PHP, </a:t>
            </a:r>
            <a:r>
              <a:rPr sz="2400" dirty="0">
                <a:latin typeface="Arial MT"/>
                <a:cs typeface="Arial MT"/>
              </a:rPr>
              <a:t>R,</a:t>
            </a:r>
            <a:r>
              <a:rPr sz="2400" spc="1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C++</a:t>
            </a:r>
            <a:r>
              <a:rPr sz="2400" spc="1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Translate</a:t>
            </a:r>
            <a:r>
              <a:rPr sz="2400" spc="1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application</a:t>
            </a:r>
            <a:r>
              <a:rPr sz="2400" spc="1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logic</a:t>
            </a:r>
            <a:r>
              <a:rPr sz="2400" spc="1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140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Mapper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Reducer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sections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5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value </a:t>
            </a:r>
            <a:r>
              <a:rPr sz="2400" dirty="0">
                <a:latin typeface="Arial MT"/>
                <a:cs typeface="Arial MT"/>
              </a:rPr>
              <a:t>output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elements.</a:t>
            </a:r>
            <a:endParaRPr sz="2400">
              <a:latin typeface="Arial MT"/>
              <a:cs typeface="Arial MT"/>
            </a:endParaRPr>
          </a:p>
          <a:p>
            <a:pPr marL="332105" indent="-319405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components: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Mapper,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Reducer,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Driver.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u="sng" spc="-4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Streaming</a:t>
            </a:r>
            <a:r>
              <a:rPr sz="4400" spc="-4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001E2415-E1DD-1441-14C8-14EB5BA7F4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u="sng" spc="-4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Streaming</a:t>
            </a:r>
            <a:r>
              <a:rPr sz="4400" spc="-4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019283"/>
            <a:ext cx="8081661" cy="4381517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1557EA64-71D0-0821-3E6A-4CBCE6542E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4"/>
            <a:ext cx="8147684" cy="373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Input</a:t>
            </a:r>
            <a:r>
              <a:rPr sz="2000" b="1" spc="8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Reader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responsible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reading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input</a:t>
            </a:r>
            <a:endParaRPr sz="2000">
              <a:latin typeface="Arial MT"/>
              <a:cs typeface="Arial MT"/>
            </a:endParaRPr>
          </a:p>
          <a:p>
            <a:pPr marL="332740" algn="just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key-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pairs.</a:t>
            </a:r>
            <a:endParaRPr sz="20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read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.csv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format,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delimiter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format,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database </a:t>
            </a:r>
            <a:r>
              <a:rPr sz="2000" dirty="0">
                <a:latin typeface="Arial MT"/>
                <a:cs typeface="Arial MT"/>
              </a:rPr>
              <a:t>table,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data(.jpg,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.png),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audio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etc.</a:t>
            </a:r>
            <a:endParaRPr sz="20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key-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pairs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fed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Map</a:t>
            </a:r>
            <a:r>
              <a:rPr sz="2000" b="1" spc="1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phase</a:t>
            </a:r>
            <a:r>
              <a:rPr sz="2000" b="1" spc="1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Mapper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will </a:t>
            </a:r>
            <a:r>
              <a:rPr sz="2000" dirty="0">
                <a:latin typeface="Arial MT"/>
                <a:cs typeface="Arial MT"/>
              </a:rPr>
              <a:t>work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key-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pair</a:t>
            </a:r>
            <a:r>
              <a:rPr sz="2000" spc="3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pixel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generate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intermediate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key-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pairs.</a:t>
            </a:r>
            <a:endParaRPr sz="200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shuffling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sorting, the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intermediate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key-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pairs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fed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"/>
                <a:cs typeface="Arial"/>
              </a:rPr>
              <a:t>Reducer</a:t>
            </a:r>
            <a:r>
              <a:rPr sz="2000" spc="-1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332105" indent="-319405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produced</a:t>
            </a:r>
            <a:r>
              <a:rPr sz="2000" spc="2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reducer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2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2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written</a:t>
            </a:r>
            <a:r>
              <a:rPr sz="2000" spc="2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2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332740" algn="just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HDFS.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Map-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job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u="sng" spc="-4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Streaming</a:t>
            </a:r>
            <a:r>
              <a:rPr sz="4400" spc="-4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385A2E9C-73AA-7BA5-4A9E-8378690150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u="sng" spc="-4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Streaming</a:t>
            </a:r>
            <a:r>
              <a:rPr sz="4400" spc="-4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255" y="1604772"/>
            <a:ext cx="6571488" cy="3648455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2FD3596E-D08A-D408-7638-DA4F070A994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4"/>
            <a:ext cx="3732529" cy="3863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Hadoop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Pipes</a:t>
            </a:r>
            <a:r>
              <a:rPr sz="2000" spc="1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C++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interface</a:t>
            </a:r>
            <a:r>
              <a:rPr sz="2000" spc="3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Hadoop MapReduce.</a:t>
            </a:r>
            <a:endParaRPr sz="20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Unlike</a:t>
            </a:r>
            <a:r>
              <a:rPr sz="2000" spc="1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Streaming,</a:t>
            </a:r>
            <a:r>
              <a:rPr sz="2000" spc="1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100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uses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4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4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409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communicate</a:t>
            </a:r>
            <a:r>
              <a:rPr sz="2000" spc="18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18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8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map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code.</a:t>
            </a:r>
            <a:endParaRPr sz="20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Pipes</a:t>
            </a:r>
            <a:r>
              <a:rPr sz="2000" spc="16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uses</a:t>
            </a:r>
            <a:r>
              <a:rPr sz="2000" spc="15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sockets</a:t>
            </a:r>
            <a:r>
              <a:rPr sz="2000" spc="15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16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channel</a:t>
            </a:r>
            <a:r>
              <a:rPr sz="2000" spc="45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4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4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task </a:t>
            </a:r>
            <a:r>
              <a:rPr sz="2000" dirty="0">
                <a:latin typeface="Arial MT"/>
                <a:cs typeface="Arial MT"/>
              </a:rPr>
              <a:t>tracker</a:t>
            </a:r>
            <a:r>
              <a:rPr sz="2000" spc="434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communicates</a:t>
            </a:r>
            <a:r>
              <a:rPr sz="2000" spc="434" dirty="0">
                <a:latin typeface="Arial MT"/>
                <a:cs typeface="Arial MT"/>
              </a:rPr>
              <a:t>  </a:t>
            </a:r>
            <a:r>
              <a:rPr sz="2000" spc="-20" dirty="0">
                <a:latin typeface="Arial MT"/>
                <a:cs typeface="Arial MT"/>
              </a:rPr>
              <a:t>with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</a:t>
            </a:r>
            <a:r>
              <a:rPr sz="2000" spc="3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running</a:t>
            </a:r>
            <a:r>
              <a:rPr sz="2000" spc="3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C++ </a:t>
            </a:r>
            <a:r>
              <a:rPr sz="2000" dirty="0">
                <a:latin typeface="Arial MT"/>
                <a:cs typeface="Arial MT"/>
              </a:rPr>
              <a:t>map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function.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Hadoop</a:t>
            </a:r>
            <a:r>
              <a:rPr sz="4400" u="sng" spc="-2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Pipes</a:t>
            </a:r>
            <a:r>
              <a:rPr sz="4400" spc="-40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3920" y="1829745"/>
            <a:ext cx="4223004" cy="393097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00399042-4FB9-3EC9-ACBE-F76B13A8B3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625854"/>
            <a:ext cx="7849234" cy="47049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HDFS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3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filesystem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4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storing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4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</a:t>
            </a:r>
            <a:r>
              <a:rPr sz="2000" spc="43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files</a:t>
            </a:r>
            <a:r>
              <a:rPr sz="2000" spc="4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with </a:t>
            </a:r>
            <a:r>
              <a:rPr sz="2000" dirty="0">
                <a:latin typeface="Arial MT"/>
                <a:cs typeface="Arial MT"/>
              </a:rPr>
              <a:t>streaming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access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patterns,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running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clusters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commodity hardware.</a:t>
            </a:r>
            <a:endParaRPr sz="2000" dirty="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spc="-10" dirty="0">
                <a:latin typeface="Arial"/>
                <a:cs typeface="Arial"/>
              </a:rPr>
              <a:t>Very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large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files:</a:t>
            </a:r>
            <a:endParaRPr sz="2000" dirty="0">
              <a:latin typeface="Arial"/>
              <a:cs typeface="Arial"/>
            </a:endParaRPr>
          </a:p>
          <a:p>
            <a:pPr marL="789305" marR="5080" lvl="1" indent="-320040" algn="just">
              <a:lnSpc>
                <a:spcPct val="100000"/>
              </a:lnSpc>
              <a:spcBef>
                <a:spcPts val="75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789305" algn="l"/>
              </a:tabLst>
            </a:pPr>
            <a:r>
              <a:rPr sz="2000" dirty="0">
                <a:latin typeface="Arial MT"/>
                <a:cs typeface="Arial MT"/>
              </a:rPr>
              <a:t>“Very</a:t>
            </a:r>
            <a:r>
              <a:rPr sz="2000" spc="204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large”</a:t>
            </a:r>
            <a:r>
              <a:rPr sz="2000" spc="2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2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2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context</a:t>
            </a:r>
            <a:r>
              <a:rPr sz="2000" spc="2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means</a:t>
            </a:r>
            <a:r>
              <a:rPr sz="2000" spc="2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files</a:t>
            </a:r>
            <a:r>
              <a:rPr sz="2000" spc="2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2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2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hundreds</a:t>
            </a:r>
            <a:r>
              <a:rPr sz="2000" spc="229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megabytes,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gigabytes,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terabytes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size.</a:t>
            </a:r>
            <a:r>
              <a:rPr sz="2000" spc="1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2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2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Hadoop </a:t>
            </a:r>
            <a:r>
              <a:rPr sz="2000" dirty="0">
                <a:latin typeface="Arial MT"/>
                <a:cs typeface="Arial MT"/>
              </a:rPr>
              <a:t>clusters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running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petabytes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 dirty="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dirty="0">
                <a:latin typeface="Arial"/>
                <a:cs typeface="Arial"/>
              </a:rPr>
              <a:t>Streaming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access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789305" marR="5080" lvl="1" indent="-320040" algn="just">
              <a:lnSpc>
                <a:spcPct val="102299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789305" algn="l"/>
              </a:tabLst>
            </a:pPr>
            <a:r>
              <a:rPr sz="2000" dirty="0">
                <a:latin typeface="Arial MT"/>
                <a:cs typeface="Arial MT"/>
              </a:rPr>
              <a:t>HDFS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built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around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idea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efficient</a:t>
            </a:r>
            <a:r>
              <a:rPr sz="2000" spc="1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19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processing </a:t>
            </a:r>
            <a:r>
              <a:rPr sz="2000" dirty="0">
                <a:latin typeface="Arial MT"/>
                <a:cs typeface="Arial MT"/>
              </a:rPr>
              <a:t>pattern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write-once,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read-many-times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pattern.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typically </a:t>
            </a:r>
            <a:r>
              <a:rPr sz="2000" dirty="0">
                <a:latin typeface="Arial MT"/>
                <a:cs typeface="Arial MT"/>
              </a:rPr>
              <a:t>generated</a:t>
            </a:r>
            <a:r>
              <a:rPr sz="2000" spc="3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3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copied</a:t>
            </a:r>
            <a:r>
              <a:rPr sz="2000" spc="3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3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source,</a:t>
            </a:r>
            <a:r>
              <a:rPr sz="2000" spc="30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2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various</a:t>
            </a:r>
            <a:r>
              <a:rPr sz="2000" spc="3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analyses</a:t>
            </a:r>
            <a:r>
              <a:rPr sz="2000" spc="31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are </a:t>
            </a:r>
            <a:r>
              <a:rPr sz="2000" dirty="0">
                <a:latin typeface="Arial MT"/>
                <a:cs typeface="Arial MT"/>
              </a:rPr>
              <a:t>performed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time.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Design</a:t>
            </a:r>
            <a:r>
              <a:rPr sz="4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of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HDFS</a:t>
            </a:r>
            <a:r>
              <a:rPr sz="4400" spc="-40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7167236F-54E0-662B-B6D4-1356FCF0A9D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526234"/>
            <a:ext cx="7995108" cy="2755241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8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b="1" dirty="0">
                <a:latin typeface="Arial"/>
                <a:cs typeface="Arial"/>
              </a:rPr>
              <a:t>Commodity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hardware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50" dirty="0"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789305" marR="5080" lvl="1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8333"/>
              <a:buFont typeface="Wingdings"/>
              <a:buChar char=""/>
              <a:tabLst>
                <a:tab pos="789305" algn="l"/>
              </a:tabLst>
            </a:pPr>
            <a:r>
              <a:rPr sz="2000" dirty="0">
                <a:latin typeface="Arial MT"/>
                <a:cs typeface="Arial MT"/>
              </a:rPr>
              <a:t>Hadoop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doesn’t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expensive,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highly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reliable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hardware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on. </a:t>
            </a:r>
            <a:r>
              <a:rPr sz="2000" dirty="0">
                <a:latin typeface="Arial MT"/>
                <a:cs typeface="Arial MT"/>
              </a:rPr>
              <a:t>It’s</a:t>
            </a:r>
            <a:r>
              <a:rPr sz="2000" spc="38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40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9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39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38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clusters</a:t>
            </a:r>
            <a:r>
              <a:rPr sz="2000" spc="39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37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commodity</a:t>
            </a:r>
            <a:r>
              <a:rPr sz="2000" spc="365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hardware </a:t>
            </a:r>
            <a:r>
              <a:rPr sz="2000" dirty="0">
                <a:latin typeface="Arial MT"/>
                <a:cs typeface="Arial MT"/>
              </a:rPr>
              <a:t>(commonly</a:t>
            </a:r>
            <a:r>
              <a:rPr sz="2000" spc="47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available</a:t>
            </a:r>
            <a:r>
              <a:rPr sz="2000" spc="47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hardware</a:t>
            </a:r>
            <a:r>
              <a:rPr sz="2000" spc="47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available</a:t>
            </a:r>
            <a:r>
              <a:rPr sz="2000" spc="47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47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multiple </a:t>
            </a:r>
            <a:r>
              <a:rPr sz="2000" dirty="0">
                <a:latin typeface="Arial MT"/>
                <a:cs typeface="Arial MT"/>
              </a:rPr>
              <a:t>vendors3)</a:t>
            </a:r>
            <a:r>
              <a:rPr sz="2000" spc="2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whichthe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chance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node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failure</a:t>
            </a:r>
            <a:r>
              <a:rPr sz="2000" spc="3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across</a:t>
            </a:r>
            <a:r>
              <a:rPr sz="2000" spc="3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cluster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high,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clusters.</a:t>
            </a:r>
            <a:endParaRPr sz="2000" dirty="0">
              <a:latin typeface="Arial MT"/>
              <a:cs typeface="Arial MT"/>
            </a:endParaRPr>
          </a:p>
          <a:p>
            <a:pPr marL="789305" marR="6350" lvl="1" indent="-320040" algn="just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789305" algn="l"/>
              </a:tabLst>
            </a:pPr>
            <a:r>
              <a:rPr sz="2000" dirty="0">
                <a:latin typeface="Arial MT"/>
                <a:cs typeface="Arial MT"/>
              </a:rPr>
              <a:t>HDFS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designed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carry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working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without</a:t>
            </a:r>
            <a:r>
              <a:rPr sz="2000" spc="3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noticeable </a:t>
            </a:r>
            <a:r>
              <a:rPr sz="2000" dirty="0">
                <a:latin typeface="Arial MT"/>
                <a:cs typeface="Arial MT"/>
              </a:rPr>
              <a:t>interruption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failure.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Design</a:t>
            </a:r>
            <a:r>
              <a:rPr sz="4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of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HDFS</a:t>
            </a:r>
            <a:r>
              <a:rPr sz="4400" spc="-40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6480C5FF-4D8B-90EF-335C-00446F7954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559177"/>
            <a:ext cx="7847965" cy="44069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63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  <a:tab pos="2604770" algn="l"/>
              </a:tabLst>
            </a:pPr>
            <a:r>
              <a:rPr sz="2000" b="1" dirty="0">
                <a:latin typeface="Arial"/>
                <a:cs typeface="Arial"/>
              </a:rPr>
              <a:t>Features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of</a:t>
            </a:r>
            <a:r>
              <a:rPr sz="2000" b="1" spc="-20" dirty="0">
                <a:latin typeface="Arial"/>
                <a:cs typeface="Arial"/>
              </a:rPr>
              <a:t> HDFS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89305" marR="5080" lvl="1" indent="-320040">
              <a:lnSpc>
                <a:spcPct val="100000"/>
              </a:lnSpc>
              <a:spcBef>
                <a:spcPts val="685"/>
              </a:spcBef>
              <a:buClr>
                <a:srgbClr val="DA1F28"/>
              </a:buClr>
              <a:buSzPct val="59615"/>
              <a:buFont typeface="Wingdings"/>
              <a:buChar char=""/>
              <a:tabLst>
                <a:tab pos="789305" algn="l"/>
                <a:tab pos="1179830" algn="l"/>
                <a:tab pos="1626870" algn="l"/>
                <a:tab pos="2975610" algn="l"/>
                <a:tab pos="3568700" algn="l"/>
                <a:tab pos="4237355" algn="l"/>
                <a:tab pos="5970905" algn="l"/>
                <a:tab pos="7281545" algn="l"/>
              </a:tabLst>
            </a:pPr>
            <a:r>
              <a:rPr sz="2600" spc="-25" dirty="0">
                <a:latin typeface="Arial MT"/>
                <a:cs typeface="Arial MT"/>
              </a:rPr>
              <a:t>It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is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suitable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for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the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distributed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storage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and </a:t>
            </a:r>
            <a:r>
              <a:rPr sz="2600" spc="-10" dirty="0">
                <a:latin typeface="Arial MT"/>
                <a:cs typeface="Arial MT"/>
              </a:rPr>
              <a:t>processing.</a:t>
            </a:r>
            <a:endParaRPr sz="2600">
              <a:latin typeface="Arial MT"/>
              <a:cs typeface="Arial MT"/>
            </a:endParaRPr>
          </a:p>
          <a:p>
            <a:pPr marL="789305" marR="5080" lvl="1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615"/>
              <a:buFont typeface="Wingdings"/>
              <a:buChar char=""/>
              <a:tabLst>
                <a:tab pos="789305" algn="l"/>
                <a:tab pos="2239010" algn="l"/>
                <a:tab pos="3780154" algn="l"/>
                <a:tab pos="4255770" algn="l"/>
                <a:tab pos="5998210" algn="l"/>
                <a:tab pos="7558405" algn="l"/>
              </a:tabLst>
            </a:pPr>
            <a:r>
              <a:rPr sz="2600" spc="-10" dirty="0">
                <a:latin typeface="Arial MT"/>
                <a:cs typeface="Arial MT"/>
              </a:rPr>
              <a:t>Hadoop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provides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50" dirty="0">
                <a:latin typeface="Arial MT"/>
                <a:cs typeface="Arial MT"/>
              </a:rPr>
              <a:t>a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command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interface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to </a:t>
            </a:r>
            <a:r>
              <a:rPr sz="2600" dirty="0">
                <a:latin typeface="Arial MT"/>
                <a:cs typeface="Arial MT"/>
              </a:rPr>
              <a:t>interact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10" dirty="0">
                <a:latin typeface="Arial MT"/>
                <a:cs typeface="Arial MT"/>
              </a:rPr>
              <a:t> HDFS.</a:t>
            </a:r>
            <a:endParaRPr sz="2600">
              <a:latin typeface="Arial MT"/>
              <a:cs typeface="Arial MT"/>
            </a:endParaRPr>
          </a:p>
          <a:p>
            <a:pPr marL="789305" marR="6985" lvl="1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59615"/>
              <a:buFont typeface="Wingdings"/>
              <a:buChar char=""/>
              <a:tabLst>
                <a:tab pos="789305" algn="l"/>
              </a:tabLst>
            </a:pPr>
            <a:r>
              <a:rPr sz="2600" dirty="0">
                <a:latin typeface="Arial MT"/>
                <a:cs typeface="Arial MT"/>
              </a:rPr>
              <a:t>The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built-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servers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namenode</a:t>
            </a:r>
            <a:r>
              <a:rPr sz="2600" spc="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datanode </a:t>
            </a:r>
            <a:r>
              <a:rPr sz="2600" dirty="0">
                <a:latin typeface="Arial MT"/>
                <a:cs typeface="Arial MT"/>
              </a:rPr>
              <a:t>help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users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easily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check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status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cluster.</a:t>
            </a:r>
            <a:endParaRPr sz="2600">
              <a:latin typeface="Arial MT"/>
              <a:cs typeface="Arial MT"/>
            </a:endParaRPr>
          </a:p>
          <a:p>
            <a:pPr marL="789305" lvl="1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615"/>
              <a:buFont typeface="Wingdings"/>
              <a:buChar char=""/>
              <a:tabLst>
                <a:tab pos="789305" algn="l"/>
              </a:tabLst>
            </a:pPr>
            <a:r>
              <a:rPr sz="2600" dirty="0">
                <a:latin typeface="Arial MT"/>
                <a:cs typeface="Arial MT"/>
              </a:rPr>
              <a:t>Streaming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access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file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system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data.</a:t>
            </a:r>
            <a:endParaRPr sz="2600">
              <a:latin typeface="Arial MT"/>
              <a:cs typeface="Arial MT"/>
            </a:endParaRPr>
          </a:p>
          <a:p>
            <a:pPr marL="789305" marR="5080" lvl="1" indent="-320040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615"/>
              <a:buFont typeface="Wingdings"/>
              <a:buChar char=""/>
              <a:tabLst>
                <a:tab pos="789305" algn="l"/>
                <a:tab pos="2228850" algn="l"/>
                <a:tab pos="4018279" algn="l"/>
                <a:tab pos="4979670" algn="l"/>
                <a:tab pos="7282815" algn="l"/>
              </a:tabLst>
            </a:pPr>
            <a:r>
              <a:rPr sz="2600" spc="-20" dirty="0">
                <a:latin typeface="Arial MT"/>
                <a:cs typeface="Arial MT"/>
              </a:rPr>
              <a:t>HDFS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provides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0" dirty="0">
                <a:latin typeface="Arial MT"/>
                <a:cs typeface="Arial MT"/>
              </a:rPr>
              <a:t>file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permissions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25" dirty="0">
                <a:latin typeface="Arial MT"/>
                <a:cs typeface="Arial MT"/>
              </a:rPr>
              <a:t>and </a:t>
            </a:r>
            <a:r>
              <a:rPr sz="2600" spc="-10" dirty="0">
                <a:latin typeface="Arial MT"/>
                <a:cs typeface="Arial MT"/>
              </a:rPr>
              <a:t>authentication.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Design</a:t>
            </a:r>
            <a:r>
              <a:rPr sz="4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of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HDFS</a:t>
            </a:r>
            <a:r>
              <a:rPr sz="4400" spc="-40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4B51044E-5F4F-A31A-C959-D0FB86194F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6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sng" dirty="0">
                <a:uFill>
                  <a:solidFill>
                    <a:srgbClr val="464646"/>
                  </a:solidFill>
                </a:uFill>
              </a:rPr>
              <a:t>Architecture</a:t>
            </a:r>
            <a:r>
              <a:rPr sz="4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of</a:t>
            </a:r>
            <a:r>
              <a:rPr sz="4400" u="sng" spc="-3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4400" u="sng" dirty="0">
                <a:uFill>
                  <a:solidFill>
                    <a:srgbClr val="464646"/>
                  </a:solidFill>
                </a:uFill>
              </a:rPr>
              <a:t>HDFS</a:t>
            </a:r>
            <a:r>
              <a:rPr sz="4400" spc="-35" dirty="0"/>
              <a:t> </a:t>
            </a:r>
            <a:r>
              <a:rPr sz="4400" spc="-50" dirty="0"/>
              <a:t>: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67741" y="1267205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828800"/>
            <a:ext cx="8072119" cy="4648200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81BE6BC0-610B-4A46-36A2-DBE231C660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77200" y="6248400"/>
            <a:ext cx="869302" cy="52202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1521330"/>
            <a:ext cx="7849234" cy="4630114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2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200" b="1" spc="-10" dirty="0">
                <a:latin typeface="Arial"/>
                <a:cs typeface="Arial"/>
              </a:rPr>
              <a:t>Namenode</a:t>
            </a:r>
            <a:endParaRPr sz="2200" dirty="0">
              <a:latin typeface="Arial"/>
              <a:cs typeface="Arial"/>
            </a:endParaRPr>
          </a:p>
          <a:p>
            <a:pPr marL="789305" marR="5080" lvl="1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58823"/>
              <a:buFont typeface="Wingdings"/>
              <a:buChar char=""/>
              <a:tabLst>
                <a:tab pos="78930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namenode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commodity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hardware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6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contains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GNU/Linux </a:t>
            </a:r>
            <a:r>
              <a:rPr sz="2200" dirty="0">
                <a:latin typeface="Arial MT"/>
                <a:cs typeface="Arial MT"/>
              </a:rPr>
              <a:t>operating</a:t>
            </a:r>
            <a:r>
              <a:rPr sz="2200" spc="1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5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namenode</a:t>
            </a:r>
            <a:r>
              <a:rPr sz="2200" spc="2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software.</a:t>
            </a:r>
            <a:r>
              <a:rPr sz="2200" spc="2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2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2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250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software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run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commodity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hardware.</a:t>
            </a:r>
            <a:endParaRPr sz="2200" dirty="0">
              <a:latin typeface="Arial MT"/>
              <a:cs typeface="Arial MT"/>
            </a:endParaRPr>
          </a:p>
          <a:p>
            <a:pPr marL="789305" lvl="1" indent="-319405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78930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22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having</a:t>
            </a:r>
            <a:r>
              <a:rPr sz="2200" spc="2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namenode</a:t>
            </a:r>
            <a:r>
              <a:rPr sz="2200" spc="2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acts</a:t>
            </a:r>
            <a:r>
              <a:rPr sz="2200" spc="2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2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master</a:t>
            </a:r>
            <a:r>
              <a:rPr sz="2200" spc="229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server</a:t>
            </a:r>
            <a:endParaRPr sz="2200" dirty="0">
              <a:latin typeface="Arial MT"/>
              <a:cs typeface="Arial MT"/>
            </a:endParaRPr>
          </a:p>
          <a:p>
            <a:pPr marL="78930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does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following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890" dirty="0">
                <a:latin typeface="Arial MT"/>
                <a:cs typeface="Arial MT"/>
              </a:rPr>
              <a:t>−</a:t>
            </a:r>
            <a:endParaRPr sz="2200" dirty="0">
              <a:latin typeface="Arial MT"/>
              <a:cs typeface="Arial MT"/>
            </a:endParaRPr>
          </a:p>
          <a:p>
            <a:pPr marL="1246505" lvl="2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1246505" algn="l"/>
              </a:tabLst>
            </a:pPr>
            <a:r>
              <a:rPr sz="2200" dirty="0">
                <a:latin typeface="Arial MT"/>
                <a:cs typeface="Arial MT"/>
              </a:rPr>
              <a:t>Manages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namespace.</a:t>
            </a:r>
            <a:endParaRPr sz="2200" dirty="0">
              <a:latin typeface="Arial MT"/>
              <a:cs typeface="Arial MT"/>
            </a:endParaRPr>
          </a:p>
          <a:p>
            <a:pPr marL="1246505" lvl="2" indent="-320040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1246505" algn="l"/>
              </a:tabLst>
            </a:pPr>
            <a:r>
              <a:rPr sz="2200" dirty="0">
                <a:latin typeface="Arial MT"/>
                <a:cs typeface="Arial MT"/>
              </a:rPr>
              <a:t>Regulates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client’s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access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files.</a:t>
            </a:r>
            <a:endParaRPr sz="2200" dirty="0">
              <a:latin typeface="Arial MT"/>
              <a:cs typeface="Arial MT"/>
            </a:endParaRPr>
          </a:p>
          <a:p>
            <a:pPr marL="1246505" marR="5715" lvl="2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1246505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also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executes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operations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renaming, </a:t>
            </a:r>
            <a:r>
              <a:rPr sz="2200" dirty="0">
                <a:latin typeface="Arial MT"/>
                <a:cs typeface="Arial MT"/>
              </a:rPr>
              <a:t>closing,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opening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directories.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215E7BE3-E821-5DA6-EC6E-A877C1F89D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25853"/>
            <a:ext cx="17329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b="1" spc="-10" dirty="0">
                <a:latin typeface="Arial"/>
                <a:cs typeface="Arial"/>
              </a:rPr>
              <a:t>Datanode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080386"/>
            <a:ext cx="4806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  <a:tab pos="1057910" algn="l"/>
                <a:tab pos="2530475" algn="l"/>
                <a:tab pos="2951480" algn="l"/>
                <a:tab pos="3319779" algn="l"/>
              </a:tabLst>
            </a:pPr>
            <a:r>
              <a:rPr sz="2400" spc="-2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datanode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commodity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0309" y="2080386"/>
            <a:ext cx="3019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4630" algn="l"/>
                <a:tab pos="2581910" algn="l"/>
              </a:tabLst>
            </a:pPr>
            <a:r>
              <a:rPr sz="2400" spc="-10" dirty="0">
                <a:latin typeface="Arial MT"/>
                <a:cs typeface="Arial MT"/>
              </a:rPr>
              <a:t>hardware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having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the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446146"/>
            <a:ext cx="8004175" cy="3584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GNU/Linux</a:t>
            </a:r>
            <a:r>
              <a:rPr sz="2400" spc="1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operating</a:t>
            </a:r>
            <a:r>
              <a:rPr sz="2400" spc="1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1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datanode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software.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node</a:t>
            </a:r>
            <a:r>
              <a:rPr sz="2400" spc="1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(Commodity</a:t>
            </a:r>
            <a:r>
              <a:rPr sz="2400" spc="1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hardware/System)</a:t>
            </a:r>
            <a:r>
              <a:rPr sz="2400" spc="1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114" dirty="0">
                <a:latin typeface="Arial MT"/>
                <a:cs typeface="Arial MT"/>
              </a:rPr>
              <a:t> 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spc="-10" dirty="0">
                <a:latin typeface="Arial MT"/>
                <a:cs typeface="Arial MT"/>
              </a:rPr>
              <a:t>cluster,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datanode.</a:t>
            </a:r>
            <a:endParaRPr sz="2400">
              <a:latin typeface="Arial MT"/>
              <a:cs typeface="Arial MT"/>
            </a:endParaRPr>
          </a:p>
          <a:p>
            <a:pPr marL="332105" indent="-319405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nodes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storage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</a:t>
            </a:r>
            <a:endParaRPr sz="2400">
              <a:latin typeface="Arial MT"/>
              <a:cs typeface="Arial MT"/>
            </a:endParaRPr>
          </a:p>
          <a:p>
            <a:pPr marL="332740" marR="762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Datanodes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spc="-20" dirty="0">
                <a:latin typeface="Arial MT"/>
                <a:cs typeface="Arial MT"/>
              </a:rPr>
              <a:t>read-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70" dirty="0">
                <a:latin typeface="Arial MT"/>
                <a:cs typeface="Arial MT"/>
              </a:rPr>
              <a:t>  </a:t>
            </a:r>
            <a:r>
              <a:rPr sz="2400" spc="-20" dirty="0">
                <a:latin typeface="Arial MT"/>
                <a:cs typeface="Arial MT"/>
              </a:rPr>
              <a:t>file </a:t>
            </a:r>
            <a:r>
              <a:rPr sz="2400" dirty="0">
                <a:latin typeface="Arial MT"/>
                <a:cs typeface="Arial MT"/>
              </a:rPr>
              <a:t>systems,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client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request.</a:t>
            </a:r>
            <a:endParaRPr sz="240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740" algn="l"/>
              </a:tabLst>
            </a:pP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300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310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300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305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300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310" dirty="0">
                <a:latin typeface="Arial MT"/>
                <a:cs typeface="Arial MT"/>
              </a:rPr>
              <a:t>   </a:t>
            </a:r>
            <a:r>
              <a:rPr sz="2400" spc="-10" dirty="0">
                <a:latin typeface="Arial MT"/>
                <a:cs typeface="Arial MT"/>
              </a:rPr>
              <a:t>block </a:t>
            </a:r>
            <a:r>
              <a:rPr sz="2400" dirty="0">
                <a:latin typeface="Arial MT"/>
                <a:cs typeface="Arial MT"/>
              </a:rPr>
              <a:t>creation,</a:t>
            </a:r>
            <a:r>
              <a:rPr sz="2400" spc="5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deletion,</a:t>
            </a:r>
            <a:r>
              <a:rPr sz="2400" spc="5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5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replication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according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namenode.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47162C21-3F75-DB50-12A1-DE86C89A248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537080"/>
            <a:ext cx="8461375" cy="403987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332105" algn="l"/>
              </a:tabLst>
            </a:pPr>
            <a:r>
              <a:rPr sz="2400" b="1" spc="-10" dirty="0">
                <a:latin typeface="Arial"/>
                <a:cs typeface="Arial"/>
              </a:rPr>
              <a:t>Block</a:t>
            </a:r>
            <a:endParaRPr sz="2400">
              <a:latin typeface="Arial"/>
              <a:cs typeface="Arial"/>
            </a:endParaRPr>
          </a:p>
          <a:p>
            <a:pPr marL="789940" marR="5080" lvl="1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789940" algn="l"/>
              </a:tabLst>
            </a:pPr>
            <a:r>
              <a:rPr sz="2400" dirty="0">
                <a:latin typeface="Arial MT"/>
                <a:cs typeface="Arial MT"/>
              </a:rPr>
              <a:t>Generally</a:t>
            </a:r>
            <a:r>
              <a:rPr sz="2400" spc="2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2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2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stored</a:t>
            </a:r>
            <a:r>
              <a:rPr sz="2400" spc="2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files</a:t>
            </a:r>
            <a:r>
              <a:rPr sz="2400" spc="27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HDFS.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system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divided</a:t>
            </a:r>
            <a:r>
              <a:rPr sz="2400" spc="80" dirty="0">
                <a:latin typeface="Arial MT"/>
                <a:cs typeface="Arial MT"/>
              </a:rPr>
              <a:t>  </a:t>
            </a:r>
            <a:r>
              <a:rPr sz="2400" spc="-20" dirty="0">
                <a:latin typeface="Arial MT"/>
                <a:cs typeface="Arial MT"/>
              </a:rPr>
              <a:t>into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2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229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229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segments</a:t>
            </a:r>
            <a:r>
              <a:rPr sz="2400" spc="2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and/or</a:t>
            </a:r>
            <a:r>
              <a:rPr sz="2400" spc="229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stored</a:t>
            </a:r>
            <a:r>
              <a:rPr sz="2400" spc="2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29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individual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3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nodes.</a:t>
            </a:r>
            <a:endParaRPr sz="2400">
              <a:latin typeface="Arial MT"/>
              <a:cs typeface="Arial MT"/>
            </a:endParaRPr>
          </a:p>
          <a:p>
            <a:pPr marL="789940" marR="6985" lvl="1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789940" algn="l"/>
              </a:tabLst>
            </a:pP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254" dirty="0">
                <a:latin typeface="Arial MT"/>
                <a:cs typeface="Arial MT"/>
              </a:rPr>
              <a:t>  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segments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3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blocks.</a:t>
            </a:r>
            <a:r>
              <a:rPr sz="2400" spc="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other </a:t>
            </a:r>
            <a:r>
              <a:rPr sz="2400" dirty="0">
                <a:latin typeface="Arial MT"/>
                <a:cs typeface="Arial MT"/>
              </a:rPr>
              <a:t>words,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minimum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amount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HDFS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read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Block.</a:t>
            </a:r>
            <a:endParaRPr sz="2400">
              <a:latin typeface="Arial MT"/>
              <a:cs typeface="Arial MT"/>
            </a:endParaRPr>
          </a:p>
          <a:p>
            <a:pPr marL="789305" lvl="1" indent="-319405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416"/>
              <a:buFont typeface="Wingdings"/>
              <a:buChar char=""/>
              <a:tabLst>
                <a:tab pos="78930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default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64MB,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1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increased</a:t>
            </a:r>
            <a:endParaRPr sz="2400">
              <a:latin typeface="Arial MT"/>
              <a:cs typeface="Arial MT"/>
            </a:endParaRPr>
          </a:p>
          <a:p>
            <a:pPr marL="789940" algn="just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5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change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HDFS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configuration.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60EFE09A-9FFA-6C30-0541-895214E93F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1451657"/>
            <a:ext cx="8477250" cy="407098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 algn="just">
              <a:lnSpc>
                <a:spcPct val="100000"/>
              </a:lnSpc>
              <a:spcBef>
                <a:spcPts val="80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</a:tabLst>
            </a:pPr>
            <a:r>
              <a:rPr sz="2200" b="1" dirty="0">
                <a:latin typeface="Arial"/>
                <a:cs typeface="Arial"/>
              </a:rPr>
              <a:t>Goals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of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HDFS</a:t>
            </a:r>
            <a:endParaRPr sz="2200">
              <a:latin typeface="Arial"/>
              <a:cs typeface="Arial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5" dirty="0">
                <a:latin typeface="Arial MT"/>
                <a:cs typeface="Arial MT"/>
              </a:rPr>
              <a:t>Fault</a:t>
            </a:r>
            <a:r>
              <a:rPr sz="2200" spc="6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detection</a:t>
            </a:r>
            <a:r>
              <a:rPr sz="2200" spc="69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and</a:t>
            </a:r>
            <a:r>
              <a:rPr sz="2200" spc="68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recovery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925" dirty="0">
                <a:latin typeface="Arial MT"/>
                <a:cs typeface="Arial MT"/>
              </a:rPr>
              <a:t>−</a:t>
            </a:r>
            <a:r>
              <a:rPr sz="2200" spc="6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Since</a:t>
            </a:r>
            <a:r>
              <a:rPr sz="2200" spc="69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HDFS</a:t>
            </a:r>
            <a:r>
              <a:rPr sz="2200" spc="68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includes</a:t>
            </a:r>
            <a:r>
              <a:rPr sz="2200" spc="69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</a:t>
            </a:r>
            <a:r>
              <a:rPr sz="2200" spc="68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large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number</a:t>
            </a:r>
            <a:r>
              <a:rPr sz="2200" spc="22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of</a:t>
            </a:r>
            <a:r>
              <a:rPr sz="2200" spc="226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commodity</a:t>
            </a:r>
            <a:r>
              <a:rPr sz="2200" spc="8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hardware,</a:t>
            </a:r>
            <a:r>
              <a:rPr sz="2200" spc="82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failure</a:t>
            </a:r>
            <a:r>
              <a:rPr sz="2200" spc="8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of</a:t>
            </a:r>
            <a:r>
              <a:rPr sz="2200" spc="8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components</a:t>
            </a:r>
            <a:r>
              <a:rPr sz="2200" spc="8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is </a:t>
            </a:r>
            <a:r>
              <a:rPr sz="2200" spc="-15" dirty="0">
                <a:latin typeface="Arial MT"/>
                <a:cs typeface="Arial MT"/>
              </a:rPr>
              <a:t>frequent.</a:t>
            </a:r>
            <a:r>
              <a:rPr sz="2200" spc="6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Therefore</a:t>
            </a:r>
            <a:r>
              <a:rPr sz="2200" spc="6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HDFS</a:t>
            </a:r>
            <a:r>
              <a:rPr sz="2200" spc="58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should</a:t>
            </a:r>
            <a:r>
              <a:rPr sz="2200" spc="60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have</a:t>
            </a:r>
            <a:r>
              <a:rPr sz="2200" spc="6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mechanisms</a:t>
            </a:r>
            <a:r>
              <a:rPr sz="2200" spc="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for</a:t>
            </a:r>
            <a:r>
              <a:rPr sz="2200" spc="6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quick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and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automatic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fault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detection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recovery.</a:t>
            </a:r>
            <a:endParaRPr sz="2200">
              <a:latin typeface="Arial MT"/>
              <a:cs typeface="Arial MT"/>
            </a:endParaRPr>
          </a:p>
          <a:p>
            <a:pPr marL="332105" indent="-319405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</a:tabLst>
            </a:pPr>
            <a:r>
              <a:rPr sz="2200" dirty="0">
                <a:latin typeface="Arial MT"/>
                <a:cs typeface="Arial MT"/>
              </a:rPr>
              <a:t>Huge</a:t>
            </a:r>
            <a:r>
              <a:rPr sz="2200" spc="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datasets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925" dirty="0">
                <a:latin typeface="Arial MT"/>
                <a:cs typeface="Arial MT"/>
              </a:rPr>
              <a:t>−</a:t>
            </a:r>
            <a:r>
              <a:rPr sz="2200" spc="7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HDFS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should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hundreds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nodes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spc="-25" dirty="0">
                <a:latin typeface="Arial MT"/>
                <a:cs typeface="Arial MT"/>
              </a:rPr>
              <a:t>per</a:t>
            </a:r>
            <a:endParaRPr sz="2200">
              <a:latin typeface="Arial MT"/>
              <a:cs typeface="Arial MT"/>
            </a:endParaRPr>
          </a:p>
          <a:p>
            <a:pPr marL="332740" algn="just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cluster</a:t>
            </a:r>
            <a:r>
              <a:rPr sz="2200" spc="5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</a:t>
            </a:r>
            <a:r>
              <a:rPr sz="2200" spc="5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applications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huge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datasets.</a:t>
            </a:r>
            <a:endParaRPr sz="22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5" dirty="0">
                <a:latin typeface="Arial MT"/>
                <a:cs typeface="Arial MT"/>
              </a:rPr>
              <a:t>Hardware</a:t>
            </a:r>
            <a:r>
              <a:rPr sz="2200" spc="5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at</a:t>
            </a:r>
            <a:r>
              <a:rPr sz="2200" spc="52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data</a:t>
            </a:r>
            <a:r>
              <a:rPr sz="2200" spc="535" dirty="0">
                <a:latin typeface="Arial MT"/>
                <a:cs typeface="Arial MT"/>
              </a:rPr>
              <a:t> </a:t>
            </a:r>
            <a:r>
              <a:rPr sz="2200" spc="-925" dirty="0">
                <a:latin typeface="Arial MT"/>
                <a:cs typeface="Arial MT"/>
              </a:rPr>
              <a:t>−</a:t>
            </a:r>
            <a:r>
              <a:rPr sz="2200" spc="5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0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requested</a:t>
            </a:r>
            <a:r>
              <a:rPr sz="2200" spc="5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task</a:t>
            </a:r>
            <a:r>
              <a:rPr sz="2200" spc="53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can</a:t>
            </a:r>
            <a:r>
              <a:rPr sz="2200" spc="53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be</a:t>
            </a:r>
            <a:r>
              <a:rPr sz="2200" spc="5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done</a:t>
            </a:r>
            <a:r>
              <a:rPr sz="2200" spc="5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efficiently,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when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the</a:t>
            </a:r>
            <a:r>
              <a:rPr sz="2200" spc="30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computation</a:t>
            </a:r>
            <a:r>
              <a:rPr sz="2200" spc="3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takes</a:t>
            </a:r>
            <a:r>
              <a:rPr sz="2200" spc="3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place</a:t>
            </a:r>
            <a:r>
              <a:rPr sz="2200" spc="12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near</a:t>
            </a:r>
            <a:r>
              <a:rPr sz="2200" spc="12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the</a:t>
            </a:r>
            <a:r>
              <a:rPr sz="2200" spc="12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data.</a:t>
            </a:r>
            <a:r>
              <a:rPr sz="2200" spc="12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Especially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where</a:t>
            </a:r>
            <a:r>
              <a:rPr sz="2200" spc="105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huge</a:t>
            </a:r>
            <a:r>
              <a:rPr sz="2200" spc="10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datasets</a:t>
            </a:r>
            <a:r>
              <a:rPr sz="2200" spc="105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are</a:t>
            </a:r>
            <a:r>
              <a:rPr sz="2200" spc="105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involved,</a:t>
            </a:r>
            <a:r>
              <a:rPr sz="2200" spc="10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it</a:t>
            </a:r>
            <a:r>
              <a:rPr sz="2200" spc="104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reduces</a:t>
            </a:r>
            <a:r>
              <a:rPr sz="2200" spc="106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the</a:t>
            </a:r>
            <a:r>
              <a:rPr sz="2200" spc="105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network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traffic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increases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the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throughput.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71798EA4-0F5E-9452-8F5B-A9ECDC8A54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1451657"/>
            <a:ext cx="8472805" cy="87566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</a:tabLst>
            </a:pPr>
            <a:r>
              <a:rPr sz="2200" b="1" dirty="0">
                <a:latin typeface="Arial"/>
                <a:cs typeface="Arial"/>
              </a:rPr>
              <a:t>Advantages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of</a:t>
            </a:r>
            <a:r>
              <a:rPr sz="2200" b="1" spc="-65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HDFS:</a:t>
            </a:r>
            <a:endParaRPr sz="22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  <a:tab pos="686435" algn="l"/>
                <a:tab pos="1087120" algn="l"/>
                <a:tab pos="2838450" algn="l"/>
                <a:tab pos="4325620" algn="l"/>
                <a:tab pos="4743450" algn="l"/>
                <a:tab pos="5812155" algn="l"/>
                <a:tab pos="6774180" algn="l"/>
                <a:tab pos="7517765" algn="l"/>
              </a:tabLst>
            </a:pPr>
            <a:r>
              <a:rPr sz="2200" spc="-25" dirty="0">
                <a:latin typeface="Arial MT"/>
                <a:cs typeface="Arial MT"/>
              </a:rPr>
              <a:t>It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inexpensive,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immutable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in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nature,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stores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data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reliably,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1558" y="2302510"/>
            <a:ext cx="20262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1225" algn="l"/>
              </a:tabLst>
            </a:pPr>
            <a:r>
              <a:rPr sz="2200" spc="-10" dirty="0">
                <a:latin typeface="Arial MT"/>
                <a:cs typeface="Arial MT"/>
              </a:rPr>
              <a:t>faults,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scalable,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8764" y="2302510"/>
            <a:ext cx="23190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7370" algn="l"/>
              </a:tabLst>
            </a:pPr>
            <a:r>
              <a:rPr sz="2200" spc="-2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tolerate</a:t>
            </a:r>
            <a:endParaRPr sz="2200">
              <a:latin typeface="Arial MT"/>
              <a:cs typeface="Arial MT"/>
            </a:endParaRPr>
          </a:p>
          <a:p>
            <a:pPr marL="180340">
              <a:lnSpc>
                <a:spcPct val="100000"/>
              </a:lnSpc>
              <a:tabLst>
                <a:tab pos="542925" algn="l"/>
                <a:tab pos="1372235" algn="l"/>
              </a:tabLst>
            </a:pPr>
            <a:r>
              <a:rPr sz="2200" spc="-50" dirty="0">
                <a:latin typeface="Arial MT"/>
                <a:cs typeface="Arial MT"/>
              </a:rPr>
              <a:t>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large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amount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0029" y="2637789"/>
            <a:ext cx="3068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2755" algn="l"/>
                <a:tab pos="1205865" algn="l"/>
              </a:tabLst>
            </a:pPr>
            <a:r>
              <a:rPr sz="2200" spc="-25" dirty="0">
                <a:latin typeface="Arial MT"/>
                <a:cs typeface="Arial MT"/>
              </a:rPr>
              <a:t>of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data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simultaneously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7623" y="2302510"/>
            <a:ext cx="30581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  <a:tabLst>
                <a:tab pos="955040" algn="l"/>
                <a:tab pos="2581275" algn="l"/>
              </a:tabLst>
            </a:pPr>
            <a:r>
              <a:rPr sz="2200" spc="-10" dirty="0">
                <a:latin typeface="Arial MT"/>
                <a:cs typeface="Arial MT"/>
              </a:rPr>
              <a:t>block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structured,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can</a:t>
            </a:r>
            <a:endParaRPr sz="220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tabLst>
                <a:tab pos="675005" algn="l"/>
              </a:tabLst>
            </a:pPr>
            <a:r>
              <a:rPr sz="2200" spc="-25" dirty="0">
                <a:latin typeface="Arial MT"/>
                <a:cs typeface="Arial MT"/>
              </a:rPr>
              <a:t>and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many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8929" y="2302510"/>
            <a:ext cx="100330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Arial MT"/>
                <a:cs typeface="Arial MT"/>
              </a:rPr>
              <a:t>ability process more.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889" y="3307017"/>
            <a:ext cx="4260215" cy="874394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</a:tabLst>
            </a:pPr>
            <a:r>
              <a:rPr sz="2200" b="1" spc="-10" dirty="0">
                <a:latin typeface="Arial"/>
                <a:cs typeface="Arial"/>
              </a:rPr>
              <a:t>Disadvantages </a:t>
            </a:r>
            <a:r>
              <a:rPr sz="2200" b="1" dirty="0">
                <a:latin typeface="Arial"/>
                <a:cs typeface="Arial"/>
              </a:rPr>
              <a:t>of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HDFS:</a:t>
            </a:r>
            <a:endParaRPr sz="22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  <a:tab pos="887094" algn="l"/>
                <a:tab pos="1477010" algn="l"/>
                <a:tab pos="2581910" algn="l"/>
              </a:tabLst>
            </a:pPr>
            <a:r>
              <a:rPr sz="2200" spc="-20" dirty="0">
                <a:latin typeface="Arial MT"/>
                <a:cs typeface="Arial MT"/>
              </a:rPr>
              <a:t>It’s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biggest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disadvantage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8929" y="4156075"/>
            <a:ext cx="394207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84630" algn="l"/>
                <a:tab pos="1991995" algn="l"/>
                <a:tab pos="2891790" algn="l"/>
                <a:tab pos="3787775" algn="l"/>
              </a:tabLst>
            </a:pPr>
            <a:r>
              <a:rPr sz="2200" spc="-10" dirty="0">
                <a:latin typeface="Arial MT"/>
                <a:cs typeface="Arial MT"/>
              </a:rPr>
              <a:t>quantities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of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data.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Also,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it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4390" y="3820795"/>
            <a:ext cx="40398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95"/>
              </a:spcBef>
              <a:tabLst>
                <a:tab pos="416559" algn="l"/>
                <a:tab pos="675640" algn="l"/>
                <a:tab pos="1085215" algn="l"/>
                <a:tab pos="1428115" algn="l"/>
                <a:tab pos="1606550" algn="l"/>
                <a:tab pos="1831975" algn="l"/>
                <a:tab pos="2423795" algn="l"/>
                <a:tab pos="2599055" algn="l"/>
                <a:tab pos="2844165" algn="l"/>
                <a:tab pos="2969260" algn="l"/>
                <a:tab pos="3373120" algn="l"/>
              </a:tabLst>
            </a:pPr>
            <a:r>
              <a:rPr sz="2200" spc="-2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that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it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is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not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fit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for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small </a:t>
            </a:r>
            <a:r>
              <a:rPr sz="2200" spc="-25" dirty="0">
                <a:latin typeface="Arial MT"/>
                <a:cs typeface="Arial MT"/>
              </a:rPr>
              <a:t>has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issues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related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to</a:t>
            </a:r>
            <a:r>
              <a:rPr sz="2200" dirty="0">
                <a:latin typeface="Arial MT"/>
                <a:cs typeface="Arial MT"/>
              </a:rPr>
              <a:t>		</a:t>
            </a:r>
            <a:r>
              <a:rPr sz="2200" spc="-10" dirty="0">
                <a:latin typeface="Arial MT"/>
                <a:cs typeface="Arial MT"/>
              </a:rPr>
              <a:t>potential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8929" y="4491354"/>
            <a:ext cx="815594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stability,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restrictive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1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rough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nature.</a:t>
            </a:r>
            <a:r>
              <a:rPr sz="2200" spc="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Hadoop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also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supports</a:t>
            </a:r>
            <a:r>
              <a:rPr sz="2200" spc="15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wide</a:t>
            </a:r>
            <a:r>
              <a:rPr sz="2200" spc="2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range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software</a:t>
            </a:r>
            <a:r>
              <a:rPr sz="2200" spc="3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packages</a:t>
            </a:r>
            <a:r>
              <a:rPr sz="2200" spc="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3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240" dirty="0">
                <a:latin typeface="Arial MT"/>
                <a:cs typeface="Arial MT"/>
              </a:rPr>
              <a:t>  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30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Flumes,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3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Oozie,</a:t>
            </a:r>
            <a:r>
              <a:rPr sz="2200" spc="3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3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HBase,</a:t>
            </a:r>
            <a:r>
              <a:rPr sz="2200" spc="3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3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Sqoop,</a:t>
            </a:r>
            <a:r>
              <a:rPr sz="2200" spc="3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3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Spark,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9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Storm,</a:t>
            </a:r>
            <a:r>
              <a:rPr sz="2200" spc="9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9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Pig,</a:t>
            </a:r>
            <a:r>
              <a:rPr sz="2200" spc="9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9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Hive,</a:t>
            </a:r>
            <a:r>
              <a:rPr sz="2200" spc="9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Apache</a:t>
            </a:r>
            <a:r>
              <a:rPr sz="2200" spc="95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Phoenix, </a:t>
            </a:r>
            <a:r>
              <a:rPr sz="2200" dirty="0">
                <a:latin typeface="Arial MT"/>
                <a:cs typeface="Arial MT"/>
              </a:rPr>
              <a:t>Cloudera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Impala.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6" name="object 6">
            <a:extLst>
              <a:ext uri="{FF2B5EF4-FFF2-40B4-BE49-F238E27FC236}">
                <a16:creationId xmlns:a16="http://schemas.microsoft.com/office/drawing/2014/main" id="{8AAFB661-6222-FFE0-E35D-735C54DE6A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1816049"/>
            <a:ext cx="8477885" cy="3804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b="1" dirty="0">
                <a:latin typeface="Arial"/>
                <a:cs typeface="Arial"/>
              </a:rPr>
              <a:t>The</a:t>
            </a:r>
            <a:r>
              <a:rPr sz="2200" b="1" spc="1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first</a:t>
            </a:r>
            <a:r>
              <a:rPr sz="2200" b="1" spc="1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way</a:t>
            </a:r>
            <a:r>
              <a:rPr sz="2200" b="1" spc="114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back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files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make</a:t>
            </a:r>
            <a:r>
              <a:rPr sz="2200" spc="1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persistent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2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filesystem</a:t>
            </a:r>
            <a:r>
              <a:rPr sz="2200" spc="2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metadata.</a:t>
            </a:r>
            <a:r>
              <a:rPr sz="2200" spc="2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Hadoop</a:t>
            </a:r>
            <a:r>
              <a:rPr sz="2200" spc="25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2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2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configured</a:t>
            </a:r>
            <a:r>
              <a:rPr sz="2200" spc="254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so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3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3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namenode</a:t>
            </a:r>
            <a:r>
              <a:rPr sz="2200" spc="3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writes</a:t>
            </a:r>
            <a:r>
              <a:rPr sz="2200" spc="3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3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persistent</a:t>
            </a:r>
            <a:r>
              <a:rPr sz="2200" spc="3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3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310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multiple </a:t>
            </a:r>
            <a:r>
              <a:rPr sz="2200" dirty="0">
                <a:latin typeface="Arial MT"/>
                <a:cs typeface="Arial MT"/>
              </a:rPr>
              <a:t>filesystems.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These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synchronous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atomic.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usual </a:t>
            </a:r>
            <a:r>
              <a:rPr sz="2200" dirty="0">
                <a:latin typeface="Arial MT"/>
                <a:cs typeface="Arial MT"/>
              </a:rPr>
              <a:t>configuration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choice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write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local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disk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well</a:t>
            </a:r>
            <a:r>
              <a:rPr sz="2200" spc="20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remote </a:t>
            </a:r>
            <a:r>
              <a:rPr sz="2200" dirty="0">
                <a:latin typeface="Arial MT"/>
                <a:cs typeface="Arial MT"/>
              </a:rPr>
              <a:t>NFS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mount.</a:t>
            </a:r>
            <a:endParaRPr sz="2200">
              <a:latin typeface="Arial MT"/>
              <a:cs typeface="Arial MT"/>
            </a:endParaRPr>
          </a:p>
          <a:p>
            <a:pPr marL="332740" marR="6985" indent="-320040" algn="just">
              <a:lnSpc>
                <a:spcPct val="100000"/>
              </a:lnSpc>
              <a:spcBef>
                <a:spcPts val="71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b="1" dirty="0">
                <a:latin typeface="Arial"/>
                <a:cs typeface="Arial"/>
              </a:rPr>
              <a:t>Second</a:t>
            </a:r>
            <a:r>
              <a:rPr sz="2200" b="1" spc="28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Way: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2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2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also</a:t>
            </a:r>
            <a:r>
              <a:rPr sz="2200" spc="2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possible</a:t>
            </a:r>
            <a:r>
              <a:rPr sz="2200" spc="2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2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run</a:t>
            </a:r>
            <a:r>
              <a:rPr sz="2200" spc="2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2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secondary</a:t>
            </a:r>
            <a:r>
              <a:rPr sz="2200" spc="2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namenode, </a:t>
            </a:r>
            <a:r>
              <a:rPr sz="2200" dirty="0">
                <a:latin typeface="Arial MT"/>
                <a:cs typeface="Arial MT"/>
              </a:rPr>
              <a:t>which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despite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does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namenode.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role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periodically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merge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namespace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image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edit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log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prevent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 edit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becoming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large.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But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shaped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primary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namenode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63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464646"/>
                  </a:solidFill>
                </a:uFill>
              </a:rPr>
              <a:t>What</a:t>
            </a:r>
            <a:r>
              <a:rPr sz="2400" u="sng" spc="-5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precautions</a:t>
            </a:r>
            <a:r>
              <a:rPr sz="2400" u="sng" spc="-3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HDFS</a:t>
            </a:r>
            <a:r>
              <a:rPr sz="2400" u="sng" spc="-4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is</a:t>
            </a:r>
            <a:r>
              <a:rPr sz="2400" u="sng" spc="-5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taking</a:t>
            </a:r>
            <a:r>
              <a:rPr sz="2400" u="sng" spc="-6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to</a:t>
            </a:r>
            <a:r>
              <a:rPr sz="2400" u="sng" spc="-6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recover</a:t>
            </a:r>
            <a:r>
              <a:rPr sz="2400" u="sng" spc="-5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file</a:t>
            </a:r>
            <a:r>
              <a:rPr sz="2400" u="sng" spc="-6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system</a:t>
            </a:r>
            <a:r>
              <a:rPr sz="2400" u="sng" spc="-5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spc="-25" dirty="0">
                <a:uFill>
                  <a:solidFill>
                    <a:srgbClr val="464646"/>
                  </a:solidFill>
                </a:uFill>
              </a:rPr>
              <a:t>in</a:t>
            </a:r>
            <a:endParaRPr sz="24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u="sng" dirty="0">
                <a:uFill>
                  <a:solidFill>
                    <a:srgbClr val="464646"/>
                  </a:solidFill>
                </a:uFill>
              </a:rPr>
              <a:t>case</a:t>
            </a:r>
            <a:r>
              <a:rPr sz="2400" u="sng" spc="-80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of</a:t>
            </a:r>
            <a:r>
              <a:rPr sz="2400" u="sng" spc="-7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dirty="0">
                <a:uFill>
                  <a:solidFill>
                    <a:srgbClr val="464646"/>
                  </a:solidFill>
                </a:uFill>
              </a:rPr>
              <a:t>namenode</a:t>
            </a:r>
            <a:r>
              <a:rPr sz="2400" u="sng" spc="-65" dirty="0">
                <a:uFill>
                  <a:solidFill>
                    <a:srgbClr val="464646"/>
                  </a:solidFill>
                </a:uFill>
              </a:rPr>
              <a:t> </a:t>
            </a:r>
            <a:r>
              <a:rPr sz="2400" u="sng" spc="-10" dirty="0">
                <a:uFill>
                  <a:solidFill>
                    <a:srgbClr val="464646"/>
                  </a:solidFill>
                </a:uFill>
              </a:rPr>
              <a:t>failure: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93F5B10C-24D4-5172-9E93-D8D21B852C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2241930"/>
            <a:ext cx="66890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  <a:tab pos="6226810" algn="l"/>
              </a:tabLst>
            </a:pPr>
            <a:r>
              <a:rPr sz="2200" dirty="0">
                <a:latin typeface="Arial MT"/>
                <a:cs typeface="Arial MT"/>
              </a:rPr>
              <a:t>Hadoop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primitives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data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I/O.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8889" y="2665602"/>
            <a:ext cx="152590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  <a:tab pos="1278890" algn="l"/>
              </a:tabLst>
            </a:pPr>
            <a:r>
              <a:rPr sz="2200" spc="-20" dirty="0">
                <a:latin typeface="Arial MT"/>
                <a:cs typeface="Arial MT"/>
              </a:rPr>
              <a:t>Some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spc="-10" dirty="0">
                <a:latin typeface="Arial MT"/>
                <a:cs typeface="Arial MT"/>
              </a:rPr>
              <a:t>Hadoop, deserve datasets.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9557" y="2665602"/>
            <a:ext cx="689419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5255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these</a:t>
            </a:r>
            <a:r>
              <a:rPr sz="2200" spc="2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2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techniques</a:t>
            </a:r>
            <a:r>
              <a:rPr sz="2200" spc="2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21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2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2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general</a:t>
            </a:r>
            <a:r>
              <a:rPr sz="2200" spc="220" dirty="0">
                <a:latin typeface="Arial MT"/>
                <a:cs typeface="Arial MT"/>
              </a:rPr>
              <a:t>  </a:t>
            </a:r>
            <a:r>
              <a:rPr sz="2200" spc="-20" dirty="0">
                <a:latin typeface="Arial MT"/>
                <a:cs typeface="Arial MT"/>
              </a:rPr>
              <a:t>than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37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380" dirty="0">
                <a:latin typeface="Arial MT"/>
                <a:cs typeface="Arial MT"/>
              </a:rPr>
              <a:t>  </a:t>
            </a:r>
            <a:r>
              <a:rPr sz="2200" b="1" dirty="0">
                <a:latin typeface="Arial"/>
                <a:cs typeface="Arial"/>
              </a:rPr>
              <a:t>data</a:t>
            </a:r>
            <a:r>
              <a:rPr sz="2200" b="1" spc="375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integrity</a:t>
            </a:r>
            <a:r>
              <a:rPr sz="2200" b="1" spc="370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and</a:t>
            </a:r>
            <a:r>
              <a:rPr sz="2200" b="1" spc="380" dirty="0">
                <a:latin typeface="Arial"/>
                <a:cs typeface="Arial"/>
              </a:rPr>
              <a:t>  </a:t>
            </a:r>
            <a:r>
              <a:rPr sz="2200" b="1" dirty="0">
                <a:latin typeface="Arial"/>
                <a:cs typeface="Arial"/>
              </a:rPr>
              <a:t>compression</a:t>
            </a:r>
            <a:r>
              <a:rPr sz="2200" dirty="0">
                <a:latin typeface="Arial MT"/>
                <a:cs typeface="Arial MT"/>
              </a:rPr>
              <a:t>,</a:t>
            </a:r>
            <a:r>
              <a:rPr sz="2200" spc="375" dirty="0">
                <a:latin typeface="Arial MT"/>
                <a:cs typeface="Arial MT"/>
              </a:rPr>
              <a:t>  </a:t>
            </a:r>
            <a:r>
              <a:rPr sz="2200" spc="-25" dirty="0">
                <a:latin typeface="Arial MT"/>
                <a:cs typeface="Arial MT"/>
              </a:rPr>
              <a:t>but </a:t>
            </a:r>
            <a:r>
              <a:rPr sz="2200" dirty="0">
                <a:latin typeface="Arial MT"/>
                <a:cs typeface="Arial MT"/>
              </a:rPr>
              <a:t>special</a:t>
            </a:r>
            <a:r>
              <a:rPr sz="2200" spc="3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consideration</a:t>
            </a:r>
            <a:r>
              <a:rPr sz="2200" spc="3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3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dealing</a:t>
            </a:r>
            <a:r>
              <a:rPr sz="2200" spc="3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3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multiterabyte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889" y="4095369"/>
            <a:ext cx="847534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Arial MT"/>
                <a:cs typeface="Arial MT"/>
              </a:rPr>
              <a:t>Others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Hadoop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tools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APIs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form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building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blocks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for </a:t>
            </a:r>
            <a:r>
              <a:rPr sz="2200" dirty="0">
                <a:latin typeface="Arial MT"/>
                <a:cs typeface="Arial MT"/>
              </a:rPr>
              <a:t>developing</a:t>
            </a:r>
            <a:r>
              <a:rPr sz="2200" spc="350" dirty="0">
                <a:latin typeface="Arial MT"/>
                <a:cs typeface="Arial MT"/>
              </a:rPr>
              <a:t>   </a:t>
            </a:r>
            <a:r>
              <a:rPr sz="2200" dirty="0">
                <a:latin typeface="Arial MT"/>
                <a:cs typeface="Arial MT"/>
              </a:rPr>
              <a:t>distributed</a:t>
            </a:r>
            <a:r>
              <a:rPr sz="2200" spc="355" dirty="0">
                <a:latin typeface="Arial MT"/>
                <a:cs typeface="Arial MT"/>
              </a:rPr>
              <a:t>   </a:t>
            </a:r>
            <a:r>
              <a:rPr sz="2200" dirty="0">
                <a:latin typeface="Arial MT"/>
                <a:cs typeface="Arial MT"/>
              </a:rPr>
              <a:t>systems,</a:t>
            </a:r>
            <a:r>
              <a:rPr sz="2200" spc="350" dirty="0">
                <a:latin typeface="Arial MT"/>
                <a:cs typeface="Arial MT"/>
              </a:rPr>
              <a:t>   </a:t>
            </a:r>
            <a:r>
              <a:rPr sz="2200" dirty="0">
                <a:latin typeface="Arial MT"/>
                <a:cs typeface="Arial MT"/>
              </a:rPr>
              <a:t>such</a:t>
            </a:r>
            <a:r>
              <a:rPr sz="2200" spc="350" dirty="0">
                <a:latin typeface="Arial MT"/>
                <a:cs typeface="Arial MT"/>
              </a:rPr>
              <a:t>  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355" dirty="0">
                <a:latin typeface="Arial MT"/>
                <a:cs typeface="Arial MT"/>
              </a:rPr>
              <a:t>   </a:t>
            </a:r>
            <a:r>
              <a:rPr sz="2200" b="1" spc="-10" dirty="0">
                <a:latin typeface="Arial"/>
                <a:cs typeface="Arial"/>
              </a:rPr>
              <a:t>serialization </a:t>
            </a:r>
            <a:r>
              <a:rPr sz="2200" b="1" dirty="0">
                <a:latin typeface="Arial"/>
                <a:cs typeface="Arial"/>
              </a:rPr>
              <a:t>frameworks</a:t>
            </a:r>
            <a:r>
              <a:rPr sz="2200" b="1" spc="-75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on-</a:t>
            </a:r>
            <a:r>
              <a:rPr sz="2200" b="1" dirty="0">
                <a:latin typeface="Arial"/>
                <a:cs typeface="Arial"/>
              </a:rPr>
              <a:t>disk</a:t>
            </a:r>
            <a:r>
              <a:rPr sz="2200" b="1" spc="-4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data</a:t>
            </a:r>
            <a:r>
              <a:rPr sz="2200" b="1" spc="-5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structures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Hadoop</a:t>
            </a:r>
            <a:r>
              <a:rPr sz="24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00000"/>
                </a:solidFill>
                <a:latin typeface="Arial"/>
                <a:cs typeface="Arial"/>
              </a:rPr>
              <a:t>I/O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6">
            <a:extLst>
              <a:ext uri="{FF2B5EF4-FFF2-40B4-BE49-F238E27FC236}">
                <a16:creationId xmlns:a16="http://schemas.microsoft.com/office/drawing/2014/main" id="{8D304C4B-66EB-45F0-D845-AFD2170CFF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1541779"/>
            <a:ext cx="8477250" cy="4563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indent="-319405" algn="just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</a:tabLst>
            </a:pPr>
            <a:r>
              <a:rPr sz="2200" dirty="0">
                <a:latin typeface="Arial MT"/>
                <a:cs typeface="Arial MT"/>
              </a:rPr>
              <a:t>Users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Hadoop</a:t>
            </a:r>
            <a:r>
              <a:rPr sz="2200" spc="5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rightly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expect</a:t>
            </a:r>
            <a:r>
              <a:rPr sz="2200" spc="5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no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6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will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lost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spc="-25" dirty="0">
                <a:latin typeface="Arial MT"/>
                <a:cs typeface="Arial MT"/>
              </a:rPr>
              <a:t>or</a:t>
            </a:r>
            <a:endParaRPr sz="2200">
              <a:latin typeface="Arial MT"/>
              <a:cs typeface="Arial MT"/>
            </a:endParaRPr>
          </a:p>
          <a:p>
            <a:pPr marL="332740" algn="just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corrupted</a:t>
            </a:r>
            <a:r>
              <a:rPr sz="2200" spc="5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during</a:t>
            </a:r>
            <a:r>
              <a:rPr sz="2200" spc="5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storage</a:t>
            </a:r>
            <a:r>
              <a:rPr sz="2200" spc="5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processing.</a:t>
            </a:r>
            <a:endParaRPr sz="220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spc="-10" dirty="0">
                <a:latin typeface="Arial MT"/>
                <a:cs typeface="Arial MT"/>
              </a:rPr>
              <a:t>However,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every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I/O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operation on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disk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carries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small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chance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introducing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errors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is </a:t>
            </a:r>
            <a:r>
              <a:rPr sz="2200" dirty="0">
                <a:latin typeface="Arial MT"/>
                <a:cs typeface="Arial MT"/>
              </a:rPr>
              <a:t>reading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writing,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volumes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flowing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through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system</a:t>
            </a:r>
            <a:r>
              <a:rPr sz="2200" spc="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large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ones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Hadoop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capable</a:t>
            </a:r>
            <a:r>
              <a:rPr sz="2200" spc="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handling,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corruption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occurring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high.</a:t>
            </a:r>
            <a:endParaRPr sz="22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4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usual</a:t>
            </a:r>
            <a:r>
              <a:rPr sz="2200" spc="4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way</a:t>
            </a:r>
            <a:r>
              <a:rPr sz="2200" spc="4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4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detecting</a:t>
            </a:r>
            <a:r>
              <a:rPr sz="2200" spc="48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corrupted</a:t>
            </a:r>
            <a:r>
              <a:rPr sz="2200" spc="48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4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4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4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computing</a:t>
            </a:r>
            <a:r>
              <a:rPr sz="2200" spc="48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checksum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first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enters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system,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again </a:t>
            </a:r>
            <a:r>
              <a:rPr sz="2200" dirty="0">
                <a:latin typeface="Arial MT"/>
                <a:cs typeface="Arial MT"/>
              </a:rPr>
              <a:t>whenever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transmitted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across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channel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unreliable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hence</a:t>
            </a:r>
            <a:r>
              <a:rPr sz="2200" spc="8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capable</a:t>
            </a:r>
            <a:r>
              <a:rPr sz="2200" spc="8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9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corrupting</a:t>
            </a:r>
            <a:r>
              <a:rPr sz="2200" spc="8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0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data.</a:t>
            </a:r>
            <a:r>
              <a:rPr sz="2200" spc="9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9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8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90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deemed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corrupt</a:t>
            </a:r>
            <a:r>
              <a:rPr sz="2200" spc="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if</a:t>
            </a:r>
            <a:r>
              <a:rPr sz="2200" spc="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newly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generated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checksum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doesn’t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exactly </a:t>
            </a:r>
            <a:r>
              <a:rPr sz="2200" dirty="0">
                <a:latin typeface="Arial MT"/>
                <a:cs typeface="Arial MT"/>
              </a:rPr>
              <a:t>match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original.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sz="24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00"/>
                </a:solidFill>
                <a:latin typeface="Arial"/>
                <a:cs typeface="Arial"/>
              </a:rPr>
              <a:t>Integrity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B28BF19D-5F84-D54F-9C70-6B0612F5237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1541779"/>
            <a:ext cx="8477885" cy="4316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6985" indent="-320040" algn="just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technique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doesn’t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offer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way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fix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data—</a:t>
            </a:r>
            <a:r>
              <a:rPr sz="2200" dirty="0">
                <a:latin typeface="Arial MT"/>
                <a:cs typeface="Arial MT"/>
              </a:rPr>
              <a:t>merely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error </a:t>
            </a:r>
            <a:r>
              <a:rPr sz="2200" dirty="0">
                <a:latin typeface="Arial MT"/>
                <a:cs typeface="Arial MT"/>
              </a:rPr>
              <a:t>detection.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(And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reason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using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low-</a:t>
            </a:r>
            <a:r>
              <a:rPr sz="2200" dirty="0">
                <a:latin typeface="Arial MT"/>
                <a:cs typeface="Arial MT"/>
              </a:rPr>
              <a:t>end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hardware;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particular,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ECC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memory.)</a:t>
            </a:r>
            <a:endParaRPr sz="2200">
              <a:latin typeface="Arial MT"/>
              <a:cs typeface="Arial MT"/>
            </a:endParaRPr>
          </a:p>
          <a:p>
            <a:pPr marL="332740" marR="6350" indent="-320040" algn="just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Arial MT"/>
                <a:cs typeface="Arial MT"/>
              </a:rPr>
              <a:t>Note</a:t>
            </a:r>
            <a:r>
              <a:rPr sz="2200" spc="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possible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it’s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checksum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corrupt,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not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3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data,</a:t>
            </a:r>
            <a:r>
              <a:rPr sz="2200" spc="3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but</a:t>
            </a:r>
            <a:r>
              <a:rPr sz="2200" spc="3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3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3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unlikely,</a:t>
            </a:r>
            <a:r>
              <a:rPr sz="2200" spc="3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3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3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checksum</a:t>
            </a:r>
            <a:r>
              <a:rPr sz="2200" spc="3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much </a:t>
            </a:r>
            <a:r>
              <a:rPr sz="2200" dirty="0">
                <a:latin typeface="Arial MT"/>
                <a:cs typeface="Arial MT"/>
              </a:rPr>
              <a:t>smaller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data.</a:t>
            </a:r>
            <a:endParaRPr sz="2200">
              <a:latin typeface="Arial MT"/>
              <a:cs typeface="Arial MT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Arial MT"/>
                <a:cs typeface="Arial MT"/>
              </a:rPr>
              <a:t>HDFS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transparently</a:t>
            </a:r>
            <a:r>
              <a:rPr sz="2200" spc="6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checksums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data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written</a:t>
            </a:r>
            <a:r>
              <a:rPr sz="2200" spc="5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spc="-25" dirty="0">
                <a:latin typeface="Arial MT"/>
                <a:cs typeface="Arial MT"/>
              </a:rPr>
              <a:t>by </a:t>
            </a:r>
            <a:r>
              <a:rPr sz="2200" dirty="0">
                <a:latin typeface="Arial MT"/>
                <a:cs typeface="Arial MT"/>
              </a:rPr>
              <a:t>default</a:t>
            </a:r>
            <a:r>
              <a:rPr sz="2200" spc="2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verifies</a:t>
            </a:r>
            <a:r>
              <a:rPr sz="2200" spc="2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checksums</a:t>
            </a:r>
            <a:r>
              <a:rPr sz="2200" spc="2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2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reading</a:t>
            </a:r>
            <a:r>
              <a:rPr sz="2200" spc="2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data.</a:t>
            </a:r>
            <a:r>
              <a:rPr sz="2200" spc="2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155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separate </a:t>
            </a:r>
            <a:r>
              <a:rPr sz="2200" dirty="0">
                <a:latin typeface="Arial MT"/>
                <a:cs typeface="Arial MT"/>
              </a:rPr>
              <a:t>checksum</a:t>
            </a:r>
            <a:r>
              <a:rPr sz="2200" spc="4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4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created</a:t>
            </a:r>
            <a:r>
              <a:rPr sz="2200" spc="4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4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every</a:t>
            </a:r>
            <a:r>
              <a:rPr sz="2200" spc="4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io.bytes.per.checksum</a:t>
            </a:r>
            <a:r>
              <a:rPr sz="2200" spc="4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bytes</a:t>
            </a:r>
            <a:r>
              <a:rPr sz="2200" spc="49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of </a:t>
            </a:r>
            <a:r>
              <a:rPr sz="2200" spc="-10" dirty="0">
                <a:latin typeface="Arial MT"/>
                <a:cs typeface="Arial MT"/>
              </a:rPr>
              <a:t>data.</a:t>
            </a:r>
            <a:endParaRPr sz="2200">
              <a:latin typeface="Arial MT"/>
              <a:cs typeface="Arial MT"/>
            </a:endParaRPr>
          </a:p>
          <a:p>
            <a:pPr marL="332105" indent="-319405" algn="just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10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default</a:t>
            </a:r>
            <a:r>
              <a:rPr sz="2200" spc="43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512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bytes,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since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spc="-15" dirty="0">
                <a:latin typeface="Arial MT"/>
                <a:cs typeface="Arial MT"/>
              </a:rPr>
              <a:t>CRC-</a:t>
            </a:r>
            <a:r>
              <a:rPr sz="2200" dirty="0">
                <a:latin typeface="Arial MT"/>
                <a:cs typeface="Arial MT"/>
              </a:rPr>
              <a:t>32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checksum</a:t>
            </a:r>
            <a:r>
              <a:rPr sz="2200" spc="4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4</a:t>
            </a:r>
            <a:endParaRPr sz="2200">
              <a:latin typeface="Arial MT"/>
              <a:cs typeface="Arial MT"/>
            </a:endParaRPr>
          </a:p>
          <a:p>
            <a:pPr marL="332740" algn="just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bytes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long,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storage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overhead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less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1%.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sz="2400" b="1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Integrity</a:t>
            </a:r>
            <a:r>
              <a:rPr sz="2400" b="1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1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Arial"/>
                <a:cs typeface="Arial"/>
              </a:rPr>
              <a:t>HDFS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F0A89A3B-6339-DEDF-A21C-3D617BE15A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8889" y="1541779"/>
            <a:ext cx="886523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9405" marR="5080" indent="-319405" algn="r">
              <a:lnSpc>
                <a:spcPct val="100000"/>
              </a:lnSpc>
              <a:spcBef>
                <a:spcPts val="95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19405" algn="l"/>
                <a:tab pos="1805939" algn="l"/>
                <a:tab pos="2400300" algn="l"/>
                <a:tab pos="4000500" algn="l"/>
                <a:tab pos="4549140" algn="l"/>
                <a:tab pos="5826760" algn="l"/>
                <a:tab pos="6430010" algn="l"/>
                <a:tab pos="7177405" algn="l"/>
                <a:tab pos="7919720" algn="l"/>
              </a:tabLst>
            </a:pPr>
            <a:r>
              <a:rPr sz="2200" spc="-10" dirty="0">
                <a:latin typeface="Trebuchet MS"/>
                <a:cs typeface="Trebuchet MS"/>
              </a:rPr>
              <a:t>Datanodes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are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responsible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for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verifying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the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0" dirty="0">
                <a:latin typeface="Trebuchet MS"/>
                <a:cs typeface="Trebuchet MS"/>
              </a:rPr>
              <a:t>data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0" dirty="0">
                <a:latin typeface="Trebuchet MS"/>
                <a:cs typeface="Trebuchet MS"/>
              </a:rPr>
              <a:t>they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receive</a:t>
            </a:r>
            <a:endParaRPr sz="22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tabLst>
                <a:tab pos="4023360" algn="l"/>
              </a:tabLst>
            </a:pPr>
            <a:r>
              <a:rPr sz="2200" dirty="0">
                <a:latin typeface="Trebuchet MS"/>
                <a:cs typeface="Trebuchet MS"/>
              </a:rPr>
              <a:t>before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storing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-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and </a:t>
            </a:r>
            <a:r>
              <a:rPr sz="2200" spc="-25" dirty="0">
                <a:latin typeface="Trebuchet MS"/>
                <a:cs typeface="Trebuchet MS"/>
              </a:rPr>
              <a:t>its</a:t>
            </a:r>
            <a:r>
              <a:rPr sz="2200" dirty="0">
                <a:latin typeface="Trebuchet MS"/>
                <a:cs typeface="Trebuchet MS"/>
              </a:rPr>
              <a:t>	checksum.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This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applies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that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929" y="2212593"/>
            <a:ext cx="360934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795655" algn="l"/>
                <a:tab pos="1742439" algn="l"/>
                <a:tab pos="1945005" algn="l"/>
                <a:tab pos="2196465" algn="l"/>
                <a:tab pos="2660015" algn="l"/>
                <a:tab pos="2768600" algn="l"/>
              </a:tabLst>
            </a:pPr>
            <a:r>
              <a:rPr sz="2200" spc="-20" dirty="0">
                <a:latin typeface="Trebuchet MS"/>
                <a:cs typeface="Trebuchet MS"/>
              </a:rPr>
              <a:t>they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receive</a:t>
            </a:r>
            <a:r>
              <a:rPr sz="2200" dirty="0">
                <a:latin typeface="Trebuchet MS"/>
                <a:cs typeface="Trebuchet MS"/>
              </a:rPr>
              <a:t>		</a:t>
            </a:r>
            <a:r>
              <a:rPr sz="2200" spc="-20" dirty="0">
                <a:latin typeface="Trebuchet MS"/>
                <a:cs typeface="Trebuchet MS"/>
              </a:rPr>
              <a:t>from</a:t>
            </a:r>
            <a:r>
              <a:rPr sz="2200" dirty="0">
                <a:latin typeface="Trebuchet MS"/>
                <a:cs typeface="Trebuchet MS"/>
              </a:rPr>
              <a:t>		</a:t>
            </a:r>
            <a:r>
              <a:rPr sz="2200" spc="-10" dirty="0">
                <a:latin typeface="Trebuchet MS"/>
                <a:cs typeface="Trebuchet MS"/>
              </a:rPr>
              <a:t>clients replication.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5" dirty="0">
                <a:latin typeface="Trebuchet MS"/>
                <a:cs typeface="Trebuchet MS"/>
              </a:rPr>
              <a:t>If</a:t>
            </a:r>
            <a:r>
              <a:rPr sz="2200" dirty="0">
                <a:latin typeface="Trebuchet MS"/>
                <a:cs typeface="Trebuchet MS"/>
              </a:rPr>
              <a:t>		</a:t>
            </a:r>
            <a:r>
              <a:rPr sz="2200" spc="-25" dirty="0">
                <a:latin typeface="Trebuchet MS"/>
                <a:cs typeface="Trebuchet MS"/>
              </a:rPr>
              <a:t>it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detects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2638" y="2212593"/>
            <a:ext cx="473265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244" marR="5080" indent="-43180">
              <a:lnSpc>
                <a:spcPct val="100000"/>
              </a:lnSpc>
              <a:spcBef>
                <a:spcPts val="95"/>
              </a:spcBef>
              <a:tabLst>
                <a:tab pos="626745" algn="l"/>
                <a:tab pos="696595" algn="l"/>
                <a:tab pos="1518285" algn="l"/>
                <a:tab pos="1588135" algn="l"/>
                <a:tab pos="2277110" algn="l"/>
                <a:tab pos="2420620" algn="l"/>
                <a:tab pos="3266440" algn="l"/>
                <a:tab pos="3931285" algn="l"/>
                <a:tab pos="4572635" algn="l"/>
              </a:tabLst>
            </a:pPr>
            <a:r>
              <a:rPr sz="2200" spc="-25" dirty="0">
                <a:latin typeface="Trebuchet MS"/>
                <a:cs typeface="Trebuchet MS"/>
              </a:rPr>
              <a:t>and</a:t>
            </a:r>
            <a:r>
              <a:rPr sz="2200" dirty="0">
                <a:latin typeface="Trebuchet MS"/>
                <a:cs typeface="Trebuchet MS"/>
              </a:rPr>
              <a:t>		</a:t>
            </a:r>
            <a:r>
              <a:rPr sz="2200" spc="-20" dirty="0">
                <a:latin typeface="Trebuchet MS"/>
                <a:cs typeface="Trebuchet MS"/>
              </a:rPr>
              <a:t>from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20" dirty="0">
                <a:latin typeface="Trebuchet MS"/>
                <a:cs typeface="Trebuchet MS"/>
              </a:rPr>
              <a:t>other</a:t>
            </a:r>
            <a:r>
              <a:rPr sz="2200" dirty="0">
                <a:latin typeface="Trebuchet MS"/>
                <a:cs typeface="Trebuchet MS"/>
              </a:rPr>
              <a:t>		</a:t>
            </a:r>
            <a:r>
              <a:rPr sz="2200" spc="-10" dirty="0">
                <a:latin typeface="Trebuchet MS"/>
                <a:cs typeface="Trebuchet MS"/>
              </a:rPr>
              <a:t>datanodes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during </a:t>
            </a:r>
            <a:r>
              <a:rPr sz="2200" spc="-25" dirty="0">
                <a:latin typeface="Trebuchet MS"/>
                <a:cs typeface="Trebuchet MS"/>
              </a:rPr>
              <a:t>an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error,</a:t>
            </a:r>
            <a:r>
              <a:rPr sz="2200" dirty="0">
                <a:latin typeface="Trebuchet MS"/>
                <a:cs typeface="Trebuchet MS"/>
              </a:rPr>
              <a:t>		</a:t>
            </a:r>
            <a:r>
              <a:rPr sz="2200" spc="-25" dirty="0">
                <a:latin typeface="Trebuchet MS"/>
                <a:cs typeface="Trebuchet MS"/>
              </a:rPr>
              <a:t>the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client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10" dirty="0">
                <a:latin typeface="Trebuchet MS"/>
                <a:cs typeface="Trebuchet MS"/>
              </a:rPr>
              <a:t>receives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50" dirty="0">
                <a:latin typeface="Trebuchet MS"/>
                <a:cs typeface="Trebuchet MS"/>
              </a:rPr>
              <a:t>a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29" y="4694554"/>
            <a:ext cx="280416" cy="4282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6332" y="5510174"/>
            <a:ext cx="280415" cy="4282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8889" y="2858160"/>
            <a:ext cx="8867140" cy="300101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32740" algn="just">
              <a:lnSpc>
                <a:spcPct val="100000"/>
              </a:lnSpc>
              <a:spcBef>
                <a:spcPts val="290"/>
              </a:spcBef>
            </a:pP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ChecksumException</a:t>
            </a:r>
            <a:r>
              <a:rPr sz="2200" spc="-10" dirty="0">
                <a:latin typeface="Trebuchet MS"/>
                <a:cs typeface="Trebuchet MS"/>
              </a:rPr>
              <a:t>,</a:t>
            </a:r>
            <a:r>
              <a:rPr sz="2200" dirty="0">
                <a:latin typeface="Trebuchet MS"/>
                <a:cs typeface="Trebuchet MS"/>
              </a:rPr>
              <a:t> a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subclass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of</a:t>
            </a:r>
            <a:r>
              <a:rPr sz="2200" spc="-5" dirty="0">
                <a:latin typeface="Trebuchet MS"/>
                <a:cs typeface="Trebuchet MS"/>
              </a:rPr>
              <a:t> 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IOException</a:t>
            </a:r>
            <a:r>
              <a:rPr sz="2200" spc="-10" dirty="0">
                <a:latin typeface="Trebuchet MS"/>
                <a:cs typeface="Trebuchet MS"/>
              </a:rPr>
              <a:t>.</a:t>
            </a:r>
            <a:endParaRPr sz="2200" dirty="0">
              <a:latin typeface="Trebuchet MS"/>
              <a:cs typeface="Trebuchet MS"/>
            </a:endParaRPr>
          </a:p>
          <a:p>
            <a:pPr marL="332740" marR="6350" indent="-320040" algn="just">
              <a:lnSpc>
                <a:spcPct val="81100"/>
              </a:lnSpc>
              <a:spcBef>
                <a:spcPts val="690"/>
              </a:spcBef>
              <a:buClr>
                <a:srgbClr val="DA1F28"/>
              </a:buClr>
              <a:buSzPct val="59090"/>
              <a:buFont typeface="Wingdings"/>
              <a:buChar char=""/>
              <a:tabLst>
                <a:tab pos="332740" algn="l"/>
              </a:tabLst>
            </a:pPr>
            <a:r>
              <a:rPr sz="2200" dirty="0">
                <a:latin typeface="Trebuchet MS"/>
                <a:cs typeface="Trebuchet MS"/>
              </a:rPr>
              <a:t>When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clients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read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from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datanodes,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they</a:t>
            </a:r>
            <a:r>
              <a:rPr sz="2200" spc="20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verify</a:t>
            </a:r>
            <a:r>
              <a:rPr sz="2200" spc="1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checksums</a:t>
            </a:r>
            <a:r>
              <a:rPr sz="2200" spc="185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as </a:t>
            </a:r>
            <a:r>
              <a:rPr sz="2200" dirty="0">
                <a:latin typeface="Trebuchet MS"/>
                <a:cs typeface="Trebuchet MS"/>
              </a:rPr>
              <a:t>well,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comparing them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with</a:t>
            </a:r>
            <a:r>
              <a:rPr sz="2200" spc="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ones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stored at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datanode. </a:t>
            </a:r>
            <a:r>
              <a:rPr sz="2200" spc="-20" dirty="0">
                <a:solidFill>
                  <a:srgbClr val="FF0000"/>
                </a:solidFill>
                <a:latin typeface="Trebuchet MS"/>
                <a:cs typeface="Trebuchet MS"/>
              </a:rPr>
              <a:t>When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200" spc="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client</a:t>
            </a:r>
            <a:r>
              <a:rPr sz="2200" spc="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successfully</a:t>
            </a:r>
            <a:r>
              <a:rPr sz="2200" spc="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verifies</a:t>
            </a:r>
            <a:r>
              <a:rPr sz="2200" spc="1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200" spc="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block,</a:t>
            </a:r>
            <a:r>
              <a:rPr sz="2200" spc="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it</a:t>
            </a:r>
            <a:r>
              <a:rPr sz="2200" spc="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tells</a:t>
            </a:r>
            <a:r>
              <a:rPr sz="2200" spc="1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145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datanode,</a:t>
            </a:r>
            <a:r>
              <a:rPr sz="2200" spc="1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which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updates</a:t>
            </a:r>
            <a:r>
              <a:rPr sz="2200" spc="-25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its</a:t>
            </a:r>
            <a:r>
              <a:rPr sz="2200" spc="-25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log</a:t>
            </a:r>
            <a:r>
              <a:rPr sz="2200" dirty="0">
                <a:latin typeface="Trebuchet MS"/>
                <a:cs typeface="Trebuchet MS"/>
              </a:rPr>
              <a:t>.</a:t>
            </a:r>
            <a:r>
              <a:rPr sz="2200" spc="-2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Keeping</a:t>
            </a:r>
            <a:r>
              <a:rPr sz="2200" spc="-3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statistics</a:t>
            </a:r>
            <a:r>
              <a:rPr sz="2200" spc="-3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such</a:t>
            </a:r>
            <a:r>
              <a:rPr sz="2200" spc="-2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as</a:t>
            </a:r>
            <a:r>
              <a:rPr sz="2200" spc="-2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these</a:t>
            </a:r>
            <a:r>
              <a:rPr sz="2200" spc="-2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-30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valuable</a:t>
            </a:r>
            <a:r>
              <a:rPr sz="2200" spc="-20" dirty="0">
                <a:latin typeface="Trebuchet MS"/>
                <a:cs typeface="Trebuchet MS"/>
              </a:rPr>
              <a:t>  </a:t>
            </a:r>
            <a:r>
              <a:rPr sz="2200" spc="-25" dirty="0">
                <a:latin typeface="Trebuchet MS"/>
                <a:cs typeface="Trebuchet MS"/>
              </a:rPr>
              <a:t>in </a:t>
            </a:r>
            <a:r>
              <a:rPr sz="2200" dirty="0">
                <a:latin typeface="Trebuchet MS"/>
                <a:cs typeface="Trebuchet MS"/>
              </a:rPr>
              <a:t>detecting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bad</a:t>
            </a:r>
            <a:r>
              <a:rPr sz="2200" spc="-35" dirty="0">
                <a:latin typeface="Trebuchet MS"/>
                <a:cs typeface="Trebuchet MS"/>
              </a:rPr>
              <a:t>  </a:t>
            </a:r>
            <a:r>
              <a:rPr sz="2200" spc="-10" dirty="0">
                <a:latin typeface="Trebuchet MS"/>
                <a:cs typeface="Trebuchet MS"/>
              </a:rPr>
              <a:t>disks.</a:t>
            </a:r>
            <a:endParaRPr sz="2200" dirty="0">
              <a:latin typeface="Trebuchet MS"/>
              <a:cs typeface="Trebuchet MS"/>
            </a:endParaRPr>
          </a:p>
          <a:p>
            <a:pPr marL="332740" marR="5080" indent="-320040" algn="just">
              <a:lnSpc>
                <a:spcPct val="81100"/>
              </a:lnSpc>
              <a:spcBef>
                <a:spcPts val="645"/>
              </a:spcBef>
              <a:buSzPct val="59090"/>
              <a:buFont typeface="Wingdings"/>
              <a:buChar char=""/>
              <a:tabLst>
                <a:tab pos="332740" algn="l"/>
                <a:tab pos="472440" algn="l"/>
              </a:tabLst>
            </a:pPr>
            <a:r>
              <a:rPr sz="2200" dirty="0">
                <a:solidFill>
                  <a:srgbClr val="DA1F28"/>
                </a:solidFill>
                <a:latin typeface="Trebuchet MS"/>
                <a:cs typeface="Trebuchet MS"/>
              </a:rPr>
              <a:t>	</a:t>
            </a:r>
            <a:r>
              <a:rPr sz="2200" dirty="0">
                <a:latin typeface="Trebuchet MS"/>
                <a:cs typeface="Trebuchet MS"/>
              </a:rPr>
              <a:t>Aside</a:t>
            </a:r>
            <a:r>
              <a:rPr sz="2200" spc="10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from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block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verification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</a:t>
            </a:r>
            <a:r>
              <a:rPr sz="2200" spc="10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client</a:t>
            </a:r>
            <a:r>
              <a:rPr sz="2200" spc="12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reads,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each</a:t>
            </a:r>
            <a:r>
              <a:rPr sz="2200" spc="114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datanode</a:t>
            </a:r>
            <a:r>
              <a:rPr sz="2200" spc="110" dirty="0">
                <a:latin typeface="Trebuchet MS"/>
                <a:cs typeface="Trebuchet MS"/>
              </a:rPr>
              <a:t> </a:t>
            </a:r>
            <a:r>
              <a:rPr sz="2200" spc="-20" dirty="0">
                <a:latin typeface="Trebuchet MS"/>
                <a:cs typeface="Trebuchet MS"/>
              </a:rPr>
              <a:t>runs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70" dirty="0">
                <a:latin typeface="Trebuchet MS"/>
                <a:cs typeface="Trebuchet MS"/>
              </a:rPr>
              <a:t> 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DataBlockScanner</a:t>
            </a:r>
            <a:r>
              <a:rPr sz="2200" spc="65" dirty="0">
                <a:solidFill>
                  <a:srgbClr val="FF0000"/>
                </a:solidFill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in</a:t>
            </a:r>
            <a:r>
              <a:rPr sz="2200" spc="7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320" dirty="0">
                <a:latin typeface="Trebuchet MS"/>
                <a:cs typeface="Trebuchet MS"/>
              </a:rPr>
              <a:t>   </a:t>
            </a:r>
            <a:r>
              <a:rPr sz="2200" dirty="0">
                <a:latin typeface="Trebuchet MS"/>
                <a:cs typeface="Trebuchet MS"/>
              </a:rPr>
              <a:t>background</a:t>
            </a:r>
            <a:r>
              <a:rPr sz="2200" spc="7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thread</a:t>
            </a:r>
            <a:r>
              <a:rPr sz="2200" spc="75" dirty="0">
                <a:latin typeface="Trebuchet MS"/>
                <a:cs typeface="Trebuchet MS"/>
              </a:rPr>
              <a:t>  </a:t>
            </a:r>
            <a:r>
              <a:rPr sz="2200" dirty="0">
                <a:latin typeface="Trebuchet MS"/>
                <a:cs typeface="Trebuchet MS"/>
              </a:rPr>
              <a:t>that</a:t>
            </a:r>
            <a:r>
              <a:rPr sz="2200" spc="75" dirty="0">
                <a:latin typeface="Trebuchet MS"/>
                <a:cs typeface="Trebuchet MS"/>
              </a:rPr>
              <a:t> 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periodically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verifies</a:t>
            </a:r>
            <a:r>
              <a:rPr sz="2200" spc="3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all</a:t>
            </a:r>
            <a:r>
              <a:rPr sz="2200" spc="3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200" spc="39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blocks</a:t>
            </a:r>
            <a:r>
              <a:rPr sz="2200" spc="38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stored</a:t>
            </a:r>
            <a:r>
              <a:rPr sz="2200" spc="39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on</a:t>
            </a:r>
            <a:r>
              <a:rPr sz="2200" spc="3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the</a:t>
            </a:r>
            <a:r>
              <a:rPr sz="2200" spc="39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datanode.</a:t>
            </a:r>
            <a:r>
              <a:rPr sz="2200" spc="3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This</a:t>
            </a:r>
            <a:r>
              <a:rPr sz="2200" spc="3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is</a:t>
            </a:r>
            <a:r>
              <a:rPr sz="2200" spc="38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390" dirty="0">
                <a:latin typeface="Trebuchet MS"/>
                <a:cs typeface="Trebuchet MS"/>
              </a:rPr>
              <a:t>  </a:t>
            </a:r>
            <a:r>
              <a:rPr sz="2200" spc="-10" dirty="0">
                <a:latin typeface="Tahoma"/>
                <a:cs typeface="Tahoma"/>
              </a:rPr>
              <a:t>guard </a:t>
            </a:r>
            <a:r>
              <a:rPr sz="2200" dirty="0">
                <a:latin typeface="Tahoma"/>
                <a:cs typeface="Tahoma"/>
              </a:rPr>
              <a:t>against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corruption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due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to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“bit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rot”</a:t>
            </a:r>
            <a:r>
              <a:rPr sz="2200" spc="-4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intoe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physical</a:t>
            </a:r>
            <a:r>
              <a:rPr sz="2200" spc="325" dirty="0">
                <a:latin typeface="Tahoma"/>
                <a:cs typeface="Tahoma"/>
              </a:rPr>
              <a:t> </a:t>
            </a:r>
            <a:r>
              <a:rPr sz="2200" dirty="0">
                <a:latin typeface="Lucida Sans Unicode"/>
                <a:cs typeface="Lucida Sans Unicode"/>
              </a:rPr>
              <a:t>s</a:t>
            </a:r>
            <a:r>
              <a:rPr sz="2200" dirty="0">
                <a:latin typeface="Tahoma"/>
                <a:cs typeface="Tahoma"/>
              </a:rPr>
              <a:t>torage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media.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sz="2400" b="1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Integrity</a:t>
            </a:r>
            <a:r>
              <a:rPr sz="2400" b="1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1" spc="-7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00000"/>
                </a:solidFill>
                <a:latin typeface="Arial"/>
                <a:cs typeface="Arial"/>
              </a:rPr>
              <a:t>HDFS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rgbClr val="DA1F2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0"/>
              </a:lnSpc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18F8A80D-81ED-2760-ED9A-338592304E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537690"/>
            <a:ext cx="7946390" cy="42183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Writing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MapReduce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certain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pattern.</a:t>
            </a:r>
            <a:endParaRPr sz="2000">
              <a:latin typeface="Arial MT"/>
              <a:cs typeface="Arial MT"/>
            </a:endParaRPr>
          </a:p>
          <a:p>
            <a:pPr marL="332740" marR="54610" indent="-320040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spc="-45" dirty="0">
                <a:latin typeface="Arial MT"/>
                <a:cs typeface="Arial MT"/>
              </a:rPr>
              <a:t>You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ideally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unit </a:t>
            </a:r>
            <a:r>
              <a:rPr sz="2000" dirty="0">
                <a:latin typeface="Arial MT"/>
                <a:cs typeface="Arial MT"/>
              </a:rPr>
              <a:t>tests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make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expect.</a:t>
            </a:r>
            <a:endParaRPr sz="2000">
              <a:latin typeface="Arial MT"/>
              <a:cs typeface="Arial MT"/>
            </a:endParaRPr>
          </a:p>
          <a:p>
            <a:pPr marL="332740" marR="5080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job,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from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subset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check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working.</a:t>
            </a:r>
            <a:endParaRPr sz="200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If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fails,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IDE’s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debugger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source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</a:pPr>
            <a:r>
              <a:rPr sz="2000" spc="-10" dirty="0">
                <a:latin typeface="Arial MT"/>
                <a:cs typeface="Arial MT"/>
              </a:rPr>
              <a:t>problem.</a:t>
            </a:r>
            <a:endParaRPr sz="2000">
              <a:latin typeface="Arial MT"/>
              <a:cs typeface="Arial MT"/>
            </a:endParaRPr>
          </a:p>
          <a:p>
            <a:pPr marL="332740" marR="79375" indent="-320040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runs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expected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small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you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ready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unleash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cluster.</a:t>
            </a:r>
            <a:endParaRPr sz="2000">
              <a:latin typeface="Arial MT"/>
              <a:cs typeface="Arial MT"/>
            </a:endParaRPr>
          </a:p>
          <a:p>
            <a:pPr marL="332740" marR="99695" indent="-320040">
              <a:lnSpc>
                <a:spcPct val="100000"/>
              </a:lnSpc>
              <a:spcBef>
                <a:spcPts val="7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Running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against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dataset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expose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more </a:t>
            </a:r>
            <a:r>
              <a:rPr sz="2000" dirty="0">
                <a:latin typeface="Arial MT"/>
                <a:cs typeface="Arial MT"/>
              </a:rPr>
              <a:t>issues,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fix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expanding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altering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your </a:t>
            </a:r>
            <a:r>
              <a:rPr sz="2000" dirty="0">
                <a:latin typeface="Arial MT"/>
                <a:cs typeface="Arial MT"/>
              </a:rPr>
              <a:t>mapper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handle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cases.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1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Developing</a:t>
            </a:r>
            <a:r>
              <a:rPr spc="-195" dirty="0"/>
              <a:t> </a:t>
            </a:r>
            <a:r>
              <a:rPr dirty="0"/>
              <a:t>A</a:t>
            </a:r>
            <a:r>
              <a:rPr spc="-190" dirty="0"/>
              <a:t> </a:t>
            </a:r>
            <a:r>
              <a:rPr spc="-10" dirty="0"/>
              <a:t>Map-Reduce</a:t>
            </a:r>
            <a:r>
              <a:rPr spc="-210" dirty="0"/>
              <a:t> </a:t>
            </a:r>
            <a:r>
              <a:rPr dirty="0"/>
              <a:t>Application</a:t>
            </a:r>
            <a:r>
              <a:rPr spc="-15" dirty="0"/>
              <a:t> </a:t>
            </a:r>
            <a:r>
              <a:rPr spc="-50" dirty="0"/>
              <a:t>: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C23F592D-9909-412B-B0AC-6490B3B681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539880"/>
            <a:ext cx="7968615" cy="348424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8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After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working,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wish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tuning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:</a:t>
            </a:r>
            <a:endParaRPr sz="200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595"/>
              </a:spcBef>
              <a:tabLst>
                <a:tab pos="779145" algn="l"/>
              </a:tabLst>
            </a:pPr>
            <a:r>
              <a:rPr sz="1250" spc="175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250" dirty="0">
                <a:solidFill>
                  <a:srgbClr val="2CA1BE"/>
                </a:solidFill>
                <a:latin typeface="Arial MT"/>
                <a:cs typeface="Arial MT"/>
              </a:rPr>
              <a:t>	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running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some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standard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checks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MapReduce</a:t>
            </a:r>
            <a:endParaRPr sz="1800">
              <a:latin typeface="Arial MT"/>
              <a:cs typeface="Arial MT"/>
            </a:endParaRPr>
          </a:p>
          <a:p>
            <a:pPr marL="652145">
              <a:lnSpc>
                <a:spcPct val="100000"/>
              </a:lnSpc>
              <a:spcBef>
                <a:spcPts val="40"/>
              </a:spcBef>
            </a:pPr>
            <a:r>
              <a:rPr sz="1750" dirty="0">
                <a:latin typeface="Arial MT"/>
                <a:cs typeface="Arial MT"/>
              </a:rPr>
              <a:t>programs</a:t>
            </a:r>
            <a:r>
              <a:rPr sz="1750" spc="11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faster</a:t>
            </a:r>
            <a:endParaRPr sz="175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650"/>
              </a:spcBef>
              <a:tabLst>
                <a:tab pos="779145" algn="l"/>
              </a:tabLst>
            </a:pPr>
            <a:r>
              <a:rPr sz="1250" spc="175" dirty="0">
                <a:solidFill>
                  <a:srgbClr val="2CA1BE"/>
                </a:solidFill>
                <a:latin typeface="Arial MT"/>
                <a:cs typeface="Arial MT"/>
              </a:rPr>
              <a:t>🞑</a:t>
            </a:r>
            <a:r>
              <a:rPr sz="1250" dirty="0">
                <a:solidFill>
                  <a:srgbClr val="2CA1BE"/>
                </a:solidFill>
                <a:latin typeface="Arial MT"/>
                <a:cs typeface="Arial MT"/>
              </a:rPr>
              <a:t>	</a:t>
            </a:r>
            <a:r>
              <a:rPr sz="1750" dirty="0">
                <a:latin typeface="Arial MT"/>
                <a:cs typeface="Arial MT"/>
              </a:rPr>
              <a:t>Second</a:t>
            </a:r>
            <a:r>
              <a:rPr sz="1750" spc="10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by</a:t>
            </a:r>
            <a:r>
              <a:rPr sz="1750" spc="9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doing</a:t>
            </a:r>
            <a:r>
              <a:rPr sz="1750" spc="10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task</a:t>
            </a:r>
            <a:r>
              <a:rPr sz="1750" spc="8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profiling.</a:t>
            </a:r>
            <a:endParaRPr sz="1750">
              <a:latin typeface="Arial MT"/>
              <a:cs typeface="Arial MT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Profiling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distributed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easy,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Hadoop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hooks</a:t>
            </a:r>
            <a:endParaRPr sz="20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process.</a:t>
            </a:r>
            <a:endParaRPr sz="2000">
              <a:latin typeface="Arial MT"/>
              <a:cs typeface="Arial MT"/>
            </a:endParaRPr>
          </a:p>
          <a:p>
            <a:pPr marL="332740" marR="312420" indent="-320040">
              <a:lnSpc>
                <a:spcPct val="100000"/>
              </a:lnSpc>
              <a:spcBef>
                <a:spcPts val="71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Before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MapReduce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up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configure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environment.</a:t>
            </a:r>
            <a:endParaRPr sz="2000">
              <a:latin typeface="Arial MT"/>
              <a:cs typeface="Arial MT"/>
            </a:endParaRPr>
          </a:p>
          <a:p>
            <a:pPr marL="332740" marR="914400" indent="-320040">
              <a:lnSpc>
                <a:spcPct val="100000"/>
              </a:lnSpc>
              <a:spcBef>
                <a:spcPts val="700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Components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Hadoop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configured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Hadoop’s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own </a:t>
            </a:r>
            <a:r>
              <a:rPr sz="2000" spc="-10" dirty="0">
                <a:latin typeface="Arial MT"/>
                <a:cs typeface="Arial MT"/>
              </a:rPr>
              <a:t>configuration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API.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1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Developing</a:t>
            </a:r>
            <a:r>
              <a:rPr spc="-195" dirty="0"/>
              <a:t> </a:t>
            </a:r>
            <a:r>
              <a:rPr dirty="0"/>
              <a:t>A</a:t>
            </a:r>
            <a:r>
              <a:rPr spc="-190" dirty="0"/>
              <a:t> </a:t>
            </a:r>
            <a:r>
              <a:rPr spc="-10" dirty="0"/>
              <a:t>Map-Reduce</a:t>
            </a:r>
            <a:r>
              <a:rPr spc="-210" dirty="0"/>
              <a:t> </a:t>
            </a:r>
            <a:r>
              <a:rPr dirty="0"/>
              <a:t>Application</a:t>
            </a:r>
            <a:r>
              <a:rPr spc="-15" dirty="0"/>
              <a:t> </a:t>
            </a:r>
            <a:r>
              <a:rPr spc="-50" dirty="0"/>
              <a:t>: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E38F54A9-6DF7-891B-494C-3C383CC7AD7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DA1F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2C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1625854"/>
            <a:ext cx="7914005" cy="2338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A1F28"/>
              </a:buClr>
              <a:buSzPct val="60000"/>
              <a:buFont typeface="Wingdings"/>
              <a:buChar char=""/>
              <a:tabLst>
                <a:tab pos="332105" algn="l"/>
              </a:tabLst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Configuration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represents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33274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configuration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properties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their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values.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000">
              <a:latin typeface="Arial MT"/>
              <a:cs typeface="Arial MT"/>
            </a:endParaRPr>
          </a:p>
          <a:p>
            <a:pPr marL="332740" marR="5080" indent="-320040">
              <a:lnSpc>
                <a:spcPct val="100000"/>
              </a:lnSpc>
              <a:buClr>
                <a:srgbClr val="DA1F28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property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named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be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several,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including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Java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primitives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boolean,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int,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long,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float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useful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java.io.File;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collections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Strings.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1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Developing</a:t>
            </a:r>
            <a:r>
              <a:rPr spc="-195" dirty="0"/>
              <a:t> </a:t>
            </a:r>
            <a:r>
              <a:rPr dirty="0"/>
              <a:t>A</a:t>
            </a:r>
            <a:r>
              <a:rPr spc="-190" dirty="0"/>
              <a:t> </a:t>
            </a:r>
            <a:r>
              <a:rPr spc="-10" dirty="0"/>
              <a:t>Map-Reduce</a:t>
            </a:r>
            <a:r>
              <a:rPr spc="-210" dirty="0"/>
              <a:t> </a:t>
            </a:r>
            <a:r>
              <a:rPr dirty="0"/>
              <a:t>Application</a:t>
            </a:r>
            <a:r>
              <a:rPr spc="-15" dirty="0"/>
              <a:t> </a:t>
            </a:r>
            <a:r>
              <a:rPr spc="-50" dirty="0"/>
              <a:t>:</a:t>
            </a: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8547BDB2-8CFA-B504-54F4-A2D876841A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895600"/>
            <a:ext cx="7086600" cy="7675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5"/>
              </a:spcBef>
            </a:pPr>
            <a:r>
              <a:rPr sz="4900" spc="550" dirty="0">
                <a:latin typeface="Verdana"/>
                <a:cs typeface="Verdana"/>
              </a:rPr>
              <a:t>T</a:t>
            </a:r>
            <a:r>
              <a:rPr sz="4900" spc="545" dirty="0">
                <a:latin typeface="Verdana"/>
                <a:cs typeface="Verdana"/>
              </a:rPr>
              <a:t>HA</a:t>
            </a:r>
            <a:r>
              <a:rPr sz="4900" spc="550" dirty="0">
                <a:latin typeface="Verdana"/>
                <a:cs typeface="Verdana"/>
              </a:rPr>
              <a:t>N</a:t>
            </a:r>
            <a:r>
              <a:rPr sz="4900" spc="-10" dirty="0">
                <a:latin typeface="Verdana"/>
                <a:cs typeface="Verdana"/>
              </a:rPr>
              <a:t>K</a:t>
            </a:r>
            <a:r>
              <a:rPr sz="4900" spc="434" dirty="0">
                <a:latin typeface="Verdana"/>
                <a:cs typeface="Verdana"/>
              </a:rPr>
              <a:t> </a:t>
            </a:r>
            <a:r>
              <a:rPr sz="4900" spc="140" dirty="0">
                <a:latin typeface="Verdana"/>
                <a:cs typeface="Verdana"/>
              </a:rPr>
              <a:t>YOU.</a:t>
            </a:r>
            <a:endParaRPr sz="4900" dirty="0">
              <a:latin typeface="Verdana"/>
              <a:cs typeface="Verdana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BED0212E-796A-4179-B2E8-0C3A8189D5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5791200"/>
            <a:ext cx="1250302" cy="870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811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3474</Words>
  <Application>Microsoft Office PowerPoint</Application>
  <PresentationFormat>On-screen Show (4:3)</PresentationFormat>
  <Paragraphs>273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SimSun</vt:lpstr>
      <vt:lpstr>Arial</vt:lpstr>
      <vt:lpstr>Arial MT</vt:lpstr>
      <vt:lpstr>Lucida Sans Unicode</vt:lpstr>
      <vt:lpstr>Tahoma</vt:lpstr>
      <vt:lpstr>Trebuchet MS</vt:lpstr>
      <vt:lpstr>Verdana</vt:lpstr>
      <vt:lpstr>Wingdings</vt:lpstr>
      <vt:lpstr>Office Theme</vt:lpstr>
      <vt:lpstr>BIG DATA ANALYTICS UNIT:2 HADOOP</vt:lpstr>
      <vt:lpstr>Contents</vt:lpstr>
      <vt:lpstr>Apache Hadoop</vt:lpstr>
      <vt:lpstr>Apache Hadoop</vt:lpstr>
      <vt:lpstr>Why Hadoop?</vt:lpstr>
      <vt:lpstr>HDFS</vt:lpstr>
      <vt:lpstr>HDFS</vt:lpstr>
      <vt:lpstr>Hadoop Ecosystem/</vt:lpstr>
      <vt:lpstr>Hadoop Core Components</vt:lpstr>
      <vt:lpstr>Other Ecosystem Components/Projects</vt:lpstr>
      <vt:lpstr>Other Ecosystem Components/Projects</vt:lpstr>
      <vt:lpstr>Other Ecosystem Components/Projects</vt:lpstr>
      <vt:lpstr>DATA FORMAT</vt:lpstr>
      <vt:lpstr>DATA FORMAT</vt:lpstr>
      <vt:lpstr>DATA FORMAT</vt:lpstr>
      <vt:lpstr>DATA FORMAT</vt:lpstr>
      <vt:lpstr>DATA FORMAT</vt:lpstr>
      <vt:lpstr>Analysing Data with Hadoop :</vt:lpstr>
      <vt:lpstr>Analysing Data with Hadoop :</vt:lpstr>
      <vt:lpstr>Hadoop Streaming :</vt:lpstr>
      <vt:lpstr>Hadoop Streaming :</vt:lpstr>
      <vt:lpstr>Hadoop Streaming :</vt:lpstr>
      <vt:lpstr>Hadoop Streaming :</vt:lpstr>
      <vt:lpstr>Hadoop Streaming :</vt:lpstr>
      <vt:lpstr>Hadoop Pipes :</vt:lpstr>
      <vt:lpstr>Design of HDFS :</vt:lpstr>
      <vt:lpstr>Design of HDFS :</vt:lpstr>
      <vt:lpstr>Design of HDFS :</vt:lpstr>
      <vt:lpstr>Architecture of HDFS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precautions HDFS is taking to recover file system in case of namenode failure:</vt:lpstr>
      <vt:lpstr>Hadoop I/O</vt:lpstr>
      <vt:lpstr>Data Integrity</vt:lpstr>
      <vt:lpstr>Data Integrity in HDFS</vt:lpstr>
      <vt:lpstr>Data Integrity in HDFS</vt:lpstr>
      <vt:lpstr>Developing A Map-Reduce Application :</vt:lpstr>
      <vt:lpstr>Developing A Map-Reduce Application :</vt:lpstr>
      <vt:lpstr>Developing A Map-Reduce Application :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HANU SATYA BHARADWAJ KOLLEPARA</cp:lastModifiedBy>
  <cp:revision>6</cp:revision>
  <dcterms:created xsi:type="dcterms:W3CDTF">2025-07-03T05:22:57Z</dcterms:created>
  <dcterms:modified xsi:type="dcterms:W3CDTF">2025-07-03T05:35:00Z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2025-07-03T00:00:00Z</vt:filetime>
  </property>
  <property fmtid="{D5CDD505-2E9C-101B-9397-08002B2CF9AE}" pid="5" name="Producer">
    <vt:lpwstr>Microsoft® PowerPoint® 2013</vt:lpwstr>
  </property>
</Properties>
</file>