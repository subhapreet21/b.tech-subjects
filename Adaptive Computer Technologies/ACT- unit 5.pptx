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3" r:id="rId3"/>
    <p:sldId id="264" r:id="rId4"/>
    <p:sldId id="265" r:id="rId5"/>
    <p:sldId id="266" r:id="rId6"/>
    <p:sldId id="267" r:id="rId7"/>
    <p:sldId id="268" r:id="rId8"/>
    <p:sldId id="269" r:id="rId9"/>
    <p:sldId id="270" r:id="rId10"/>
    <p:sldId id="272" r:id="rId11"/>
    <p:sldId id="273" r:id="rId12"/>
    <p:sldId id="274" r:id="rId13"/>
    <p:sldId id="275" r:id="rId14"/>
    <p:sldId id="277" r:id="rId15"/>
    <p:sldId id="276" r:id="rId16"/>
    <p:sldId id="278"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4" d="100"/>
          <a:sy n="74" d="100"/>
        </p:scale>
        <p:origin x="1714"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7/23/2023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7/23/2023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7/23/2023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7/23/2023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7/23/2023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914400"/>
            <a:ext cx="7772400" cy="1470025"/>
          </a:xfrm>
        </p:spPr>
        <p:txBody>
          <a:bodyPr>
            <a:normAutofit fontScale="90000"/>
          </a:bodyPr>
          <a:lstStyle/>
          <a:p>
            <a:r>
              <a:rPr lang="en-IN" dirty="0">
                <a:solidFill>
                  <a:srgbClr val="FF0000"/>
                </a:solidFill>
                <a:latin typeface="Times New Roman" pitchFamily="18" charset="0"/>
                <a:cs typeface="Times New Roman" pitchFamily="18" charset="0"/>
              </a:rPr>
              <a:t>Adaptive Computer Technologies</a:t>
            </a:r>
            <a:br>
              <a:rPr lang="en-IN" dirty="0">
                <a:latin typeface="Times New Roman" pitchFamily="18" charset="0"/>
                <a:cs typeface="Times New Roman" pitchFamily="18" charset="0"/>
              </a:rPr>
            </a:br>
            <a:r>
              <a:rPr lang="en-IN" dirty="0">
                <a:solidFill>
                  <a:srgbClr val="002060"/>
                </a:solidFill>
                <a:latin typeface="Times New Roman" pitchFamily="18" charset="0"/>
                <a:cs typeface="Times New Roman" pitchFamily="18" charset="0"/>
              </a:rPr>
              <a:t>MR22-1ES0104</a:t>
            </a:r>
            <a:br>
              <a:rPr lang="en-IN" dirty="0">
                <a:latin typeface="Times New Roman" pitchFamily="18" charset="0"/>
                <a:cs typeface="Times New Roman" pitchFamily="18" charset="0"/>
              </a:rPr>
            </a:br>
            <a:r>
              <a:rPr lang="en-IN" dirty="0">
                <a:solidFill>
                  <a:srgbClr val="00B050"/>
                </a:solidFill>
                <a:latin typeface="Times New Roman" pitchFamily="18" charset="0"/>
                <a:cs typeface="Times New Roman" pitchFamily="18" charset="0"/>
              </a:rPr>
              <a:t>L-2, P-2, C-3</a:t>
            </a:r>
            <a:endParaRPr lang="en-US"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1371600" y="2971800"/>
            <a:ext cx="6400800" cy="2667000"/>
          </a:xfrm>
        </p:spPr>
        <p:txBody>
          <a:bodyPr>
            <a:normAutofit/>
          </a:bodyPr>
          <a:lstStyle/>
          <a:p>
            <a:r>
              <a:rPr lang="en-IN" sz="2200" dirty="0">
                <a:solidFill>
                  <a:schemeClr val="tx1"/>
                </a:solidFill>
                <a:latin typeface="Times New Roman" pitchFamily="18" charset="0"/>
                <a:cs typeface="Times New Roman" pitchFamily="18" charset="0"/>
              </a:rPr>
              <a:t>By</a:t>
            </a:r>
          </a:p>
          <a:p>
            <a:r>
              <a:rPr lang="en-IN" sz="2200" dirty="0">
                <a:solidFill>
                  <a:schemeClr val="tx1"/>
                </a:solidFill>
                <a:latin typeface="Times New Roman" pitchFamily="18" charset="0"/>
                <a:cs typeface="Times New Roman" pitchFamily="18" charset="0"/>
              </a:rPr>
              <a:t>V. Gopi Tilak,</a:t>
            </a:r>
          </a:p>
          <a:p>
            <a:r>
              <a:rPr lang="en-IN" sz="2200" dirty="0">
                <a:solidFill>
                  <a:schemeClr val="tx1"/>
                </a:solidFill>
                <a:latin typeface="Times New Roman" pitchFamily="18" charset="0"/>
                <a:cs typeface="Times New Roman" pitchFamily="18" charset="0"/>
              </a:rPr>
              <a:t>Assistant Professor,</a:t>
            </a:r>
          </a:p>
          <a:p>
            <a:r>
              <a:rPr lang="en-IN" sz="2200" dirty="0">
                <a:solidFill>
                  <a:schemeClr val="tx1"/>
                </a:solidFill>
                <a:latin typeface="Times New Roman" pitchFamily="18" charset="0"/>
                <a:cs typeface="Times New Roman" pitchFamily="18" charset="0"/>
              </a:rPr>
              <a:t>Department of CSE,</a:t>
            </a:r>
          </a:p>
          <a:p>
            <a:r>
              <a:rPr lang="en-IN" sz="2200" dirty="0">
                <a:solidFill>
                  <a:schemeClr val="tx1"/>
                </a:solidFill>
                <a:latin typeface="Times New Roman" pitchFamily="18" charset="0"/>
                <a:cs typeface="Times New Roman" pitchFamily="18" charset="0"/>
              </a:rPr>
              <a:t>School of Engineering,</a:t>
            </a:r>
          </a:p>
          <a:p>
            <a:r>
              <a:rPr lang="en-IN" sz="2200" dirty="0" err="1">
                <a:solidFill>
                  <a:schemeClr val="tx1"/>
                </a:solidFill>
                <a:latin typeface="Times New Roman" pitchFamily="18" charset="0"/>
                <a:cs typeface="Times New Roman" pitchFamily="18" charset="0"/>
              </a:rPr>
              <a:t>Malareddy</a:t>
            </a:r>
            <a:r>
              <a:rPr lang="en-IN" sz="2200" dirty="0">
                <a:solidFill>
                  <a:schemeClr val="tx1"/>
                </a:solidFill>
                <a:latin typeface="Times New Roman" pitchFamily="18" charset="0"/>
                <a:cs typeface="Times New Roman" pitchFamily="18" charset="0"/>
              </a:rPr>
              <a:t> University</a:t>
            </a:r>
            <a:endParaRPr lang="en-US" sz="22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0392456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Chapter 5- </a:t>
            </a:r>
            <a:r>
              <a:rPr lang="en-US" sz="2800" dirty="0">
                <a:solidFill>
                  <a:srgbClr val="FF0000"/>
                </a:solidFill>
                <a:latin typeface="Times New Roman" pitchFamily="18" charset="0"/>
                <a:cs typeface="Times New Roman" pitchFamily="18" charset="0"/>
              </a:rPr>
              <a:t>Data Science and Google Technologies</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rmAutofit/>
          </a:bodyPr>
          <a:lstStyle/>
          <a:p>
            <a:pPr algn="just"/>
            <a:r>
              <a:rPr lang="en-IN" sz="2000" b="1" dirty="0">
                <a:solidFill>
                  <a:srgbClr val="FF0000"/>
                </a:solidFill>
                <a:latin typeface="Times New Roman" pitchFamily="18" charset="0"/>
                <a:cs typeface="Times New Roman" pitchFamily="18" charset="0"/>
              </a:rPr>
              <a:t>Data Science:</a:t>
            </a:r>
            <a:endParaRPr lang="en-IN" sz="2000" b="1" dirty="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000" dirty="0">
                <a:solidFill>
                  <a:schemeClr val="tx1"/>
                </a:solidFill>
                <a:latin typeface="Times New Roman" pitchFamily="18" charset="0"/>
                <a:cs typeface="Times New Roman" pitchFamily="18" charset="0"/>
              </a:rPr>
              <a:t>Data-Information-Knowledge</a:t>
            </a:r>
          </a:p>
          <a:p>
            <a:pPr marL="342900" indent="-342900" algn="just">
              <a:buFont typeface="Arial" pitchFamily="34" charset="0"/>
              <a:buChar char="•"/>
            </a:pPr>
            <a:r>
              <a:rPr lang="en-US" sz="2000" dirty="0">
                <a:solidFill>
                  <a:schemeClr val="tx1"/>
                </a:solidFill>
                <a:latin typeface="Times New Roman" pitchFamily="18" charset="0"/>
                <a:cs typeface="Times New Roman" pitchFamily="18" charset="0"/>
              </a:rPr>
              <a:t>Databases - Data warehouse - Big Data</a:t>
            </a:r>
          </a:p>
          <a:p>
            <a:pPr marL="342900" indent="-342900" algn="just">
              <a:buFont typeface="Arial" pitchFamily="34" charset="0"/>
              <a:buChar char="•"/>
            </a:pPr>
            <a:r>
              <a:rPr lang="en-US" sz="2000" dirty="0">
                <a:solidFill>
                  <a:schemeClr val="tx1"/>
                </a:solidFill>
                <a:latin typeface="Times New Roman" pitchFamily="18" charset="0"/>
                <a:cs typeface="Times New Roman" pitchFamily="18" charset="0"/>
              </a:rPr>
              <a:t>Supervised learning, Unsupervised learning, Reinforcement learning with respect to Data mining - Machine Learning - Artificial Intelligence - Deep Learning</a:t>
            </a:r>
          </a:p>
          <a:p>
            <a:pPr marL="342900" indent="-342900" algn="just">
              <a:buFont typeface="Arial" pitchFamily="34" charset="0"/>
              <a:buChar char="•"/>
            </a:pPr>
            <a:r>
              <a:rPr lang="en-US" sz="2000" dirty="0">
                <a:solidFill>
                  <a:schemeClr val="tx1"/>
                </a:solidFill>
                <a:latin typeface="Times New Roman" pitchFamily="18" charset="0"/>
                <a:cs typeface="Times New Roman" pitchFamily="18" charset="0"/>
              </a:rPr>
              <a:t>Real time applications on AI/ML/DL/DS</a:t>
            </a:r>
          </a:p>
          <a:p>
            <a:pPr algn="just"/>
            <a:r>
              <a:rPr lang="en-IN" sz="2000" b="1" dirty="0">
                <a:solidFill>
                  <a:srgbClr val="FF0000"/>
                </a:solidFill>
                <a:latin typeface="Times New Roman" pitchFamily="18" charset="0"/>
                <a:cs typeface="Times New Roman" pitchFamily="18" charset="0"/>
              </a:rPr>
              <a:t>Casestudy-5: </a:t>
            </a:r>
            <a:r>
              <a:rPr lang="en-US" sz="2000" dirty="0">
                <a:solidFill>
                  <a:schemeClr val="tx1"/>
                </a:solidFill>
                <a:latin typeface="Times New Roman" pitchFamily="18" charset="0"/>
                <a:cs typeface="Times New Roman" pitchFamily="18" charset="0"/>
              </a:rPr>
              <a:t>Prepare a PPT/Poster about the future scope of AI/ML/DL/DS in various fields</a:t>
            </a:r>
          </a:p>
          <a:p>
            <a:pPr algn="just"/>
            <a:endParaRPr lang="en-US" sz="2000" dirty="0">
              <a:solidFill>
                <a:schemeClr val="tx1"/>
              </a:solidFill>
              <a:latin typeface="Times New Roman" pitchFamily="18" charset="0"/>
              <a:cs typeface="Times New Roman" pitchFamily="18" charset="0"/>
            </a:endParaRPr>
          </a:p>
          <a:p>
            <a:pPr algn="just"/>
            <a:r>
              <a:rPr lang="en-US" sz="2000" b="1" dirty="0">
                <a:solidFill>
                  <a:srgbClr val="FF0000"/>
                </a:solidFill>
                <a:latin typeface="Times New Roman" pitchFamily="18" charset="0"/>
                <a:cs typeface="Times New Roman" pitchFamily="18" charset="0"/>
              </a:rPr>
              <a:t>Google Technologies:</a:t>
            </a:r>
          </a:p>
          <a:p>
            <a:pPr marL="342900" indent="-342900" algn="just">
              <a:buFont typeface="Arial" pitchFamily="34" charset="0"/>
              <a:buChar char="•"/>
            </a:pPr>
            <a:r>
              <a:rPr lang="en-US" sz="2000" dirty="0">
                <a:solidFill>
                  <a:schemeClr val="tx1"/>
                </a:solidFill>
                <a:latin typeface="Times New Roman" pitchFamily="18" charset="0"/>
                <a:cs typeface="Times New Roman" pitchFamily="18" charset="0"/>
              </a:rPr>
              <a:t>Google Search Engine, Google Sheets, Google documents, Google forms, Google Drive</a:t>
            </a:r>
          </a:p>
          <a:p>
            <a:pPr algn="just"/>
            <a:r>
              <a:rPr lang="en-US" sz="2000" b="1" dirty="0">
                <a:solidFill>
                  <a:srgbClr val="FF0000"/>
                </a:solidFill>
                <a:latin typeface="Times New Roman" pitchFamily="18" charset="0"/>
                <a:cs typeface="Times New Roman" pitchFamily="18" charset="0"/>
              </a:rPr>
              <a:t>Casestudy-5: </a:t>
            </a:r>
            <a:r>
              <a:rPr lang="en-US" sz="2000" dirty="0">
                <a:solidFill>
                  <a:schemeClr val="tx1"/>
                </a:solidFill>
                <a:latin typeface="Times New Roman" pitchFamily="18" charset="0"/>
                <a:cs typeface="Times New Roman" pitchFamily="18" charset="0"/>
              </a:rPr>
              <a:t>Conduct a survey using Google forms and generate pictorial reports using Google sheets</a:t>
            </a:r>
            <a:endParaRPr lang="en-IN" sz="20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10307631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US" sz="2800" dirty="0">
                <a:solidFill>
                  <a:srgbClr val="FF0000"/>
                </a:solidFill>
                <a:latin typeface="Times New Roman" pitchFamily="18" charset="0"/>
                <a:cs typeface="Times New Roman" pitchFamily="18" charset="0"/>
              </a:rPr>
              <a:t>Data-Information-Knowledge</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rmAutofit/>
          </a:bodyPr>
          <a:lstStyle/>
          <a:p>
            <a:pPr algn="just"/>
            <a:r>
              <a:rPr lang="en-US" sz="2000" b="1" dirty="0">
                <a:solidFill>
                  <a:schemeClr val="tx1"/>
                </a:solidFill>
                <a:latin typeface="Times New Roman" pitchFamily="18" charset="0"/>
                <a:cs typeface="Times New Roman" pitchFamily="18" charset="0"/>
              </a:rPr>
              <a:t>Data:</a:t>
            </a:r>
            <a:r>
              <a:rPr lang="en-US" sz="2000" dirty="0">
                <a:solidFill>
                  <a:schemeClr val="tx1"/>
                </a:solidFill>
                <a:latin typeface="Times New Roman" pitchFamily="18" charset="0"/>
                <a:cs typeface="Times New Roman" pitchFamily="18" charset="0"/>
              </a:rPr>
              <a:t> Data are the raw alphanumeric values obtained through different acquisition methods. Data in their simplest form consist of raw alphanumeric values.</a:t>
            </a:r>
          </a:p>
          <a:p>
            <a:pPr marL="342900" indent="-342900" algn="just">
              <a:buFont typeface="Arial" pitchFamily="34" charset="0"/>
              <a:buChar char="•"/>
            </a:pPr>
            <a:r>
              <a:rPr lang="en-US" sz="2000" dirty="0">
                <a:solidFill>
                  <a:schemeClr val="tx1"/>
                </a:solidFill>
                <a:latin typeface="Times New Roman" pitchFamily="18" charset="0"/>
                <a:cs typeface="Times New Roman" pitchFamily="18" charset="0"/>
              </a:rPr>
              <a:t>Unstructured facts and figures that have the least impact on the typical manager.</a:t>
            </a:r>
          </a:p>
          <a:p>
            <a:pPr algn="just"/>
            <a:r>
              <a:rPr lang="en-US" sz="2000" b="1" dirty="0">
                <a:solidFill>
                  <a:schemeClr val="tx1"/>
                </a:solidFill>
                <a:latin typeface="Times New Roman" pitchFamily="18" charset="0"/>
                <a:cs typeface="Times New Roman" pitchFamily="18" charset="0"/>
              </a:rPr>
              <a:t>Information:</a:t>
            </a:r>
            <a:r>
              <a:rPr lang="en-US" sz="2000" dirty="0">
                <a:solidFill>
                  <a:schemeClr val="tx1"/>
                </a:solidFill>
                <a:latin typeface="Times New Roman" pitchFamily="18" charset="0"/>
                <a:cs typeface="Times New Roman" pitchFamily="18" charset="0"/>
              </a:rPr>
              <a:t> is created when data are processed, organized, or structured to provide context and meaning. Information is essentially processed data.</a:t>
            </a:r>
          </a:p>
          <a:p>
            <a:pPr marL="342900" indent="-342900" algn="just">
              <a:buFont typeface="Arial" pitchFamily="34" charset="0"/>
              <a:buChar char="•"/>
            </a:pPr>
            <a:r>
              <a:rPr lang="en-US" sz="2000" dirty="0">
                <a:solidFill>
                  <a:schemeClr val="tx1"/>
                </a:solidFill>
                <a:latin typeface="Times New Roman" pitchFamily="18" charset="0"/>
                <a:cs typeface="Times New Roman" pitchFamily="18" charset="0"/>
              </a:rPr>
              <a:t>Information thus paints a bigger picture; it is data with relevance and purpose.</a:t>
            </a:r>
          </a:p>
          <a:p>
            <a:pPr algn="just"/>
            <a:r>
              <a:rPr lang="en-US" sz="2000" b="1" dirty="0">
                <a:solidFill>
                  <a:schemeClr val="tx1"/>
                </a:solidFill>
                <a:latin typeface="Times New Roman" pitchFamily="18" charset="0"/>
                <a:cs typeface="Times New Roman" pitchFamily="18" charset="0"/>
              </a:rPr>
              <a:t>Knowledge:</a:t>
            </a:r>
            <a:r>
              <a:rPr lang="en-US" sz="2000" dirty="0">
                <a:solidFill>
                  <a:schemeClr val="tx1"/>
                </a:solidFill>
                <a:latin typeface="Times New Roman" pitchFamily="18" charset="0"/>
                <a:cs typeface="Times New Roman" pitchFamily="18" charset="0"/>
              </a:rPr>
              <a:t> is what we know. Knowledge is unique to each individual and is the accumulation of past experience and insight that shapes the lens by which we interpret, and assign meaning to, information. </a:t>
            </a:r>
          </a:p>
          <a:p>
            <a:pPr algn="just"/>
            <a:r>
              <a:rPr lang="en-US" sz="2000" dirty="0">
                <a:solidFill>
                  <a:schemeClr val="tx1"/>
                </a:solidFill>
                <a:latin typeface="Times New Roman" pitchFamily="18" charset="0"/>
                <a:cs typeface="Times New Roman" pitchFamily="18" charset="0"/>
              </a:rPr>
              <a:t>For knowledge to result in action, an individual must have the authority and capacity to make and implement a decision. Knowledge (and authority) are needed to produce actionable information that can lead to impact.</a:t>
            </a:r>
            <a:endParaRPr lang="en-IN" sz="2000" dirty="0">
              <a:solidFill>
                <a:schemeClr val="tx1"/>
              </a:solidFill>
              <a:latin typeface="Times New Roman" pitchFamily="18" charset="0"/>
              <a:cs typeface="Times New Roman" pitchFamily="18" charset="0"/>
            </a:endParaRPr>
          </a:p>
          <a:p>
            <a:pPr algn="just"/>
            <a:r>
              <a:rPr lang="en-IN" sz="2000" dirty="0">
                <a:solidFill>
                  <a:schemeClr val="bg1"/>
                </a:solidFill>
                <a:latin typeface="Times New Roman" pitchFamily="18" charset="0"/>
                <a:cs typeface="Times New Roman" pitchFamily="18" charset="0"/>
              </a:rPr>
              <a:t>https://internetofwater.org/valuing-data/what-are-data-information-and-knowledge/#:~:text=Data%20in%20their%20simplest%20form,Knowledge%20is%20what%20we%20know.</a:t>
            </a:r>
          </a:p>
        </p:txBody>
      </p:sp>
    </p:spTree>
    <p:extLst>
      <p:ext uri="{BB962C8B-B14F-4D97-AF65-F5344CB8AC3E}">
        <p14:creationId xmlns:p14="http://schemas.microsoft.com/office/powerpoint/2010/main" val="7768471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US" sz="2800" dirty="0">
                <a:solidFill>
                  <a:srgbClr val="FF0000"/>
                </a:solidFill>
                <a:latin typeface="Times New Roman" pitchFamily="18" charset="0"/>
                <a:cs typeface="Times New Roman" pitchFamily="18" charset="0"/>
              </a:rPr>
              <a:t>Data-Information-Knowledge</a:t>
            </a:r>
            <a:endParaRPr lang="en-US" sz="2800" dirty="0">
              <a:solidFill>
                <a:srgbClr val="00B050"/>
              </a:solidFill>
              <a:latin typeface="Times New Roman" pitchFamily="18" charset="0"/>
              <a:cs typeface="Times New Roman" pitchFamily="18" charset="0"/>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1511" y="685800"/>
            <a:ext cx="8850089" cy="182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17094" y="2819400"/>
            <a:ext cx="5005011" cy="3733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391223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US" sz="2800" dirty="0">
                <a:solidFill>
                  <a:srgbClr val="FF0000"/>
                </a:solidFill>
                <a:latin typeface="Times New Roman" pitchFamily="18" charset="0"/>
                <a:cs typeface="Times New Roman" pitchFamily="18" charset="0"/>
              </a:rPr>
              <a:t>Data bases-Data warehouse- Big data</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rmAutofit/>
          </a:bodyPr>
          <a:lstStyle/>
          <a:p>
            <a:pPr algn="just"/>
            <a:r>
              <a:rPr lang="en-US" sz="2000" b="1" dirty="0">
                <a:solidFill>
                  <a:schemeClr val="tx1"/>
                </a:solidFill>
                <a:latin typeface="Times New Roman" pitchFamily="18" charset="0"/>
                <a:cs typeface="Times New Roman" pitchFamily="18" charset="0"/>
              </a:rPr>
              <a:t>Data base:</a:t>
            </a:r>
          </a:p>
          <a:p>
            <a:pPr marL="342900" indent="-342900" algn="just">
              <a:buFont typeface="Arial" pitchFamily="34" charset="0"/>
              <a:buChar char="•"/>
            </a:pPr>
            <a:r>
              <a:rPr lang="en-US" sz="2000" dirty="0">
                <a:solidFill>
                  <a:schemeClr val="tx1"/>
                </a:solidFill>
                <a:latin typeface="Times New Roman" pitchFamily="18" charset="0"/>
                <a:cs typeface="Times New Roman" pitchFamily="18" charset="0"/>
              </a:rPr>
              <a:t>Data base is a collection of data that is organized in a way that makes it easy to store, retrieve, and update. They can be used to store all sorts of data, including customer information, product data, and financial data. In the context of Google technologies, Google Cloud provides several database options, including:</a:t>
            </a:r>
          </a:p>
          <a:p>
            <a:pPr marL="342900" indent="-342900" algn="just">
              <a:buFont typeface="Arial" pitchFamily="34" charset="0"/>
              <a:buChar char="•"/>
            </a:pPr>
            <a:r>
              <a:rPr lang="en-US" sz="2000" dirty="0">
                <a:solidFill>
                  <a:schemeClr val="tx1"/>
                </a:solidFill>
                <a:latin typeface="Times New Roman" pitchFamily="18" charset="0"/>
                <a:cs typeface="Times New Roman" pitchFamily="18" charset="0"/>
              </a:rPr>
              <a:t>Cloud SQL: A fully managed relational database service compatible with MySQL, </a:t>
            </a:r>
            <a:r>
              <a:rPr lang="en-US" sz="2000" dirty="0" err="1">
                <a:solidFill>
                  <a:schemeClr val="tx1"/>
                </a:solidFill>
                <a:latin typeface="Times New Roman" pitchFamily="18" charset="0"/>
                <a:cs typeface="Times New Roman" pitchFamily="18" charset="0"/>
              </a:rPr>
              <a:t>PostgreSQL</a:t>
            </a:r>
            <a:r>
              <a:rPr lang="en-US" sz="2000" dirty="0">
                <a:solidFill>
                  <a:schemeClr val="tx1"/>
                </a:solidFill>
                <a:latin typeface="Times New Roman" pitchFamily="18" charset="0"/>
                <a:cs typeface="Times New Roman" pitchFamily="18" charset="0"/>
              </a:rPr>
              <a:t>, and SQL Server.</a:t>
            </a:r>
          </a:p>
          <a:p>
            <a:pPr marL="342900" indent="-342900" algn="just">
              <a:buFont typeface="Arial" pitchFamily="34" charset="0"/>
              <a:buChar char="•"/>
            </a:pPr>
            <a:r>
              <a:rPr lang="en-US" sz="2000" dirty="0">
                <a:solidFill>
                  <a:schemeClr val="tx1"/>
                </a:solidFill>
                <a:latin typeface="Times New Roman" pitchFamily="18" charset="0"/>
                <a:cs typeface="Times New Roman" pitchFamily="18" charset="0"/>
              </a:rPr>
              <a:t>Cloud Spanner: A globally distributed, horizontally scalable, and strongly consistent relational database service.</a:t>
            </a:r>
          </a:p>
          <a:p>
            <a:pPr marL="342900" indent="-342900" algn="just">
              <a:buFont typeface="Arial" pitchFamily="34" charset="0"/>
              <a:buChar char="•"/>
            </a:pPr>
            <a:r>
              <a:rPr lang="en-US" sz="2000" dirty="0" err="1">
                <a:solidFill>
                  <a:schemeClr val="tx1"/>
                </a:solidFill>
                <a:latin typeface="Times New Roman" pitchFamily="18" charset="0"/>
                <a:cs typeface="Times New Roman" pitchFamily="18" charset="0"/>
              </a:rPr>
              <a:t>Firestore</a:t>
            </a:r>
            <a:r>
              <a:rPr lang="en-US" sz="2000" dirty="0">
                <a:solidFill>
                  <a:schemeClr val="tx1"/>
                </a:solidFill>
                <a:latin typeface="Times New Roman" pitchFamily="18" charset="0"/>
                <a:cs typeface="Times New Roman" pitchFamily="18" charset="0"/>
              </a:rPr>
              <a:t>: A </a:t>
            </a:r>
            <a:r>
              <a:rPr lang="en-US" sz="2000" dirty="0" err="1">
                <a:solidFill>
                  <a:schemeClr val="tx1"/>
                </a:solidFill>
                <a:latin typeface="Times New Roman" pitchFamily="18" charset="0"/>
                <a:cs typeface="Times New Roman" pitchFamily="18" charset="0"/>
              </a:rPr>
              <a:t>NoSQL</a:t>
            </a:r>
            <a:r>
              <a:rPr lang="en-US" sz="2000" dirty="0">
                <a:solidFill>
                  <a:schemeClr val="tx1"/>
                </a:solidFill>
                <a:latin typeface="Times New Roman" pitchFamily="18" charset="0"/>
                <a:cs typeface="Times New Roman" pitchFamily="18" charset="0"/>
              </a:rPr>
              <a:t> document database that provides real-time data synchronization and offline support for web and mobile applications.</a:t>
            </a:r>
          </a:p>
          <a:p>
            <a:pPr marL="342900" indent="-342900" algn="just">
              <a:buFont typeface="Arial" pitchFamily="34" charset="0"/>
              <a:buChar char="•"/>
            </a:pPr>
            <a:endParaRPr lang="en-IN" sz="20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4247437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US" sz="2800" dirty="0">
                <a:solidFill>
                  <a:srgbClr val="FF0000"/>
                </a:solidFill>
                <a:latin typeface="Times New Roman" pitchFamily="18" charset="0"/>
                <a:cs typeface="Times New Roman" pitchFamily="18" charset="0"/>
              </a:rPr>
              <a:t>Data bases-Data warehouse- Big data</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rmAutofit fontScale="92500" lnSpcReduction="10000"/>
          </a:bodyPr>
          <a:lstStyle/>
          <a:p>
            <a:pPr algn="just"/>
            <a:r>
              <a:rPr lang="en-US" sz="2000" b="1" dirty="0">
                <a:solidFill>
                  <a:schemeClr val="tx1"/>
                </a:solidFill>
                <a:latin typeface="Times New Roman" pitchFamily="18" charset="0"/>
                <a:cs typeface="Times New Roman" pitchFamily="18" charset="0"/>
              </a:rPr>
              <a:t>Data warehouses: </a:t>
            </a:r>
            <a:r>
              <a:rPr lang="en-US" sz="2000" dirty="0">
                <a:solidFill>
                  <a:schemeClr val="tx1"/>
                </a:solidFill>
                <a:latin typeface="Times New Roman" pitchFamily="18" charset="0"/>
                <a:cs typeface="Times New Roman" pitchFamily="18" charset="0"/>
              </a:rPr>
              <a:t>They are a type of database that is specifically designed for storing large amounts of data. They are often used to store data that is collected from a variety of sources, such as customer transactions, sensor data, and social media data. It is designed for reporting, analytics, and decision-making purposes. In the Google ecosystem, Google </a:t>
            </a:r>
            <a:r>
              <a:rPr lang="en-US" sz="2000" dirty="0" err="1">
                <a:solidFill>
                  <a:schemeClr val="tx1"/>
                </a:solidFill>
                <a:latin typeface="Times New Roman" pitchFamily="18" charset="0"/>
                <a:cs typeface="Times New Roman" pitchFamily="18" charset="0"/>
              </a:rPr>
              <a:t>BigQuery</a:t>
            </a:r>
            <a:r>
              <a:rPr lang="en-US" sz="2000" dirty="0">
                <a:solidFill>
                  <a:schemeClr val="tx1"/>
                </a:solidFill>
                <a:latin typeface="Times New Roman" pitchFamily="18" charset="0"/>
                <a:cs typeface="Times New Roman" pitchFamily="18" charset="0"/>
              </a:rPr>
              <a:t> is the primary data warehouse offering. </a:t>
            </a:r>
            <a:r>
              <a:rPr lang="en-US" sz="2000" dirty="0" err="1">
                <a:solidFill>
                  <a:schemeClr val="tx1"/>
                </a:solidFill>
                <a:latin typeface="Times New Roman" pitchFamily="18" charset="0"/>
                <a:cs typeface="Times New Roman" pitchFamily="18" charset="0"/>
              </a:rPr>
              <a:t>BigQuery</a:t>
            </a:r>
            <a:r>
              <a:rPr lang="en-US" sz="2000" dirty="0">
                <a:solidFill>
                  <a:schemeClr val="tx1"/>
                </a:solidFill>
                <a:latin typeface="Times New Roman" pitchFamily="18" charset="0"/>
                <a:cs typeface="Times New Roman" pitchFamily="18" charset="0"/>
              </a:rPr>
              <a:t> is a fully managed, </a:t>
            </a:r>
            <a:r>
              <a:rPr lang="en-US" sz="2000" dirty="0" err="1">
                <a:solidFill>
                  <a:schemeClr val="tx1"/>
                </a:solidFill>
                <a:latin typeface="Times New Roman" pitchFamily="18" charset="0"/>
                <a:cs typeface="Times New Roman" pitchFamily="18" charset="0"/>
              </a:rPr>
              <a:t>serverless</a:t>
            </a:r>
            <a:r>
              <a:rPr lang="en-US" sz="2000" dirty="0">
                <a:solidFill>
                  <a:schemeClr val="tx1"/>
                </a:solidFill>
                <a:latin typeface="Times New Roman" pitchFamily="18" charset="0"/>
                <a:cs typeface="Times New Roman" pitchFamily="18" charset="0"/>
              </a:rPr>
              <a:t>, and highly scalable data warehouse that allows you to run fast and cost-effective SQL queries over vast amounts of data. It supports both structured and semi-structured data formats.</a:t>
            </a:r>
          </a:p>
          <a:p>
            <a:pPr algn="just"/>
            <a:r>
              <a:rPr lang="en-US" sz="2000" b="1" dirty="0">
                <a:solidFill>
                  <a:schemeClr val="tx1"/>
                </a:solidFill>
                <a:latin typeface="Times New Roman" pitchFamily="18" charset="0"/>
                <a:cs typeface="Times New Roman" pitchFamily="18" charset="0"/>
              </a:rPr>
              <a:t>Big data:</a:t>
            </a:r>
            <a:r>
              <a:rPr lang="en-US" sz="2000" dirty="0">
                <a:solidFill>
                  <a:schemeClr val="tx1"/>
                </a:solidFill>
                <a:latin typeface="Times New Roman" pitchFamily="18" charset="0"/>
                <a:cs typeface="Times New Roman" pitchFamily="18" charset="0"/>
              </a:rPr>
              <a:t> It is a term used to describe data sets that are so large or complex that they are difficult to process using traditional data processing methods. Big data can be used to gain insights into customer behavior, identify trends, and make predictions. In Google's ecosystem, several tools are available for processing and analyzing big data:</a:t>
            </a:r>
          </a:p>
          <a:p>
            <a:pPr algn="just"/>
            <a:r>
              <a:rPr lang="en-US" sz="2000" dirty="0">
                <a:solidFill>
                  <a:schemeClr val="tx1"/>
                </a:solidFill>
                <a:latin typeface="Times New Roman" pitchFamily="18" charset="0"/>
                <a:cs typeface="Times New Roman" pitchFamily="18" charset="0"/>
              </a:rPr>
              <a:t>• Google Cloud Storage: A scalable object storage service that can store and retrieve large amounts of unstructured data, such as files and backups.</a:t>
            </a:r>
          </a:p>
          <a:p>
            <a:pPr algn="just"/>
            <a:r>
              <a:rPr lang="en-US" sz="2000" dirty="0">
                <a:solidFill>
                  <a:schemeClr val="tx1"/>
                </a:solidFill>
                <a:latin typeface="Times New Roman" pitchFamily="18" charset="0"/>
                <a:cs typeface="Times New Roman" pitchFamily="18" charset="0"/>
              </a:rPr>
              <a:t>• Google Cloud </a:t>
            </a:r>
            <a:r>
              <a:rPr lang="en-US" sz="2000" dirty="0" err="1">
                <a:solidFill>
                  <a:schemeClr val="tx1"/>
                </a:solidFill>
                <a:latin typeface="Times New Roman" pitchFamily="18" charset="0"/>
                <a:cs typeface="Times New Roman" pitchFamily="18" charset="0"/>
              </a:rPr>
              <a:t>Dataproc</a:t>
            </a:r>
            <a:r>
              <a:rPr lang="en-US" sz="2000" dirty="0">
                <a:solidFill>
                  <a:schemeClr val="tx1"/>
                </a:solidFill>
                <a:latin typeface="Times New Roman" pitchFamily="18" charset="0"/>
                <a:cs typeface="Times New Roman" pitchFamily="18" charset="0"/>
              </a:rPr>
              <a:t>: A managed service for running Apache </a:t>
            </a:r>
            <a:r>
              <a:rPr lang="en-US" sz="2000" dirty="0" err="1">
                <a:solidFill>
                  <a:schemeClr val="tx1"/>
                </a:solidFill>
                <a:latin typeface="Times New Roman" pitchFamily="18" charset="0"/>
                <a:cs typeface="Times New Roman" pitchFamily="18" charset="0"/>
              </a:rPr>
              <a:t>Hadoop</a:t>
            </a:r>
            <a:r>
              <a:rPr lang="en-US" sz="2000" dirty="0">
                <a:solidFill>
                  <a:schemeClr val="tx1"/>
                </a:solidFill>
                <a:latin typeface="Times New Roman" pitchFamily="18" charset="0"/>
                <a:cs typeface="Times New Roman" pitchFamily="18" charset="0"/>
              </a:rPr>
              <a:t> and Apache Spark, which enables distributed processing of big data workloads.</a:t>
            </a:r>
          </a:p>
          <a:p>
            <a:pPr algn="just"/>
            <a:r>
              <a:rPr lang="en-US" sz="2000" dirty="0">
                <a:solidFill>
                  <a:schemeClr val="tx1"/>
                </a:solidFill>
                <a:latin typeface="Times New Roman" pitchFamily="18" charset="0"/>
                <a:cs typeface="Times New Roman" pitchFamily="18" charset="0"/>
              </a:rPr>
              <a:t>• Google Cloud Dataflow: A fully managed service for building and executing data processing pipelines using popular frameworks like Apache Beam.</a:t>
            </a:r>
          </a:p>
          <a:p>
            <a:pPr algn="just"/>
            <a:r>
              <a:rPr lang="en-US" sz="2000" dirty="0">
                <a:solidFill>
                  <a:schemeClr val="tx1"/>
                </a:solidFill>
                <a:latin typeface="Times New Roman" pitchFamily="18" charset="0"/>
                <a:cs typeface="Times New Roman" pitchFamily="18" charset="0"/>
              </a:rPr>
              <a:t>• Google Cloud Pub/Sub: A messaging service that allows you to ingest and process streaming data in real-time.</a:t>
            </a:r>
          </a:p>
        </p:txBody>
      </p:sp>
    </p:spTree>
    <p:extLst>
      <p:ext uri="{BB962C8B-B14F-4D97-AF65-F5344CB8AC3E}">
        <p14:creationId xmlns:p14="http://schemas.microsoft.com/office/powerpoint/2010/main" val="24878385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US" sz="2800" dirty="0">
                <a:solidFill>
                  <a:srgbClr val="FF0000"/>
                </a:solidFill>
                <a:latin typeface="Times New Roman" pitchFamily="18" charset="0"/>
                <a:cs typeface="Times New Roman" pitchFamily="18" charset="0"/>
              </a:rPr>
              <a:t>Data bases-Data warehouse- Big data</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42900" y="644238"/>
            <a:ext cx="8458200" cy="5867400"/>
          </a:xfrm>
        </p:spPr>
        <p:txBody>
          <a:bodyPr>
            <a:noAutofit/>
          </a:bodyPr>
          <a:lstStyle/>
          <a:p>
            <a:pPr algn="just"/>
            <a:r>
              <a:rPr lang="en-US" sz="1400" b="1" dirty="0">
                <a:solidFill>
                  <a:schemeClr val="tx1"/>
                </a:solidFill>
                <a:latin typeface="Times New Roman" pitchFamily="18" charset="0"/>
                <a:cs typeface="Times New Roman" pitchFamily="18" charset="0"/>
              </a:rPr>
              <a:t>Applications of Databases - Data warehouse - Big Data</a:t>
            </a:r>
          </a:p>
          <a:p>
            <a:pPr algn="just"/>
            <a:r>
              <a:rPr lang="en-US" sz="1400" dirty="0">
                <a:solidFill>
                  <a:schemeClr val="tx1"/>
                </a:solidFill>
                <a:latin typeface="Times New Roman" pitchFamily="18" charset="0"/>
                <a:cs typeface="Times New Roman" pitchFamily="18" charset="0"/>
              </a:rPr>
              <a:t>• </a:t>
            </a:r>
            <a:r>
              <a:rPr lang="en-US" sz="1400" b="1" dirty="0">
                <a:solidFill>
                  <a:schemeClr val="tx1"/>
                </a:solidFill>
                <a:latin typeface="Times New Roman" pitchFamily="18" charset="0"/>
                <a:cs typeface="Times New Roman" pitchFamily="18" charset="0"/>
              </a:rPr>
              <a:t>Customer relationship management (CRM): </a:t>
            </a:r>
            <a:r>
              <a:rPr lang="en-US" sz="1400" dirty="0">
                <a:solidFill>
                  <a:schemeClr val="tx1"/>
                </a:solidFill>
                <a:latin typeface="Times New Roman" pitchFamily="18" charset="0"/>
                <a:cs typeface="Times New Roman" pitchFamily="18" charset="0"/>
              </a:rPr>
              <a:t>Databases are used to store customer data, such as names, addresses, and purchase history. This data can be used to track customer interactions, identify trends, and provide personalized service.</a:t>
            </a:r>
          </a:p>
          <a:p>
            <a:pPr algn="just"/>
            <a:r>
              <a:rPr lang="en-US" sz="1400" dirty="0">
                <a:solidFill>
                  <a:schemeClr val="tx1"/>
                </a:solidFill>
                <a:latin typeface="Times New Roman" pitchFamily="18" charset="0"/>
                <a:cs typeface="Times New Roman" pitchFamily="18" charset="0"/>
              </a:rPr>
              <a:t>• </a:t>
            </a:r>
            <a:r>
              <a:rPr lang="en-US" sz="1400" b="1" dirty="0">
                <a:solidFill>
                  <a:schemeClr val="tx1"/>
                </a:solidFill>
                <a:latin typeface="Times New Roman" pitchFamily="18" charset="0"/>
                <a:cs typeface="Times New Roman" pitchFamily="18" charset="0"/>
              </a:rPr>
              <a:t>Fraud detection: </a:t>
            </a:r>
            <a:r>
              <a:rPr lang="en-US" sz="1400" dirty="0">
                <a:solidFill>
                  <a:schemeClr val="tx1"/>
                </a:solidFill>
                <a:latin typeface="Times New Roman" pitchFamily="18" charset="0"/>
                <a:cs typeface="Times New Roman" pitchFamily="18" charset="0"/>
              </a:rPr>
              <a:t>Data warehouses are used to store large amounts of data, such as financial transactions and customer information. This data can be used to identify fraudulent transactions and prevent fraud.</a:t>
            </a:r>
          </a:p>
          <a:p>
            <a:pPr algn="just"/>
            <a:r>
              <a:rPr lang="en-US" sz="1400" dirty="0">
                <a:solidFill>
                  <a:schemeClr val="tx1"/>
                </a:solidFill>
                <a:latin typeface="Times New Roman" pitchFamily="18" charset="0"/>
                <a:cs typeface="Times New Roman" pitchFamily="18" charset="0"/>
              </a:rPr>
              <a:t>• </a:t>
            </a:r>
            <a:r>
              <a:rPr lang="en-US" sz="1400" b="1" dirty="0">
                <a:solidFill>
                  <a:schemeClr val="tx1"/>
                </a:solidFill>
                <a:latin typeface="Times New Roman" pitchFamily="18" charset="0"/>
                <a:cs typeface="Times New Roman" pitchFamily="18" charset="0"/>
              </a:rPr>
              <a:t>Risk management: </a:t>
            </a:r>
            <a:r>
              <a:rPr lang="en-US" sz="1400" dirty="0">
                <a:solidFill>
                  <a:schemeClr val="tx1"/>
                </a:solidFill>
                <a:latin typeface="Times New Roman" pitchFamily="18" charset="0"/>
                <a:cs typeface="Times New Roman" pitchFamily="18" charset="0"/>
              </a:rPr>
              <a:t>Big data is used to assess risk and make better decisions. For example, big data can be used to predict customer churn, identify potential problems with products, and assess the risk of natural disasters.</a:t>
            </a:r>
          </a:p>
          <a:p>
            <a:pPr algn="just"/>
            <a:r>
              <a:rPr lang="en-US" sz="1400" dirty="0">
                <a:solidFill>
                  <a:schemeClr val="tx1"/>
                </a:solidFill>
                <a:latin typeface="Times New Roman" pitchFamily="18" charset="0"/>
                <a:cs typeface="Times New Roman" pitchFamily="18" charset="0"/>
              </a:rPr>
              <a:t>• </a:t>
            </a:r>
            <a:r>
              <a:rPr lang="en-US" sz="1400" b="1" dirty="0">
                <a:solidFill>
                  <a:schemeClr val="tx1"/>
                </a:solidFill>
                <a:latin typeface="Times New Roman" pitchFamily="18" charset="0"/>
                <a:cs typeface="Times New Roman" pitchFamily="18" charset="0"/>
              </a:rPr>
              <a:t>Healthcare: </a:t>
            </a:r>
            <a:r>
              <a:rPr lang="en-US" sz="1400" dirty="0">
                <a:solidFill>
                  <a:schemeClr val="tx1"/>
                </a:solidFill>
                <a:latin typeface="Times New Roman" pitchFamily="18" charset="0"/>
                <a:cs typeface="Times New Roman" pitchFamily="18" charset="0"/>
              </a:rPr>
              <a:t>Data warehouses are used to store patient data, such as medical records and test results. This data can be used to improve patient care, identify trends, and develop new treatments.</a:t>
            </a:r>
          </a:p>
          <a:p>
            <a:pPr algn="just"/>
            <a:r>
              <a:rPr lang="en-US" sz="1400" dirty="0">
                <a:solidFill>
                  <a:schemeClr val="tx1"/>
                </a:solidFill>
                <a:latin typeface="Times New Roman" pitchFamily="18" charset="0"/>
                <a:cs typeface="Times New Roman" pitchFamily="18" charset="0"/>
              </a:rPr>
              <a:t>• </a:t>
            </a:r>
            <a:r>
              <a:rPr lang="en-US" sz="1400" b="1" dirty="0">
                <a:solidFill>
                  <a:schemeClr val="tx1"/>
                </a:solidFill>
                <a:latin typeface="Times New Roman" pitchFamily="18" charset="0"/>
                <a:cs typeface="Times New Roman" pitchFamily="18" charset="0"/>
              </a:rPr>
              <a:t>Retail:</a:t>
            </a:r>
            <a:r>
              <a:rPr lang="en-US" sz="1400" dirty="0">
                <a:solidFill>
                  <a:schemeClr val="tx1"/>
                </a:solidFill>
                <a:latin typeface="Times New Roman" pitchFamily="18" charset="0"/>
                <a:cs typeface="Times New Roman" pitchFamily="18" charset="0"/>
              </a:rPr>
              <a:t> Data warehouses are used to store sales data, such as product sales and customer demographics. This data can be used to improve inventory management, identify trends, and target marketing campaigns.</a:t>
            </a:r>
          </a:p>
          <a:p>
            <a:pPr algn="just"/>
            <a:r>
              <a:rPr lang="en-US" sz="1400" dirty="0">
                <a:solidFill>
                  <a:schemeClr val="tx1"/>
                </a:solidFill>
                <a:latin typeface="Times New Roman" pitchFamily="18" charset="0"/>
                <a:cs typeface="Times New Roman" pitchFamily="18" charset="0"/>
              </a:rPr>
              <a:t>• </a:t>
            </a:r>
            <a:r>
              <a:rPr lang="en-US" sz="1400" b="1" dirty="0">
                <a:solidFill>
                  <a:schemeClr val="tx1"/>
                </a:solidFill>
                <a:latin typeface="Times New Roman" pitchFamily="18" charset="0"/>
                <a:cs typeface="Times New Roman" pitchFamily="18" charset="0"/>
              </a:rPr>
              <a:t>Manufacturing:</a:t>
            </a:r>
            <a:r>
              <a:rPr lang="en-US" sz="1400" dirty="0">
                <a:solidFill>
                  <a:schemeClr val="tx1"/>
                </a:solidFill>
                <a:latin typeface="Times New Roman" pitchFamily="18" charset="0"/>
                <a:cs typeface="Times New Roman" pitchFamily="18" charset="0"/>
              </a:rPr>
              <a:t> Data warehouses are used to store production data, such as machine performance and product quality. This data can be used to improve efficiency, identify problems, and improve product quality.</a:t>
            </a:r>
          </a:p>
          <a:p>
            <a:pPr algn="just"/>
            <a:r>
              <a:rPr lang="en-US" sz="1400" dirty="0">
                <a:solidFill>
                  <a:schemeClr val="tx1"/>
                </a:solidFill>
                <a:latin typeface="Times New Roman" pitchFamily="18" charset="0"/>
                <a:cs typeface="Times New Roman" pitchFamily="18" charset="0"/>
              </a:rPr>
              <a:t>• </a:t>
            </a:r>
            <a:r>
              <a:rPr lang="en-US" sz="1400" b="1" dirty="0">
                <a:solidFill>
                  <a:schemeClr val="tx1"/>
                </a:solidFill>
                <a:latin typeface="Times New Roman" pitchFamily="18" charset="0"/>
                <a:cs typeface="Times New Roman" pitchFamily="18" charset="0"/>
              </a:rPr>
              <a:t>Financial services:</a:t>
            </a:r>
            <a:r>
              <a:rPr lang="en-US" sz="1400" dirty="0">
                <a:solidFill>
                  <a:schemeClr val="tx1"/>
                </a:solidFill>
                <a:latin typeface="Times New Roman" pitchFamily="18" charset="0"/>
                <a:cs typeface="Times New Roman" pitchFamily="18" charset="0"/>
              </a:rPr>
              <a:t> Data warehouses are used to store financial data, such as customer transactions and market data. This data can be used to improve risk management, identify fraud, and make better investment decisions.</a:t>
            </a:r>
          </a:p>
          <a:p>
            <a:pPr algn="just"/>
            <a:r>
              <a:rPr lang="en-US" sz="1400" dirty="0">
                <a:solidFill>
                  <a:schemeClr val="tx1"/>
                </a:solidFill>
                <a:latin typeface="Times New Roman" pitchFamily="18" charset="0"/>
                <a:cs typeface="Times New Roman" pitchFamily="18" charset="0"/>
              </a:rPr>
              <a:t>• </a:t>
            </a:r>
            <a:r>
              <a:rPr lang="en-US" sz="1400" b="1" dirty="0">
                <a:solidFill>
                  <a:schemeClr val="tx1"/>
                </a:solidFill>
                <a:latin typeface="Times New Roman" pitchFamily="18" charset="0"/>
                <a:cs typeface="Times New Roman" pitchFamily="18" charset="0"/>
              </a:rPr>
              <a:t>Business Intelligence and Analytics:</a:t>
            </a:r>
            <a:r>
              <a:rPr lang="en-US" sz="1400" dirty="0">
                <a:solidFill>
                  <a:schemeClr val="tx1"/>
                </a:solidFill>
                <a:latin typeface="Times New Roman" pitchFamily="18" charset="0"/>
                <a:cs typeface="Times New Roman" pitchFamily="18" charset="0"/>
              </a:rPr>
              <a:t> Organizations use data science and Google technologies to gain insights into their operations, customer behavior, and market trends. By leveraging databases, data warehouses, and big data tools, they can analyze large datasets, perform advanced analytics, and generate reports and visualizations to make data-driven decisions.</a:t>
            </a:r>
          </a:p>
          <a:p>
            <a:pPr algn="just"/>
            <a:r>
              <a:rPr lang="en-US" sz="1400" dirty="0">
                <a:solidFill>
                  <a:schemeClr val="tx1"/>
                </a:solidFill>
                <a:latin typeface="Times New Roman" pitchFamily="18" charset="0"/>
                <a:cs typeface="Times New Roman" pitchFamily="18" charset="0"/>
              </a:rPr>
              <a:t>• </a:t>
            </a:r>
            <a:r>
              <a:rPr lang="en-US" sz="1400" b="1" dirty="0">
                <a:solidFill>
                  <a:schemeClr val="tx1"/>
                </a:solidFill>
                <a:latin typeface="Times New Roman" pitchFamily="18" charset="0"/>
                <a:cs typeface="Times New Roman" pitchFamily="18" charset="0"/>
              </a:rPr>
              <a:t>Internet of Things (</a:t>
            </a:r>
            <a:r>
              <a:rPr lang="en-US" sz="1400" b="1" dirty="0" err="1">
                <a:solidFill>
                  <a:schemeClr val="tx1"/>
                </a:solidFill>
                <a:latin typeface="Times New Roman" pitchFamily="18" charset="0"/>
                <a:cs typeface="Times New Roman" pitchFamily="18" charset="0"/>
              </a:rPr>
              <a:t>IoT</a:t>
            </a:r>
            <a:r>
              <a:rPr lang="en-US" sz="1400" b="1" dirty="0">
                <a:solidFill>
                  <a:schemeClr val="tx1"/>
                </a:solidFill>
                <a:latin typeface="Times New Roman" pitchFamily="18" charset="0"/>
                <a:cs typeface="Times New Roman" pitchFamily="18" charset="0"/>
              </a:rPr>
              <a:t>) Analytics: </a:t>
            </a:r>
            <a:r>
              <a:rPr lang="en-US" sz="1400" dirty="0">
                <a:solidFill>
                  <a:schemeClr val="tx1"/>
                </a:solidFill>
                <a:latin typeface="Times New Roman" pitchFamily="18" charset="0"/>
                <a:cs typeface="Times New Roman" pitchFamily="18" charset="0"/>
              </a:rPr>
              <a:t>The proliferation of </a:t>
            </a:r>
            <a:r>
              <a:rPr lang="en-US" sz="1400" dirty="0" err="1">
                <a:solidFill>
                  <a:schemeClr val="tx1"/>
                </a:solidFill>
                <a:latin typeface="Times New Roman" pitchFamily="18" charset="0"/>
                <a:cs typeface="Times New Roman" pitchFamily="18" charset="0"/>
              </a:rPr>
              <a:t>IoT</a:t>
            </a:r>
            <a:r>
              <a:rPr lang="en-US" sz="1400" dirty="0">
                <a:solidFill>
                  <a:schemeClr val="tx1"/>
                </a:solidFill>
                <a:latin typeface="Times New Roman" pitchFamily="18" charset="0"/>
                <a:cs typeface="Times New Roman" pitchFamily="18" charset="0"/>
              </a:rPr>
              <a:t> devices generates massive amounts of data. Data science techniques, combined with big data platforms, can analyze this data to gain insights, optimize operations, and improve decision-making. For example, analyzing sensor data from manufacturing equipment can help identify patterns and optimize maintenance schedules.</a:t>
            </a:r>
          </a:p>
          <a:p>
            <a:pPr algn="just"/>
            <a:r>
              <a:rPr lang="en-US" sz="1400" dirty="0">
                <a:solidFill>
                  <a:schemeClr val="tx1"/>
                </a:solidFill>
                <a:latin typeface="Times New Roman" pitchFamily="18" charset="0"/>
                <a:cs typeface="Times New Roman" pitchFamily="18" charset="0"/>
              </a:rPr>
              <a:t>• </a:t>
            </a:r>
            <a:r>
              <a:rPr lang="en-US" sz="1400" b="1" dirty="0">
                <a:solidFill>
                  <a:schemeClr val="tx1"/>
                </a:solidFill>
                <a:latin typeface="Times New Roman" pitchFamily="18" charset="0"/>
                <a:cs typeface="Times New Roman" pitchFamily="18" charset="0"/>
              </a:rPr>
              <a:t>Supply Chain Optimization: </a:t>
            </a:r>
            <a:r>
              <a:rPr lang="en-US" sz="1400" dirty="0">
                <a:solidFill>
                  <a:schemeClr val="tx1"/>
                </a:solidFill>
                <a:latin typeface="Times New Roman" pitchFamily="18" charset="0"/>
                <a:cs typeface="Times New Roman" pitchFamily="18" charset="0"/>
              </a:rPr>
              <a:t>By analyzing supply chain data using data science techniques, organizations can optimize inventory management, predict demand, improve logistics, and reduce costs. This helps streamline operations and enhance overall efficiency.</a:t>
            </a:r>
          </a:p>
        </p:txBody>
      </p:sp>
    </p:spTree>
    <p:extLst>
      <p:ext uri="{BB962C8B-B14F-4D97-AF65-F5344CB8AC3E}">
        <p14:creationId xmlns:p14="http://schemas.microsoft.com/office/powerpoint/2010/main" val="42263256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US" sz="2800" dirty="0">
                <a:solidFill>
                  <a:srgbClr val="FF0000"/>
                </a:solidFill>
                <a:latin typeface="Times New Roman" pitchFamily="18" charset="0"/>
                <a:cs typeface="Times New Roman" pitchFamily="18" charset="0"/>
              </a:rPr>
              <a:t>Supervised learning</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867400"/>
          </a:xfrm>
        </p:spPr>
        <p:txBody>
          <a:bodyPr>
            <a:noAutofit/>
          </a:bodyPr>
          <a:lstStyle/>
          <a:p>
            <a:pPr marL="285750" indent="-285750" algn="just">
              <a:buFont typeface="Arial" pitchFamily="34" charset="0"/>
              <a:buChar char="•"/>
            </a:pPr>
            <a:r>
              <a:rPr lang="en-US" sz="2000" dirty="0">
                <a:solidFill>
                  <a:schemeClr val="tx1"/>
                </a:solidFill>
                <a:latin typeface="Times New Roman" pitchFamily="18" charset="0"/>
                <a:cs typeface="Times New Roman" pitchFamily="18" charset="0"/>
              </a:rPr>
              <a:t>Supervised learning is a type of machine learning where the model is trained on a dataset that includes both input and output data. The model learns to predict the output data given the input data. </a:t>
            </a:r>
          </a:p>
          <a:p>
            <a:pPr marL="285750" indent="-285750" algn="just">
              <a:buFont typeface="Arial" pitchFamily="34" charset="0"/>
              <a:buChar char="•"/>
            </a:pPr>
            <a:r>
              <a:rPr lang="en-US" sz="2000" dirty="0">
                <a:solidFill>
                  <a:schemeClr val="tx1"/>
                </a:solidFill>
                <a:latin typeface="Times New Roman" pitchFamily="18" charset="0"/>
                <a:cs typeface="Times New Roman" pitchFamily="18" charset="0"/>
              </a:rPr>
              <a:t>For example, a supervised learning model could be trained to predict the price of a house given its features, such as the number of bedrooms, the square footage, and the location.</a:t>
            </a:r>
          </a:p>
          <a:p>
            <a:pPr marL="285750" indent="-285750" algn="just">
              <a:buFont typeface="Arial" pitchFamily="34" charset="0"/>
              <a:buChar char="•"/>
            </a:pPr>
            <a:r>
              <a:rPr lang="en-US" sz="2000" dirty="0">
                <a:solidFill>
                  <a:schemeClr val="tx1"/>
                </a:solidFill>
                <a:latin typeface="Times New Roman" pitchFamily="18" charset="0"/>
                <a:cs typeface="Times New Roman" pitchFamily="18" charset="0"/>
              </a:rPr>
              <a:t>Here is an example of how supervised learning could be used in the real world:</a:t>
            </a:r>
          </a:p>
          <a:p>
            <a:pPr marL="285750" indent="-285750" algn="just">
              <a:buFont typeface="Arial" pitchFamily="34" charset="0"/>
              <a:buChar char="•"/>
            </a:pPr>
            <a:r>
              <a:rPr lang="en-US" sz="2000" dirty="0">
                <a:solidFill>
                  <a:schemeClr val="tx1"/>
                </a:solidFill>
                <a:latin typeface="Times New Roman" pitchFamily="18" charset="0"/>
                <a:cs typeface="Times New Roman" pitchFamily="18" charset="0"/>
              </a:rPr>
              <a:t>A bank could use supervised learning to build a model that predicts which customers are likely to default on their loans. The bank would train the model on a dataset that includes data on past customers, such as their income, their credit score, and their history of making payments on time. The model would learn to identify patterns in the data that are associated with customers who are likely to default on their loans.</a:t>
            </a:r>
          </a:p>
          <a:p>
            <a:pPr marL="285750" indent="-285750" algn="just">
              <a:buFont typeface="Arial" pitchFamily="34" charset="0"/>
              <a:buChar char="•"/>
            </a:pPr>
            <a:r>
              <a:rPr lang="en-IN" sz="2000" dirty="0" err="1">
                <a:solidFill>
                  <a:schemeClr val="tx1"/>
                </a:solidFill>
                <a:latin typeface="Times New Roman" pitchFamily="18" charset="0"/>
                <a:cs typeface="Times New Roman" pitchFamily="18" charset="0"/>
              </a:rPr>
              <a:t>Eg</a:t>
            </a:r>
            <a:r>
              <a:rPr lang="en-IN" sz="2000" dirty="0">
                <a:solidFill>
                  <a:schemeClr val="tx1"/>
                </a:solidFill>
                <a:latin typeface="Times New Roman" pitchFamily="18" charset="0"/>
                <a:cs typeface="Times New Roman" pitchFamily="18" charset="0"/>
              </a:rPr>
              <a:t>. Neural networks, logistic regression, support vector machines </a:t>
            </a:r>
            <a:r>
              <a:rPr lang="en-IN" sz="2000" dirty="0" err="1">
                <a:solidFill>
                  <a:schemeClr val="tx1"/>
                </a:solidFill>
                <a:latin typeface="Times New Roman" pitchFamily="18" charset="0"/>
                <a:cs typeface="Times New Roman" pitchFamily="18" charset="0"/>
              </a:rPr>
              <a:t>etc</a:t>
            </a:r>
            <a:endParaRPr lang="en-US" sz="20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7334149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US" sz="2800" dirty="0">
                <a:solidFill>
                  <a:srgbClr val="FF0000"/>
                </a:solidFill>
                <a:latin typeface="Times New Roman" pitchFamily="18" charset="0"/>
                <a:cs typeface="Times New Roman" pitchFamily="18" charset="0"/>
              </a:rPr>
              <a:t>Unsupervised learning</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867400"/>
          </a:xfrm>
        </p:spPr>
        <p:txBody>
          <a:bodyPr>
            <a:noAutofit/>
          </a:bodyPr>
          <a:lstStyle/>
          <a:p>
            <a:pPr marL="285750" indent="-285750" algn="just">
              <a:buFont typeface="Arial" pitchFamily="34" charset="0"/>
              <a:buChar char="•"/>
            </a:pPr>
            <a:r>
              <a:rPr lang="en-US" sz="2000" dirty="0">
                <a:solidFill>
                  <a:schemeClr val="tx1"/>
                </a:solidFill>
                <a:latin typeface="Times New Roman" pitchFamily="18" charset="0"/>
                <a:cs typeface="Times New Roman" pitchFamily="18" charset="0"/>
              </a:rPr>
              <a:t>Unsupervised learning is a type of machine learning where the model is trained on a dataset that only includes input data. The model learns to identify patterns in the data without any guidance from labeled output data. </a:t>
            </a:r>
          </a:p>
          <a:p>
            <a:pPr marL="285750" indent="-285750" algn="just">
              <a:buFont typeface="Arial" pitchFamily="34" charset="0"/>
              <a:buChar char="•"/>
            </a:pPr>
            <a:r>
              <a:rPr lang="en-US" sz="2000" dirty="0">
                <a:solidFill>
                  <a:schemeClr val="tx1"/>
                </a:solidFill>
                <a:latin typeface="Times New Roman" pitchFamily="18" charset="0"/>
                <a:cs typeface="Times New Roman" pitchFamily="18" charset="0"/>
              </a:rPr>
              <a:t>For example, an unsupervised learning model could be used to cluster customers into different groups based on their purchasing behavior.</a:t>
            </a:r>
          </a:p>
          <a:p>
            <a:pPr marL="285750" indent="-285750" algn="just">
              <a:buFont typeface="Arial" pitchFamily="34" charset="0"/>
              <a:buChar char="•"/>
            </a:pPr>
            <a:r>
              <a:rPr lang="en-US" sz="2000" dirty="0">
                <a:solidFill>
                  <a:schemeClr val="tx1"/>
                </a:solidFill>
                <a:latin typeface="Times New Roman" pitchFamily="18" charset="0"/>
                <a:cs typeface="Times New Roman" pitchFamily="18" charset="0"/>
              </a:rPr>
              <a:t>Here is an example of how unsupervised learning could be used in the real world:</a:t>
            </a:r>
          </a:p>
          <a:p>
            <a:pPr marL="285750" indent="-285750" algn="just">
              <a:buFont typeface="Arial" pitchFamily="34" charset="0"/>
              <a:buChar char="•"/>
            </a:pPr>
            <a:r>
              <a:rPr lang="en-US" sz="2000" dirty="0">
                <a:solidFill>
                  <a:schemeClr val="tx1"/>
                </a:solidFill>
                <a:latin typeface="Times New Roman" pitchFamily="18" charset="0"/>
                <a:cs typeface="Times New Roman" pitchFamily="18" charset="0"/>
              </a:rPr>
              <a:t>A retailer could use unsupervised learning to cluster customers into different groups based on their purchasing behavior. The retailer would train the model on a dataset that includes data on past customer purchases. The model would learn to identify patterns in the data that are associated with different customer groups. For example, the model might identify a group of customers who are interested in buying organic food, a group of customers who are interested in buying electronics, and a group of customers who are interested in buying home goods.</a:t>
            </a:r>
          </a:p>
          <a:p>
            <a:pPr marL="285750" indent="-285750" algn="just">
              <a:buFont typeface="Arial" pitchFamily="34" charset="0"/>
              <a:buChar char="•"/>
            </a:pPr>
            <a:r>
              <a:rPr lang="en-IN" sz="2000" dirty="0" err="1">
                <a:solidFill>
                  <a:schemeClr val="tx1"/>
                </a:solidFill>
                <a:latin typeface="Times New Roman" pitchFamily="18" charset="0"/>
                <a:cs typeface="Times New Roman" pitchFamily="18" charset="0"/>
              </a:rPr>
              <a:t>Eg</a:t>
            </a:r>
            <a:r>
              <a:rPr lang="en-IN" sz="2000" dirty="0">
                <a:solidFill>
                  <a:schemeClr val="tx1"/>
                </a:solidFill>
                <a:latin typeface="Times New Roman" pitchFamily="18" charset="0"/>
                <a:cs typeface="Times New Roman" pitchFamily="18" charset="0"/>
              </a:rPr>
              <a:t>: Clustering techniques.</a:t>
            </a:r>
            <a:endParaRPr lang="en-US" sz="20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18315919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US" sz="2800" dirty="0">
                <a:solidFill>
                  <a:srgbClr val="FF0000"/>
                </a:solidFill>
                <a:latin typeface="Times New Roman" pitchFamily="18" charset="0"/>
                <a:cs typeface="Times New Roman" pitchFamily="18" charset="0"/>
              </a:rPr>
              <a:t>Reinforcement learning WRT Data Mining</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867400"/>
          </a:xfrm>
        </p:spPr>
        <p:txBody>
          <a:bodyPr>
            <a:noAutofit/>
          </a:bodyPr>
          <a:lstStyle/>
          <a:p>
            <a:pPr marL="285750" indent="-285750" algn="just">
              <a:buFont typeface="Arial" pitchFamily="34" charset="0"/>
              <a:buChar char="•"/>
            </a:pPr>
            <a:r>
              <a:rPr lang="en-US" sz="2000" dirty="0">
                <a:solidFill>
                  <a:schemeClr val="tx1"/>
                </a:solidFill>
                <a:latin typeface="Times New Roman" pitchFamily="18" charset="0"/>
                <a:cs typeface="Times New Roman" pitchFamily="18" charset="0"/>
              </a:rPr>
              <a:t>Reinforcement Learning (RL) enables an agent to learn from experience (in form of reward and punishment for explorative actions) and adapt to new situations, without a teacher. </a:t>
            </a:r>
          </a:p>
          <a:p>
            <a:pPr marL="285750" indent="-285750" algn="just">
              <a:buFont typeface="Arial" pitchFamily="34" charset="0"/>
              <a:buChar char="•"/>
            </a:pPr>
            <a:r>
              <a:rPr lang="en-US" sz="2000" dirty="0">
                <a:solidFill>
                  <a:schemeClr val="tx1"/>
                </a:solidFill>
                <a:latin typeface="Times New Roman" pitchFamily="18" charset="0"/>
                <a:cs typeface="Times New Roman" pitchFamily="18" charset="0"/>
              </a:rPr>
              <a:t>The model is not explicitly trained on any data. Instead, it learns by trial and error.</a:t>
            </a:r>
          </a:p>
          <a:p>
            <a:pPr marL="285750" indent="-285750" algn="just">
              <a:buFont typeface="Arial" pitchFamily="34" charset="0"/>
              <a:buChar char="•"/>
            </a:pPr>
            <a:r>
              <a:rPr lang="en-US" sz="2000" dirty="0">
                <a:solidFill>
                  <a:schemeClr val="tx1"/>
                </a:solidFill>
                <a:latin typeface="Times New Roman" pitchFamily="18" charset="0"/>
                <a:cs typeface="Times New Roman" pitchFamily="18" charset="0"/>
              </a:rPr>
              <a:t>RL agent is able to learn to make decisions on the sampling of the environment which provides the data.</a:t>
            </a:r>
          </a:p>
          <a:p>
            <a:pPr marL="285750" indent="-285750" algn="just">
              <a:buFont typeface="Arial" pitchFamily="34" charset="0"/>
              <a:buChar char="•"/>
            </a:pPr>
            <a:r>
              <a:rPr lang="en-US" sz="2000" dirty="0">
                <a:solidFill>
                  <a:schemeClr val="tx1"/>
                </a:solidFill>
                <a:latin typeface="Times New Roman" pitchFamily="18" charset="0"/>
                <a:cs typeface="Times New Roman" pitchFamily="18" charset="0"/>
              </a:rPr>
              <a:t>Data mining is the process of extracting knowledge from data. It is a process that involves finding patterns and trends in data that would otherwise be overlooked. </a:t>
            </a:r>
          </a:p>
          <a:p>
            <a:pPr marL="285750" indent="-285750" algn="just">
              <a:buFont typeface="Arial" pitchFamily="34" charset="0"/>
              <a:buChar char="•"/>
            </a:pPr>
            <a:r>
              <a:rPr lang="en-IN" sz="2000" dirty="0" err="1">
                <a:solidFill>
                  <a:schemeClr val="tx1"/>
                </a:solidFill>
                <a:latin typeface="Times New Roman" pitchFamily="18" charset="0"/>
                <a:cs typeface="Times New Roman" pitchFamily="18" charset="0"/>
              </a:rPr>
              <a:t>Eg</a:t>
            </a:r>
            <a:r>
              <a:rPr lang="en-IN" sz="2000" dirty="0">
                <a:solidFill>
                  <a:schemeClr val="tx1"/>
                </a:solidFill>
                <a:latin typeface="Times New Roman" pitchFamily="18" charset="0"/>
                <a:cs typeface="Times New Roman" pitchFamily="18" charset="0"/>
              </a:rPr>
              <a:t>: Predictive analysis, customer segmentation. Fraud detection</a:t>
            </a:r>
            <a:endParaRPr lang="en-US" sz="2000" dirty="0">
              <a:solidFill>
                <a:schemeClr val="tx1"/>
              </a:solidFill>
              <a:latin typeface="Times New Roman" pitchFamily="18" charset="0"/>
              <a:cs typeface="Times New Roman" pitchFamily="18" charset="0"/>
            </a:endParaRPr>
          </a:p>
          <a:p>
            <a:pPr marL="285750" indent="-285750" algn="just">
              <a:buFont typeface="Arial" pitchFamily="34" charset="0"/>
              <a:buChar char="•"/>
            </a:pPr>
            <a:endParaRPr lang="en-US" sz="2000" dirty="0">
              <a:solidFill>
                <a:schemeClr val="tx1"/>
              </a:solidFill>
              <a:latin typeface="Times New Roman" pitchFamily="18" charset="0"/>
              <a:cs typeface="Times New Roman" pitchFamily="18" charset="0"/>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24400" y="4401829"/>
            <a:ext cx="4419600" cy="24630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693337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US" sz="2800" dirty="0">
                <a:solidFill>
                  <a:srgbClr val="FF0000"/>
                </a:solidFill>
                <a:latin typeface="Times New Roman" pitchFamily="18" charset="0"/>
                <a:cs typeface="Times New Roman" pitchFamily="18" charset="0"/>
              </a:rPr>
              <a:t>Machine learning</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867400"/>
          </a:xfrm>
        </p:spPr>
        <p:txBody>
          <a:bodyPr>
            <a:noAutofit/>
          </a:bodyPr>
          <a:lstStyle/>
          <a:p>
            <a:pPr marL="285750" indent="-285750" algn="just">
              <a:buFont typeface="Arial" pitchFamily="34" charset="0"/>
              <a:buChar char="•"/>
            </a:pPr>
            <a:r>
              <a:rPr lang="en-US" sz="2000" dirty="0">
                <a:solidFill>
                  <a:schemeClr val="tx1"/>
                </a:solidFill>
                <a:latin typeface="Times New Roman" pitchFamily="18" charset="0"/>
                <a:cs typeface="Times New Roman" pitchFamily="18" charset="0"/>
              </a:rPr>
              <a:t>Machine learning is a subfield of artificial intelligence that focuses on the development of algorithms and statistical models that enable computers to learn and make predictions or decisions without being explicitly programmed. </a:t>
            </a:r>
          </a:p>
          <a:p>
            <a:pPr marL="285750" indent="-285750" algn="just">
              <a:buFont typeface="Arial" pitchFamily="34" charset="0"/>
              <a:buChar char="•"/>
            </a:pPr>
            <a:r>
              <a:rPr lang="en-US" sz="2000" dirty="0">
                <a:solidFill>
                  <a:schemeClr val="tx1"/>
                </a:solidFill>
                <a:latin typeface="Times New Roman" pitchFamily="18" charset="0"/>
                <a:cs typeface="Times New Roman" pitchFamily="18" charset="0"/>
              </a:rPr>
              <a:t>It involves training algorithms on large datasets to identify patterns and relationships and then using these patterns to make predictions or decisions about new data.</a:t>
            </a:r>
          </a:p>
          <a:p>
            <a:pPr marL="285750" indent="-285750" algn="just">
              <a:buFont typeface="Arial" pitchFamily="34" charset="0"/>
              <a:buChar char="•"/>
            </a:pPr>
            <a:r>
              <a:rPr lang="en-US" sz="2000" dirty="0">
                <a:solidFill>
                  <a:schemeClr val="tx1"/>
                </a:solidFill>
                <a:latin typeface="Times New Roman" pitchFamily="18" charset="0"/>
                <a:cs typeface="Times New Roman" pitchFamily="18" charset="0"/>
              </a:rPr>
              <a:t>Machine learning is used for a wide range of applications, such as regression, classification, and clustering. </a:t>
            </a:r>
          </a:p>
          <a:p>
            <a:pPr marL="285750" indent="-285750" algn="just">
              <a:buFont typeface="Arial" pitchFamily="34" charset="0"/>
              <a:buChar char="•"/>
            </a:pPr>
            <a:r>
              <a:rPr lang="en-US" sz="2000" dirty="0">
                <a:solidFill>
                  <a:schemeClr val="tx1"/>
                </a:solidFill>
                <a:latin typeface="Times New Roman" pitchFamily="18" charset="0"/>
                <a:cs typeface="Times New Roman" pitchFamily="18" charset="0"/>
              </a:rPr>
              <a:t>Machine learning algorithms can range from simple linear models to more complex models such as decision trees and random forests.</a:t>
            </a:r>
          </a:p>
          <a:p>
            <a:pPr marL="285750" indent="-285750" algn="just">
              <a:buFont typeface="Arial" pitchFamily="34" charset="0"/>
              <a:buChar char="•"/>
            </a:pPr>
            <a:r>
              <a:rPr lang="en-US" sz="2000" dirty="0">
                <a:solidFill>
                  <a:schemeClr val="tx1"/>
                </a:solidFill>
                <a:latin typeface="Times New Roman" pitchFamily="18" charset="0"/>
                <a:cs typeface="Times New Roman" pitchFamily="18" charset="0"/>
              </a:rPr>
              <a:t>The major aim of ML is to allow the systems to learn by themselves through experience without any kind of human intervention or assistance.</a:t>
            </a:r>
          </a:p>
        </p:txBody>
      </p:sp>
      <p:pic>
        <p:nvPicPr>
          <p:cNvPr id="3074" name="Picture 2" descr="Block Diagram of Artificial Neural Network | Download Scientific Diagra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19800" y="4728947"/>
            <a:ext cx="2819400" cy="21290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25105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US" sz="2800" dirty="0">
                <a:solidFill>
                  <a:srgbClr val="FF0000"/>
                </a:solidFill>
                <a:latin typeface="Times New Roman" pitchFamily="18" charset="0"/>
                <a:cs typeface="Times New Roman" pitchFamily="18" charset="0"/>
              </a:rPr>
              <a:t>Artificial Intelligence</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867400"/>
          </a:xfrm>
        </p:spPr>
        <p:txBody>
          <a:bodyPr>
            <a:noAutofit/>
          </a:bodyPr>
          <a:lstStyle/>
          <a:p>
            <a:pPr marL="285750" indent="-285750" algn="just">
              <a:buFont typeface="Arial" pitchFamily="34" charset="0"/>
              <a:buChar char="•"/>
            </a:pPr>
            <a:r>
              <a:rPr lang="en-US" sz="2000" dirty="0">
                <a:solidFill>
                  <a:schemeClr val="tx1"/>
                </a:solidFill>
                <a:latin typeface="Times New Roman" pitchFamily="18" charset="0"/>
                <a:cs typeface="Times New Roman" pitchFamily="18" charset="0"/>
              </a:rPr>
              <a:t>Artificial Intelligence is basically the mechanism to incorporate human intelligence into machines through a set of rules(algorithm). </a:t>
            </a:r>
          </a:p>
          <a:p>
            <a:pPr marL="285750" indent="-285750" algn="just">
              <a:buFont typeface="Arial" pitchFamily="34" charset="0"/>
              <a:buChar char="•"/>
            </a:pPr>
            <a:r>
              <a:rPr lang="en-US" sz="2000" dirty="0">
                <a:solidFill>
                  <a:schemeClr val="tx1"/>
                </a:solidFill>
                <a:latin typeface="Times New Roman" pitchFamily="18" charset="0"/>
                <a:cs typeface="Times New Roman" pitchFamily="18" charset="0"/>
              </a:rPr>
              <a:t>AI is a combination of two words: “Artificial” meaning something made by humans or non-natural things and “Intelligence” meaning the ability to understand or think accordingly. Another definition could be that “AI is basically the study of training your machine(computers) to mimic a human brain and its thinking capabilities”. </a:t>
            </a:r>
          </a:p>
          <a:p>
            <a:pPr marL="285750" indent="-285750" algn="just">
              <a:buFont typeface="Arial" pitchFamily="34" charset="0"/>
              <a:buChar char="•"/>
            </a:pPr>
            <a:r>
              <a:rPr lang="en-US" sz="2000" dirty="0">
                <a:solidFill>
                  <a:schemeClr val="tx1"/>
                </a:solidFill>
                <a:latin typeface="Times New Roman" pitchFamily="18" charset="0"/>
                <a:cs typeface="Times New Roman" pitchFamily="18" charset="0"/>
              </a:rPr>
              <a:t>AI focuses on 3 major aspects(skills): learning, reasoning, and self-correction to obtain the maximum efficiency possible. </a:t>
            </a:r>
          </a:p>
        </p:txBody>
      </p:sp>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6834" r="21161" b="9040"/>
          <a:stretch/>
        </p:blipFill>
        <p:spPr bwMode="auto">
          <a:xfrm>
            <a:off x="6096000" y="3886200"/>
            <a:ext cx="2737424" cy="2790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325275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US" sz="2800" dirty="0">
                <a:solidFill>
                  <a:srgbClr val="FF0000"/>
                </a:solidFill>
                <a:latin typeface="Times New Roman" pitchFamily="18" charset="0"/>
                <a:cs typeface="Times New Roman" pitchFamily="18" charset="0"/>
              </a:rPr>
              <a:t>Deep Learning</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867400"/>
          </a:xfrm>
        </p:spPr>
        <p:txBody>
          <a:bodyPr>
            <a:noAutofit/>
          </a:bodyPr>
          <a:lstStyle/>
          <a:p>
            <a:pPr marL="285750" indent="-285750" algn="just">
              <a:buFont typeface="Arial" pitchFamily="34" charset="0"/>
              <a:buChar char="•"/>
            </a:pPr>
            <a:r>
              <a:rPr lang="en-US" sz="2000" dirty="0">
                <a:solidFill>
                  <a:schemeClr val="tx1"/>
                </a:solidFill>
                <a:latin typeface="Times New Roman" pitchFamily="18" charset="0"/>
                <a:cs typeface="Times New Roman" pitchFamily="18" charset="0"/>
              </a:rPr>
              <a:t>Deep learning, on the other hand, is a subset of machine learning that uses neural networks with multiple layers to analyze complex patterns and relationships in data. </a:t>
            </a:r>
          </a:p>
          <a:p>
            <a:pPr marL="285750" indent="-285750" algn="just">
              <a:buFont typeface="Arial" pitchFamily="34" charset="0"/>
              <a:buChar char="•"/>
            </a:pPr>
            <a:r>
              <a:rPr lang="en-US" sz="2000" dirty="0">
                <a:solidFill>
                  <a:schemeClr val="tx1"/>
                </a:solidFill>
                <a:latin typeface="Times New Roman" pitchFamily="18" charset="0"/>
                <a:cs typeface="Times New Roman" pitchFamily="18" charset="0"/>
              </a:rPr>
              <a:t>It is inspired by the structure and function of the human brain and has been successful in a variety of tasks, such as computer vision, natural language processing, and speech recognition.</a:t>
            </a:r>
          </a:p>
          <a:p>
            <a:pPr marL="285750" indent="-285750" algn="just">
              <a:buFont typeface="Arial" pitchFamily="34" charset="0"/>
              <a:buChar char="•"/>
            </a:pPr>
            <a:r>
              <a:rPr lang="en-US" sz="2000" dirty="0">
                <a:solidFill>
                  <a:schemeClr val="tx1"/>
                </a:solidFill>
                <a:latin typeface="Times New Roman" pitchFamily="18" charset="0"/>
                <a:cs typeface="Times New Roman" pitchFamily="18" charset="0"/>
              </a:rPr>
              <a:t>Deep learning models are trained using large amounts of data and algorithms that are able to learn and improve over time, becoming more accurate as they process more data. </a:t>
            </a:r>
          </a:p>
          <a:p>
            <a:pPr marL="285750" indent="-285750" algn="just">
              <a:buFont typeface="Arial" pitchFamily="34" charset="0"/>
              <a:buChar char="•"/>
            </a:pPr>
            <a:r>
              <a:rPr lang="en-US" sz="2000" dirty="0">
                <a:solidFill>
                  <a:schemeClr val="tx1"/>
                </a:solidFill>
                <a:latin typeface="Times New Roman" pitchFamily="18" charset="0"/>
                <a:cs typeface="Times New Roman" pitchFamily="18" charset="0"/>
              </a:rPr>
              <a:t>This makes them well-suited to complex, real-world problems and enables them to learn and adapt to new situations. </a:t>
            </a:r>
            <a:r>
              <a:rPr lang="en-IN" sz="2000" dirty="0" err="1">
                <a:solidFill>
                  <a:schemeClr val="tx1"/>
                </a:solidFill>
                <a:latin typeface="Times New Roman" pitchFamily="18" charset="0"/>
                <a:cs typeface="Times New Roman" pitchFamily="18" charset="0"/>
              </a:rPr>
              <a:t>Eg</a:t>
            </a:r>
            <a:r>
              <a:rPr lang="en-IN" sz="2000" dirty="0">
                <a:solidFill>
                  <a:schemeClr val="tx1"/>
                </a:solidFill>
                <a:latin typeface="Times New Roman" pitchFamily="18" charset="0"/>
                <a:cs typeface="Times New Roman" pitchFamily="18" charset="0"/>
              </a:rPr>
              <a:t>. </a:t>
            </a:r>
            <a:r>
              <a:rPr lang="en-IN" sz="2000" dirty="0" err="1">
                <a:solidFill>
                  <a:schemeClr val="tx1"/>
                </a:solidFill>
                <a:latin typeface="Times New Roman" pitchFamily="18" charset="0"/>
                <a:cs typeface="Times New Roman" pitchFamily="18" charset="0"/>
              </a:rPr>
              <a:t>FaceNet</a:t>
            </a:r>
            <a:r>
              <a:rPr lang="en-IN" sz="2000" dirty="0">
                <a:solidFill>
                  <a:schemeClr val="tx1"/>
                </a:solidFill>
                <a:latin typeface="Times New Roman" pitchFamily="18" charset="0"/>
                <a:cs typeface="Times New Roman" pitchFamily="18" charset="0"/>
              </a:rPr>
              <a:t>, </a:t>
            </a:r>
            <a:r>
              <a:rPr lang="en-IN" sz="2000" dirty="0" err="1">
                <a:solidFill>
                  <a:schemeClr val="tx1"/>
                </a:solidFill>
                <a:latin typeface="Times New Roman" pitchFamily="18" charset="0"/>
                <a:cs typeface="Times New Roman" pitchFamily="18" charset="0"/>
              </a:rPr>
              <a:t>DefectNet</a:t>
            </a:r>
            <a:r>
              <a:rPr lang="en-IN" sz="2000" dirty="0">
                <a:solidFill>
                  <a:schemeClr val="tx1"/>
                </a:solidFill>
                <a:latin typeface="Times New Roman" pitchFamily="18" charset="0"/>
                <a:cs typeface="Times New Roman" pitchFamily="18" charset="0"/>
              </a:rPr>
              <a:t>, </a:t>
            </a:r>
            <a:r>
              <a:rPr lang="en-IN" sz="2000" dirty="0" err="1">
                <a:solidFill>
                  <a:schemeClr val="tx1"/>
                </a:solidFill>
                <a:latin typeface="Times New Roman" pitchFamily="18" charset="0"/>
                <a:cs typeface="Times New Roman" pitchFamily="18" charset="0"/>
              </a:rPr>
              <a:t>SegNet</a:t>
            </a:r>
            <a:r>
              <a:rPr lang="en-IN" sz="2000" dirty="0">
                <a:solidFill>
                  <a:schemeClr val="tx1"/>
                </a:solidFill>
                <a:latin typeface="Times New Roman" pitchFamily="18" charset="0"/>
                <a:cs typeface="Times New Roman" pitchFamily="18" charset="0"/>
              </a:rPr>
              <a:t> etc.</a:t>
            </a:r>
            <a:endParaRPr lang="en-US" sz="2000" dirty="0">
              <a:solidFill>
                <a:schemeClr val="tx1"/>
              </a:solidFill>
              <a:latin typeface="Times New Roman" pitchFamily="18" charset="0"/>
              <a:cs typeface="Times New Roman" pitchFamily="18" charset="0"/>
            </a:endParaRPr>
          </a:p>
        </p:txBody>
      </p:sp>
      <p:pic>
        <p:nvPicPr>
          <p:cNvPr id="205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13051" t="27381" r="28383" b="23809"/>
          <a:stretch/>
        </p:blipFill>
        <p:spPr bwMode="auto">
          <a:xfrm>
            <a:off x="4311806" y="4593771"/>
            <a:ext cx="4832194" cy="2264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 y="4876800"/>
            <a:ext cx="4419599" cy="198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73380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US" sz="2800" dirty="0">
                <a:solidFill>
                  <a:srgbClr val="FF0000"/>
                </a:solidFill>
                <a:latin typeface="Times New Roman" pitchFamily="18" charset="0"/>
                <a:cs typeface="Times New Roman" pitchFamily="18" charset="0"/>
              </a:rPr>
              <a:t>Real time applications on AI/ML/DL/DS</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867400"/>
          </a:xfrm>
        </p:spPr>
        <p:txBody>
          <a:bodyPr>
            <a:noAutofit/>
          </a:bodyPr>
          <a:lstStyle/>
          <a:p>
            <a:pPr marL="285750" indent="-285750" algn="just">
              <a:buFont typeface="Arial" pitchFamily="34" charset="0"/>
              <a:buChar char="•"/>
            </a:pPr>
            <a:r>
              <a:rPr lang="en-US" sz="2000" b="1" dirty="0">
                <a:solidFill>
                  <a:schemeClr val="tx1"/>
                </a:solidFill>
                <a:latin typeface="Times New Roman" pitchFamily="18" charset="0"/>
                <a:cs typeface="Times New Roman" pitchFamily="18" charset="0"/>
              </a:rPr>
              <a:t>Autonomous Vehicles: </a:t>
            </a:r>
            <a:r>
              <a:rPr lang="en-US" sz="2000" dirty="0">
                <a:solidFill>
                  <a:schemeClr val="tx1"/>
                </a:solidFill>
                <a:latin typeface="Times New Roman" pitchFamily="18" charset="0"/>
                <a:cs typeface="Times New Roman" pitchFamily="18" charset="0"/>
              </a:rPr>
              <a:t>AI and ML technologies are at the core of autonomous vehicles, enabling real-time perception, decision-making, and control. These systems analyze sensor data, such as cameras and </a:t>
            </a:r>
            <a:r>
              <a:rPr lang="en-US" sz="2000" dirty="0" err="1">
                <a:solidFill>
                  <a:schemeClr val="tx1"/>
                </a:solidFill>
                <a:latin typeface="Times New Roman" pitchFamily="18" charset="0"/>
                <a:cs typeface="Times New Roman" pitchFamily="18" charset="0"/>
              </a:rPr>
              <a:t>LiDAR</a:t>
            </a:r>
            <a:r>
              <a:rPr lang="en-US" sz="2000" dirty="0">
                <a:solidFill>
                  <a:schemeClr val="tx1"/>
                </a:solidFill>
                <a:latin typeface="Times New Roman" pitchFamily="18" charset="0"/>
                <a:cs typeface="Times New Roman" pitchFamily="18" charset="0"/>
              </a:rPr>
              <a:t>, to detect objects, navigate roads, and make driving decisions in real time.</a:t>
            </a:r>
          </a:p>
          <a:p>
            <a:pPr marL="285750" indent="-285750" algn="just">
              <a:buFont typeface="Arial" pitchFamily="34" charset="0"/>
              <a:buChar char="•"/>
            </a:pPr>
            <a:r>
              <a:rPr lang="en-US" sz="2000" b="1" dirty="0">
                <a:solidFill>
                  <a:schemeClr val="tx1"/>
                </a:solidFill>
                <a:latin typeface="Times New Roman" pitchFamily="18" charset="0"/>
                <a:cs typeface="Times New Roman" pitchFamily="18" charset="0"/>
              </a:rPr>
              <a:t>Virtual assistants: </a:t>
            </a:r>
            <a:r>
              <a:rPr lang="en-US" sz="2000" dirty="0">
                <a:solidFill>
                  <a:schemeClr val="tx1"/>
                </a:solidFill>
                <a:latin typeface="Times New Roman" pitchFamily="18" charset="0"/>
                <a:cs typeface="Times New Roman" pitchFamily="18" charset="0"/>
              </a:rPr>
              <a:t>Virtual assistants like </a:t>
            </a:r>
            <a:r>
              <a:rPr lang="en-US" sz="2000" dirty="0" err="1">
                <a:solidFill>
                  <a:schemeClr val="tx1"/>
                </a:solidFill>
                <a:latin typeface="Times New Roman" pitchFamily="18" charset="0"/>
                <a:cs typeface="Times New Roman" pitchFamily="18" charset="0"/>
              </a:rPr>
              <a:t>Siri</a:t>
            </a:r>
            <a:r>
              <a:rPr lang="en-US" sz="2000" dirty="0">
                <a:solidFill>
                  <a:schemeClr val="tx1"/>
                </a:solidFill>
                <a:latin typeface="Times New Roman" pitchFamily="18" charset="0"/>
                <a:cs typeface="Times New Roman" pitchFamily="18" charset="0"/>
              </a:rPr>
              <a:t> and </a:t>
            </a:r>
            <a:r>
              <a:rPr lang="en-US" sz="2000" dirty="0" err="1">
                <a:solidFill>
                  <a:schemeClr val="tx1"/>
                </a:solidFill>
                <a:latin typeface="Times New Roman" pitchFamily="18" charset="0"/>
                <a:cs typeface="Times New Roman" pitchFamily="18" charset="0"/>
              </a:rPr>
              <a:t>Alexa</a:t>
            </a:r>
            <a:r>
              <a:rPr lang="en-US" sz="2000" dirty="0">
                <a:solidFill>
                  <a:schemeClr val="tx1"/>
                </a:solidFill>
                <a:latin typeface="Times New Roman" pitchFamily="18" charset="0"/>
                <a:cs typeface="Times New Roman" pitchFamily="18" charset="0"/>
              </a:rPr>
              <a:t> use AI to understand natural language and respond to user requests.</a:t>
            </a:r>
          </a:p>
          <a:p>
            <a:pPr marL="285750" indent="-285750" algn="just">
              <a:buFont typeface="Arial" pitchFamily="34" charset="0"/>
              <a:buChar char="•"/>
            </a:pPr>
            <a:r>
              <a:rPr lang="en-US" sz="2000" b="1" dirty="0">
                <a:solidFill>
                  <a:schemeClr val="tx1"/>
                </a:solidFill>
                <a:latin typeface="Times New Roman" pitchFamily="18" charset="0"/>
                <a:cs typeface="Times New Roman" pitchFamily="18" charset="0"/>
              </a:rPr>
              <a:t>Risk assessment: </a:t>
            </a:r>
            <a:r>
              <a:rPr lang="en-US" sz="2000" dirty="0">
                <a:solidFill>
                  <a:schemeClr val="tx1"/>
                </a:solidFill>
                <a:latin typeface="Times New Roman" pitchFamily="18" charset="0"/>
                <a:cs typeface="Times New Roman" pitchFamily="18" charset="0"/>
              </a:rPr>
              <a:t>AI and machine learning are used to assess risk in real time, such as the risk of a customer defaulting on a loan.</a:t>
            </a:r>
          </a:p>
          <a:p>
            <a:pPr marL="285750" indent="-285750" algn="just">
              <a:buFont typeface="Arial" pitchFamily="34" charset="0"/>
              <a:buChar char="•"/>
            </a:pPr>
            <a:r>
              <a:rPr lang="en-US" sz="2000" b="1" dirty="0">
                <a:solidFill>
                  <a:schemeClr val="tx1"/>
                </a:solidFill>
                <a:latin typeface="Times New Roman" pitchFamily="18" charset="0"/>
                <a:cs typeface="Times New Roman" pitchFamily="18" charset="0"/>
              </a:rPr>
              <a:t>Healthcare: </a:t>
            </a:r>
            <a:r>
              <a:rPr lang="en-US" sz="2000" dirty="0">
                <a:solidFill>
                  <a:schemeClr val="tx1"/>
                </a:solidFill>
                <a:latin typeface="Times New Roman" pitchFamily="18" charset="0"/>
                <a:cs typeface="Times New Roman" pitchFamily="18" charset="0"/>
              </a:rPr>
              <a:t>AI and machine learning are used to diagnose diseases, recommend treatments, and monitor patients in real time.</a:t>
            </a:r>
          </a:p>
          <a:p>
            <a:pPr marL="285750" indent="-285750" algn="just">
              <a:buFont typeface="Arial" pitchFamily="34" charset="0"/>
              <a:buChar char="•"/>
            </a:pPr>
            <a:r>
              <a:rPr lang="en-US" sz="2000" b="1" dirty="0">
                <a:solidFill>
                  <a:schemeClr val="tx1"/>
                </a:solidFill>
                <a:latin typeface="Times New Roman" pitchFamily="18" charset="0"/>
                <a:cs typeface="Times New Roman" pitchFamily="18" charset="0"/>
              </a:rPr>
              <a:t>Manufacturing: </a:t>
            </a:r>
            <a:r>
              <a:rPr lang="en-US" sz="2000" dirty="0">
                <a:solidFill>
                  <a:schemeClr val="tx1"/>
                </a:solidFill>
                <a:latin typeface="Times New Roman" pitchFamily="18" charset="0"/>
                <a:cs typeface="Times New Roman" pitchFamily="18" charset="0"/>
              </a:rPr>
              <a:t>AI and machine learning are used to optimize production processes, improve product quality, and prevent defects in real time.</a:t>
            </a:r>
          </a:p>
          <a:p>
            <a:pPr marL="285750" indent="-285750" algn="just">
              <a:buFont typeface="Arial" pitchFamily="34" charset="0"/>
              <a:buChar char="•"/>
            </a:pPr>
            <a:r>
              <a:rPr lang="en-US" sz="2000" b="1" dirty="0">
                <a:solidFill>
                  <a:schemeClr val="tx1"/>
                </a:solidFill>
                <a:latin typeface="Times New Roman" pitchFamily="18" charset="0"/>
                <a:cs typeface="Times New Roman" pitchFamily="18" charset="0"/>
              </a:rPr>
              <a:t>Retail: </a:t>
            </a:r>
            <a:r>
              <a:rPr lang="en-US" sz="2000" dirty="0">
                <a:solidFill>
                  <a:schemeClr val="tx1"/>
                </a:solidFill>
                <a:latin typeface="Times New Roman" pitchFamily="18" charset="0"/>
                <a:cs typeface="Times New Roman" pitchFamily="18" charset="0"/>
              </a:rPr>
              <a:t>AI and machine learning are used to personalize shopping experiences, recommend products, and prevent fraud in real time.</a:t>
            </a:r>
          </a:p>
          <a:p>
            <a:pPr marL="285750" indent="-285750" algn="just">
              <a:buFont typeface="Arial" pitchFamily="34" charset="0"/>
              <a:buChar char="•"/>
            </a:pPr>
            <a:r>
              <a:rPr lang="en-US" sz="2000" b="1" dirty="0">
                <a:solidFill>
                  <a:schemeClr val="tx1"/>
                </a:solidFill>
                <a:latin typeface="Times New Roman" pitchFamily="18" charset="0"/>
                <a:cs typeface="Times New Roman" pitchFamily="18" charset="0"/>
              </a:rPr>
              <a:t>Financial services: </a:t>
            </a:r>
            <a:r>
              <a:rPr lang="en-US" sz="2000" dirty="0">
                <a:solidFill>
                  <a:schemeClr val="tx1"/>
                </a:solidFill>
                <a:latin typeface="Times New Roman" pitchFamily="18" charset="0"/>
                <a:cs typeface="Times New Roman" pitchFamily="18" charset="0"/>
              </a:rPr>
              <a:t>AI and machine learning are used to manage risk, make investment decisions, and prevent fraud in real time.</a:t>
            </a:r>
          </a:p>
          <a:p>
            <a:pPr marL="285750" indent="-285750" algn="just">
              <a:buFont typeface="Arial" pitchFamily="34" charset="0"/>
              <a:buChar char="•"/>
            </a:pPr>
            <a:endParaRPr lang="en-US" sz="2000" dirty="0">
              <a:solidFill>
                <a:schemeClr val="tx1"/>
              </a:solidFill>
              <a:latin typeface="Times New Roman" pitchFamily="18" charset="0"/>
              <a:cs typeface="Times New Roman" pitchFamily="18" charset="0"/>
            </a:endParaRPr>
          </a:p>
          <a:p>
            <a:pPr marL="285750" indent="-285750" algn="just">
              <a:buFont typeface="Arial" pitchFamily="34" charset="0"/>
              <a:buChar char="•"/>
            </a:pPr>
            <a:endParaRPr lang="en-US" sz="20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41519532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US" sz="2800" dirty="0">
                <a:solidFill>
                  <a:srgbClr val="FF0000"/>
                </a:solidFill>
                <a:latin typeface="Times New Roman" pitchFamily="18" charset="0"/>
                <a:cs typeface="Times New Roman" pitchFamily="18" charset="0"/>
              </a:rPr>
              <a:t>Real time applications on AI/ML/DL/DS</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867400"/>
          </a:xfrm>
        </p:spPr>
        <p:txBody>
          <a:bodyPr>
            <a:noAutofit/>
          </a:bodyPr>
          <a:lstStyle/>
          <a:p>
            <a:pPr marL="285750" indent="-285750" algn="just">
              <a:buFont typeface="Arial" pitchFamily="34" charset="0"/>
              <a:buChar char="•"/>
            </a:pPr>
            <a:r>
              <a:rPr lang="en-US" sz="2000" b="1" dirty="0">
                <a:solidFill>
                  <a:schemeClr val="tx1"/>
                </a:solidFill>
                <a:latin typeface="Times New Roman" pitchFamily="18" charset="0"/>
                <a:cs typeface="Times New Roman" pitchFamily="18" charset="0"/>
              </a:rPr>
              <a:t>Natural Language Processing (NLP) and </a:t>
            </a:r>
            <a:r>
              <a:rPr lang="en-US" sz="2000" b="1" dirty="0" err="1">
                <a:solidFill>
                  <a:schemeClr val="tx1"/>
                </a:solidFill>
                <a:latin typeface="Times New Roman" pitchFamily="18" charset="0"/>
                <a:cs typeface="Times New Roman" pitchFamily="18" charset="0"/>
              </a:rPr>
              <a:t>Chatbots</a:t>
            </a:r>
            <a:r>
              <a:rPr lang="en-US" sz="2000" b="1" dirty="0">
                <a:solidFill>
                  <a:schemeClr val="tx1"/>
                </a:solidFill>
                <a:latin typeface="Times New Roman" pitchFamily="18" charset="0"/>
                <a:cs typeface="Times New Roman" pitchFamily="18" charset="0"/>
              </a:rPr>
              <a:t>: </a:t>
            </a:r>
            <a:r>
              <a:rPr lang="en-US" sz="2000" dirty="0">
                <a:solidFill>
                  <a:schemeClr val="tx1"/>
                </a:solidFill>
                <a:latin typeface="Times New Roman" pitchFamily="18" charset="0"/>
                <a:cs typeface="Times New Roman" pitchFamily="18" charset="0"/>
              </a:rPr>
              <a:t>AI and ML techniques are used to develop </a:t>
            </a:r>
            <a:r>
              <a:rPr lang="en-US" sz="2000" dirty="0" err="1">
                <a:solidFill>
                  <a:schemeClr val="tx1"/>
                </a:solidFill>
                <a:latin typeface="Times New Roman" pitchFamily="18" charset="0"/>
                <a:cs typeface="Times New Roman" pitchFamily="18" charset="0"/>
              </a:rPr>
              <a:t>chatbots</a:t>
            </a:r>
            <a:r>
              <a:rPr lang="en-US" sz="2000" dirty="0">
                <a:solidFill>
                  <a:schemeClr val="tx1"/>
                </a:solidFill>
                <a:latin typeface="Times New Roman" pitchFamily="18" charset="0"/>
                <a:cs typeface="Times New Roman" pitchFamily="18" charset="0"/>
              </a:rPr>
              <a:t> and virtual assistants that can understand and respond to natural language queries in real time. These systems enable businesses to provide instant customer support, automate repetitive tasks, and enhance user experiences.</a:t>
            </a:r>
          </a:p>
          <a:p>
            <a:pPr marL="285750" indent="-285750" algn="just">
              <a:buFont typeface="Arial" pitchFamily="34" charset="0"/>
              <a:buChar char="•"/>
            </a:pPr>
            <a:r>
              <a:rPr lang="en-US" sz="2000" b="1" dirty="0">
                <a:solidFill>
                  <a:schemeClr val="tx1"/>
                </a:solidFill>
                <a:latin typeface="Times New Roman" pitchFamily="18" charset="0"/>
                <a:cs typeface="Times New Roman" pitchFamily="18" charset="0"/>
              </a:rPr>
              <a:t>Image and Video Recognition: </a:t>
            </a:r>
            <a:r>
              <a:rPr lang="en-US" sz="2000" dirty="0">
                <a:solidFill>
                  <a:schemeClr val="tx1"/>
                </a:solidFill>
                <a:latin typeface="Times New Roman" pitchFamily="18" charset="0"/>
                <a:cs typeface="Times New Roman" pitchFamily="18" charset="0"/>
              </a:rPr>
              <a:t>AI and DL algorithms are used to analyze and recognize objects, faces, and scenes in real-time images and videos. Applications include facial recognition for security purposes, object detection in autonomous vehicles, and real-time video analytics for surveillance systems.</a:t>
            </a:r>
          </a:p>
          <a:p>
            <a:pPr marL="285750" indent="-285750" algn="just">
              <a:buFont typeface="Arial" pitchFamily="34" charset="0"/>
              <a:buChar char="•"/>
            </a:pPr>
            <a:r>
              <a:rPr lang="en-US" sz="2000" b="1" dirty="0">
                <a:solidFill>
                  <a:schemeClr val="tx1"/>
                </a:solidFill>
                <a:latin typeface="Times New Roman" pitchFamily="18" charset="0"/>
                <a:cs typeface="Times New Roman" pitchFamily="18" charset="0"/>
              </a:rPr>
              <a:t>Fraud Detection and Anomaly Detection: </a:t>
            </a:r>
            <a:r>
              <a:rPr lang="en-US" sz="2000" dirty="0">
                <a:solidFill>
                  <a:schemeClr val="tx1"/>
                </a:solidFill>
                <a:latin typeface="Times New Roman" pitchFamily="18" charset="0"/>
                <a:cs typeface="Times New Roman" pitchFamily="18" charset="0"/>
              </a:rPr>
              <a:t>ML and DS techniques are employed to detect fraudulent activities in real time, such as credit card fraud, insurance fraud, or network intrusion. By analyzing patterns and deviations from normal behavior, these systems can quickly flag and respond to potential fraud.</a:t>
            </a:r>
          </a:p>
          <a:p>
            <a:pPr marL="285750" indent="-285750" algn="just">
              <a:buFont typeface="Arial" pitchFamily="34" charset="0"/>
              <a:buChar char="•"/>
            </a:pPr>
            <a:r>
              <a:rPr lang="en-US" sz="2000" b="1" dirty="0">
                <a:solidFill>
                  <a:schemeClr val="tx1"/>
                </a:solidFill>
                <a:latin typeface="Times New Roman" pitchFamily="18" charset="0"/>
                <a:cs typeface="Times New Roman" pitchFamily="18" charset="0"/>
              </a:rPr>
              <a:t>Predictive Maintenance: </a:t>
            </a:r>
            <a:r>
              <a:rPr lang="en-US" sz="2000" dirty="0">
                <a:solidFill>
                  <a:schemeClr val="tx1"/>
                </a:solidFill>
                <a:latin typeface="Times New Roman" pitchFamily="18" charset="0"/>
                <a:cs typeface="Times New Roman" pitchFamily="18" charset="0"/>
              </a:rPr>
              <a:t>ML models can be used for real-time monitoring and prediction of equipment failures and maintenance needs. By analyzing sensor data and historical patterns, organizations can identify potential issues before they occur, optimize maintenance schedules, and reduce downtime.</a:t>
            </a:r>
          </a:p>
        </p:txBody>
      </p:sp>
    </p:spTree>
    <p:extLst>
      <p:ext uri="{BB962C8B-B14F-4D97-AF65-F5344CB8AC3E}">
        <p14:creationId xmlns:p14="http://schemas.microsoft.com/office/powerpoint/2010/main" val="41292528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US" sz="2800" dirty="0">
                <a:solidFill>
                  <a:srgbClr val="FF0000"/>
                </a:solidFill>
                <a:latin typeface="Times New Roman" pitchFamily="18" charset="0"/>
                <a:cs typeface="Times New Roman" pitchFamily="18" charset="0"/>
              </a:rPr>
              <a:t>Real time applications on AI/ML/DL/DS</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867400"/>
          </a:xfrm>
        </p:spPr>
        <p:txBody>
          <a:bodyPr>
            <a:noAutofit/>
          </a:bodyPr>
          <a:lstStyle/>
          <a:p>
            <a:pPr marL="285750" indent="-285750" algn="just">
              <a:buFont typeface="Arial" pitchFamily="34" charset="0"/>
              <a:buChar char="•"/>
            </a:pPr>
            <a:r>
              <a:rPr lang="en-US" sz="2000" b="1" dirty="0">
                <a:solidFill>
                  <a:schemeClr val="tx1"/>
                </a:solidFill>
                <a:latin typeface="Times New Roman" pitchFamily="18" charset="0"/>
                <a:cs typeface="Times New Roman" pitchFamily="18" charset="0"/>
              </a:rPr>
              <a:t>Financial Trading and Algorithmic Trading: </a:t>
            </a:r>
            <a:r>
              <a:rPr lang="en-US" sz="2000" dirty="0">
                <a:solidFill>
                  <a:schemeClr val="tx1"/>
                </a:solidFill>
                <a:latin typeface="Times New Roman" pitchFamily="18" charset="0"/>
                <a:cs typeface="Times New Roman" pitchFamily="18" charset="0"/>
              </a:rPr>
              <a:t>AI and ML algorithms are utilized in real-time financial trading to analyze market data, identify patterns, and make trading decisions. High-frequency trading relies on real-time data analysis and rapid decision-making to execute trades at optimal prices.</a:t>
            </a:r>
          </a:p>
          <a:p>
            <a:pPr marL="285750" indent="-285750" algn="just">
              <a:buFont typeface="Arial" pitchFamily="34" charset="0"/>
              <a:buChar char="•"/>
            </a:pPr>
            <a:r>
              <a:rPr lang="en-US" sz="2000" b="1" dirty="0">
                <a:solidFill>
                  <a:schemeClr val="tx1"/>
                </a:solidFill>
                <a:latin typeface="Times New Roman" pitchFamily="18" charset="0"/>
                <a:cs typeface="Times New Roman" pitchFamily="18" charset="0"/>
              </a:rPr>
              <a:t>Recommendation Systems: </a:t>
            </a:r>
            <a:r>
              <a:rPr lang="en-US" sz="2000" dirty="0">
                <a:solidFill>
                  <a:schemeClr val="tx1"/>
                </a:solidFill>
                <a:latin typeface="Times New Roman" pitchFamily="18" charset="0"/>
                <a:cs typeface="Times New Roman" pitchFamily="18" charset="0"/>
              </a:rPr>
              <a:t>Real-time recommendation systems, powered by ML and DL techniques, analyze user behavior and preferences to provide personalized recommendations in various domains such as e-commerce, streaming services, and content platforms.</a:t>
            </a:r>
          </a:p>
          <a:p>
            <a:pPr marL="285750" indent="-285750" algn="just">
              <a:buFont typeface="Arial" pitchFamily="34" charset="0"/>
              <a:buChar char="•"/>
            </a:pPr>
            <a:r>
              <a:rPr lang="en-US" sz="2000" b="1" dirty="0">
                <a:solidFill>
                  <a:schemeClr val="tx1"/>
                </a:solidFill>
                <a:latin typeface="Times New Roman" pitchFamily="18" charset="0"/>
                <a:cs typeface="Times New Roman" pitchFamily="18" charset="0"/>
              </a:rPr>
              <a:t>Sentiment Analysis and Social Media Monitoring: </a:t>
            </a:r>
            <a:r>
              <a:rPr lang="en-US" sz="2000" dirty="0">
                <a:solidFill>
                  <a:schemeClr val="tx1"/>
                </a:solidFill>
                <a:latin typeface="Times New Roman" pitchFamily="18" charset="0"/>
                <a:cs typeface="Times New Roman" pitchFamily="18" charset="0"/>
              </a:rPr>
              <a:t>ML and NLP techniques are used to analyze social media streams and real-time customer feedback to understand sentiment, monitor brand reputation, and detect emerging trends or issues.</a:t>
            </a:r>
          </a:p>
          <a:p>
            <a:pPr marL="285750" indent="-285750" algn="just">
              <a:buFont typeface="Arial" pitchFamily="34" charset="0"/>
              <a:buChar char="•"/>
            </a:pPr>
            <a:r>
              <a:rPr lang="en-US" sz="2000" b="1" dirty="0">
                <a:solidFill>
                  <a:schemeClr val="tx1"/>
                </a:solidFill>
                <a:latin typeface="Times New Roman" pitchFamily="18" charset="0"/>
                <a:cs typeface="Times New Roman" pitchFamily="18" charset="0"/>
              </a:rPr>
              <a:t>In the healthcare industry:</a:t>
            </a:r>
            <a:r>
              <a:rPr lang="en-US" sz="2000" dirty="0">
                <a:solidFill>
                  <a:schemeClr val="tx1"/>
                </a:solidFill>
                <a:latin typeface="Times New Roman" pitchFamily="18" charset="0"/>
                <a:cs typeface="Times New Roman" pitchFamily="18" charset="0"/>
              </a:rPr>
              <a:t> AI is being used to develop new treatments for diseases, diagnose diseases more accurately, and monitor patients remotely. For example, Google AI has developed a new AI system that can diagnose skin cancer as accurately as a dermatologist.</a:t>
            </a:r>
            <a:endParaRPr lang="en-US" sz="2000"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10952352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399</TotalTime>
  <Words>2614</Words>
  <Application>Microsoft Office PowerPoint</Application>
  <PresentationFormat>On-screen Show (4:3)</PresentationFormat>
  <Paragraphs>103</Paragraphs>
  <Slides>16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Times New Roman</vt:lpstr>
      <vt:lpstr>Office Theme</vt:lpstr>
      <vt:lpstr>Adaptive Computer Technologies MR22-1ES0104 L-2, P-2, C-3</vt:lpstr>
      <vt:lpstr>Chapter 5- Data Science and Google Technologies</vt:lpstr>
      <vt:lpstr>Data-Information-Knowledge</vt:lpstr>
      <vt:lpstr>Data-Information-Knowledge</vt:lpstr>
      <vt:lpstr>Data bases-Data warehouse- Big data</vt:lpstr>
      <vt:lpstr>Data bases-Data warehouse- Big data</vt:lpstr>
      <vt:lpstr>Data bases-Data warehouse- Big data</vt:lpstr>
      <vt:lpstr>Supervised learning</vt:lpstr>
      <vt:lpstr>Unsupervised learning</vt:lpstr>
      <vt:lpstr>Reinforcement learning WRT Data Mining</vt:lpstr>
      <vt:lpstr>Machine learning</vt:lpstr>
      <vt:lpstr>Artificial Intelligence</vt:lpstr>
      <vt:lpstr>Deep Learning</vt:lpstr>
      <vt:lpstr>Real time applications on AI/ML/DL/DS</vt:lpstr>
      <vt:lpstr>Real time applications on AI/ML/DL/DS</vt:lpstr>
      <vt:lpstr>Real time applications on AI/ML/DL/DS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Adaptive Computer Technologies MR22-1ES0104 L-2, P-2, C-3</dc:title>
  <dc:creator>Gopi Tilak</dc:creator>
  <cp:lastModifiedBy>Subhapreet Patro</cp:lastModifiedBy>
  <cp:revision>52</cp:revision>
  <dcterms:created xsi:type="dcterms:W3CDTF">2006-08-16T00:00:00Z</dcterms:created>
  <dcterms:modified xsi:type="dcterms:W3CDTF">2023-07-23T05:36:14Z</dcterms:modified>
</cp:coreProperties>
</file>