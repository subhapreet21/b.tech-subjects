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325" r:id="rId2"/>
    <p:sldId id="324" r:id="rId3"/>
    <p:sldId id="261" r:id="rId4"/>
    <p:sldId id="262" r:id="rId5"/>
    <p:sldId id="268" r:id="rId6"/>
    <p:sldId id="269" r:id="rId7"/>
    <p:sldId id="270" r:id="rId8"/>
    <p:sldId id="271" r:id="rId9"/>
    <p:sldId id="272" r:id="rId10"/>
    <p:sldId id="273" r:id="rId11"/>
    <p:sldId id="264" r:id="rId12"/>
    <p:sldId id="265" r:id="rId13"/>
    <p:sldId id="263" r:id="rId14"/>
    <p:sldId id="266" r:id="rId15"/>
    <p:sldId id="274" r:id="rId16"/>
    <p:sldId id="275" r:id="rId17"/>
    <p:sldId id="276" r:id="rId18"/>
    <p:sldId id="277" r:id="rId19"/>
    <p:sldId id="301"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20" r:id="rId57"/>
    <p:sldId id="321" r:id="rId58"/>
    <p:sldId id="322" r:id="rId59"/>
    <p:sldId id="317" r:id="rId60"/>
    <p:sldId id="318" r:id="rId61"/>
    <p:sldId id="319"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66" d="100"/>
          <a:sy n="66" d="100"/>
        </p:scale>
        <p:origin x="-1506" y="-14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A66D7A-A2EC-44DD-84C9-00226612FCA0}" type="datetimeFigureOut">
              <a:rPr lang="en-US" smtClean="0"/>
              <a:t>04/20/23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51BA7D-6A10-41D6-9B7B-2EB118417C3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D96A8F4-CA93-466F-8333-17019F103A97}"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04/20/23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04/20/23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www.mallareddyuniversity.ac.in/"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geeksforgeeks.org/url-full-for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ormAutofit fontScale="90000"/>
          </a:bodyPr>
          <a:lstStyle/>
          <a:p>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Department of Computer Science &amp; Engineering </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smtClean="0">
              <a:latin typeface="Times New Roman" pitchFamily="18" charset="0"/>
              <a:cs typeface="Times New Roman" pitchFamily="18" charset="0"/>
            </a:endParaRPr>
          </a:p>
        </p:txBody>
      </p:sp>
      <p:sp>
        <p:nvSpPr>
          <p:cNvPr id="3075" name="Content Placeholder 2"/>
          <p:cNvSpPr>
            <a:spLocks noGrp="1"/>
          </p:cNvSpPr>
          <p:nvPr>
            <p:ph idx="1"/>
          </p:nvPr>
        </p:nvSpPr>
        <p:spPr/>
        <p:txBody>
          <a:bodyPr/>
          <a:lstStyle/>
          <a:p>
            <a:pPr algn="ctr">
              <a:buFont typeface="Arial" pitchFamily="34" charset="0"/>
              <a:buNone/>
            </a:pPr>
            <a:endParaRPr lang="en-US" sz="2400" dirty="0" smtClean="0"/>
          </a:p>
          <a:p>
            <a:pPr algn="ctr">
              <a:buFont typeface="Arial" pitchFamily="34" charset="0"/>
              <a:buNone/>
            </a:pPr>
            <a:r>
              <a:rPr lang="en-US" sz="2400" dirty="0" smtClean="0"/>
              <a:t>I Year CSE II </a:t>
            </a:r>
            <a:r>
              <a:rPr lang="en-US" sz="2400" dirty="0" err="1" smtClean="0"/>
              <a:t>Sem</a:t>
            </a:r>
            <a:endParaRPr lang="en-US" sz="2400" dirty="0" smtClean="0"/>
          </a:p>
          <a:p>
            <a:pPr algn="ctr">
              <a:buFont typeface="Arial" pitchFamily="34" charset="0"/>
              <a:buNone/>
            </a:pPr>
            <a:r>
              <a:rPr lang="en-US" sz="2400" dirty="0" smtClean="0"/>
              <a:t>Subject: Adaptive Computer Technologies(MR22-1ES0103)</a:t>
            </a:r>
          </a:p>
          <a:p>
            <a:pPr algn="ctr">
              <a:buFont typeface="Arial" pitchFamily="34" charset="0"/>
              <a:buNone/>
            </a:pPr>
            <a:endParaRPr lang="en-US" sz="2400" dirty="0" smtClean="0"/>
          </a:p>
          <a:p>
            <a:pPr algn="ctr">
              <a:buFont typeface="Arial" pitchFamily="34" charset="0"/>
              <a:buNone/>
            </a:pPr>
            <a:r>
              <a:rPr lang="en-US" sz="1800" dirty="0" smtClean="0">
                <a:latin typeface="Times New Roman" pitchFamily="18" charset="0"/>
                <a:cs typeface="Times New Roman" pitchFamily="18" charset="0"/>
              </a:rPr>
              <a:t>Prepared by</a:t>
            </a:r>
          </a:p>
          <a:p>
            <a:pPr algn="ctr">
              <a:buFont typeface="Arial" pitchFamily="34" charset="0"/>
              <a:buNone/>
            </a:pPr>
            <a:r>
              <a:rPr lang="en-US" sz="1600" dirty="0" err="1" smtClean="0">
                <a:latin typeface="Times New Roman" pitchFamily="18" charset="0"/>
                <a:cs typeface="Times New Roman" pitchFamily="18" charset="0"/>
              </a:rPr>
              <a:t>Vikram</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Kalvala</a:t>
            </a:r>
            <a:endParaRPr lang="en-US" sz="1600" dirty="0" smtClean="0">
              <a:latin typeface="Times New Roman" pitchFamily="18" charset="0"/>
              <a:cs typeface="Times New Roman" pitchFamily="18" charset="0"/>
            </a:endParaRPr>
          </a:p>
          <a:p>
            <a:pPr algn="ctr">
              <a:buFont typeface="Arial" pitchFamily="34" charset="0"/>
              <a:buNone/>
            </a:pPr>
            <a:r>
              <a:rPr lang="en-US" sz="1600" dirty="0" err="1" smtClean="0">
                <a:latin typeface="Times New Roman" pitchFamily="18" charset="0"/>
                <a:cs typeface="Times New Roman" pitchFamily="18" charset="0"/>
              </a:rPr>
              <a:t>Asst.Prof</a:t>
            </a:r>
            <a:r>
              <a:rPr lang="en-US" sz="1600" dirty="0" smtClean="0">
                <a:latin typeface="Times New Roman" pitchFamily="18" charset="0"/>
                <a:cs typeface="Times New Roman" pitchFamily="18" charset="0"/>
              </a:rPr>
              <a:t>.</a:t>
            </a:r>
          </a:p>
          <a:p>
            <a:pPr algn="ctr">
              <a:buFont typeface="Arial" pitchFamily="34" charset="0"/>
              <a:buNone/>
            </a:pPr>
            <a:endParaRPr lang="en-US" sz="1600" dirty="0" smtClean="0">
              <a:latin typeface="Times New Roman" pitchFamily="18" charset="0"/>
              <a:cs typeface="Times New Roman" pitchFamily="18" charset="0"/>
            </a:endParaRPr>
          </a:p>
          <a:p>
            <a:pPr algn="ctr">
              <a:buFont typeface="Arial" pitchFamily="34" charset="0"/>
              <a:buNone/>
            </a:pPr>
            <a:endParaRPr lang="en-US" sz="1600" dirty="0" smtClean="0">
              <a:latin typeface="Times New Roman" pitchFamily="18" charset="0"/>
              <a:cs typeface="Times New Roman" pitchFamily="18" charset="0"/>
            </a:endParaRPr>
          </a:p>
          <a:p>
            <a:pPr algn="ctr">
              <a:buFont typeface="Arial" pitchFamily="34" charset="0"/>
              <a:buNone/>
            </a:pPr>
            <a:endParaRPr lang="en-US" sz="1600" dirty="0" smtClean="0">
              <a:latin typeface="Times New Roman" pitchFamily="18" charset="0"/>
              <a:cs typeface="Times New Roman" pitchFamily="18" charset="0"/>
            </a:endParaRPr>
          </a:p>
          <a:p>
            <a:pPr algn="ctr">
              <a:buFont typeface="Arial" pitchFamily="34" charset="0"/>
              <a:buNone/>
            </a:pPr>
            <a:endParaRPr lang="en-US" sz="1600" dirty="0" smtClean="0">
              <a:latin typeface="Times New Roman" pitchFamily="18" charset="0"/>
              <a:cs typeface="Times New Roman" pitchFamily="18" charset="0"/>
            </a:endParaRPr>
          </a:p>
          <a:p>
            <a:pPr algn="ctr">
              <a:buFont typeface="Arial" pitchFamily="34" charset="0"/>
              <a:buNone/>
            </a:pPr>
            <a:endParaRPr lang="en-US" sz="1600" dirty="0" smtClean="0">
              <a:latin typeface="Times New Roman" pitchFamily="18" charset="0"/>
              <a:cs typeface="Times New Roman" pitchFamily="18" charset="0"/>
            </a:endParaRPr>
          </a:p>
          <a:p>
            <a:pPr algn="ctr">
              <a:buFont typeface="Arial" pitchFamily="34" charset="0"/>
              <a:buNone/>
            </a:pPr>
            <a:endParaRPr lang="en-US" sz="1600" dirty="0" smtClean="0">
              <a:latin typeface="Times New Roman" pitchFamily="18" charset="0"/>
              <a:cs typeface="Times New Roman" pitchFamily="18" charset="0"/>
            </a:endParaRPr>
          </a:p>
        </p:txBody>
      </p:sp>
      <p:pic>
        <p:nvPicPr>
          <p:cNvPr id="7" name="Picture 6"/>
          <p:cNvPicPr>
            <a:picLocks noChangeAspect="1" noChangeArrowheads="1"/>
          </p:cNvPicPr>
          <p:nvPr/>
        </p:nvPicPr>
        <p:blipFill>
          <a:blip r:embed="rId3">
            <a:extLst>
              <a:ext uri="{28A0092B-C50C-407E-A947-70E740481C1C}">
                <a14:useLocalDpi xmlns:lc="http://schemas.openxmlformats.org/drawingml/2006/lockedCanvas" xmlns:a14="http://schemas.microsoft.com/office/drawing/2010/main" xmlns:xdr="http://schemas.openxmlformats.org/drawingml/2006/spreadsheetDrawing" xmlns="" val="0"/>
              </a:ext>
            </a:extLst>
          </a:blip>
          <a:srcRect/>
          <a:stretch>
            <a:fillRect/>
          </a:stretch>
        </p:blipFill>
        <p:spPr bwMode="auto">
          <a:xfrm>
            <a:off x="381000" y="5791200"/>
            <a:ext cx="8391524" cy="857250"/>
          </a:xfrm>
          <a:prstGeom prst="rect">
            <a:avLst/>
          </a:prstGeom>
          <a:noFill/>
          <a:extLst>
            <a:ext uri="{909E8E84-426E-40DD-AFC4-6F175D3DCCD1}">
              <a14:hiddenFill xmlns:lc="http://schemas.openxmlformats.org/drawingml/2006/lockedCanvas" xmlns:a14="http://schemas.microsoft.com/office/drawing/2010/main" xmlns:xdr="http://schemas.openxmlformats.org/drawingml/2006/spreadsheetDrawing" xmlns="">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Unit </a:t>
            </a:r>
            <a:r>
              <a:rPr lang="en-IN" sz="2800" dirty="0" smtClean="0">
                <a:solidFill>
                  <a:srgbClr val="FF0000"/>
                </a:solidFill>
                <a:latin typeface="Times New Roman" pitchFamily="18" charset="0"/>
                <a:cs typeface="Times New Roman" pitchFamily="18" charset="0"/>
              </a:rPr>
              <a:t>2- </a:t>
            </a:r>
            <a:r>
              <a:rPr lang="en-IN" sz="2800" dirty="0" smtClean="0">
                <a:solidFill>
                  <a:srgbClr val="FF0000"/>
                </a:solidFill>
                <a:latin typeface="Times New Roman" pitchFamily="18" charset="0"/>
                <a:cs typeface="Times New Roman" pitchFamily="18" charset="0"/>
              </a:rPr>
              <a:t>Internet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IN" sz="2000" b="1" dirty="0">
                <a:solidFill>
                  <a:schemeClr val="tx1"/>
                </a:solidFill>
                <a:latin typeface="Times New Roman" pitchFamily="18" charset="0"/>
                <a:cs typeface="Times New Roman" pitchFamily="18" charset="0"/>
              </a:rPr>
              <a:t>Internet: </a:t>
            </a:r>
            <a:r>
              <a:rPr lang="en-IN" sz="2000" dirty="0">
                <a:solidFill>
                  <a:schemeClr val="tx1"/>
                </a:solidFill>
                <a:latin typeface="Times New Roman" pitchFamily="18" charset="0"/>
                <a:cs typeface="Times New Roman" pitchFamily="18" charset="0"/>
              </a:rPr>
              <a:t>History, Internet Protocol Address, Types of IP Addresses, Domain Name </a:t>
            </a:r>
            <a:r>
              <a:rPr lang="en-IN" sz="2000" dirty="0" smtClean="0">
                <a:solidFill>
                  <a:schemeClr val="tx1"/>
                </a:solidFill>
                <a:latin typeface="Times New Roman" pitchFamily="18" charset="0"/>
                <a:cs typeface="Times New Roman" pitchFamily="18" charset="0"/>
              </a:rPr>
              <a:t>System (DNS), Uniform </a:t>
            </a:r>
            <a:r>
              <a:rPr lang="en-IN" sz="2000" dirty="0">
                <a:solidFill>
                  <a:schemeClr val="tx1"/>
                </a:solidFill>
                <a:latin typeface="Times New Roman" pitchFamily="18" charset="0"/>
                <a:cs typeface="Times New Roman" pitchFamily="18" charset="0"/>
              </a:rPr>
              <a:t>Resource </a:t>
            </a:r>
            <a:r>
              <a:rPr lang="en-IN" sz="2000" dirty="0" smtClean="0">
                <a:solidFill>
                  <a:schemeClr val="tx1"/>
                </a:solidFill>
                <a:latin typeface="Times New Roman" pitchFamily="18" charset="0"/>
                <a:cs typeface="Times New Roman" pitchFamily="18" charset="0"/>
              </a:rPr>
              <a:t>Locator (URL)</a:t>
            </a:r>
            <a:endParaRPr lang="en-IN" sz="20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000" b="1" dirty="0" smtClean="0">
                <a:solidFill>
                  <a:schemeClr val="tx1"/>
                </a:solidFill>
                <a:latin typeface="Times New Roman" pitchFamily="18" charset="0"/>
                <a:cs typeface="Times New Roman" pitchFamily="18" charset="0"/>
              </a:rPr>
              <a:t>Internet </a:t>
            </a:r>
            <a:r>
              <a:rPr lang="en-IN" sz="2000" b="1" dirty="0">
                <a:solidFill>
                  <a:schemeClr val="tx1"/>
                </a:solidFill>
                <a:latin typeface="Times New Roman" pitchFamily="18" charset="0"/>
                <a:cs typeface="Times New Roman" pitchFamily="18" charset="0"/>
              </a:rPr>
              <a:t>Services:</a:t>
            </a:r>
            <a:r>
              <a:rPr lang="en-IN" sz="2000" dirty="0">
                <a:solidFill>
                  <a:schemeClr val="tx1"/>
                </a:solidFill>
                <a:latin typeface="Times New Roman" pitchFamily="18" charset="0"/>
                <a:cs typeface="Times New Roman" pitchFamily="18" charset="0"/>
              </a:rPr>
              <a:t> Electronic Mail, File Transfer Protocol, Chatting, Internet Conferencing, Electronic Newspaper, World Wide </a:t>
            </a:r>
            <a:r>
              <a:rPr lang="en-IN" sz="2000" dirty="0" smtClean="0">
                <a:solidFill>
                  <a:schemeClr val="tx1"/>
                </a:solidFill>
                <a:latin typeface="Times New Roman" pitchFamily="18" charset="0"/>
                <a:cs typeface="Times New Roman" pitchFamily="18" charset="0"/>
              </a:rPr>
              <a:t>Web, </a:t>
            </a:r>
            <a:r>
              <a:rPr lang="en-IN" sz="2000" dirty="0">
                <a:solidFill>
                  <a:schemeClr val="tx1"/>
                </a:solidFill>
                <a:latin typeface="Times New Roman" pitchFamily="18" charset="0"/>
                <a:cs typeface="Times New Roman" pitchFamily="18" charset="0"/>
              </a:rPr>
              <a:t>Online </a:t>
            </a:r>
            <a:r>
              <a:rPr lang="en-IN" sz="2000" dirty="0" smtClean="0">
                <a:solidFill>
                  <a:schemeClr val="tx1"/>
                </a:solidFill>
                <a:latin typeface="Times New Roman" pitchFamily="18" charset="0"/>
                <a:cs typeface="Times New Roman" pitchFamily="18" charset="0"/>
              </a:rPr>
              <a:t>Shopping, </a:t>
            </a:r>
            <a:r>
              <a:rPr lang="en-IN" sz="2000" dirty="0">
                <a:solidFill>
                  <a:schemeClr val="tx1"/>
                </a:solidFill>
                <a:latin typeface="Times New Roman" pitchFamily="18" charset="0"/>
                <a:cs typeface="Times New Roman" pitchFamily="18" charset="0"/>
              </a:rPr>
              <a:t>Search </a:t>
            </a:r>
            <a:r>
              <a:rPr lang="en-IN" sz="2000" dirty="0" smtClean="0">
                <a:solidFill>
                  <a:schemeClr val="tx1"/>
                </a:solidFill>
                <a:latin typeface="Times New Roman" pitchFamily="18" charset="0"/>
                <a:cs typeface="Times New Roman" pitchFamily="18" charset="0"/>
              </a:rPr>
              <a:t>Engine</a:t>
            </a:r>
          </a:p>
          <a:p>
            <a:pPr marL="342900" indent="-342900" algn="just">
              <a:buFont typeface="Arial" pitchFamily="34" charset="0"/>
              <a:buChar char="•"/>
            </a:pPr>
            <a:r>
              <a:rPr lang="en-IN" sz="2000" b="1" dirty="0" smtClean="0">
                <a:solidFill>
                  <a:schemeClr val="tx1"/>
                </a:solidFill>
                <a:latin typeface="Times New Roman" pitchFamily="18" charset="0"/>
                <a:cs typeface="Times New Roman" pitchFamily="18" charset="0"/>
              </a:rPr>
              <a:t>Web </a:t>
            </a:r>
            <a:r>
              <a:rPr lang="en-IN" sz="2000" b="1" dirty="0">
                <a:solidFill>
                  <a:schemeClr val="tx1"/>
                </a:solidFill>
                <a:latin typeface="Times New Roman" pitchFamily="18" charset="0"/>
                <a:cs typeface="Times New Roman" pitchFamily="18" charset="0"/>
              </a:rPr>
              <a:t>Security terminology: </a:t>
            </a:r>
            <a:r>
              <a:rPr lang="en-IN" sz="2000" dirty="0">
                <a:solidFill>
                  <a:schemeClr val="tx1"/>
                </a:solidFill>
                <a:latin typeface="Times New Roman" pitchFamily="18" charset="0"/>
                <a:cs typeface="Times New Roman" pitchFamily="18" charset="0"/>
              </a:rPr>
              <a:t>Virus, Malware, Ransom ware, Trojan Horse, </a:t>
            </a:r>
            <a:r>
              <a:rPr lang="en-IN" sz="2000" dirty="0" smtClean="0">
                <a:solidFill>
                  <a:schemeClr val="tx1"/>
                </a:solidFill>
                <a:latin typeface="Times New Roman" pitchFamily="18" charset="0"/>
                <a:cs typeface="Times New Roman" pitchFamily="18" charset="0"/>
              </a:rPr>
              <a:t>Worm, Bot/Botnet</a:t>
            </a:r>
            <a:r>
              <a:rPr lang="en-IN" sz="2000" dirty="0">
                <a:solidFill>
                  <a:schemeClr val="tx1"/>
                </a:solidFill>
                <a:latin typeface="Times New Roman" pitchFamily="18" charset="0"/>
                <a:cs typeface="Times New Roman" pitchFamily="18" charset="0"/>
              </a:rPr>
              <a:t>, Spy ware, Rootkit, </a:t>
            </a:r>
            <a:r>
              <a:rPr lang="en-IN" sz="2000" dirty="0" err="1">
                <a:solidFill>
                  <a:schemeClr val="tx1"/>
                </a:solidFill>
                <a:latin typeface="Times New Roman" pitchFamily="18" charset="0"/>
                <a:cs typeface="Times New Roman" pitchFamily="18" charset="0"/>
              </a:rPr>
              <a:t>DDos</a:t>
            </a:r>
            <a:r>
              <a:rPr lang="en-IN" sz="2000" dirty="0">
                <a:solidFill>
                  <a:schemeClr val="tx1"/>
                </a:solidFill>
                <a:latin typeface="Times New Roman" pitchFamily="18" charset="0"/>
                <a:cs typeface="Times New Roman" pitchFamily="18" charset="0"/>
              </a:rPr>
              <a:t>, Phishing, </a:t>
            </a:r>
            <a:r>
              <a:rPr lang="en-IN" sz="2000" dirty="0" smtClean="0">
                <a:solidFill>
                  <a:schemeClr val="tx1"/>
                </a:solidFill>
                <a:latin typeface="Times New Roman" pitchFamily="18" charset="0"/>
                <a:cs typeface="Times New Roman" pitchFamily="18" charset="0"/>
              </a:rPr>
              <a:t>Click jacking</a:t>
            </a:r>
            <a:r>
              <a:rPr lang="en-IN" sz="2000" dirty="0">
                <a:solidFill>
                  <a:schemeClr val="tx1"/>
                </a:solidFill>
                <a:latin typeface="Times New Roman" pitchFamily="18" charset="0"/>
                <a:cs typeface="Times New Roman" pitchFamily="18" charset="0"/>
              </a:rPr>
              <a:t>, </a:t>
            </a:r>
            <a:r>
              <a:rPr lang="en-IN" sz="2000" dirty="0" smtClean="0">
                <a:solidFill>
                  <a:schemeClr val="tx1"/>
                </a:solidFill>
                <a:latin typeface="Times New Roman" pitchFamily="18" charset="0"/>
                <a:cs typeface="Times New Roman" pitchFamily="18" charset="0"/>
              </a:rPr>
              <a:t>Deep fake</a:t>
            </a:r>
            <a:r>
              <a:rPr lang="en-IN" sz="2000" dirty="0">
                <a:solidFill>
                  <a:schemeClr val="tx1"/>
                </a:solidFill>
                <a:latin typeface="Times New Roman" pitchFamily="18" charset="0"/>
                <a:cs typeface="Times New Roman" pitchFamily="18" charset="0"/>
              </a:rPr>
              <a:t>, White hat/Black hat, Firewall, Encryption, Decryption, Penetration testing.</a:t>
            </a:r>
          </a:p>
          <a:p>
            <a:pPr algn="just"/>
            <a:r>
              <a:rPr lang="en-IN" sz="2000" b="1" dirty="0">
                <a:solidFill>
                  <a:srgbClr val="FF0000"/>
                </a:solidFill>
                <a:latin typeface="Times New Roman" pitchFamily="18" charset="0"/>
                <a:cs typeface="Times New Roman" pitchFamily="18" charset="0"/>
              </a:rPr>
              <a:t>Casestudy-2: </a:t>
            </a:r>
            <a:r>
              <a:rPr lang="en-IN" sz="2000" dirty="0">
                <a:solidFill>
                  <a:schemeClr val="tx1"/>
                </a:solidFill>
                <a:latin typeface="Times New Roman" pitchFamily="18" charset="0"/>
                <a:cs typeface="Times New Roman" pitchFamily="18" charset="0"/>
              </a:rPr>
              <a:t>Create a Poster/PPT about the differences between website and web portal</a:t>
            </a:r>
          </a:p>
        </p:txBody>
      </p:sp>
    </p:spTree>
    <p:extLst>
      <p:ext uri="{BB962C8B-B14F-4D97-AF65-F5344CB8AC3E}">
        <p14:creationId xmlns:p14="http://schemas.microsoft.com/office/powerpoint/2010/main" xmlns="" val="3029667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History of Internet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Internet started </a:t>
            </a:r>
            <a:r>
              <a:rPr lang="en-US" sz="2200" dirty="0">
                <a:solidFill>
                  <a:schemeClr val="tx1"/>
                </a:solidFill>
                <a:latin typeface="Times New Roman" pitchFamily="18" charset="0"/>
                <a:cs typeface="Times New Roman" pitchFamily="18" charset="0"/>
              </a:rPr>
              <a:t>in the 1960s as a way for government researchers to share information.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Reasons: 1. Computers </a:t>
            </a:r>
            <a:r>
              <a:rPr lang="en-US" sz="2200" dirty="0">
                <a:solidFill>
                  <a:schemeClr val="tx1"/>
                </a:solidFill>
                <a:latin typeface="Times New Roman" pitchFamily="18" charset="0"/>
                <a:cs typeface="Times New Roman" pitchFamily="18" charset="0"/>
              </a:rPr>
              <a:t>in the '60s were large and </a:t>
            </a:r>
            <a:r>
              <a:rPr lang="en-US" sz="2200" dirty="0" smtClean="0">
                <a:solidFill>
                  <a:schemeClr val="tx1"/>
                </a:solidFill>
                <a:latin typeface="Times New Roman" pitchFamily="18" charset="0"/>
                <a:cs typeface="Times New Roman" pitchFamily="18" charset="0"/>
              </a:rPr>
              <a:t>immobile- travel to computer site or magnetic tapes send through the </a:t>
            </a:r>
            <a:r>
              <a:rPr lang="en-US" sz="2200" dirty="0">
                <a:solidFill>
                  <a:schemeClr val="tx1"/>
                </a:solidFill>
                <a:latin typeface="Times New Roman" pitchFamily="18" charset="0"/>
                <a:cs typeface="Times New Roman" pitchFamily="18" charset="0"/>
              </a:rPr>
              <a:t>conventional postal system</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2. The </a:t>
            </a:r>
            <a:r>
              <a:rPr lang="en-US" sz="2200" dirty="0">
                <a:solidFill>
                  <a:schemeClr val="tx1"/>
                </a:solidFill>
                <a:latin typeface="Times New Roman" pitchFamily="18" charset="0"/>
                <a:cs typeface="Times New Roman" pitchFamily="18" charset="0"/>
              </a:rPr>
              <a:t>Cold War. The Soviet Union's </a:t>
            </a:r>
            <a:r>
              <a:rPr lang="en-US" sz="2200" dirty="0" smtClean="0">
                <a:solidFill>
                  <a:schemeClr val="tx1"/>
                </a:solidFill>
                <a:latin typeface="Times New Roman" pitchFamily="18" charset="0"/>
                <a:cs typeface="Times New Roman" pitchFamily="18" charset="0"/>
              </a:rPr>
              <a:t>Sputnik </a:t>
            </a:r>
            <a:r>
              <a:rPr lang="en-US" sz="2200" dirty="0">
                <a:solidFill>
                  <a:schemeClr val="tx1"/>
                </a:solidFill>
                <a:latin typeface="Times New Roman" pitchFamily="18" charset="0"/>
                <a:cs typeface="Times New Roman" pitchFamily="18" charset="0"/>
              </a:rPr>
              <a:t>satellite spurred the U.S. Defense Department to consider ways information could still be disseminated even after a nuclear attack.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This lead to formation of the </a:t>
            </a:r>
            <a:r>
              <a:rPr lang="en-US" sz="2200" dirty="0">
                <a:solidFill>
                  <a:schemeClr val="tx1"/>
                </a:solidFill>
                <a:latin typeface="Times New Roman" pitchFamily="18" charset="0"/>
                <a:cs typeface="Times New Roman" pitchFamily="18" charset="0"/>
              </a:rPr>
              <a:t>ARPANET (Advanced Research Projects Agency Network</a:t>
            </a:r>
            <a:r>
              <a:rPr lang="en-US" sz="2200" dirty="0" smtClean="0">
                <a:solidFill>
                  <a:schemeClr val="tx1"/>
                </a:solidFill>
                <a:latin typeface="Times New Roman" pitchFamily="18" charset="0"/>
                <a:cs typeface="Times New Roman" pitchFamily="18" charset="0"/>
              </a:rPr>
              <a:t>), a big success and evolved as internet.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But access limited to academic </a:t>
            </a:r>
            <a:r>
              <a:rPr lang="en-US" sz="2200" dirty="0">
                <a:solidFill>
                  <a:schemeClr val="tx1"/>
                </a:solidFill>
                <a:latin typeface="Times New Roman" pitchFamily="18" charset="0"/>
                <a:cs typeface="Times New Roman" pitchFamily="18" charset="0"/>
              </a:rPr>
              <a:t>and research organizations who had contracts with the Defense Department.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Other </a:t>
            </a:r>
            <a:r>
              <a:rPr lang="en-US" sz="2200" dirty="0">
                <a:solidFill>
                  <a:schemeClr val="tx1"/>
                </a:solidFill>
                <a:latin typeface="Times New Roman" pitchFamily="18" charset="0"/>
                <a:cs typeface="Times New Roman" pitchFamily="18" charset="0"/>
              </a:rPr>
              <a:t>networks were created to provide information sharing</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January 1, 1983 is considered the official birthday of the Internet</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Prior to this, the various computer networks did not have a standard way to communicate with each other. </a:t>
            </a:r>
            <a:r>
              <a:rPr lang="en-US" sz="2200" dirty="0" smtClean="0">
                <a:solidFill>
                  <a:schemeClr val="tx1"/>
                </a:solidFill>
                <a:latin typeface="Times New Roman" pitchFamily="18" charset="0"/>
                <a:cs typeface="Times New Roman" pitchFamily="18" charset="0"/>
              </a:rPr>
              <a:t> </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40974499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History of Internet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new communications protocol </a:t>
            </a:r>
            <a:r>
              <a:rPr lang="en-US" sz="2200" dirty="0" smtClean="0">
                <a:solidFill>
                  <a:schemeClr val="tx1"/>
                </a:solidFill>
                <a:latin typeface="Times New Roman" pitchFamily="18" charset="0"/>
                <a:cs typeface="Times New Roman" pitchFamily="18" charset="0"/>
              </a:rPr>
              <a:t>called </a:t>
            </a:r>
            <a:r>
              <a:rPr lang="en-US" sz="2200" dirty="0">
                <a:solidFill>
                  <a:schemeClr val="tx1"/>
                </a:solidFill>
                <a:latin typeface="Times New Roman" pitchFamily="18" charset="0"/>
                <a:cs typeface="Times New Roman" pitchFamily="18" charset="0"/>
              </a:rPr>
              <a:t>Transfer Control Protocol/Internetwork Protocol (TCP/IP) was </a:t>
            </a:r>
            <a:r>
              <a:rPr lang="en-US" sz="2200" dirty="0" smtClean="0">
                <a:solidFill>
                  <a:schemeClr val="tx1"/>
                </a:solidFill>
                <a:latin typeface="Times New Roman" pitchFamily="18" charset="0"/>
                <a:cs typeface="Times New Roman" pitchFamily="18" charset="0"/>
              </a:rPr>
              <a:t>established that </a:t>
            </a:r>
            <a:r>
              <a:rPr lang="en-US" sz="2200" dirty="0">
                <a:solidFill>
                  <a:schemeClr val="tx1"/>
                </a:solidFill>
                <a:latin typeface="Times New Roman" pitchFamily="18" charset="0"/>
                <a:cs typeface="Times New Roman" pitchFamily="18" charset="0"/>
              </a:rPr>
              <a:t>allowed different kinds of computers on different networks to "talk" to each other</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ARPANET and the Defense Data Network officially changed to the TCP/IP standard on January 1, 1983, hence the birth of the Internet.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All </a:t>
            </a:r>
            <a:r>
              <a:rPr lang="en-US" sz="2200" dirty="0">
                <a:solidFill>
                  <a:schemeClr val="tx1"/>
                </a:solidFill>
                <a:latin typeface="Times New Roman" pitchFamily="18" charset="0"/>
                <a:cs typeface="Times New Roman" pitchFamily="18" charset="0"/>
              </a:rPr>
              <a:t>networks could now be connected by a universal language</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bg1">
                    <a:lumMod val="95000"/>
                  </a:schemeClr>
                </a:solidFill>
                <a:latin typeface="Times New Roman" pitchFamily="18" charset="0"/>
                <a:cs typeface="Times New Roman" pitchFamily="18" charset="0"/>
              </a:rPr>
              <a:t>https://www.usg.edu/galileo/skills/unit07/internet07_02.phtml</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1012163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Protocol (IP) Address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err="1" smtClean="0">
                <a:solidFill>
                  <a:schemeClr val="tx1"/>
                </a:solidFill>
                <a:latin typeface="Times New Roman" pitchFamily="18" charset="0"/>
                <a:cs typeface="Times New Roman" pitchFamily="18" charset="0"/>
              </a:rPr>
              <a:t>Def</a:t>
            </a:r>
            <a:r>
              <a:rPr lang="en-IN" sz="2200" b="1" dirty="0" smtClean="0">
                <a:solidFill>
                  <a:schemeClr val="tx1"/>
                </a:solidFill>
                <a:latin typeface="Times New Roman" pitchFamily="18" charset="0"/>
                <a:cs typeface="Times New Roman" pitchFamily="18" charset="0"/>
              </a:rPr>
              <a:t>:</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glue that holds the whole Internet together is the network layer </a:t>
            </a:r>
            <a:r>
              <a:rPr lang="en-US" sz="2200" dirty="0" smtClean="0">
                <a:solidFill>
                  <a:schemeClr val="tx1"/>
                </a:solidFill>
                <a:latin typeface="Times New Roman" pitchFamily="18" charset="0"/>
                <a:cs typeface="Times New Roman" pitchFamily="18" charset="0"/>
              </a:rPr>
              <a:t>protocol, IP </a:t>
            </a:r>
            <a:r>
              <a:rPr lang="en-US" sz="2200" dirty="0">
                <a:solidFill>
                  <a:schemeClr val="tx1"/>
                </a:solidFill>
                <a:latin typeface="Times New Roman" pitchFamily="18" charset="0"/>
                <a:cs typeface="Times New Roman" pitchFamily="18" charset="0"/>
              </a:rPr>
              <a:t>(Internet Protocol</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IP stands for "Internet Protocol," </a:t>
            </a:r>
            <a:r>
              <a:rPr lang="en-US" sz="2200" dirty="0" smtClean="0">
                <a:solidFill>
                  <a:schemeClr val="tx1"/>
                </a:solidFill>
                <a:latin typeface="Times New Roman" pitchFamily="18" charset="0"/>
                <a:cs typeface="Times New Roman" pitchFamily="18" charset="0"/>
              </a:rPr>
              <a:t>a set </a:t>
            </a:r>
            <a:r>
              <a:rPr lang="en-US" sz="2200" dirty="0">
                <a:solidFill>
                  <a:schemeClr val="tx1"/>
                </a:solidFill>
                <a:latin typeface="Times New Roman" pitchFamily="18" charset="0"/>
                <a:cs typeface="Times New Roman" pitchFamily="18" charset="0"/>
              </a:rPr>
              <a:t>of rules governing the format of data sent via the internet or local network.</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Its job to transport packets from source to destination in same network or in other networks.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essence, IP addresses are the identifier that allows information to be sent between devices on a network: they contain location information and make devices accessible for communication.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IP address differentiate </a:t>
            </a:r>
            <a:r>
              <a:rPr lang="en-US" sz="2200" dirty="0">
                <a:solidFill>
                  <a:schemeClr val="tx1"/>
                </a:solidFill>
                <a:latin typeface="Times New Roman" pitchFamily="18" charset="0"/>
                <a:cs typeface="Times New Roman" pitchFamily="18" charset="0"/>
              </a:rPr>
              <a:t>between different computers, routers, and </a:t>
            </a:r>
            <a:r>
              <a:rPr lang="en-US" sz="2200" dirty="0" smtClean="0">
                <a:solidFill>
                  <a:schemeClr val="tx1"/>
                </a:solidFill>
                <a:latin typeface="Times New Roman" pitchFamily="18" charset="0"/>
                <a:cs typeface="Times New Roman" pitchFamily="18" charset="0"/>
              </a:rPr>
              <a:t>websites to ease the working of internet. </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24319" t="61310" r="39092" b="19345"/>
          <a:stretch/>
        </p:blipFill>
        <p:spPr bwMode="auto">
          <a:xfrm>
            <a:off x="1752600" y="5257800"/>
            <a:ext cx="6152271"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6193211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Protocol (IP) Address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What is it:</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An </a:t>
            </a:r>
            <a:r>
              <a:rPr lang="en-US" sz="2200" dirty="0">
                <a:solidFill>
                  <a:schemeClr val="tx1"/>
                </a:solidFill>
                <a:latin typeface="Times New Roman" pitchFamily="18" charset="0"/>
                <a:cs typeface="Times New Roman" pitchFamily="18" charset="0"/>
              </a:rPr>
              <a:t>IP address is a string of numbers separated by periods, expressed as a set of four numbers, represented by 32 bits for IPV4 address.</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192.158.1.38. Each number in the set can range from 0 to 255.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So, the full IP addressing range goes from 0.0.0.0 to 255.255.255.255.</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IP </a:t>
            </a:r>
            <a:r>
              <a:rPr lang="en-US" sz="2200" dirty="0">
                <a:solidFill>
                  <a:schemeClr val="tx1"/>
                </a:solidFill>
                <a:latin typeface="Times New Roman" pitchFamily="18" charset="0"/>
                <a:cs typeface="Times New Roman" pitchFamily="18" charset="0"/>
              </a:rPr>
              <a:t>addresses are not random.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a:t>
            </a:r>
            <a:r>
              <a:rPr lang="en-US" sz="2200" dirty="0">
                <a:solidFill>
                  <a:schemeClr val="tx1"/>
                </a:solidFill>
                <a:latin typeface="Times New Roman" pitchFamily="18" charset="0"/>
                <a:cs typeface="Times New Roman" pitchFamily="18" charset="0"/>
              </a:rPr>
              <a:t>are mathematically produced and allocated </a:t>
            </a: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division of the Internet Corporation for Assigned Names and Numbers (ICANN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time anyone registers a domain on the internet, they go through a domain name registrar, who pays a small fee to ICANN to register the domain</a:t>
            </a:r>
            <a:r>
              <a:rPr lang="en-US" sz="2200" dirty="0" smtClean="0">
                <a:solidFill>
                  <a:schemeClr val="tx1"/>
                </a:solidFill>
                <a:latin typeface="Times New Roman" pitchFamily="18" charset="0"/>
                <a:cs typeface="Times New Roman" pitchFamily="18" charset="0"/>
              </a:rPr>
              <a:t>.</a:t>
            </a:r>
          </a:p>
          <a:p>
            <a:pPr algn="just"/>
            <a:r>
              <a:rPr lang="en-IN" sz="2200" b="1" dirty="0">
                <a:solidFill>
                  <a:schemeClr val="tx1"/>
                </a:solidFill>
                <a:latin typeface="Times New Roman" pitchFamily="18" charset="0"/>
                <a:cs typeface="Times New Roman" pitchFamily="18" charset="0"/>
              </a:rPr>
              <a:t>How it works: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IP works the same way as any other language, by communicating using set guidelines to pass information.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All devices find, send, and exchange information with other connected devices using this protocol. </a:t>
            </a:r>
          </a:p>
        </p:txBody>
      </p:sp>
    </p:spTree>
    <p:extLst>
      <p:ext uri="{BB962C8B-B14F-4D97-AF65-F5344CB8AC3E}">
        <p14:creationId xmlns:p14="http://schemas.microsoft.com/office/powerpoint/2010/main" xmlns="" val="14929402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Protocol (IP) Address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457200" indent="-457200" algn="just">
              <a:buFont typeface="+mj-lt"/>
              <a:buAutoNum type="arabicPeriod"/>
            </a:pPr>
            <a:r>
              <a:rPr lang="en-US" sz="2200" dirty="0" smtClean="0">
                <a:solidFill>
                  <a:schemeClr val="tx1"/>
                </a:solidFill>
                <a:latin typeface="Times New Roman" pitchFamily="18" charset="0"/>
                <a:cs typeface="Times New Roman" pitchFamily="18" charset="0"/>
              </a:rPr>
              <a:t>Your </a:t>
            </a:r>
            <a:r>
              <a:rPr lang="en-US" sz="2200" dirty="0">
                <a:solidFill>
                  <a:schemeClr val="tx1"/>
                </a:solidFill>
                <a:latin typeface="Times New Roman" pitchFamily="18" charset="0"/>
                <a:cs typeface="Times New Roman" pitchFamily="18" charset="0"/>
              </a:rPr>
              <a:t>device indirectly connects to the internet by connecting at first to a network connected to the internet, which then grants your device access to the </a:t>
            </a:r>
            <a:r>
              <a:rPr lang="en-US" sz="2200" dirty="0" smtClean="0">
                <a:solidFill>
                  <a:schemeClr val="tx1"/>
                </a:solidFill>
                <a:latin typeface="Times New Roman" pitchFamily="18" charset="0"/>
                <a:cs typeface="Times New Roman" pitchFamily="18" charset="0"/>
              </a:rPr>
              <a:t>internet.</a:t>
            </a:r>
          </a:p>
          <a:p>
            <a:pPr marL="457200" indent="-457200" algn="just">
              <a:buFont typeface="+mj-lt"/>
              <a:buAutoNum type="arabicPeriod"/>
            </a:pPr>
            <a:r>
              <a:rPr lang="en-US" sz="2200" dirty="0" smtClean="0">
                <a:solidFill>
                  <a:schemeClr val="tx1"/>
                </a:solidFill>
                <a:latin typeface="Times New Roman" pitchFamily="18" charset="0"/>
                <a:cs typeface="Times New Roman" pitchFamily="18" charset="0"/>
              </a:rPr>
              <a:t>At Home- </a:t>
            </a:r>
            <a:r>
              <a:rPr lang="en-US" sz="2200" dirty="0">
                <a:solidFill>
                  <a:schemeClr val="tx1"/>
                </a:solidFill>
                <a:latin typeface="Times New Roman" pitchFamily="18" charset="0"/>
                <a:cs typeface="Times New Roman" pitchFamily="18" charset="0"/>
              </a:rPr>
              <a:t>Internet Service Provider (ISP</a:t>
            </a:r>
            <a:r>
              <a:rPr lang="en-US" sz="2200" dirty="0" smtClean="0">
                <a:solidFill>
                  <a:schemeClr val="tx1"/>
                </a:solidFill>
                <a:latin typeface="Times New Roman" pitchFamily="18" charset="0"/>
                <a:cs typeface="Times New Roman" pitchFamily="18" charset="0"/>
              </a:rPr>
              <a:t>) &amp; </a:t>
            </a:r>
            <a:r>
              <a:rPr lang="en-US" sz="2200" dirty="0">
                <a:solidFill>
                  <a:schemeClr val="tx1"/>
                </a:solidFill>
                <a:latin typeface="Times New Roman" pitchFamily="18" charset="0"/>
                <a:cs typeface="Times New Roman" pitchFamily="18" charset="0"/>
              </a:rPr>
              <a:t>At </a:t>
            </a:r>
            <a:r>
              <a:rPr lang="en-US" sz="2200" dirty="0" smtClean="0">
                <a:solidFill>
                  <a:schemeClr val="tx1"/>
                </a:solidFill>
                <a:latin typeface="Times New Roman" pitchFamily="18" charset="0"/>
                <a:cs typeface="Times New Roman" pitchFamily="18" charset="0"/>
              </a:rPr>
              <a:t>work- company network.</a:t>
            </a:r>
          </a:p>
          <a:p>
            <a:pPr marL="457200" indent="-457200" algn="just">
              <a:buFont typeface="+mj-lt"/>
              <a:buAutoNum type="arabicPeriod"/>
            </a:pPr>
            <a:r>
              <a:rPr lang="en-US" sz="2200" dirty="0" smtClean="0">
                <a:solidFill>
                  <a:schemeClr val="tx1"/>
                </a:solidFill>
                <a:latin typeface="Times New Roman" pitchFamily="18" charset="0"/>
                <a:cs typeface="Times New Roman" pitchFamily="18" charset="0"/>
              </a:rPr>
              <a:t>Your </a:t>
            </a:r>
            <a:r>
              <a:rPr lang="en-US" sz="2200" dirty="0">
                <a:solidFill>
                  <a:schemeClr val="tx1"/>
                </a:solidFill>
                <a:latin typeface="Times New Roman" pitchFamily="18" charset="0"/>
                <a:cs typeface="Times New Roman" pitchFamily="18" charset="0"/>
              </a:rPr>
              <a:t>IP address is assigned to your device by your </a:t>
            </a:r>
            <a:r>
              <a:rPr lang="en-US" sz="2200" dirty="0" smtClean="0">
                <a:solidFill>
                  <a:schemeClr val="tx1"/>
                </a:solidFill>
                <a:latin typeface="Times New Roman" pitchFamily="18" charset="0"/>
                <a:cs typeface="Times New Roman" pitchFamily="18" charset="0"/>
              </a:rPr>
              <a:t>ISP.</a:t>
            </a:r>
          </a:p>
          <a:p>
            <a:pPr marL="457200" indent="-457200" algn="just">
              <a:buFont typeface="+mj-lt"/>
              <a:buAutoNum type="arabicPeriod"/>
            </a:pPr>
            <a:r>
              <a:rPr lang="en-US" sz="2200" dirty="0" smtClean="0">
                <a:solidFill>
                  <a:schemeClr val="tx1"/>
                </a:solidFill>
                <a:latin typeface="Times New Roman" pitchFamily="18" charset="0"/>
                <a:cs typeface="Times New Roman" pitchFamily="18" charset="0"/>
              </a:rPr>
              <a:t>Your </a:t>
            </a:r>
            <a:r>
              <a:rPr lang="en-US" sz="2200" dirty="0">
                <a:solidFill>
                  <a:schemeClr val="tx1"/>
                </a:solidFill>
                <a:latin typeface="Times New Roman" pitchFamily="18" charset="0"/>
                <a:cs typeface="Times New Roman" pitchFamily="18" charset="0"/>
              </a:rPr>
              <a:t>internet activity goes through the ISP, and they route it back to you, using your IP address. Since they are giving you access to the internet, it is their role to assign an IP address to your </a:t>
            </a:r>
            <a:r>
              <a:rPr lang="en-US" sz="2200" dirty="0" smtClean="0">
                <a:solidFill>
                  <a:schemeClr val="tx1"/>
                </a:solidFill>
                <a:latin typeface="Times New Roman" pitchFamily="18" charset="0"/>
                <a:cs typeface="Times New Roman" pitchFamily="18" charset="0"/>
              </a:rPr>
              <a:t>device.</a:t>
            </a:r>
          </a:p>
          <a:p>
            <a:pPr marL="457200" indent="-457200" algn="just">
              <a:buFont typeface="+mj-lt"/>
              <a:buAutoNum type="arabicPeriod"/>
            </a:pPr>
            <a:r>
              <a:rPr lang="en-US" sz="2200" dirty="0" smtClean="0">
                <a:solidFill>
                  <a:schemeClr val="tx1"/>
                </a:solidFill>
                <a:latin typeface="Times New Roman" pitchFamily="18" charset="0"/>
                <a:cs typeface="Times New Roman" pitchFamily="18" charset="0"/>
              </a:rPr>
              <a:t>However</a:t>
            </a:r>
            <a:r>
              <a:rPr lang="en-US" sz="2200" dirty="0">
                <a:solidFill>
                  <a:schemeClr val="tx1"/>
                </a:solidFill>
                <a:latin typeface="Times New Roman" pitchFamily="18" charset="0"/>
                <a:cs typeface="Times New Roman" pitchFamily="18" charset="0"/>
              </a:rPr>
              <a:t>, your IP address can change. </a:t>
            </a:r>
            <a:r>
              <a:rPr lang="en-US" sz="2200" dirty="0" err="1" smtClean="0">
                <a:solidFill>
                  <a:schemeClr val="tx1"/>
                </a:solidFill>
                <a:latin typeface="Times New Roman" pitchFamily="18" charset="0"/>
                <a:cs typeface="Times New Roman" pitchFamily="18" charset="0"/>
              </a:rPr>
              <a:t>Eg</a:t>
            </a:r>
            <a:r>
              <a:rPr lang="en-US" sz="2200" dirty="0" smtClean="0">
                <a:solidFill>
                  <a:schemeClr val="tx1"/>
                </a:solidFill>
                <a:latin typeface="Times New Roman" pitchFamily="18" charset="0"/>
                <a:cs typeface="Times New Roman" pitchFamily="18" charset="0"/>
              </a:rPr>
              <a:t>: turning </a:t>
            </a:r>
            <a:r>
              <a:rPr lang="en-US" sz="2200" dirty="0">
                <a:solidFill>
                  <a:schemeClr val="tx1"/>
                </a:solidFill>
                <a:latin typeface="Times New Roman" pitchFamily="18" charset="0"/>
                <a:cs typeface="Times New Roman" pitchFamily="18" charset="0"/>
              </a:rPr>
              <a:t>your modem or router on or off can change it. Or you can contact your ISP, and they can change it for </a:t>
            </a:r>
            <a:r>
              <a:rPr lang="en-US" sz="2200" dirty="0" smtClean="0">
                <a:solidFill>
                  <a:schemeClr val="tx1"/>
                </a:solidFill>
                <a:latin typeface="Times New Roman" pitchFamily="18" charset="0"/>
                <a:cs typeface="Times New Roman" pitchFamily="18" charset="0"/>
              </a:rPr>
              <a:t>you.</a:t>
            </a:r>
          </a:p>
          <a:p>
            <a:pPr marL="457200" indent="-457200" algn="just">
              <a:buFont typeface="+mj-lt"/>
              <a:buAutoNum type="arabicPeriod"/>
            </a:pPr>
            <a:r>
              <a:rPr lang="en-US" sz="2200" dirty="0" smtClean="0">
                <a:solidFill>
                  <a:schemeClr val="tx1"/>
                </a:solidFill>
                <a:latin typeface="Times New Roman" pitchFamily="18" charset="0"/>
                <a:cs typeface="Times New Roman" pitchFamily="18" charset="0"/>
              </a:rPr>
              <a:t>When </a:t>
            </a:r>
            <a:r>
              <a:rPr lang="en-US" sz="2200" dirty="0">
                <a:solidFill>
                  <a:schemeClr val="tx1"/>
                </a:solidFill>
                <a:latin typeface="Times New Roman" pitchFamily="18" charset="0"/>
                <a:cs typeface="Times New Roman" pitchFamily="18" charset="0"/>
              </a:rPr>
              <a:t>you are </a:t>
            </a:r>
            <a:r>
              <a:rPr lang="en-US" sz="2200" dirty="0" smtClean="0">
                <a:solidFill>
                  <a:schemeClr val="tx1"/>
                </a:solidFill>
                <a:latin typeface="Times New Roman" pitchFamily="18" charset="0"/>
                <a:cs typeface="Times New Roman" pitchFamily="18" charset="0"/>
              </a:rPr>
              <a:t>out –your </a:t>
            </a:r>
            <a:r>
              <a:rPr lang="en-US" sz="2200" dirty="0">
                <a:solidFill>
                  <a:schemeClr val="tx1"/>
                </a:solidFill>
                <a:latin typeface="Times New Roman" pitchFamily="18" charset="0"/>
                <a:cs typeface="Times New Roman" pitchFamily="18" charset="0"/>
              </a:rPr>
              <a:t>home IP address does not come with you. This is because you will be using another network </a:t>
            </a:r>
            <a:r>
              <a:rPr lang="en-US" sz="2200" dirty="0" smtClean="0">
                <a:solidFill>
                  <a:schemeClr val="tx1"/>
                </a:solidFill>
                <a:latin typeface="Times New Roman" pitchFamily="18" charset="0"/>
                <a:cs typeface="Times New Roman" pitchFamily="18" charset="0"/>
              </a:rPr>
              <a:t>at hotel or airport- a temporary IP address will be given by that.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2746926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Types of Internet Protocol (IP) Address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 Private IP addresses</a:t>
            </a:r>
            <a:r>
              <a:rPr lang="en-US" sz="2200" b="1" dirty="0" smtClean="0">
                <a:solidFill>
                  <a:schemeClr val="tx1"/>
                </a:solidFill>
                <a:latin typeface="Times New Roman" pitchFamily="18" charset="0"/>
                <a:cs typeface="Times New Roman" pitchFamily="18" charset="0"/>
              </a:rPr>
              <a:t>:</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a:solidFill>
                  <a:schemeClr val="tx1"/>
                </a:solidFill>
                <a:latin typeface="Times New Roman" pitchFamily="18" charset="0"/>
                <a:cs typeface="Times New Roman" pitchFamily="18" charset="0"/>
              </a:rPr>
              <a:t>Each device </a:t>
            </a:r>
            <a:r>
              <a:rPr lang="en-US" sz="2200" dirty="0" smtClean="0">
                <a:solidFill>
                  <a:schemeClr val="tx1"/>
                </a:solidFill>
                <a:latin typeface="Times New Roman" pitchFamily="18" charset="0"/>
                <a:cs typeface="Times New Roman" pitchFamily="18" charset="0"/>
              </a:rPr>
              <a:t>connected to </a:t>
            </a:r>
            <a:r>
              <a:rPr lang="en-US" sz="2200" dirty="0">
                <a:solidFill>
                  <a:schemeClr val="tx1"/>
                </a:solidFill>
                <a:latin typeface="Times New Roman" pitchFamily="18" charset="0"/>
                <a:cs typeface="Times New Roman" pitchFamily="18" charset="0"/>
              </a:rPr>
              <a:t>a home network or a private network carries a private IP address. </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smtClean="0">
                <a:solidFill>
                  <a:schemeClr val="tx1"/>
                </a:solidFill>
                <a:latin typeface="Times New Roman" pitchFamily="18" charset="0"/>
                <a:cs typeface="Times New Roman" pitchFamily="18" charset="0"/>
              </a:rPr>
              <a:t>Private </a:t>
            </a:r>
            <a:r>
              <a:rPr lang="en-US" sz="2200" dirty="0">
                <a:solidFill>
                  <a:schemeClr val="tx1"/>
                </a:solidFill>
                <a:latin typeface="Times New Roman" pitchFamily="18" charset="0"/>
                <a:cs typeface="Times New Roman" pitchFamily="18" charset="0"/>
              </a:rPr>
              <a:t>IP addresses are non-internet facing and are only used on an internal network. </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smtClean="0">
                <a:solidFill>
                  <a:schemeClr val="tx1"/>
                </a:solidFill>
                <a:latin typeface="Times New Roman" pitchFamily="18" charset="0"/>
                <a:cs typeface="Times New Roman" pitchFamily="18" charset="0"/>
              </a:rPr>
              <a:t>Devices </a:t>
            </a:r>
            <a:r>
              <a:rPr lang="en-US" sz="2200" dirty="0">
                <a:solidFill>
                  <a:schemeClr val="tx1"/>
                </a:solidFill>
                <a:latin typeface="Times New Roman" pitchFamily="18" charset="0"/>
                <a:cs typeface="Times New Roman" pitchFamily="18" charset="0"/>
              </a:rPr>
              <a:t>with private IP addresses might include computers, tablets, smartphones, Bluetooth devices, smart TVs and printers. </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smtClean="0">
                <a:solidFill>
                  <a:schemeClr val="tx1"/>
                </a:solidFill>
                <a:latin typeface="Times New Roman" pitchFamily="18" charset="0"/>
                <a:cs typeface="Times New Roman" pitchFamily="18" charset="0"/>
              </a:rPr>
              <a:t>With </a:t>
            </a:r>
            <a:r>
              <a:rPr lang="en-US" sz="2200" dirty="0">
                <a:solidFill>
                  <a:schemeClr val="tx1"/>
                </a:solidFill>
                <a:latin typeface="Times New Roman" pitchFamily="18" charset="0"/>
                <a:cs typeface="Times New Roman" pitchFamily="18" charset="0"/>
              </a:rPr>
              <a:t>the increasing popularity of internet of things products, the use of private IP addressing is likely to keep growing</a:t>
            </a:r>
            <a:r>
              <a:rPr lang="en-US" sz="2200" dirty="0" smtClean="0">
                <a:solidFill>
                  <a:schemeClr val="tx1"/>
                </a:solidFill>
                <a:latin typeface="Times New Roman" pitchFamily="18" charset="0"/>
                <a:cs typeface="Times New Roman" pitchFamily="18" charset="0"/>
              </a:rPr>
              <a:t>.</a:t>
            </a:r>
          </a:p>
          <a:p>
            <a:pPr algn="just"/>
            <a:r>
              <a:rPr lang="en-US" sz="2200" b="1" dirty="0">
                <a:solidFill>
                  <a:schemeClr val="tx1"/>
                </a:solidFill>
                <a:latin typeface="Times New Roman" pitchFamily="18" charset="0"/>
                <a:cs typeface="Times New Roman" pitchFamily="18" charset="0"/>
              </a:rPr>
              <a:t> Public IP </a:t>
            </a:r>
            <a:r>
              <a:rPr lang="en-US" sz="2200" b="1" dirty="0" smtClean="0">
                <a:solidFill>
                  <a:schemeClr val="tx1"/>
                </a:solidFill>
                <a:latin typeface="Times New Roman" pitchFamily="18" charset="0"/>
                <a:cs typeface="Times New Roman" pitchFamily="18" charset="0"/>
              </a:rPr>
              <a:t>addresses: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An ISP assigns these addresses, which enable a router to communicate with the internet or an outside network.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Public </a:t>
            </a:r>
            <a:r>
              <a:rPr lang="en-US" sz="2200" dirty="0">
                <a:solidFill>
                  <a:schemeClr val="tx1"/>
                </a:solidFill>
                <a:latin typeface="Times New Roman" pitchFamily="18" charset="0"/>
                <a:cs typeface="Times New Roman" pitchFamily="18" charset="0"/>
              </a:rPr>
              <a:t>IP addresses cover the entire network, meaning multiple devices sharing the same internet connection will also share the same public IP address.</a:t>
            </a:r>
          </a:p>
        </p:txBody>
      </p:sp>
    </p:spTree>
    <p:extLst>
      <p:ext uri="{BB962C8B-B14F-4D97-AF65-F5344CB8AC3E}">
        <p14:creationId xmlns:p14="http://schemas.microsoft.com/office/powerpoint/2010/main" xmlns="" val="36505170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Types of Internet Protocol (IP) Address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Dynamic IP </a:t>
            </a:r>
            <a:r>
              <a:rPr lang="en-US" sz="2200" b="1" dirty="0">
                <a:solidFill>
                  <a:schemeClr val="tx1"/>
                </a:solidFill>
                <a:latin typeface="Times New Roman" pitchFamily="18" charset="0"/>
                <a:cs typeface="Times New Roman" pitchFamily="18" charset="0"/>
              </a:rPr>
              <a:t>addresses</a:t>
            </a:r>
            <a:r>
              <a:rPr lang="en-US" sz="2200" b="1" dirty="0" smtClean="0">
                <a:solidFill>
                  <a:schemeClr val="tx1"/>
                </a:solidFill>
                <a:latin typeface="Times New Roman" pitchFamily="18" charset="0"/>
                <a:cs typeface="Times New Roman" pitchFamily="18" charset="0"/>
              </a:rPr>
              <a:t>:</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a:solidFill>
                  <a:schemeClr val="tx1"/>
                </a:solidFill>
                <a:latin typeface="Times New Roman" pitchFamily="18" charset="0"/>
                <a:cs typeface="Times New Roman" pitchFamily="18" charset="0"/>
              </a:rPr>
              <a:t>C</a:t>
            </a:r>
            <a:r>
              <a:rPr lang="en-US" sz="2200" dirty="0" smtClean="0">
                <a:solidFill>
                  <a:schemeClr val="tx1"/>
                </a:solidFill>
                <a:latin typeface="Times New Roman" pitchFamily="18" charset="0"/>
                <a:cs typeface="Times New Roman" pitchFamily="18" charset="0"/>
              </a:rPr>
              <a:t>onstantly </a:t>
            </a:r>
            <a:r>
              <a:rPr lang="en-US" sz="2200" dirty="0">
                <a:solidFill>
                  <a:schemeClr val="tx1"/>
                </a:solidFill>
                <a:latin typeface="Times New Roman" pitchFamily="18" charset="0"/>
                <a:cs typeface="Times New Roman" pitchFamily="18" charset="0"/>
              </a:rPr>
              <a:t>changing and a new dynamic IP address is assigned to a device every time it connects to the internet. </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smtClean="0">
                <a:solidFill>
                  <a:schemeClr val="tx1"/>
                </a:solidFill>
                <a:latin typeface="Times New Roman" pitchFamily="18" charset="0"/>
                <a:cs typeface="Times New Roman" pitchFamily="18" charset="0"/>
              </a:rPr>
              <a:t>ISPs </a:t>
            </a:r>
            <a:r>
              <a:rPr lang="en-US" sz="2200" dirty="0">
                <a:solidFill>
                  <a:schemeClr val="tx1"/>
                </a:solidFill>
                <a:latin typeface="Times New Roman" pitchFamily="18" charset="0"/>
                <a:cs typeface="Times New Roman" pitchFamily="18" charset="0"/>
              </a:rPr>
              <a:t>buy large pools of IP addresses to </a:t>
            </a:r>
            <a:r>
              <a:rPr lang="en-US" sz="2200" dirty="0" smtClean="0">
                <a:solidFill>
                  <a:schemeClr val="tx1"/>
                </a:solidFill>
                <a:latin typeface="Times New Roman" pitchFamily="18" charset="0"/>
                <a:cs typeface="Times New Roman" pitchFamily="18" charset="0"/>
              </a:rPr>
              <a:t>assign, revolve </a:t>
            </a:r>
            <a:r>
              <a:rPr lang="en-US" sz="2200" dirty="0">
                <a:solidFill>
                  <a:schemeClr val="tx1"/>
                </a:solidFill>
                <a:latin typeface="Times New Roman" pitchFamily="18" charset="0"/>
                <a:cs typeface="Times New Roman" pitchFamily="18" charset="0"/>
              </a:rPr>
              <a:t>and reuse </a:t>
            </a:r>
            <a:r>
              <a:rPr lang="en-US" sz="2200" dirty="0" smtClean="0">
                <a:solidFill>
                  <a:schemeClr val="tx1"/>
                </a:solidFill>
                <a:latin typeface="Times New Roman" pitchFamily="18" charset="0"/>
                <a:cs typeface="Times New Roman" pitchFamily="18" charset="0"/>
              </a:rPr>
              <a:t>between </a:t>
            </a:r>
            <a:r>
              <a:rPr lang="en-US" sz="2200" dirty="0">
                <a:solidFill>
                  <a:schemeClr val="tx1"/>
                </a:solidFill>
                <a:latin typeface="Times New Roman" pitchFamily="18" charset="0"/>
                <a:cs typeface="Times New Roman" pitchFamily="18" charset="0"/>
              </a:rPr>
              <a:t>different </a:t>
            </a:r>
            <a:r>
              <a:rPr lang="en-US" sz="2200" dirty="0" smtClean="0">
                <a:solidFill>
                  <a:schemeClr val="tx1"/>
                </a:solidFill>
                <a:latin typeface="Times New Roman" pitchFamily="18" charset="0"/>
                <a:cs typeface="Times New Roman" pitchFamily="18" charset="0"/>
              </a:rPr>
              <a:t>customers for cost </a:t>
            </a:r>
            <a:r>
              <a:rPr lang="en-US" sz="2200" dirty="0">
                <a:solidFill>
                  <a:schemeClr val="tx1"/>
                </a:solidFill>
                <a:latin typeface="Times New Roman" pitchFamily="18" charset="0"/>
                <a:cs typeface="Times New Roman" pitchFamily="18" charset="0"/>
              </a:rPr>
              <a:t>savings and </a:t>
            </a:r>
            <a:r>
              <a:rPr lang="en-US" sz="2200" dirty="0" smtClean="0">
                <a:solidFill>
                  <a:schemeClr val="tx1"/>
                </a:solidFill>
                <a:latin typeface="Times New Roman" pitchFamily="18" charset="0"/>
                <a:cs typeface="Times New Roman" pitchFamily="18" charset="0"/>
              </a:rPr>
              <a:t>easier management</a:t>
            </a:r>
            <a:r>
              <a:rPr lang="en-US" sz="2200" dirty="0">
                <a:solidFill>
                  <a:schemeClr val="tx1"/>
                </a:solidFill>
                <a:latin typeface="Times New Roman" pitchFamily="18" charset="0"/>
                <a:cs typeface="Times New Roman" pitchFamily="18" charset="0"/>
              </a:rPr>
              <a:t>. </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smtClean="0">
                <a:solidFill>
                  <a:schemeClr val="tx1"/>
                </a:solidFill>
                <a:latin typeface="Times New Roman" pitchFamily="18" charset="0"/>
                <a:cs typeface="Times New Roman" pitchFamily="18" charset="0"/>
              </a:rPr>
              <a:t>It also </a:t>
            </a:r>
            <a:r>
              <a:rPr lang="en-US" sz="2200" dirty="0">
                <a:solidFill>
                  <a:schemeClr val="tx1"/>
                </a:solidFill>
                <a:latin typeface="Times New Roman" pitchFamily="18" charset="0"/>
                <a:cs typeface="Times New Roman" pitchFamily="18" charset="0"/>
              </a:rPr>
              <a:t>offers security benefits, as it's harder for cybercriminals to hack into a network interface if its IP is constantly changing</a:t>
            </a:r>
            <a:r>
              <a:rPr lang="en-US" sz="2200" dirty="0" smtClean="0">
                <a:solidFill>
                  <a:schemeClr val="tx1"/>
                </a:solidFill>
                <a:latin typeface="Times New Roman" pitchFamily="18" charset="0"/>
                <a:cs typeface="Times New Roman" pitchFamily="18" charset="0"/>
              </a:rPr>
              <a:t>.</a:t>
            </a:r>
          </a:p>
          <a:p>
            <a:pPr algn="just"/>
            <a:r>
              <a:rPr lang="en-US" sz="2200" b="1" dirty="0">
                <a:solidFill>
                  <a:schemeClr val="tx1"/>
                </a:solidFill>
                <a:latin typeface="Times New Roman" pitchFamily="18" charset="0"/>
                <a:cs typeface="Times New Roman" pitchFamily="18" charset="0"/>
              </a:rPr>
              <a:t>Static IP addresses:</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never </a:t>
            </a:r>
            <a:r>
              <a:rPr lang="en-US" sz="2200" dirty="0">
                <a:solidFill>
                  <a:schemeClr val="tx1"/>
                </a:solidFill>
                <a:latin typeface="Times New Roman" pitchFamily="18" charset="0"/>
                <a:cs typeface="Times New Roman" pitchFamily="18" charset="0"/>
              </a:rPr>
              <a:t>change once </a:t>
            </a:r>
            <a:r>
              <a:rPr lang="en-US" sz="2200" dirty="0" smtClean="0">
                <a:solidFill>
                  <a:schemeClr val="tx1"/>
                </a:solidFill>
                <a:latin typeface="Times New Roman" pitchFamily="18" charset="0"/>
                <a:cs typeface="Times New Roman" pitchFamily="18" charset="0"/>
              </a:rPr>
              <a:t>assigned </a:t>
            </a:r>
            <a:r>
              <a:rPr lang="en-US" sz="2200" dirty="0">
                <a:solidFill>
                  <a:schemeClr val="tx1"/>
                </a:solidFill>
                <a:latin typeface="Times New Roman" pitchFamily="18" charset="0"/>
                <a:cs typeface="Times New Roman" pitchFamily="18" charset="0"/>
              </a:rPr>
              <a:t>by the network.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Requirement </a:t>
            </a:r>
            <a:r>
              <a:rPr lang="en-US" sz="2200" dirty="0">
                <a:solidFill>
                  <a:schemeClr val="tx1"/>
                </a:solidFill>
                <a:latin typeface="Times New Roman" pitchFamily="18" charset="0"/>
                <a:cs typeface="Times New Roman" pitchFamily="18" charset="0"/>
              </a:rPr>
              <a:t>for businesses that wish to host their own web servers.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static IP address ensures that all websites and email addresses associated with a certain web server will always have a consistent IP address so it can be reached on the internet.</a:t>
            </a:r>
          </a:p>
        </p:txBody>
      </p:sp>
    </p:spTree>
    <p:extLst>
      <p:ext uri="{BB962C8B-B14F-4D97-AF65-F5344CB8AC3E}">
        <p14:creationId xmlns:p14="http://schemas.microsoft.com/office/powerpoint/2010/main" xmlns="" val="32706548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Types of Internet Protocol (IP) Address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Website IP addresses:</a:t>
            </a:r>
            <a:endParaRPr lang="en-US" sz="2200" dirty="0" smtClean="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200" dirty="0" smtClean="0">
                <a:solidFill>
                  <a:schemeClr val="tx1"/>
                </a:solidFill>
                <a:latin typeface="Times New Roman" pitchFamily="18" charset="0"/>
                <a:cs typeface="Times New Roman" pitchFamily="18" charset="0"/>
              </a:rPr>
              <a:t>IP </a:t>
            </a:r>
            <a:r>
              <a:rPr lang="en-US" sz="2200" dirty="0">
                <a:solidFill>
                  <a:schemeClr val="tx1"/>
                </a:solidFill>
                <a:latin typeface="Times New Roman" pitchFamily="18" charset="0"/>
                <a:cs typeface="Times New Roman" pitchFamily="18" charset="0"/>
              </a:rPr>
              <a:t>addresses for website owners who </a:t>
            </a:r>
            <a:r>
              <a:rPr lang="en-US" sz="2200" dirty="0" smtClean="0">
                <a:solidFill>
                  <a:schemeClr val="tx1"/>
                </a:solidFill>
                <a:latin typeface="Times New Roman" pitchFamily="18" charset="0"/>
                <a:cs typeface="Times New Roman" pitchFamily="18" charset="0"/>
              </a:rPr>
              <a:t>rely </a:t>
            </a:r>
            <a:r>
              <a:rPr lang="en-US" sz="2200" dirty="0">
                <a:solidFill>
                  <a:schemeClr val="tx1"/>
                </a:solidFill>
                <a:latin typeface="Times New Roman" pitchFamily="18" charset="0"/>
                <a:cs typeface="Times New Roman" pitchFamily="18" charset="0"/>
              </a:rPr>
              <a:t>on a hosting company </a:t>
            </a:r>
            <a:r>
              <a:rPr lang="en-US" sz="2200" dirty="0" smtClean="0">
                <a:solidFill>
                  <a:schemeClr val="tx1"/>
                </a:solidFill>
                <a:latin typeface="Times New Roman" pitchFamily="18" charset="0"/>
                <a:cs typeface="Times New Roman" pitchFamily="18" charset="0"/>
              </a:rPr>
              <a:t>for servers. 2 types:</a:t>
            </a:r>
          </a:p>
          <a:p>
            <a:pPr marL="457200" indent="-457200" algn="just">
              <a:buFont typeface="+mj-lt"/>
              <a:buAutoNum type="arabicPeriod"/>
            </a:pPr>
            <a:r>
              <a:rPr lang="en-US" sz="2200" b="1" dirty="0" smtClean="0">
                <a:solidFill>
                  <a:schemeClr val="tx1"/>
                </a:solidFill>
                <a:latin typeface="Times New Roman" pitchFamily="18" charset="0"/>
                <a:cs typeface="Times New Roman" pitchFamily="18" charset="0"/>
              </a:rPr>
              <a:t>Shared: </a:t>
            </a:r>
            <a:r>
              <a:rPr lang="en-US" sz="2200" dirty="0" smtClean="0">
                <a:solidFill>
                  <a:schemeClr val="tx1"/>
                </a:solidFill>
                <a:latin typeface="Times New Roman" pitchFamily="18" charset="0"/>
                <a:cs typeface="Times New Roman" pitchFamily="18" charset="0"/>
              </a:rPr>
              <a:t>IP address is shared </a:t>
            </a:r>
            <a:r>
              <a:rPr lang="en-US" sz="2200" dirty="0">
                <a:solidFill>
                  <a:schemeClr val="tx1"/>
                </a:solidFill>
                <a:latin typeface="Times New Roman" pitchFamily="18" charset="0"/>
                <a:cs typeface="Times New Roman" pitchFamily="18" charset="0"/>
              </a:rPr>
              <a:t>among many different websites and is mostly used by small businesses that use a managed hosting service, such as </a:t>
            </a:r>
            <a:r>
              <a:rPr lang="en-US" sz="2200" dirty="0" err="1">
                <a:solidFill>
                  <a:schemeClr val="tx1"/>
                </a:solidFill>
                <a:latin typeface="Times New Roman" pitchFamily="18" charset="0"/>
                <a:cs typeface="Times New Roman" pitchFamily="18" charset="0"/>
              </a:rPr>
              <a:t>WordPress</a:t>
            </a:r>
            <a:r>
              <a:rPr lang="en-US" sz="2200" dirty="0" smtClean="0">
                <a:solidFill>
                  <a:schemeClr val="tx1"/>
                </a:solidFill>
                <a:latin typeface="Times New Roman" pitchFamily="18" charset="0"/>
                <a:cs typeface="Times New Roman" pitchFamily="18" charset="0"/>
              </a:rPr>
              <a:t>.</a:t>
            </a:r>
          </a:p>
          <a:p>
            <a:pPr marL="457200" indent="-457200" algn="just">
              <a:buFont typeface="+mj-lt"/>
              <a:buAutoNum type="arabicPeriod"/>
            </a:pPr>
            <a:r>
              <a:rPr lang="en-US" sz="2200" b="1" dirty="0">
                <a:solidFill>
                  <a:schemeClr val="tx1"/>
                </a:solidFill>
                <a:latin typeface="Times New Roman" pitchFamily="18" charset="0"/>
                <a:cs typeface="Times New Roman" pitchFamily="18" charset="0"/>
              </a:rPr>
              <a:t>Dedicated. </a:t>
            </a:r>
            <a:r>
              <a:rPr lang="en-US" sz="2200" dirty="0">
                <a:solidFill>
                  <a:schemeClr val="tx1"/>
                </a:solidFill>
                <a:latin typeface="Times New Roman" pitchFamily="18" charset="0"/>
                <a:cs typeface="Times New Roman" pitchFamily="18" charset="0"/>
              </a:rPr>
              <a:t>This is a unique IP address assigned to an individual website. </a:t>
            </a:r>
            <a:r>
              <a:rPr lang="en-US" sz="2200" dirty="0" smtClean="0">
                <a:solidFill>
                  <a:schemeClr val="tx1"/>
                </a:solidFill>
                <a:latin typeface="Times New Roman" pitchFamily="18" charset="0"/>
                <a:cs typeface="Times New Roman" pitchFamily="18" charset="0"/>
              </a:rPr>
              <a:t>Helps avoid </a:t>
            </a:r>
            <a:r>
              <a:rPr lang="en-US" sz="2200" dirty="0">
                <a:solidFill>
                  <a:schemeClr val="tx1"/>
                </a:solidFill>
                <a:latin typeface="Times New Roman" pitchFamily="18" charset="0"/>
                <a:cs typeface="Times New Roman" pitchFamily="18" charset="0"/>
              </a:rPr>
              <a:t>getting blocked or blacklisted, </a:t>
            </a:r>
            <a:r>
              <a:rPr lang="en-US" sz="2200" dirty="0" smtClean="0">
                <a:solidFill>
                  <a:schemeClr val="tx1"/>
                </a:solidFill>
                <a:latin typeface="Times New Roman" pitchFamily="18" charset="0"/>
                <a:cs typeface="Times New Roman" pitchFamily="18" charset="0"/>
              </a:rPr>
              <a:t>unlike shared </a:t>
            </a:r>
            <a:r>
              <a:rPr lang="en-US" sz="2200" dirty="0">
                <a:solidFill>
                  <a:schemeClr val="tx1"/>
                </a:solidFill>
                <a:latin typeface="Times New Roman" pitchFamily="18" charset="0"/>
                <a:cs typeface="Times New Roman" pitchFamily="18" charset="0"/>
              </a:rPr>
              <a:t>IP addresses </a:t>
            </a:r>
            <a:r>
              <a:rPr lang="en-US" sz="2200" dirty="0" smtClean="0">
                <a:solidFill>
                  <a:schemeClr val="tx1"/>
                </a:solidFill>
                <a:latin typeface="Times New Roman" pitchFamily="18" charset="0"/>
                <a:cs typeface="Times New Roman" pitchFamily="18" charset="0"/>
              </a:rPr>
              <a:t>when </a:t>
            </a:r>
            <a:r>
              <a:rPr lang="en-US" sz="2200" dirty="0">
                <a:solidFill>
                  <a:schemeClr val="tx1"/>
                </a:solidFill>
                <a:latin typeface="Times New Roman" pitchFamily="18" charset="0"/>
                <a:cs typeface="Times New Roman" pitchFamily="18" charset="0"/>
              </a:rPr>
              <a:t>malicious behavior is exhibited by other websites sharing the same IP. Owners of dedicated IP addresses can access their websites while waiting for a domain transfer.</a:t>
            </a:r>
            <a:endParaRPr lang="en-US"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4490810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Domain Name System (DNS)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Prelude:- At application layer</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Remembering IP address of a website (device machine address which they are stored) is difficult.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Also IP address changes when the storage machine changes and need to be informed to every user.</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Hence high level reliable names </a:t>
            </a:r>
            <a:r>
              <a:rPr lang="en-US" sz="2200" dirty="0">
                <a:solidFill>
                  <a:schemeClr val="tx1"/>
                </a:solidFill>
                <a:latin typeface="Times New Roman" pitchFamily="18" charset="0"/>
                <a:cs typeface="Times New Roman" pitchFamily="18" charset="0"/>
              </a:rPr>
              <a:t>introduced such as </a:t>
            </a:r>
            <a:r>
              <a:rPr lang="en-US" sz="2200" dirty="0" smtClean="0">
                <a:solidFill>
                  <a:schemeClr val="tx1"/>
                </a:solidFill>
                <a:latin typeface="Times New Roman" pitchFamily="18" charset="0"/>
                <a:cs typeface="Times New Roman" pitchFamily="18" charset="0"/>
                <a:hlinkClick r:id="rId2"/>
              </a:rPr>
              <a:t>www.mallareddyuniversity.ac.in</a:t>
            </a:r>
            <a:r>
              <a:rPr lang="en-US" sz="2200" dirty="0" smtClean="0">
                <a:solidFill>
                  <a:schemeClr val="tx1"/>
                </a:solidFill>
                <a:latin typeface="Times New Roman" pitchFamily="18" charset="0"/>
                <a:cs typeface="Times New Roman" pitchFamily="18" charset="0"/>
              </a:rPr>
              <a:t>, to be converted to numerical address as machine understand that format only. </a:t>
            </a:r>
          </a:p>
          <a:p>
            <a:pPr algn="just"/>
            <a:r>
              <a:rPr lang="en-IN" sz="2200" dirty="0" smtClean="0">
                <a:solidFill>
                  <a:schemeClr val="tx1"/>
                </a:solidFill>
                <a:latin typeface="Times New Roman" pitchFamily="18" charset="0"/>
                <a:cs typeface="Times New Roman" pitchFamily="18" charset="0"/>
              </a:rPr>
              <a:t>----------------------------------------------------------------------------------------</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DNS is required </a:t>
            </a:r>
            <a:r>
              <a:rPr lang="en-US" sz="2200" dirty="0">
                <a:solidFill>
                  <a:schemeClr val="tx1"/>
                </a:solidFill>
                <a:latin typeface="Times New Roman" pitchFamily="18" charset="0"/>
                <a:cs typeface="Times New Roman" pitchFamily="18" charset="0"/>
              </a:rPr>
              <a:t>for the functioning of the </a:t>
            </a:r>
            <a:r>
              <a:rPr lang="en-US" sz="2200" dirty="0" smtClean="0">
                <a:solidFill>
                  <a:schemeClr val="tx1"/>
                </a:solidFill>
                <a:latin typeface="Times New Roman" pitchFamily="18" charset="0"/>
                <a:cs typeface="Times New Roman" pitchFamily="18" charset="0"/>
              </a:rPr>
              <a:t>internet.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DNS is a TCP/IP protocol used on different platforms.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is a directory service that provides a mapping between the name of a host on the network and its numerical </a:t>
            </a:r>
            <a:r>
              <a:rPr lang="en-US" sz="2200" dirty="0" smtClean="0">
                <a:solidFill>
                  <a:schemeClr val="tx1"/>
                </a:solidFill>
                <a:latin typeface="Times New Roman" pitchFamily="18" charset="0"/>
                <a:cs typeface="Times New Roman" pitchFamily="18" charset="0"/>
              </a:rPr>
              <a:t>address (IP address).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DNS is a service that translates the domain name into IP addresses. This allows the users of networks to utilize user-friendly names when looking for other hosts instead of remembering the IP addresses</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9739057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Domain Name System (DNS)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Naming in postal system: the country, state or province, city, street address, and name of the addressee.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Similarly, DNS is a </a:t>
            </a:r>
            <a:r>
              <a:rPr lang="en-US" sz="2200" dirty="0">
                <a:solidFill>
                  <a:schemeClr val="tx1"/>
                </a:solidFill>
                <a:latin typeface="Times New Roman" pitchFamily="18" charset="0"/>
                <a:cs typeface="Times New Roman" pitchFamily="18" charset="0"/>
              </a:rPr>
              <a:t>tree like structure, each node in a tree has a domain name, and a full domain name is a sequence of symbols specified by dots. </a:t>
            </a:r>
            <a:r>
              <a:rPr lang="en-US" sz="2200" dirty="0" smtClean="0">
                <a:solidFill>
                  <a:schemeClr val="tx1"/>
                </a:solidFill>
                <a:latin typeface="Times New Roman" pitchFamily="18" charset="0"/>
                <a:cs typeface="Times New Roman" pitchFamily="18" charset="0"/>
              </a:rPr>
              <a:t>132.147.165.50.</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Each node in the tree has a domain </a:t>
            </a:r>
            <a:r>
              <a:rPr lang="en-US" sz="2200" dirty="0" smtClean="0">
                <a:solidFill>
                  <a:schemeClr val="tx1"/>
                </a:solidFill>
                <a:latin typeface="Times New Roman" pitchFamily="18" charset="0"/>
                <a:cs typeface="Times New Roman" pitchFamily="18" charset="0"/>
              </a:rPr>
              <a:t>name and a </a:t>
            </a:r>
            <a:r>
              <a:rPr lang="en-US" sz="2200" dirty="0">
                <a:solidFill>
                  <a:schemeClr val="tx1"/>
                </a:solidFill>
                <a:latin typeface="Times New Roman" pitchFamily="18" charset="0"/>
                <a:cs typeface="Times New Roman" pitchFamily="18" charset="0"/>
              </a:rPr>
              <a:t>full domain name is a sequence of labels separated by dots (.).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domain names are always read from the node up to the root.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last label is the label of the root (null). This means that a full domain name always ends in a null label, which means the last character is a dot because the null string is nothing</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domain name space is divided into three different sections: Generic domains, country domains, and inverse domain</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309907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Domain Name System (DNS)</a:t>
            </a:r>
            <a:endParaRPr lang="en-US" sz="2800" dirty="0">
              <a:solidFill>
                <a:srgbClr val="00B05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36418" y="841375"/>
            <a:ext cx="8229600" cy="4797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4233784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Domain Name System (DNS)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Generic </a:t>
            </a:r>
            <a:r>
              <a:rPr lang="en-US" sz="2200" b="1" dirty="0" err="1" smtClean="0">
                <a:solidFill>
                  <a:schemeClr val="tx1"/>
                </a:solidFill>
                <a:latin typeface="Times New Roman" pitchFamily="18" charset="0"/>
                <a:cs typeface="Times New Roman" pitchFamily="18" charset="0"/>
              </a:rPr>
              <a:t>domain</a:t>
            </a:r>
            <a:r>
              <a:rPr lang="en-US" sz="2200" dirty="0" err="1">
                <a:solidFill>
                  <a:schemeClr val="tx1"/>
                </a:solidFill>
                <a:latin typeface="Times New Roman" pitchFamily="18" charset="0"/>
                <a:cs typeface="Times New Roman" pitchFamily="18" charset="0"/>
              </a:rPr>
              <a:t>:.com</a:t>
            </a:r>
            <a:r>
              <a:rPr lang="en-US" sz="2200" dirty="0">
                <a:solidFill>
                  <a:schemeClr val="tx1"/>
                </a:solidFill>
                <a:latin typeface="Times New Roman" pitchFamily="18" charset="0"/>
                <a:cs typeface="Times New Roman" pitchFamily="18" charset="0"/>
              </a:rPr>
              <a:t>:(commercial).</a:t>
            </a:r>
            <a:r>
              <a:rPr lang="en-US" sz="2200" dirty="0" err="1">
                <a:solidFill>
                  <a:schemeClr val="tx1"/>
                </a:solidFill>
                <a:latin typeface="Times New Roman" pitchFamily="18" charset="0"/>
                <a:cs typeface="Times New Roman" pitchFamily="18" charset="0"/>
              </a:rPr>
              <a:t>edu</a:t>
            </a:r>
            <a:r>
              <a:rPr lang="en-US" sz="2200" dirty="0">
                <a:solidFill>
                  <a:schemeClr val="tx1"/>
                </a:solidFill>
                <a:latin typeface="Times New Roman" pitchFamily="18" charset="0"/>
                <a:cs typeface="Times New Roman" pitchFamily="18" charset="0"/>
              </a:rPr>
              <a:t>(educational) .mil(military) .org(non profit organization) </a:t>
            </a:r>
            <a:r>
              <a:rPr lang="en-US" sz="2200" dirty="0" err="1">
                <a:solidFill>
                  <a:schemeClr val="tx1"/>
                </a:solidFill>
                <a:latin typeface="Times New Roman" pitchFamily="18" charset="0"/>
                <a:cs typeface="Times New Roman" pitchFamily="18" charset="0"/>
              </a:rPr>
              <a:t>.net</a:t>
            </a:r>
            <a:r>
              <a:rPr lang="en-US" sz="2200" dirty="0">
                <a:solidFill>
                  <a:schemeClr val="tx1"/>
                </a:solidFill>
                <a:latin typeface="Times New Roman" pitchFamily="18" charset="0"/>
                <a:cs typeface="Times New Roman" pitchFamily="18" charset="0"/>
              </a:rPr>
              <a:t>(similar to commercial) all these are generic domain.</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Country </a:t>
            </a:r>
            <a:r>
              <a:rPr lang="en-US" sz="2200" b="1" dirty="0">
                <a:solidFill>
                  <a:schemeClr val="tx1"/>
                </a:solidFill>
                <a:latin typeface="Times New Roman" pitchFamily="18" charset="0"/>
                <a:cs typeface="Times New Roman" pitchFamily="18" charset="0"/>
              </a:rPr>
              <a:t>domain</a:t>
            </a:r>
            <a:r>
              <a:rPr lang="en-US" sz="2200" dirty="0">
                <a:solidFill>
                  <a:schemeClr val="tx1"/>
                </a:solidFill>
                <a:latin typeface="Times New Roman" pitchFamily="18" charset="0"/>
                <a:cs typeface="Times New Roman" pitchFamily="18" charset="0"/>
              </a:rPr>
              <a:t>: .in (India) .us(united states) .</a:t>
            </a:r>
            <a:r>
              <a:rPr lang="en-US" sz="2200" dirty="0" err="1">
                <a:solidFill>
                  <a:schemeClr val="tx1"/>
                </a:solidFill>
                <a:latin typeface="Times New Roman" pitchFamily="18" charset="0"/>
                <a:cs typeface="Times New Roman" pitchFamily="18" charset="0"/>
              </a:rPr>
              <a:t>uk</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Inverse </a:t>
            </a:r>
            <a:r>
              <a:rPr lang="en-US" sz="2200" b="1" dirty="0">
                <a:solidFill>
                  <a:schemeClr val="tx1"/>
                </a:solidFill>
                <a:latin typeface="Times New Roman" pitchFamily="18" charset="0"/>
                <a:cs typeface="Times New Roman" pitchFamily="18" charset="0"/>
              </a:rPr>
              <a:t>domain</a:t>
            </a:r>
            <a:r>
              <a:rPr lang="en-US" sz="2200" dirty="0">
                <a:solidFill>
                  <a:schemeClr val="tx1"/>
                </a:solidFill>
                <a:latin typeface="Times New Roman" pitchFamily="18" charset="0"/>
                <a:cs typeface="Times New Roman" pitchFamily="18" charset="0"/>
              </a:rPr>
              <a:t>: if we want to know what is the domain name of the website. </a:t>
            </a:r>
            <a:r>
              <a:rPr lang="en-US" sz="2200" dirty="0" err="1">
                <a:solidFill>
                  <a:schemeClr val="tx1"/>
                </a:solidFill>
                <a:latin typeface="Times New Roman" pitchFamily="18" charset="0"/>
                <a:cs typeface="Times New Roman" pitchFamily="18" charset="0"/>
              </a:rPr>
              <a:t>Ip</a:t>
            </a:r>
            <a:r>
              <a:rPr lang="en-US" sz="2200" dirty="0">
                <a:solidFill>
                  <a:schemeClr val="tx1"/>
                </a:solidFill>
                <a:latin typeface="Times New Roman" pitchFamily="18" charset="0"/>
                <a:cs typeface="Times New Roman" pitchFamily="18" charset="0"/>
              </a:rPr>
              <a:t> to domain name mapping. So DNS can provide both the mapping for example to find the </a:t>
            </a:r>
            <a:r>
              <a:rPr lang="en-US" sz="2200" dirty="0" err="1">
                <a:solidFill>
                  <a:schemeClr val="tx1"/>
                </a:solidFill>
                <a:latin typeface="Times New Roman" pitchFamily="18" charset="0"/>
                <a:cs typeface="Times New Roman" pitchFamily="18" charset="0"/>
              </a:rPr>
              <a:t>ip</a:t>
            </a:r>
            <a:r>
              <a:rPr lang="en-US" sz="2200" dirty="0">
                <a:solidFill>
                  <a:schemeClr val="tx1"/>
                </a:solidFill>
                <a:latin typeface="Times New Roman" pitchFamily="18" charset="0"/>
                <a:cs typeface="Times New Roman" pitchFamily="18" charset="0"/>
              </a:rPr>
              <a:t> addresses of geeksforgeeks.org then we have to type </a:t>
            </a:r>
            <a:r>
              <a:rPr lang="en-US" sz="2200" dirty="0" err="1">
                <a:solidFill>
                  <a:schemeClr val="tx1"/>
                </a:solidFill>
                <a:latin typeface="Times New Roman" pitchFamily="18" charset="0"/>
                <a:cs typeface="Times New Roman" pitchFamily="18" charset="0"/>
              </a:rPr>
              <a:t>nslookup</a:t>
            </a:r>
            <a:r>
              <a:rPr lang="en-US" sz="2200"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www.stevesinternetguide.com</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3855460"/>
            <a:ext cx="4457700" cy="2164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876800" y="3929063"/>
            <a:ext cx="3981450" cy="16335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09627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Uniform Resource Locator (URL)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URL, short for a uniform resource locator is a web address pointing to a specific website, a web page, or a document on the internet</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err="1" smtClean="0">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t>
            </a:r>
            <a:r>
              <a:rPr lang="en-IN" sz="2200" dirty="0">
                <a:solidFill>
                  <a:schemeClr val="tx1"/>
                </a:solidFill>
                <a:latin typeface="Times New Roman" pitchFamily="18" charset="0"/>
                <a:cs typeface="Times New Roman" pitchFamily="18" charset="0"/>
                <a:hlinkClick r:id="rId2"/>
              </a:rPr>
              <a:t>https://www.geeksforgeeks.org/url-full-form</a:t>
            </a:r>
            <a:r>
              <a:rPr lang="en-IN" sz="2200" dirty="0" smtClean="0">
                <a:solidFill>
                  <a:schemeClr val="tx1"/>
                </a:solidFill>
                <a:latin typeface="Times New Roman" pitchFamily="18" charset="0"/>
                <a:cs typeface="Times New Roman" pitchFamily="18" charset="0"/>
                <a:hlinkClick r:id="rId2"/>
              </a:rPr>
              <a:t>/</a:t>
            </a:r>
            <a:endParaRPr lang="en-IN" sz="2200" dirty="0" smtClean="0">
              <a:solidFill>
                <a:schemeClr val="tx1"/>
              </a:solidFill>
              <a:latin typeface="Times New Roman" pitchFamily="18" charset="0"/>
              <a:cs typeface="Times New Roman" pitchFamily="18" charset="0"/>
            </a:endParaRPr>
          </a:p>
          <a:p>
            <a:pPr algn="just"/>
            <a:r>
              <a:rPr lang="en-IN" sz="2200" b="1" dirty="0" smtClean="0">
                <a:solidFill>
                  <a:schemeClr val="tx1"/>
                </a:solidFill>
                <a:latin typeface="Times New Roman" pitchFamily="18" charset="0"/>
                <a:cs typeface="Times New Roman" pitchFamily="18" charset="0"/>
              </a:rPr>
              <a:t>Protocol:</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HTTP </a:t>
            </a:r>
            <a:r>
              <a:rPr lang="en-US" sz="2200" dirty="0">
                <a:solidFill>
                  <a:schemeClr val="tx1"/>
                </a:solidFill>
                <a:latin typeface="Times New Roman" pitchFamily="18" charset="0"/>
                <a:cs typeface="Times New Roman" pitchFamily="18" charset="0"/>
              </a:rPr>
              <a:t>(Hypertext Transfer Protocol) and HTTPS (Hypertext Transfer Protocol Secure) are network communication protocols between web servers and web browsers.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a:t>
            </a:r>
            <a:r>
              <a:rPr lang="en-US" sz="2200" dirty="0">
                <a:solidFill>
                  <a:schemeClr val="tx1"/>
                </a:solidFill>
                <a:latin typeface="Times New Roman" pitchFamily="18" charset="0"/>
                <a:cs typeface="Times New Roman" pitchFamily="18" charset="0"/>
              </a:rPr>
              <a:t>transmit messages, retrieve information through the domain name system (DNS), and return it to the browser.</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HTTPS encrypts </a:t>
            </a:r>
            <a:r>
              <a:rPr lang="en-US" sz="2200" dirty="0">
                <a:solidFill>
                  <a:schemeClr val="tx1"/>
                </a:solidFill>
                <a:latin typeface="Times New Roman" pitchFamily="18" charset="0"/>
                <a:cs typeface="Times New Roman" pitchFamily="18" charset="0"/>
              </a:rPr>
              <a:t>the data transmission </a:t>
            </a:r>
            <a:r>
              <a:rPr lang="en-US" sz="2200" dirty="0" smtClean="0">
                <a:solidFill>
                  <a:schemeClr val="tx1"/>
                </a:solidFill>
                <a:latin typeface="Times New Roman" pitchFamily="18" charset="0"/>
                <a:cs typeface="Times New Roman" pitchFamily="18" charset="0"/>
              </a:rPr>
              <a:t>process as a </a:t>
            </a:r>
            <a:r>
              <a:rPr lang="en-US" sz="2200" dirty="0">
                <a:solidFill>
                  <a:schemeClr val="tx1"/>
                </a:solidFill>
                <a:latin typeface="Times New Roman" pitchFamily="18" charset="0"/>
                <a:cs typeface="Times New Roman" pitchFamily="18" charset="0"/>
              </a:rPr>
              <a:t>security </a:t>
            </a:r>
            <a:r>
              <a:rPr lang="en-US" sz="2200" dirty="0" smtClean="0">
                <a:solidFill>
                  <a:schemeClr val="tx1"/>
                </a:solidFill>
                <a:latin typeface="Times New Roman" pitchFamily="18" charset="0"/>
                <a:cs typeface="Times New Roman" pitchFamily="18" charset="0"/>
              </a:rPr>
              <a:t>protocol, </a:t>
            </a:r>
            <a:r>
              <a:rPr lang="en-US" sz="2200" dirty="0">
                <a:solidFill>
                  <a:schemeClr val="tx1"/>
                </a:solidFill>
                <a:latin typeface="Times New Roman" pitchFamily="18" charset="0"/>
                <a:cs typeface="Times New Roman" pitchFamily="18" charset="0"/>
              </a:rPr>
              <a:t>protects a website </a:t>
            </a:r>
            <a:r>
              <a:rPr lang="en-US" sz="2200" dirty="0" smtClean="0">
                <a:solidFill>
                  <a:schemeClr val="tx1"/>
                </a:solidFill>
                <a:latin typeface="Times New Roman" pitchFamily="18" charset="0"/>
                <a:cs typeface="Times New Roman" pitchFamily="18" charset="0"/>
              </a:rPr>
              <a:t>better and improve search results rankings.</a:t>
            </a:r>
            <a:endParaRPr lang="en-US" sz="2200"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5823" t="27895" r="5540" b="10684"/>
          <a:stretch/>
        </p:blipFill>
        <p:spPr bwMode="auto">
          <a:xfrm>
            <a:off x="2438400" y="4883728"/>
            <a:ext cx="6507674" cy="18980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123544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Uniform Resource Locator (URL)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Subdomain:</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subdomain consists of any words or phrases that come before a URL’s first dot.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www </a:t>
            </a:r>
            <a:r>
              <a:rPr lang="en-US" sz="2200" dirty="0">
                <a:solidFill>
                  <a:schemeClr val="tx1"/>
                </a:solidFill>
                <a:latin typeface="Times New Roman" pitchFamily="18" charset="0"/>
                <a:cs typeface="Times New Roman" pitchFamily="18" charset="0"/>
              </a:rPr>
              <a:t>is the most common type. It indicates that a website is accessible through the internet and uses HTTP to communicate.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Other popular </a:t>
            </a:r>
            <a:r>
              <a:rPr lang="en-US" sz="2200" dirty="0">
                <a:solidFill>
                  <a:schemeClr val="tx1"/>
                </a:solidFill>
                <a:latin typeface="Times New Roman" pitchFamily="18" charset="0"/>
                <a:cs typeface="Times New Roman" pitchFamily="18" charset="0"/>
              </a:rPr>
              <a:t>options are “blog” and “news</a:t>
            </a:r>
            <a:r>
              <a:rPr lang="en-US" sz="2200" dirty="0" smtClean="0">
                <a:solidFill>
                  <a:schemeClr val="tx1"/>
                </a:solidFill>
                <a:latin typeface="Times New Roman" pitchFamily="18" charset="0"/>
                <a:cs typeface="Times New Roman" pitchFamily="18" charset="0"/>
              </a:rPr>
              <a:t>.”</a:t>
            </a:r>
          </a:p>
          <a:p>
            <a:pPr algn="just"/>
            <a:r>
              <a:rPr lang="en-IN" sz="2200" b="1" dirty="0" smtClean="0">
                <a:solidFill>
                  <a:schemeClr val="tx1"/>
                </a:solidFill>
                <a:latin typeface="Times New Roman" pitchFamily="18" charset="0"/>
                <a:cs typeface="Times New Roman" pitchFamily="18" charset="0"/>
              </a:rPr>
              <a:t>Domain name:</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domain name is what users type into their browser’s address bar to reach a website.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consists of a site name and an extension, for example, hostinger.com.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Every name is unique, and they represent their corresponding IP addresses.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This </a:t>
            </a:r>
            <a:r>
              <a:rPr lang="en-US" sz="2200" dirty="0">
                <a:solidFill>
                  <a:schemeClr val="tx1"/>
                </a:solidFill>
                <a:latin typeface="Times New Roman" pitchFamily="18" charset="0"/>
                <a:cs typeface="Times New Roman" pitchFamily="18" charset="0"/>
              </a:rPr>
              <a:t>unique IP address points to the website’s server. In other words, it helps users access websites easily.</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6669401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Uniform Resource Locator (URL)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Domain extensions: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Also called a top-level domain (</a:t>
            </a:r>
            <a:r>
              <a:rPr lang="en-US" sz="2200" dirty="0" smtClean="0">
                <a:solidFill>
                  <a:schemeClr val="tx1"/>
                </a:solidFill>
                <a:latin typeface="Times New Roman" pitchFamily="18" charset="0"/>
                <a:cs typeface="Times New Roman" pitchFamily="18" charset="0"/>
              </a:rPr>
              <a:t>TLD). Types: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Generic TLD (</a:t>
            </a:r>
            <a:r>
              <a:rPr lang="en-US" sz="2200" b="1" dirty="0" err="1">
                <a:solidFill>
                  <a:schemeClr val="tx1"/>
                </a:solidFill>
                <a:latin typeface="Times New Roman" pitchFamily="18" charset="0"/>
                <a:cs typeface="Times New Roman" pitchFamily="18" charset="0"/>
              </a:rPr>
              <a:t>gTLD</a:t>
            </a:r>
            <a:r>
              <a:rPr lang="en-US" sz="2200" b="1"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popular </a:t>
            </a:r>
            <a:r>
              <a:rPr lang="en-US" sz="2200" dirty="0">
                <a:solidFill>
                  <a:schemeClr val="tx1"/>
                </a:solidFill>
                <a:latin typeface="Times New Roman" pitchFamily="18" charset="0"/>
                <a:cs typeface="Times New Roman" pitchFamily="18" charset="0"/>
              </a:rPr>
              <a:t>extensions, </a:t>
            </a:r>
            <a:r>
              <a:rPr lang="en-US" sz="2200" dirty="0" err="1" smtClean="0">
                <a:solidFill>
                  <a:schemeClr val="tx1"/>
                </a:solidFill>
                <a:latin typeface="Times New Roman" pitchFamily="18" charset="0"/>
                <a:cs typeface="Times New Roman" pitchFamily="18" charset="0"/>
              </a:rPr>
              <a:t>Eg</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.com, .org, </a:t>
            </a:r>
            <a:r>
              <a:rPr lang="en-US" sz="2200" dirty="0" err="1">
                <a:solidFill>
                  <a:schemeClr val="tx1"/>
                </a:solidFill>
                <a:latin typeface="Times New Roman" pitchFamily="18" charset="0"/>
                <a:cs typeface="Times New Roman" pitchFamily="18" charset="0"/>
              </a:rPr>
              <a:t>.net</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Country Code TLD (</a:t>
            </a:r>
            <a:r>
              <a:rPr lang="en-US" sz="2200" b="1" dirty="0" err="1">
                <a:solidFill>
                  <a:schemeClr val="tx1"/>
                </a:solidFill>
                <a:latin typeface="Times New Roman" pitchFamily="18" charset="0"/>
                <a:cs typeface="Times New Roman" pitchFamily="18" charset="0"/>
              </a:rPr>
              <a:t>ccTLD</a:t>
            </a:r>
            <a:r>
              <a:rPr lang="en-US" sz="2200" b="1"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country</a:t>
            </a:r>
            <a:r>
              <a:rPr lang="en-US" sz="2200" dirty="0">
                <a:solidFill>
                  <a:schemeClr val="tx1"/>
                </a:solidFill>
                <a:latin typeface="Times New Roman" pitchFamily="18" charset="0"/>
                <a:cs typeface="Times New Roman" pitchFamily="18" charset="0"/>
              </a:rPr>
              <a:t>, a territory, or a geographical area. </a:t>
            </a:r>
            <a:r>
              <a:rPr lang="en-US" sz="2200" dirty="0" err="1">
                <a:solidFill>
                  <a:schemeClr val="tx1"/>
                </a:solidFill>
                <a:latin typeface="Times New Roman" pitchFamily="18" charset="0"/>
                <a:cs typeface="Times New Roman" pitchFamily="18" charset="0"/>
              </a:rPr>
              <a:t>ccTLD</a:t>
            </a:r>
            <a:r>
              <a:rPr lang="en-US" sz="2200" dirty="0">
                <a:solidFill>
                  <a:schemeClr val="tx1"/>
                </a:solidFill>
                <a:latin typeface="Times New Roman" pitchFamily="18" charset="0"/>
                <a:cs typeface="Times New Roman" pitchFamily="18" charset="0"/>
              </a:rPr>
              <a:t> consists of two letters based on the international country codes, such as .</a:t>
            </a:r>
            <a:r>
              <a:rPr lang="en-US" sz="2200" dirty="0" err="1">
                <a:solidFill>
                  <a:schemeClr val="tx1"/>
                </a:solidFill>
                <a:latin typeface="Times New Roman" pitchFamily="18" charset="0"/>
                <a:cs typeface="Times New Roman" pitchFamily="18" charset="0"/>
              </a:rPr>
              <a:t>uk</a:t>
            </a:r>
            <a:r>
              <a:rPr lang="en-US" sz="2200" dirty="0">
                <a:solidFill>
                  <a:schemeClr val="tx1"/>
                </a:solidFill>
                <a:latin typeface="Times New Roman" pitchFamily="18" charset="0"/>
                <a:cs typeface="Times New Roman" pitchFamily="18" charset="0"/>
              </a:rPr>
              <a:t>, .in, and .</a:t>
            </a:r>
            <a:r>
              <a:rPr lang="en-US" sz="2200" dirty="0" err="1">
                <a:solidFill>
                  <a:schemeClr val="tx1"/>
                </a:solidFill>
                <a:latin typeface="Times New Roman" pitchFamily="18" charset="0"/>
                <a:cs typeface="Times New Roman" pitchFamily="18" charset="0"/>
              </a:rPr>
              <a:t>sg</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Sponsored TLD (</a:t>
            </a:r>
            <a:r>
              <a:rPr lang="en-US" sz="2200" b="1" dirty="0" err="1">
                <a:solidFill>
                  <a:schemeClr val="tx1"/>
                </a:solidFill>
                <a:latin typeface="Times New Roman" pitchFamily="18" charset="0"/>
                <a:cs typeface="Times New Roman" pitchFamily="18" charset="0"/>
              </a:rPr>
              <a:t>sTLD</a:t>
            </a:r>
            <a:r>
              <a:rPr lang="en-US" sz="2200" b="1"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sponsored </a:t>
            </a:r>
            <a:r>
              <a:rPr lang="en-US" sz="2200" dirty="0">
                <a:solidFill>
                  <a:schemeClr val="tx1"/>
                </a:solidFill>
                <a:latin typeface="Times New Roman" pitchFamily="18" charset="0"/>
                <a:cs typeface="Times New Roman" pitchFamily="18" charset="0"/>
              </a:rPr>
              <a:t>and used for specific organizations. </a:t>
            </a:r>
            <a:r>
              <a:rPr lang="en-US" sz="2200" dirty="0" err="1" smtClean="0">
                <a:solidFill>
                  <a:schemeClr val="tx1"/>
                </a:solidFill>
                <a:latin typeface="Times New Roman" pitchFamily="18" charset="0"/>
                <a:cs typeface="Times New Roman" pitchFamily="18" charset="0"/>
              </a:rPr>
              <a:t>Eg</a:t>
            </a:r>
            <a:r>
              <a:rPr lang="en-US" sz="2200" dirty="0" smtClean="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Tralliance</a:t>
            </a:r>
            <a:r>
              <a:rPr lang="en-US" sz="2200" dirty="0">
                <a:solidFill>
                  <a:schemeClr val="tx1"/>
                </a:solidFill>
                <a:latin typeface="Times New Roman" pitchFamily="18" charset="0"/>
                <a:cs typeface="Times New Roman" pitchFamily="18" charset="0"/>
              </a:rPr>
              <a:t> Registry Management Company, LLC sponsors .travel, and </a:t>
            </a:r>
            <a:r>
              <a:rPr lang="en-US" sz="2200" dirty="0" err="1">
                <a:solidFill>
                  <a:schemeClr val="tx1"/>
                </a:solidFill>
                <a:latin typeface="Times New Roman" pitchFamily="18" charset="0"/>
                <a:cs typeface="Times New Roman" pitchFamily="18" charset="0"/>
              </a:rPr>
              <a:t>DotAsia</a:t>
            </a:r>
            <a:r>
              <a:rPr lang="en-US" sz="2200" dirty="0">
                <a:solidFill>
                  <a:schemeClr val="tx1"/>
                </a:solidFill>
                <a:latin typeface="Times New Roman" pitchFamily="18" charset="0"/>
                <a:cs typeface="Times New Roman" pitchFamily="18" charset="0"/>
              </a:rPr>
              <a:t> Organization Ltd. sponsors .</a:t>
            </a:r>
            <a:r>
              <a:rPr lang="en-US" sz="2200" dirty="0" err="1">
                <a:solidFill>
                  <a:schemeClr val="tx1"/>
                </a:solidFill>
                <a:latin typeface="Times New Roman" pitchFamily="18" charset="0"/>
                <a:cs typeface="Times New Roman" pitchFamily="18" charset="0"/>
              </a:rPr>
              <a:t>asia</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New </a:t>
            </a:r>
            <a:r>
              <a:rPr lang="en-US" sz="2200" b="1" dirty="0" err="1">
                <a:solidFill>
                  <a:schemeClr val="tx1"/>
                </a:solidFill>
                <a:latin typeface="Times New Roman" pitchFamily="18" charset="0"/>
                <a:cs typeface="Times New Roman" pitchFamily="18" charset="0"/>
              </a:rPr>
              <a:t>gTLD</a:t>
            </a:r>
            <a:r>
              <a:rPr lang="en-US" sz="2200" b="1" dirty="0">
                <a:solidFill>
                  <a:schemeClr val="tx1"/>
                </a:solidFill>
                <a:latin typeface="Times New Roman" pitchFamily="18" charset="0"/>
                <a:cs typeface="Times New Roman" pitchFamily="18" charset="0"/>
              </a:rPr>
              <a:t> (</a:t>
            </a:r>
            <a:r>
              <a:rPr lang="en-US" sz="2200" b="1" dirty="0" err="1">
                <a:solidFill>
                  <a:schemeClr val="tx1"/>
                </a:solidFill>
                <a:latin typeface="Times New Roman" pitchFamily="18" charset="0"/>
                <a:cs typeface="Times New Roman" pitchFamily="18" charset="0"/>
              </a:rPr>
              <a:t>nTLD</a:t>
            </a:r>
            <a:r>
              <a:rPr lang="en-US" sz="2200" b="1"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new </a:t>
            </a:r>
            <a:r>
              <a:rPr lang="en-US" sz="2200" dirty="0">
                <a:solidFill>
                  <a:schemeClr val="tx1"/>
                </a:solidFill>
                <a:latin typeface="Times New Roman" pitchFamily="18" charset="0"/>
                <a:cs typeface="Times New Roman" pitchFamily="18" charset="0"/>
              </a:rPr>
              <a:t>generation of domain extensions. Basically, any TLD launched after 12 January 2012 are new </a:t>
            </a:r>
            <a:r>
              <a:rPr lang="en-US" sz="2200" dirty="0" err="1">
                <a:solidFill>
                  <a:schemeClr val="tx1"/>
                </a:solidFill>
                <a:latin typeface="Times New Roman" pitchFamily="18" charset="0"/>
                <a:cs typeface="Times New Roman" pitchFamily="18" charset="0"/>
              </a:rPr>
              <a:t>gTLD</a:t>
            </a:r>
            <a:r>
              <a:rPr lang="en-US" sz="2200" dirty="0">
                <a:solidFill>
                  <a:schemeClr val="tx1"/>
                </a:solidFill>
                <a:latin typeface="Times New Roman" pitchFamily="18" charset="0"/>
                <a:cs typeface="Times New Roman" pitchFamily="18" charset="0"/>
              </a:rPr>
              <a:t>, including .online, .store, and .tech</a:t>
            </a:r>
            <a:r>
              <a:rPr lang="en-US" sz="2200" dirty="0" smtClean="0">
                <a:solidFill>
                  <a:schemeClr val="tx1"/>
                </a:solidFill>
                <a:latin typeface="Times New Roman" pitchFamily="18" charset="0"/>
                <a:cs typeface="Times New Roman" pitchFamily="18" charset="0"/>
              </a:rPr>
              <a:t>.</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793872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Uniform Resource Locator (URL)</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a:solidFill>
                  <a:schemeClr val="tx1"/>
                </a:solidFill>
                <a:latin typeface="Times New Roman" pitchFamily="18" charset="0"/>
                <a:cs typeface="Times New Roman" pitchFamily="18" charset="0"/>
              </a:rPr>
              <a:t>Path to the Resource:</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path to the resource is the part to the right of the </a:t>
            </a:r>
            <a:r>
              <a:rPr lang="en-US" sz="2200" dirty="0" smtClean="0">
                <a:solidFill>
                  <a:schemeClr val="tx1"/>
                </a:solidFill>
                <a:latin typeface="Times New Roman" pitchFamily="18" charset="0"/>
                <a:cs typeface="Times New Roman" pitchFamily="18" charset="0"/>
              </a:rPr>
              <a:t>TLD, </a:t>
            </a:r>
            <a:r>
              <a:rPr lang="en-US" sz="2200" dirty="0">
                <a:solidFill>
                  <a:schemeClr val="tx1"/>
                </a:solidFill>
                <a:latin typeface="Times New Roman" pitchFamily="18" charset="0"/>
                <a:cs typeface="Times New Roman" pitchFamily="18" charset="0"/>
              </a:rPr>
              <a:t>referred to as the folder structure of the website.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path to the resource gives extra information to a web server, enabling it to lead users to a specific location. A series of paths to resources may point to a specific page, post, or file.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URL can have more than one path to resources. When that happens, the forward-slash sign (/) will separate each of them. The more paths to resources a URL contains, the more specific the location is.</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5490929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Chapter 2- Internet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IN" sz="2000" b="1" dirty="0" smtClean="0">
                <a:solidFill>
                  <a:schemeClr val="tx1"/>
                </a:solidFill>
                <a:latin typeface="Times New Roman" pitchFamily="18" charset="0"/>
                <a:cs typeface="Times New Roman" pitchFamily="18" charset="0"/>
              </a:rPr>
              <a:t>Internet </a:t>
            </a:r>
            <a:r>
              <a:rPr lang="en-IN" sz="2000" b="1" dirty="0">
                <a:solidFill>
                  <a:schemeClr val="tx1"/>
                </a:solidFill>
                <a:latin typeface="Times New Roman" pitchFamily="18" charset="0"/>
                <a:cs typeface="Times New Roman" pitchFamily="18" charset="0"/>
              </a:rPr>
              <a:t>Services:</a:t>
            </a:r>
            <a:r>
              <a:rPr lang="en-IN" sz="2000" dirty="0">
                <a:solidFill>
                  <a:schemeClr val="tx1"/>
                </a:solidFill>
                <a:latin typeface="Times New Roman" pitchFamily="18" charset="0"/>
                <a:cs typeface="Times New Roman" pitchFamily="18" charset="0"/>
              </a:rPr>
              <a:t> </a:t>
            </a:r>
            <a:endParaRPr lang="en-IN" sz="20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Electronic Mail</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File </a:t>
            </a:r>
            <a:r>
              <a:rPr lang="en-IN" sz="2000" dirty="0">
                <a:solidFill>
                  <a:schemeClr val="tx1"/>
                </a:solidFill>
                <a:latin typeface="Times New Roman" pitchFamily="18" charset="0"/>
                <a:cs typeface="Times New Roman" pitchFamily="18" charset="0"/>
              </a:rPr>
              <a:t>Transfer </a:t>
            </a:r>
            <a:r>
              <a:rPr lang="en-IN" sz="2000" dirty="0" smtClean="0">
                <a:solidFill>
                  <a:schemeClr val="tx1"/>
                </a:solidFill>
                <a:latin typeface="Times New Roman" pitchFamily="18" charset="0"/>
                <a:cs typeface="Times New Roman" pitchFamily="18" charset="0"/>
              </a:rPr>
              <a:t>Protocol</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Chatting</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Internet Conferencing</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Electronic Newspaper</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World </a:t>
            </a:r>
            <a:r>
              <a:rPr lang="en-IN" sz="2000" dirty="0">
                <a:solidFill>
                  <a:schemeClr val="tx1"/>
                </a:solidFill>
                <a:latin typeface="Times New Roman" pitchFamily="18" charset="0"/>
                <a:cs typeface="Times New Roman" pitchFamily="18" charset="0"/>
              </a:rPr>
              <a:t>Wide </a:t>
            </a:r>
            <a:r>
              <a:rPr lang="en-IN" sz="2000" dirty="0" smtClean="0">
                <a:solidFill>
                  <a:schemeClr val="tx1"/>
                </a:solidFill>
                <a:latin typeface="Times New Roman" pitchFamily="18" charset="0"/>
                <a:cs typeface="Times New Roman" pitchFamily="18" charset="0"/>
              </a:rPr>
              <a:t>Web</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Online Shopping</a:t>
            </a:r>
          </a:p>
          <a:p>
            <a:pPr marL="342900" indent="-342900" algn="just">
              <a:buFont typeface="Arial" pitchFamily="34" charset="0"/>
              <a:buChar char="•"/>
            </a:pPr>
            <a:r>
              <a:rPr lang="en-IN" sz="2000" dirty="0" smtClean="0">
                <a:solidFill>
                  <a:schemeClr val="tx1"/>
                </a:solidFill>
                <a:latin typeface="Times New Roman" pitchFamily="18" charset="0"/>
                <a:cs typeface="Times New Roman" pitchFamily="18" charset="0"/>
              </a:rPr>
              <a:t>Search Engine</a:t>
            </a:r>
          </a:p>
        </p:txBody>
      </p:sp>
    </p:spTree>
    <p:extLst>
      <p:ext uri="{BB962C8B-B14F-4D97-AF65-F5344CB8AC3E}">
        <p14:creationId xmlns:p14="http://schemas.microsoft.com/office/powerpoint/2010/main" xmlns="" val="21287318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Electronic Mail(E-Mail):</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Defined </a:t>
            </a:r>
            <a:r>
              <a:rPr lang="en-US" sz="2200" dirty="0">
                <a:solidFill>
                  <a:schemeClr val="tx1"/>
                </a:solidFill>
                <a:latin typeface="Times New Roman" pitchFamily="18" charset="0"/>
                <a:cs typeface="Times New Roman" pitchFamily="18" charset="0"/>
              </a:rPr>
              <a:t>as the transmission of messages on the Internet.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is one of the most commonly used features over communications networks that may contain text, files, images, or other </a:t>
            </a:r>
            <a:r>
              <a:rPr lang="en-US" sz="2200" dirty="0" smtClean="0">
                <a:solidFill>
                  <a:schemeClr val="tx1"/>
                </a:solidFill>
                <a:latin typeface="Times New Roman" pitchFamily="18" charset="0"/>
                <a:cs typeface="Times New Roman" pitchFamily="18" charset="0"/>
              </a:rPr>
              <a:t>attachments.</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Generally</a:t>
            </a:r>
            <a:r>
              <a:rPr lang="en-US" sz="2200" dirty="0">
                <a:solidFill>
                  <a:schemeClr val="tx1"/>
                </a:solidFill>
                <a:latin typeface="Times New Roman" pitchFamily="18" charset="0"/>
                <a:cs typeface="Times New Roman" pitchFamily="18" charset="0"/>
              </a:rPr>
              <a:t>, it is information that is stored on a computer sent through a network to a specified individual or group of individuals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service allows an Internet user to send a message in formatted manner (mail) to the other Internet user in any part of world.</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Email </a:t>
            </a:r>
            <a:r>
              <a:rPr lang="en-US" sz="2200" dirty="0">
                <a:solidFill>
                  <a:schemeClr val="tx1"/>
                </a:solidFill>
                <a:latin typeface="Times New Roman" pitchFamily="18" charset="0"/>
                <a:cs typeface="Times New Roman" pitchFamily="18" charset="0"/>
              </a:rPr>
              <a:t>messages are conveyed through email servers; it uses multiple protocols within the TCP/IP suite.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err="1" smtClean="0">
                <a:solidFill>
                  <a:schemeClr val="tx1"/>
                </a:solidFill>
                <a:latin typeface="Times New Roman" pitchFamily="18" charset="0"/>
                <a:cs typeface="Times New Roman" pitchFamily="18" charset="0"/>
              </a:rPr>
              <a:t>Eg</a:t>
            </a:r>
            <a:r>
              <a:rPr lang="en-US" sz="2200" dirty="0" smtClean="0">
                <a:solidFill>
                  <a:schemeClr val="tx1"/>
                </a:solidFill>
                <a:latin typeface="Times New Roman" pitchFamily="18" charset="0"/>
                <a:cs typeface="Times New Roman" pitchFamily="18" charset="0"/>
              </a:rPr>
              <a:t>: SMTP </a:t>
            </a:r>
            <a:r>
              <a:rPr lang="en-US" sz="2200" dirty="0">
                <a:solidFill>
                  <a:schemeClr val="tx1"/>
                </a:solidFill>
                <a:latin typeface="Times New Roman" pitchFamily="18" charset="0"/>
                <a:cs typeface="Times New Roman" pitchFamily="18" charset="0"/>
              </a:rPr>
              <a:t>is a protocol, stands for simple mail transfer protocol and used to send messages whereas other protocols IMAP or POP are used to retrieve messages from a mail server.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If </a:t>
            </a:r>
            <a:r>
              <a:rPr lang="en-US" sz="2200" dirty="0">
                <a:solidFill>
                  <a:schemeClr val="tx1"/>
                </a:solidFill>
                <a:latin typeface="Times New Roman" pitchFamily="18" charset="0"/>
                <a:cs typeface="Times New Roman" pitchFamily="18" charset="0"/>
              </a:rPr>
              <a:t>you want to login to your mail account, you just need to enter a valid email address, password, and the mail servers used to send and receive messages.</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9323142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Although most of the webmail servers automatically configure your mail account.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Microsoft </a:t>
            </a:r>
            <a:r>
              <a:rPr lang="en-US" sz="2200" dirty="0">
                <a:solidFill>
                  <a:schemeClr val="tx1"/>
                </a:solidFill>
                <a:latin typeface="Times New Roman" pitchFamily="18" charset="0"/>
                <a:cs typeface="Times New Roman" pitchFamily="18" charset="0"/>
              </a:rPr>
              <a:t>Outlook or Apple </a:t>
            </a:r>
            <a:r>
              <a:rPr lang="en-US" sz="2200" dirty="0" smtClean="0">
                <a:solidFill>
                  <a:schemeClr val="tx1"/>
                </a:solidFill>
                <a:latin typeface="Times New Roman" pitchFamily="18" charset="0"/>
                <a:cs typeface="Times New Roman" pitchFamily="18" charset="0"/>
              </a:rPr>
              <a:t>Mail</a:t>
            </a:r>
            <a:r>
              <a:rPr lang="en-US" sz="2200"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require manual configuration.</a:t>
            </a:r>
          </a:p>
          <a:p>
            <a:pPr algn="just"/>
            <a:r>
              <a:rPr lang="en-US" sz="2200" b="1" dirty="0" smtClean="0">
                <a:solidFill>
                  <a:schemeClr val="tx1"/>
                </a:solidFill>
                <a:latin typeface="Times New Roman" pitchFamily="18" charset="0"/>
                <a:cs typeface="Times New Roman" pitchFamily="18" charset="0"/>
              </a:rPr>
              <a:t>Components </a:t>
            </a:r>
            <a:r>
              <a:rPr lang="en-US" sz="2200" b="1" dirty="0">
                <a:solidFill>
                  <a:schemeClr val="tx1"/>
                </a:solidFill>
                <a:latin typeface="Times New Roman" pitchFamily="18" charset="0"/>
                <a:cs typeface="Times New Roman" pitchFamily="18" charset="0"/>
              </a:rPr>
              <a:t>of E-Mail </a:t>
            </a:r>
            <a:r>
              <a:rPr lang="en-US" sz="2200" b="1" dirty="0" smtClean="0">
                <a:solidFill>
                  <a:schemeClr val="tx1"/>
                </a:solidFill>
                <a:latin typeface="Times New Roman" pitchFamily="18" charset="0"/>
                <a:cs typeface="Times New Roman" pitchFamily="18" charset="0"/>
              </a:rPr>
              <a:t>System</a:t>
            </a:r>
            <a:r>
              <a:rPr lang="en-US" sz="2200" dirty="0" smtClean="0">
                <a:solidFill>
                  <a:schemeClr val="tx1"/>
                </a:solidFill>
                <a:latin typeface="Times New Roman" pitchFamily="18" charset="0"/>
                <a:cs typeface="Times New Roman" pitchFamily="18" charset="0"/>
              </a:rPr>
              <a:t>: User </a:t>
            </a:r>
            <a:r>
              <a:rPr lang="en-US" sz="2200" dirty="0">
                <a:solidFill>
                  <a:schemeClr val="tx1"/>
                </a:solidFill>
                <a:latin typeface="Times New Roman" pitchFamily="18" charset="0"/>
                <a:cs typeface="Times New Roman" pitchFamily="18" charset="0"/>
              </a:rPr>
              <a:t>Agent (UA), Message Transfer Agent (MTA), Mail Box, and Spool file</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User </a:t>
            </a:r>
            <a:r>
              <a:rPr lang="en-US" sz="2200" b="1" dirty="0">
                <a:solidFill>
                  <a:schemeClr val="tx1"/>
                </a:solidFill>
                <a:latin typeface="Times New Roman" pitchFamily="18" charset="0"/>
                <a:cs typeface="Times New Roman" pitchFamily="18" charset="0"/>
              </a:rPr>
              <a:t>Agent (UA</a:t>
            </a:r>
            <a:r>
              <a:rPr lang="en-US" sz="2200" b="1" dirty="0" smtClean="0">
                <a:solidFill>
                  <a:schemeClr val="tx1"/>
                </a:solidFill>
                <a:latin typeface="Times New Roman" pitchFamily="18" charset="0"/>
                <a:cs typeface="Times New Roman" pitchFamily="18" charset="0"/>
              </a:rPr>
              <a:t>)</a:t>
            </a:r>
            <a:r>
              <a:rPr lang="en-US" sz="2200" dirty="0" smtClean="0">
                <a:solidFill>
                  <a:schemeClr val="tx1"/>
                </a:solidFill>
                <a:latin typeface="Times New Roman" pitchFamily="18" charset="0"/>
                <a:cs typeface="Times New Roman" pitchFamily="18" charset="0"/>
              </a:rPr>
              <a:t>:Program used </a:t>
            </a:r>
            <a:r>
              <a:rPr lang="en-US" sz="2200" dirty="0">
                <a:solidFill>
                  <a:schemeClr val="tx1"/>
                </a:solidFill>
                <a:latin typeface="Times New Roman" pitchFamily="18" charset="0"/>
                <a:cs typeface="Times New Roman" pitchFamily="18" charset="0"/>
              </a:rPr>
              <a:t>to send and receive </a:t>
            </a:r>
            <a:r>
              <a:rPr lang="en-US" sz="2200" dirty="0" smtClean="0">
                <a:solidFill>
                  <a:schemeClr val="tx1"/>
                </a:solidFill>
                <a:latin typeface="Times New Roman" pitchFamily="18" charset="0"/>
                <a:cs typeface="Times New Roman" pitchFamily="18" charset="0"/>
              </a:rPr>
              <a:t>mail, also called </a:t>
            </a:r>
            <a:r>
              <a:rPr lang="en-US" sz="2200" dirty="0">
                <a:solidFill>
                  <a:schemeClr val="tx1"/>
                </a:solidFill>
                <a:latin typeface="Times New Roman" pitchFamily="18" charset="0"/>
                <a:cs typeface="Times New Roman" pitchFamily="18" charset="0"/>
              </a:rPr>
              <a:t>as mail reader. It accepts variety of commands for composing, receiving and replying to messages as well as for manipulation of the mailboxes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Message Transfer Agent (MTA)</a:t>
            </a:r>
            <a:r>
              <a:rPr lang="en-US" sz="2200" dirty="0">
                <a:solidFill>
                  <a:schemeClr val="tx1"/>
                </a:solidFill>
                <a:latin typeface="Times New Roman" pitchFamily="18" charset="0"/>
                <a:cs typeface="Times New Roman" pitchFamily="18" charset="0"/>
              </a:rPr>
              <a:t>:Responsible for transfer of mail from one system to another. To send a mail, a system must have client MTA and system MTA. It transfer mail to mailboxes of recipients if they are connected in the same machine. It delivers mail to peer MTA if destination mailbox is in another machine. The delivery from one MTA to another MTA is done by Simple Mail Transfer Protocol</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5162639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Mailbox</a:t>
            </a:r>
            <a:r>
              <a:rPr lang="en-US" sz="2200" dirty="0" smtClean="0">
                <a:solidFill>
                  <a:schemeClr val="tx1"/>
                </a:solidFill>
                <a:latin typeface="Times New Roman" pitchFamily="18" charset="0"/>
                <a:cs typeface="Times New Roman" pitchFamily="18" charset="0"/>
              </a:rPr>
              <a:t>: It </a:t>
            </a:r>
            <a:r>
              <a:rPr lang="en-US" sz="2200" dirty="0">
                <a:solidFill>
                  <a:schemeClr val="tx1"/>
                </a:solidFill>
                <a:latin typeface="Times New Roman" pitchFamily="18" charset="0"/>
                <a:cs typeface="Times New Roman" pitchFamily="18" charset="0"/>
              </a:rPr>
              <a:t>is a file on local hard drive to collect mails. Delivered mails are present in this file. The user can read it delete it according to his/her requirement. To use e-mail system each user must have a mailbox . Access to mailbox is only to owner of mailbox</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Spool file</a:t>
            </a:r>
            <a:r>
              <a:rPr lang="en-US" sz="2200" dirty="0">
                <a:solidFill>
                  <a:schemeClr val="tx1"/>
                </a:solidFill>
                <a:latin typeface="Times New Roman" pitchFamily="18" charset="0"/>
                <a:cs typeface="Times New Roman" pitchFamily="18" charset="0"/>
              </a:rPr>
              <a:t>: This file contains mails that are to be sent. User agent appends outgoing mails in this file using SMTP. MTA extracts pending mail from spool file for their delivery. E-mail allows one name, an alias, to represent several different e-mail addresses. It is known as mailing list, Whenever user have to sent a message, system checks recipient’s name against alias database. If mailing list is present for defined alias, separate messages, one for each entry in the list, must be prepared and handed to MTA. If for defined alias, there is no such mailing list is present, name itself becomes naming address and a single message is delivered to mail transfer entity.</a:t>
            </a:r>
          </a:p>
          <a:p>
            <a:pPr marL="342900" indent="-342900" algn="just">
              <a:buFont typeface="Arial" pitchFamily="34" charset="0"/>
              <a:buChar char="•"/>
            </a:pPr>
            <a:endParaRPr lang="en-US" sz="2200" dirty="0" smtClean="0">
              <a:solidFill>
                <a:schemeClr val="tx1"/>
              </a:solidFill>
              <a:latin typeface="Times New Roman" pitchFamily="18" charset="0"/>
              <a:cs typeface="Times New Roman" pitchFamily="18"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810000" y="2667000"/>
            <a:ext cx="4953000" cy="3541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336064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Services provided by E-mail system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Composition </a:t>
            </a:r>
            <a:r>
              <a:rPr lang="en-US" sz="2200" dirty="0">
                <a:solidFill>
                  <a:schemeClr val="tx1"/>
                </a:solidFill>
                <a:latin typeface="Times New Roman" pitchFamily="18" charset="0"/>
                <a:cs typeface="Times New Roman" pitchFamily="18" charset="0"/>
              </a:rPr>
              <a:t>– The composition refer to process that creates messages and answers. For composition any kind of text editor can be used.</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Transfer </a:t>
            </a:r>
            <a:r>
              <a:rPr lang="en-US" sz="2200" dirty="0">
                <a:solidFill>
                  <a:schemeClr val="tx1"/>
                </a:solidFill>
                <a:latin typeface="Times New Roman" pitchFamily="18" charset="0"/>
                <a:cs typeface="Times New Roman" pitchFamily="18" charset="0"/>
              </a:rPr>
              <a:t>– Transfer means sending procedure of mail i.e. from the sender to recipient.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Reporting </a:t>
            </a:r>
            <a:r>
              <a:rPr lang="en-US" sz="2200" dirty="0">
                <a:solidFill>
                  <a:schemeClr val="tx1"/>
                </a:solidFill>
                <a:latin typeface="Times New Roman" pitchFamily="18" charset="0"/>
                <a:cs typeface="Times New Roman" pitchFamily="18" charset="0"/>
              </a:rPr>
              <a:t>– Reporting refers to confirmation for delivery of mail. It help user to check whether their mail is delivered, lost or rejected.</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Displaying </a:t>
            </a:r>
            <a:r>
              <a:rPr lang="en-US" sz="2200" dirty="0">
                <a:solidFill>
                  <a:schemeClr val="tx1"/>
                </a:solidFill>
                <a:latin typeface="Times New Roman" pitchFamily="18" charset="0"/>
                <a:cs typeface="Times New Roman" pitchFamily="18" charset="0"/>
              </a:rPr>
              <a:t>– It refers to present mail in form that is understand by the user.</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Disposition </a:t>
            </a:r>
            <a:r>
              <a:rPr lang="en-US" sz="2200" dirty="0">
                <a:solidFill>
                  <a:schemeClr val="tx1"/>
                </a:solidFill>
                <a:latin typeface="Times New Roman" pitchFamily="18" charset="0"/>
                <a:cs typeface="Times New Roman" pitchFamily="18" charset="0"/>
              </a:rPr>
              <a:t>– This step concern with recipient that what will recipient do after receiving mail i.e., save mail, delete before reading or delete after reading.</a:t>
            </a:r>
          </a:p>
          <a:p>
            <a:pPr marL="342900" indent="-342900" algn="just">
              <a:buFont typeface="Arial" pitchFamily="34" charset="0"/>
              <a:buChar char="•"/>
            </a:pP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8962133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File Transfer Protocol (FTP):</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FTP </a:t>
            </a:r>
            <a:r>
              <a:rPr lang="en-US" sz="2200" dirty="0">
                <a:solidFill>
                  <a:schemeClr val="tx1"/>
                </a:solidFill>
                <a:latin typeface="Times New Roman" pitchFamily="18" charset="0"/>
                <a:cs typeface="Times New Roman" pitchFamily="18" charset="0"/>
              </a:rPr>
              <a:t>is an application layer protocol that moves files between local and remote file systems.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FTP is a standard internet protocol provided by </a:t>
            </a:r>
            <a:r>
              <a:rPr lang="en-US" sz="2200" dirty="0" smtClean="0">
                <a:solidFill>
                  <a:schemeClr val="tx1"/>
                </a:solidFill>
                <a:latin typeface="Times New Roman" pitchFamily="18" charset="0"/>
                <a:cs typeface="Times New Roman" pitchFamily="18" charset="0"/>
              </a:rPr>
              <a:t>TCP/IP.</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Used for transferring </a:t>
            </a:r>
            <a:r>
              <a:rPr lang="en-US" sz="2200" dirty="0">
                <a:solidFill>
                  <a:schemeClr val="tx1"/>
                </a:solidFill>
                <a:latin typeface="Times New Roman" pitchFamily="18" charset="0"/>
                <a:cs typeface="Times New Roman" pitchFamily="18" charset="0"/>
              </a:rPr>
              <a:t>the web page files from </a:t>
            </a:r>
            <a:r>
              <a:rPr lang="en-US" sz="2200" dirty="0" smtClean="0">
                <a:solidFill>
                  <a:schemeClr val="tx1"/>
                </a:solidFill>
                <a:latin typeface="Times New Roman" pitchFamily="18" charset="0"/>
                <a:cs typeface="Times New Roman" pitchFamily="18" charset="0"/>
              </a:rPr>
              <a:t>creator </a:t>
            </a:r>
            <a:r>
              <a:rPr lang="en-US" sz="2200" dirty="0">
                <a:solidFill>
                  <a:schemeClr val="tx1"/>
                </a:solidFill>
                <a:latin typeface="Times New Roman" pitchFamily="18" charset="0"/>
                <a:cs typeface="Times New Roman" pitchFamily="18" charset="0"/>
              </a:rPr>
              <a:t>to the </a:t>
            </a:r>
            <a:r>
              <a:rPr lang="en-US" sz="2200" dirty="0" smtClean="0">
                <a:solidFill>
                  <a:schemeClr val="tx1"/>
                </a:solidFill>
                <a:latin typeface="Times New Roman" pitchFamily="18" charset="0"/>
                <a:cs typeface="Times New Roman" pitchFamily="18" charset="0"/>
              </a:rPr>
              <a:t>sever </a:t>
            </a:r>
            <a:r>
              <a:rPr lang="en-US" sz="2200" dirty="0">
                <a:solidFill>
                  <a:schemeClr val="tx1"/>
                </a:solidFill>
                <a:latin typeface="Times New Roman" pitchFamily="18" charset="0"/>
                <a:cs typeface="Times New Roman" pitchFamily="18" charset="0"/>
              </a:rPr>
              <a:t>for other computers on the internet.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Also </a:t>
            </a:r>
            <a:r>
              <a:rPr lang="en-US" sz="2200" dirty="0">
                <a:solidFill>
                  <a:schemeClr val="tx1"/>
                </a:solidFill>
                <a:latin typeface="Times New Roman" pitchFamily="18" charset="0"/>
                <a:cs typeface="Times New Roman" pitchFamily="18" charset="0"/>
              </a:rPr>
              <a:t>used for downloading the files to computer from other servers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Although transferring files is very simple and straightforward, but sometimes it can cause problems. </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Two systems may have different file conventions, different ways of representation, operating systems, directories, structures, character sets etc</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FTP protocol overcomes these problems by establishing two connections between hosts. One connection is used for data transfer, and another connection is used for the control connection</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4288544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In the FTP, </a:t>
            </a:r>
            <a:r>
              <a:rPr lang="en-US" sz="2200" dirty="0">
                <a:solidFill>
                  <a:schemeClr val="tx1"/>
                </a:solidFill>
                <a:latin typeface="Times New Roman" pitchFamily="18" charset="0"/>
                <a:cs typeface="Times New Roman" pitchFamily="18" charset="0"/>
              </a:rPr>
              <a:t>client has three components: the user interface, control process, and data transfer process. The server has two components: the server control process and the server data transfer process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Control Connection: </a:t>
            </a:r>
            <a:r>
              <a:rPr lang="en-US" sz="2200" dirty="0" smtClean="0">
                <a:solidFill>
                  <a:schemeClr val="tx1"/>
                </a:solidFill>
                <a:latin typeface="Times New Roman" pitchFamily="18" charset="0"/>
                <a:cs typeface="Times New Roman" pitchFamily="18" charset="0"/>
              </a:rPr>
              <a:t>Uses </a:t>
            </a:r>
            <a:r>
              <a:rPr lang="en-US" sz="2200" dirty="0">
                <a:solidFill>
                  <a:schemeClr val="tx1"/>
                </a:solidFill>
                <a:latin typeface="Times New Roman" pitchFamily="18" charset="0"/>
                <a:cs typeface="Times New Roman" pitchFamily="18" charset="0"/>
              </a:rPr>
              <a:t>very simple rules for communication. Through </a:t>
            </a:r>
            <a:r>
              <a:rPr lang="en-US" sz="2200" dirty="0" smtClean="0">
                <a:solidFill>
                  <a:schemeClr val="tx1"/>
                </a:solidFill>
                <a:latin typeface="Times New Roman" pitchFamily="18" charset="0"/>
                <a:cs typeface="Times New Roman" pitchFamily="18" charset="0"/>
              </a:rPr>
              <a:t>this, we </a:t>
            </a:r>
            <a:r>
              <a:rPr lang="en-US" sz="2200" dirty="0">
                <a:solidFill>
                  <a:schemeClr val="tx1"/>
                </a:solidFill>
                <a:latin typeface="Times New Roman" pitchFamily="18" charset="0"/>
                <a:cs typeface="Times New Roman" pitchFamily="18" charset="0"/>
              </a:rPr>
              <a:t>can transfer a line of command or line of response at a time. The control connection is made between the control processes. The control connection remains connected during the entire interactive FTP session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Data Connection: </a:t>
            </a: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uses very complex rules as data types may vary. The data connection is made between data transfer processes. The data connection opens when a command comes for transferring the files and closes when the file is transferred.</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a:solidFill>
                  <a:schemeClr val="bg1"/>
                </a:solidFill>
                <a:latin typeface="Times New Roman" pitchFamily="18" charset="0"/>
                <a:cs typeface="Times New Roman" pitchFamily="18" charset="0"/>
              </a:rPr>
              <a:t>https://www.javatpoint.com/computer-network-ftp#:~:text=FTP%20stands%20for%20File%20transfer,other%20computers%20on%20the%20internet.</a:t>
            </a:r>
            <a:endParaRPr lang="en-IN" sz="2200" dirty="0" smtClean="0">
              <a:solidFill>
                <a:schemeClr val="bg1"/>
              </a:solidFill>
              <a:latin typeface="Times New Roman" pitchFamily="18" charset="0"/>
              <a:cs typeface="Times New Roman" pitchFamily="18" charset="0"/>
            </a:endParaRP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895600" y="179676"/>
            <a:ext cx="6047509" cy="34017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226013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Chatting: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While the term chatting or chitchat refers in general to communication between two or more parties that can occur in person, in today's modern age, it can also occur over the internet via Short Message Service (SMS) text message and Multimedia Messaging Service (MMS) or, for example, through tools like Slack and Microsoft Teams and social media platforms like Face book and Twitter.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On the internet, the definition of chat refers to talking to other people who are using the internet at the same time you are.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Usually, this talking is the exchange of typed-in messages requiring one site as the repository for the messages -- or chat site -- and a group of users who take part from anywhere on the internet.</a:t>
            </a:r>
          </a:p>
          <a:p>
            <a:pPr marL="342900" indent="-342900" algn="just">
              <a:buFont typeface="Arial" pitchFamily="34" charset="0"/>
              <a:buChar char="•"/>
            </a:pP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6454057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Internet Conferencing: </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Web </a:t>
            </a:r>
            <a:r>
              <a:rPr lang="en-US" sz="2200" dirty="0">
                <a:solidFill>
                  <a:schemeClr val="tx1"/>
                </a:solidFill>
                <a:latin typeface="Times New Roman" pitchFamily="18" charset="0"/>
                <a:cs typeface="Times New Roman" pitchFamily="18" charset="0"/>
              </a:rPr>
              <a:t>conferencing is an online service that allows you to hold live meetings, conferencing, presentations and training via the internet particularly on TCP/IP connections. You can connect to the conference either by telephone or using your computer's speakers and microphone through a VoIP connection.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Broadly, web conferencing provides an online meeting, webcast and webinar solution. It can also be a platform to host online </a:t>
            </a:r>
            <a:r>
              <a:rPr lang="en-US" sz="2200" dirty="0" smtClean="0">
                <a:solidFill>
                  <a:schemeClr val="tx1"/>
                </a:solidFill>
                <a:latin typeface="Times New Roman" pitchFamily="18" charset="0"/>
                <a:cs typeface="Times New Roman" pitchFamily="18" charset="0"/>
              </a:rPr>
              <a:t>events.</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Features line: screen </a:t>
            </a:r>
            <a:r>
              <a:rPr lang="en-US" sz="2200" dirty="0">
                <a:solidFill>
                  <a:schemeClr val="tx1"/>
                </a:solidFill>
                <a:latin typeface="Times New Roman" pitchFamily="18" charset="0"/>
                <a:cs typeface="Times New Roman" pitchFamily="18" charset="0"/>
              </a:rPr>
              <a:t>sharing, instant messaging, desktop sharing, remote control, file sharing, an interactive whiteboard and additional features.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Some </a:t>
            </a:r>
            <a:r>
              <a:rPr lang="en-US" sz="2200" dirty="0">
                <a:solidFill>
                  <a:schemeClr val="tx1"/>
                </a:solidFill>
                <a:latin typeface="Times New Roman" pitchFamily="18" charset="0"/>
                <a:cs typeface="Times New Roman" pitchFamily="18" charset="0"/>
              </a:rPr>
              <a:t>will also allow users to schedule meetings and send automatic invitations to attendees. Additionally, web conferencing technologies can be part of a unified communication system and typically, businesses will save more having integrated web conferencing tools.</a:t>
            </a:r>
          </a:p>
        </p:txBody>
      </p:sp>
    </p:spTree>
    <p:extLst>
      <p:ext uri="{BB962C8B-B14F-4D97-AF65-F5344CB8AC3E}">
        <p14:creationId xmlns:p14="http://schemas.microsoft.com/office/powerpoint/2010/main" xmlns="" val="18822304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5 Forms of Web conferencing</a:t>
            </a:r>
          </a:p>
          <a:p>
            <a:pPr algn="just"/>
            <a:r>
              <a:rPr lang="en-US" sz="2200" dirty="0">
                <a:solidFill>
                  <a:schemeClr val="tx1"/>
                </a:solidFill>
                <a:latin typeface="Times New Roman" pitchFamily="18" charset="0"/>
                <a:cs typeface="Times New Roman" pitchFamily="18" charset="0"/>
              </a:rPr>
              <a:t>1. </a:t>
            </a:r>
            <a:r>
              <a:rPr lang="en-US" sz="2200" dirty="0" smtClean="0">
                <a:solidFill>
                  <a:schemeClr val="tx1"/>
                </a:solidFill>
                <a:latin typeface="Times New Roman" pitchFamily="18" charset="0"/>
                <a:cs typeface="Times New Roman" pitchFamily="18" charset="0"/>
              </a:rPr>
              <a:t>Webinars: Seminars </a:t>
            </a:r>
            <a:r>
              <a:rPr lang="en-US" sz="2200" dirty="0">
                <a:solidFill>
                  <a:schemeClr val="tx1"/>
                </a:solidFill>
                <a:latin typeface="Times New Roman" pitchFamily="18" charset="0"/>
                <a:cs typeface="Times New Roman" pitchFamily="18" charset="0"/>
              </a:rPr>
              <a:t>held </a:t>
            </a:r>
            <a:r>
              <a:rPr lang="en-US" sz="2200" dirty="0" smtClean="0">
                <a:solidFill>
                  <a:schemeClr val="tx1"/>
                </a:solidFill>
                <a:latin typeface="Times New Roman" pitchFamily="18" charset="0"/>
                <a:cs typeface="Times New Roman" pitchFamily="18" charset="0"/>
              </a:rPr>
              <a:t>online, where presenters </a:t>
            </a:r>
            <a:r>
              <a:rPr lang="en-US" sz="2200" dirty="0">
                <a:solidFill>
                  <a:schemeClr val="tx1"/>
                </a:solidFill>
                <a:latin typeface="Times New Roman" pitchFamily="18" charset="0"/>
                <a:cs typeface="Times New Roman" pitchFamily="18" charset="0"/>
              </a:rPr>
              <a:t>can have document sharing </a:t>
            </a:r>
            <a:r>
              <a:rPr lang="en-US" sz="2200" dirty="0" smtClean="0">
                <a:solidFill>
                  <a:schemeClr val="tx1"/>
                </a:solidFill>
                <a:latin typeface="Times New Roman" pitchFamily="18" charset="0"/>
                <a:cs typeface="Times New Roman" pitchFamily="18" charset="0"/>
              </a:rPr>
              <a:t>options. Attendees can </a:t>
            </a:r>
            <a:r>
              <a:rPr lang="en-US" sz="2200" dirty="0">
                <a:solidFill>
                  <a:schemeClr val="tx1"/>
                </a:solidFill>
                <a:latin typeface="Times New Roman" pitchFamily="18" charset="0"/>
                <a:cs typeface="Times New Roman" pitchFamily="18" charset="0"/>
              </a:rPr>
              <a:t>comment or ask questions.</a:t>
            </a:r>
          </a:p>
          <a:p>
            <a:pPr algn="just"/>
            <a:r>
              <a:rPr lang="en-US" sz="2200" dirty="0" smtClean="0">
                <a:solidFill>
                  <a:schemeClr val="tx1"/>
                </a:solidFill>
                <a:latin typeface="Times New Roman" pitchFamily="18" charset="0"/>
                <a:cs typeface="Times New Roman" pitchFamily="18" charset="0"/>
              </a:rPr>
              <a:t>2 </a:t>
            </a:r>
            <a:r>
              <a:rPr lang="en-US" sz="2200"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Webcast: Online </a:t>
            </a:r>
            <a:r>
              <a:rPr lang="en-US" sz="2200" dirty="0">
                <a:solidFill>
                  <a:schemeClr val="tx1"/>
                </a:solidFill>
                <a:latin typeface="Times New Roman" pitchFamily="18" charset="0"/>
                <a:cs typeface="Times New Roman" pitchFamily="18" charset="0"/>
              </a:rPr>
              <a:t>conference that is comparable to a TV broadcast. </a:t>
            </a:r>
            <a:r>
              <a:rPr lang="en-US" sz="2200" dirty="0" smtClean="0">
                <a:solidFill>
                  <a:schemeClr val="tx1"/>
                </a:solidFill>
                <a:latin typeface="Times New Roman" pitchFamily="18" charset="0"/>
                <a:cs typeface="Times New Roman" pitchFamily="18" charset="0"/>
              </a:rPr>
              <a:t>little </a:t>
            </a:r>
            <a:r>
              <a:rPr lang="en-US" sz="2200" dirty="0">
                <a:solidFill>
                  <a:schemeClr val="tx1"/>
                </a:solidFill>
                <a:latin typeface="Times New Roman" pitchFamily="18" charset="0"/>
                <a:cs typeface="Times New Roman" pitchFamily="18" charset="0"/>
              </a:rPr>
              <a:t>or no interaction between the presenter and the </a:t>
            </a:r>
            <a:r>
              <a:rPr lang="en-US" sz="2200" dirty="0" smtClean="0">
                <a:solidFill>
                  <a:schemeClr val="tx1"/>
                </a:solidFill>
                <a:latin typeface="Times New Roman" pitchFamily="18" charset="0"/>
                <a:cs typeface="Times New Roman" pitchFamily="18" charset="0"/>
              </a:rPr>
              <a:t>participants</a:t>
            </a:r>
            <a:r>
              <a:rPr lang="en-US" sz="2200" dirty="0">
                <a:solidFill>
                  <a:schemeClr val="tx1"/>
                </a:solidFill>
                <a:latin typeface="Times New Roman" pitchFamily="18" charset="0"/>
                <a:cs typeface="Times New Roman" pitchFamily="18" charset="0"/>
              </a:rPr>
              <a:t>.</a:t>
            </a:r>
          </a:p>
          <a:p>
            <a:pPr algn="just"/>
            <a:r>
              <a:rPr lang="en-US" sz="2200" dirty="0">
                <a:solidFill>
                  <a:schemeClr val="tx1"/>
                </a:solidFill>
                <a:latin typeface="Times New Roman" pitchFamily="18" charset="0"/>
                <a:cs typeface="Times New Roman" pitchFamily="18" charset="0"/>
              </a:rPr>
              <a:t>3. Web </a:t>
            </a:r>
            <a:r>
              <a:rPr lang="en-US" sz="2200" dirty="0" smtClean="0">
                <a:solidFill>
                  <a:schemeClr val="tx1"/>
                </a:solidFill>
                <a:latin typeface="Times New Roman" pitchFamily="18" charset="0"/>
                <a:cs typeface="Times New Roman" pitchFamily="18" charset="0"/>
              </a:rPr>
              <a:t>Meeting: Virtual </a:t>
            </a:r>
            <a:r>
              <a:rPr lang="en-US" sz="2200" dirty="0">
                <a:solidFill>
                  <a:schemeClr val="tx1"/>
                </a:solidFill>
                <a:latin typeface="Times New Roman" pitchFamily="18" charset="0"/>
                <a:cs typeface="Times New Roman" pitchFamily="18" charset="0"/>
              </a:rPr>
              <a:t>meetings that encourage interaction amongst the participants. They include collaboration tools like sharing documents, photos or videos and chat tools.</a:t>
            </a:r>
          </a:p>
          <a:p>
            <a:pPr algn="just"/>
            <a:r>
              <a:rPr lang="en-US" sz="2200" dirty="0">
                <a:solidFill>
                  <a:schemeClr val="tx1"/>
                </a:solidFill>
                <a:latin typeface="Times New Roman" pitchFamily="18" charset="0"/>
                <a:cs typeface="Times New Roman" pitchFamily="18" charset="0"/>
              </a:rPr>
              <a:t>4. Online </a:t>
            </a:r>
            <a:r>
              <a:rPr lang="en-US" sz="2200" dirty="0" smtClean="0">
                <a:solidFill>
                  <a:schemeClr val="tx1"/>
                </a:solidFill>
                <a:latin typeface="Times New Roman" pitchFamily="18" charset="0"/>
                <a:cs typeface="Times New Roman" pitchFamily="18" charset="0"/>
              </a:rPr>
              <a:t>Collaboration: Participants </a:t>
            </a:r>
            <a:r>
              <a:rPr lang="en-US" sz="2200" dirty="0">
                <a:solidFill>
                  <a:schemeClr val="tx1"/>
                </a:solidFill>
                <a:latin typeface="Times New Roman" pitchFamily="18" charset="0"/>
                <a:cs typeface="Times New Roman" pitchFamily="18" charset="0"/>
              </a:rPr>
              <a:t>can view shared files in order to collaborate on modifications that can be done in real-time during the online collaboration. For example, this gives remote access to remote employees to work efficiently on team projects.</a:t>
            </a:r>
          </a:p>
          <a:p>
            <a:pPr algn="just"/>
            <a:r>
              <a:rPr lang="en-US" sz="2200" dirty="0">
                <a:solidFill>
                  <a:schemeClr val="tx1"/>
                </a:solidFill>
                <a:latin typeface="Times New Roman" pitchFamily="18" charset="0"/>
                <a:cs typeface="Times New Roman" pitchFamily="18" charset="0"/>
              </a:rPr>
              <a:t>5. Online </a:t>
            </a:r>
            <a:r>
              <a:rPr lang="en-US" sz="2200" dirty="0" smtClean="0">
                <a:solidFill>
                  <a:schemeClr val="tx1"/>
                </a:solidFill>
                <a:latin typeface="Times New Roman" pitchFamily="18" charset="0"/>
                <a:cs typeface="Times New Roman" pitchFamily="18" charset="0"/>
              </a:rPr>
              <a:t>Presentations: Slideshows</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powerpoint</a:t>
            </a:r>
            <a:r>
              <a:rPr lang="en-US" sz="2200" dirty="0">
                <a:solidFill>
                  <a:schemeClr val="tx1"/>
                </a:solidFill>
                <a:latin typeface="Times New Roman" pitchFamily="18" charset="0"/>
                <a:cs typeface="Times New Roman" pitchFamily="18" charset="0"/>
              </a:rPr>
              <a:t> presentations, streaming audio or video and chat functions are used for online presentations. However, in order for participants to view these presentations they must log in to the online meeting and then they are allowed to interact with the presenter too.</a:t>
            </a:r>
          </a:p>
        </p:txBody>
      </p:sp>
    </p:spTree>
    <p:extLst>
      <p:ext uri="{BB962C8B-B14F-4D97-AF65-F5344CB8AC3E}">
        <p14:creationId xmlns:p14="http://schemas.microsoft.com/office/powerpoint/2010/main" xmlns="" val="4953105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Electronic Newspaper: </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E-Newspapers </a:t>
            </a:r>
            <a:r>
              <a:rPr lang="en-US" sz="2200" dirty="0">
                <a:solidFill>
                  <a:schemeClr val="tx1"/>
                </a:solidFill>
                <a:latin typeface="Times New Roman" pitchFamily="18" charset="0"/>
                <a:cs typeface="Times New Roman" pitchFamily="18" charset="0"/>
              </a:rPr>
              <a:t>are newspapers which are published electronically. They can take the form of normal print publications published on the Internet; additional or complimentary content to print publications published on-line; or original publications published exclusively on the World Wide Web.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Many </a:t>
            </a:r>
            <a:r>
              <a:rPr lang="en-US" sz="2200" dirty="0">
                <a:solidFill>
                  <a:schemeClr val="tx1"/>
                </a:solidFill>
                <a:latin typeface="Times New Roman" pitchFamily="18" charset="0"/>
                <a:cs typeface="Times New Roman" pitchFamily="18" charset="0"/>
              </a:rPr>
              <a:t>news organizations require subscription to e-newspapers, just like regular print newspapers.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E-newspapers </a:t>
            </a:r>
            <a:r>
              <a:rPr lang="en-US" sz="2200" dirty="0">
                <a:solidFill>
                  <a:schemeClr val="tx1"/>
                </a:solidFill>
                <a:latin typeface="Times New Roman" pitchFamily="18" charset="0"/>
                <a:cs typeface="Times New Roman" pitchFamily="18" charset="0"/>
              </a:rPr>
              <a:t>run the gauntlet of newspapers, from serious hard news, to features, to arts and entertainment, to sports, and everything in between.</a:t>
            </a: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7902832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World wide web: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WWW is </a:t>
            </a:r>
            <a:r>
              <a:rPr lang="en-US" sz="2200" dirty="0">
                <a:solidFill>
                  <a:schemeClr val="tx1"/>
                </a:solidFill>
                <a:latin typeface="Times New Roman" pitchFamily="18" charset="0"/>
                <a:cs typeface="Times New Roman" pitchFamily="18" charset="0"/>
              </a:rPr>
              <a:t>commonly known as the web. The WWW was initiated by CERN (European library for Nuclear Research) in 1989.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WWW is the </a:t>
            </a:r>
            <a:r>
              <a:rPr lang="en-US" sz="2200" dirty="0">
                <a:solidFill>
                  <a:schemeClr val="tx1"/>
                </a:solidFill>
                <a:latin typeface="Times New Roman" pitchFamily="18" charset="0"/>
                <a:cs typeface="Times New Roman" pitchFamily="18" charset="0"/>
              </a:rPr>
              <a:t>collection of different websites around the world, containing different information shared via local </a:t>
            </a:r>
            <a:r>
              <a:rPr lang="en-US" sz="2200" dirty="0" smtClean="0">
                <a:solidFill>
                  <a:schemeClr val="tx1"/>
                </a:solidFill>
                <a:latin typeface="Times New Roman" pitchFamily="18" charset="0"/>
                <a:cs typeface="Times New Roman" pitchFamily="18" charset="0"/>
              </a:rPr>
              <a:t>servers (</a:t>
            </a:r>
            <a:r>
              <a:rPr lang="en-US" sz="2200" dirty="0">
                <a:solidFill>
                  <a:schemeClr val="tx1"/>
                </a:solidFill>
                <a:latin typeface="Times New Roman" pitchFamily="18" charset="0"/>
                <a:cs typeface="Times New Roman" pitchFamily="18" charset="0"/>
              </a:rPr>
              <a:t>or computers</a:t>
            </a:r>
            <a:r>
              <a:rPr lang="en-US" sz="2200" dirty="0" smtClean="0">
                <a:solidFill>
                  <a:schemeClr val="tx1"/>
                </a:solidFill>
                <a:latin typeface="Times New Roman" pitchFamily="18" charset="0"/>
                <a:cs typeface="Times New Roman" pitchFamily="18" charset="0"/>
              </a:rPr>
              <a:t>).</a:t>
            </a:r>
          </a:p>
          <a:p>
            <a:pPr algn="just"/>
            <a:r>
              <a:rPr lang="en-US" sz="2200" b="1" dirty="0">
                <a:solidFill>
                  <a:schemeClr val="tx1"/>
                </a:solidFill>
                <a:latin typeface="Times New Roman" pitchFamily="18" charset="0"/>
                <a:cs typeface="Times New Roman" pitchFamily="18" charset="0"/>
              </a:rPr>
              <a:t>History: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project created, by Timothy </a:t>
            </a:r>
            <a:r>
              <a:rPr lang="en-US" sz="2200" dirty="0" err="1">
                <a:solidFill>
                  <a:schemeClr val="tx1"/>
                </a:solidFill>
                <a:latin typeface="Times New Roman" pitchFamily="18" charset="0"/>
                <a:cs typeface="Times New Roman" pitchFamily="18" charset="0"/>
              </a:rPr>
              <a:t>Berner</a:t>
            </a:r>
            <a:r>
              <a:rPr lang="en-US" sz="2200" dirty="0">
                <a:solidFill>
                  <a:schemeClr val="tx1"/>
                </a:solidFill>
                <a:latin typeface="Times New Roman" pitchFamily="18" charset="0"/>
                <a:cs typeface="Times New Roman" pitchFamily="18" charset="0"/>
              </a:rPr>
              <a:t> Lee in 1989, for researchers to work together effectively at CERN. is an organization, named the World Wide Web Consortium (W3C), which was developed for further development of the web. This organization is directed by Tim </a:t>
            </a:r>
            <a:r>
              <a:rPr lang="en-US" sz="2200" dirty="0" err="1">
                <a:solidFill>
                  <a:schemeClr val="tx1"/>
                </a:solidFill>
                <a:latin typeface="Times New Roman" pitchFamily="18" charset="0"/>
                <a:cs typeface="Times New Roman" pitchFamily="18" charset="0"/>
              </a:rPr>
              <a:t>Berner’s</a:t>
            </a:r>
            <a:r>
              <a:rPr lang="en-US" sz="2200" dirty="0">
                <a:solidFill>
                  <a:schemeClr val="tx1"/>
                </a:solidFill>
                <a:latin typeface="Times New Roman" pitchFamily="18" charset="0"/>
                <a:cs typeface="Times New Roman" pitchFamily="18" charset="0"/>
              </a:rPr>
              <a:t> Lee, aka the father of the web. </a:t>
            </a:r>
            <a:endParaRPr lang="en-US" sz="2200" dirty="0" smtClean="0">
              <a:solidFill>
                <a:schemeClr val="tx1"/>
              </a:solidFill>
              <a:latin typeface="Times New Roman" pitchFamily="18" charset="0"/>
              <a:cs typeface="Times New Roman" pitchFamily="18" charset="0"/>
            </a:endParaRPr>
          </a:p>
          <a:p>
            <a:pPr algn="just"/>
            <a:r>
              <a:rPr lang="en-US" sz="2200" b="1" dirty="0">
                <a:solidFill>
                  <a:schemeClr val="tx1"/>
                </a:solidFill>
                <a:latin typeface="Times New Roman" pitchFamily="18" charset="0"/>
                <a:cs typeface="Times New Roman" pitchFamily="18" charset="0"/>
              </a:rPr>
              <a:t>Features of WWW: </a:t>
            </a:r>
            <a:r>
              <a:rPr lang="en-US" sz="2200" dirty="0" err="1" smtClean="0">
                <a:solidFill>
                  <a:schemeClr val="tx1"/>
                </a:solidFill>
                <a:latin typeface="Times New Roman" pitchFamily="18" charset="0"/>
                <a:cs typeface="Times New Roman" pitchFamily="18" charset="0"/>
              </a:rPr>
              <a:t>HyperText</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Information </a:t>
            </a:r>
            <a:r>
              <a:rPr lang="en-US" sz="2200" dirty="0" smtClean="0">
                <a:solidFill>
                  <a:schemeClr val="tx1"/>
                </a:solidFill>
                <a:latin typeface="Times New Roman" pitchFamily="18" charset="0"/>
                <a:cs typeface="Times New Roman" pitchFamily="18" charset="0"/>
              </a:rPr>
              <a:t>System, Cross-Platform, Distributed, Open </a:t>
            </a:r>
            <a:r>
              <a:rPr lang="en-US" sz="2200" dirty="0">
                <a:solidFill>
                  <a:schemeClr val="tx1"/>
                </a:solidFill>
                <a:latin typeface="Times New Roman" pitchFamily="18" charset="0"/>
                <a:cs typeface="Times New Roman" pitchFamily="18" charset="0"/>
              </a:rPr>
              <a:t>Standards and Open </a:t>
            </a:r>
            <a:r>
              <a:rPr lang="en-US" sz="2200" dirty="0" smtClean="0">
                <a:solidFill>
                  <a:schemeClr val="tx1"/>
                </a:solidFill>
                <a:latin typeface="Times New Roman" pitchFamily="18" charset="0"/>
                <a:cs typeface="Times New Roman" pitchFamily="18" charset="0"/>
              </a:rPr>
              <a:t>Source, Uses </a:t>
            </a:r>
            <a:r>
              <a:rPr lang="en-US" sz="2200" dirty="0">
                <a:solidFill>
                  <a:schemeClr val="tx1"/>
                </a:solidFill>
                <a:latin typeface="Times New Roman" pitchFamily="18" charset="0"/>
                <a:cs typeface="Times New Roman" pitchFamily="18" charset="0"/>
              </a:rPr>
              <a:t>Web Browsers to provide a single interface for many </a:t>
            </a:r>
            <a:r>
              <a:rPr lang="en-US" sz="2200" dirty="0" smtClean="0">
                <a:solidFill>
                  <a:schemeClr val="tx1"/>
                </a:solidFill>
                <a:latin typeface="Times New Roman" pitchFamily="18" charset="0"/>
                <a:cs typeface="Times New Roman" pitchFamily="18" charset="0"/>
              </a:rPr>
              <a:t>services, Dynamic</a:t>
            </a:r>
            <a:r>
              <a:rPr lang="en-US" sz="2200" dirty="0">
                <a:solidFill>
                  <a:schemeClr val="tx1"/>
                </a:solidFill>
                <a:latin typeface="Times New Roman" pitchFamily="18" charset="0"/>
                <a:cs typeface="Times New Roman" pitchFamily="18" charset="0"/>
              </a:rPr>
              <a:t>, Interactive and </a:t>
            </a:r>
            <a:r>
              <a:rPr lang="en-US" sz="2200" dirty="0" smtClean="0">
                <a:solidFill>
                  <a:schemeClr val="tx1"/>
                </a:solidFill>
                <a:latin typeface="Times New Roman" pitchFamily="18" charset="0"/>
                <a:cs typeface="Times New Roman" pitchFamily="18" charset="0"/>
              </a:rPr>
              <a:t>Evolving</a:t>
            </a:r>
            <a:r>
              <a:rPr lang="en-US" sz="2200"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and “</a:t>
            </a:r>
            <a:r>
              <a:rPr lang="en-US" sz="2200" dirty="0">
                <a:solidFill>
                  <a:schemeClr val="tx1"/>
                </a:solidFill>
                <a:latin typeface="Times New Roman" pitchFamily="18" charset="0"/>
                <a:cs typeface="Times New Roman" pitchFamily="18" charset="0"/>
              </a:rPr>
              <a:t>Web 2.0” </a:t>
            </a:r>
          </a:p>
        </p:txBody>
      </p:sp>
    </p:spTree>
    <p:extLst>
      <p:ext uri="{BB962C8B-B14F-4D97-AF65-F5344CB8AC3E}">
        <p14:creationId xmlns:p14="http://schemas.microsoft.com/office/powerpoint/2010/main" xmlns="" val="488242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WWW System </a:t>
            </a:r>
            <a:r>
              <a:rPr lang="en-US" sz="2200" b="1" dirty="0">
                <a:solidFill>
                  <a:schemeClr val="tx1"/>
                </a:solidFill>
                <a:latin typeface="Times New Roman" pitchFamily="18" charset="0"/>
                <a:cs typeface="Times New Roman" pitchFamily="18" charset="0"/>
              </a:rPr>
              <a:t>Architecture: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From the user’s point of view, the web consists of a vast, worldwide connection of documents or web pages.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Each </a:t>
            </a:r>
            <a:r>
              <a:rPr lang="en-US" sz="2200" dirty="0">
                <a:solidFill>
                  <a:schemeClr val="tx1"/>
                </a:solidFill>
                <a:latin typeface="Times New Roman" pitchFamily="18" charset="0"/>
                <a:cs typeface="Times New Roman" pitchFamily="18" charset="0"/>
              </a:rPr>
              <a:t>page may contain links to other pages anywhere in the world. The pages can be retrieved and viewed by using browsers of which internet explorer, Netscape Navigator, Google </a:t>
            </a:r>
            <a:r>
              <a:rPr lang="en-US" sz="2200" dirty="0" smtClean="0">
                <a:solidFill>
                  <a:schemeClr val="tx1"/>
                </a:solidFill>
                <a:latin typeface="Times New Roman" pitchFamily="18" charset="0"/>
                <a:cs typeface="Times New Roman" pitchFamily="18" charset="0"/>
              </a:rPr>
              <a:t>Chrome.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browser fetches the page requested interprets the text and formatting commands on it, and displays the page, properly formatted, on the screen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Here the browser is displaying a web page on the client machine. When the user clicks on a line of text that is linked to a page on the abd.com server, the browser follows the hyperlink by sending a message to the abd.com server asking it for the page.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200400" y="228600"/>
            <a:ext cx="5600700" cy="3248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503232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a:solidFill>
                  <a:schemeClr val="tx1"/>
                </a:solidFill>
                <a:latin typeface="Times New Roman" pitchFamily="18" charset="0"/>
                <a:cs typeface="Times New Roman" pitchFamily="18" charset="0"/>
              </a:rPr>
              <a:t>Working of WWW: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World Wide Web is based on several different technologies: Web browsers, Hypertext Markup Language (HTML) and Hypertext Transfer Protocol (HTTP).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Web browser is used to access web pages.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Web </a:t>
            </a:r>
            <a:r>
              <a:rPr lang="en-US" sz="2200" dirty="0">
                <a:solidFill>
                  <a:schemeClr val="tx1"/>
                </a:solidFill>
                <a:latin typeface="Times New Roman" pitchFamily="18" charset="0"/>
                <a:cs typeface="Times New Roman" pitchFamily="18" charset="0"/>
              </a:rPr>
              <a:t>browsers can be defined as programs which display text, data, pictures, animation and video on the Internet.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Hyperlinked </a:t>
            </a:r>
            <a:r>
              <a:rPr lang="en-US" sz="2200" dirty="0">
                <a:solidFill>
                  <a:schemeClr val="tx1"/>
                </a:solidFill>
                <a:latin typeface="Times New Roman" pitchFamily="18" charset="0"/>
                <a:cs typeface="Times New Roman" pitchFamily="18" charset="0"/>
              </a:rPr>
              <a:t>resources on the </a:t>
            </a:r>
            <a:r>
              <a:rPr lang="en-US" sz="2200" dirty="0" smtClean="0">
                <a:solidFill>
                  <a:schemeClr val="tx1"/>
                </a:solidFill>
                <a:latin typeface="Times New Roman" pitchFamily="18" charset="0"/>
                <a:cs typeface="Times New Roman" pitchFamily="18" charset="0"/>
              </a:rPr>
              <a:t>WWW </a:t>
            </a:r>
            <a:r>
              <a:rPr lang="en-US" sz="2200" dirty="0">
                <a:solidFill>
                  <a:schemeClr val="tx1"/>
                </a:solidFill>
                <a:latin typeface="Times New Roman" pitchFamily="18" charset="0"/>
                <a:cs typeface="Times New Roman" pitchFamily="18" charset="0"/>
              </a:rPr>
              <a:t>can be accessed using software interfaces provided by Web browsers.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Initially</a:t>
            </a:r>
            <a:r>
              <a:rPr lang="en-US" sz="2200" dirty="0">
                <a:solidFill>
                  <a:schemeClr val="tx1"/>
                </a:solidFill>
                <a:latin typeface="Times New Roman" pitchFamily="18" charset="0"/>
                <a:cs typeface="Times New Roman" pitchFamily="18" charset="0"/>
              </a:rPr>
              <a:t>, Web browsers were used only for surfing the Web but now they have become more universal.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Web </a:t>
            </a:r>
            <a:r>
              <a:rPr lang="en-US" sz="2200" dirty="0">
                <a:solidFill>
                  <a:schemeClr val="tx1"/>
                </a:solidFill>
                <a:latin typeface="Times New Roman" pitchFamily="18" charset="0"/>
                <a:cs typeface="Times New Roman" pitchFamily="18" charset="0"/>
              </a:rPr>
              <a:t>browsers can be used for several tasks including conducting searches, mailing, transferring files, and much more. Some of the commonly used browsers are Internet Explorer, Opera Mini, and Google Chrome. </a:t>
            </a:r>
          </a:p>
        </p:txBody>
      </p:sp>
    </p:spTree>
    <p:extLst>
      <p:ext uri="{BB962C8B-B14F-4D97-AF65-F5344CB8AC3E}">
        <p14:creationId xmlns:p14="http://schemas.microsoft.com/office/powerpoint/2010/main" xmlns="" val="40856472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Components of  WEB: </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Uniform Resource Locator (URL): serves as a system for resources on the web. </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HyperText</a:t>
            </a:r>
            <a:r>
              <a:rPr lang="en-US" sz="2200" dirty="0">
                <a:solidFill>
                  <a:schemeClr val="tx1"/>
                </a:solidFill>
                <a:latin typeface="Times New Roman" pitchFamily="18" charset="0"/>
                <a:cs typeface="Times New Roman" pitchFamily="18" charset="0"/>
              </a:rPr>
              <a:t> Transfer Protocol (HTTP): specifies communication of browser and server.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Hyper Text Markup Language (HTML): defines the structure, </a:t>
            </a:r>
            <a:r>
              <a:rPr lang="en-US" sz="2200" dirty="0" err="1">
                <a:solidFill>
                  <a:schemeClr val="tx1"/>
                </a:solidFill>
                <a:latin typeface="Times New Roman" pitchFamily="18" charset="0"/>
                <a:cs typeface="Times New Roman" pitchFamily="18" charset="0"/>
              </a:rPr>
              <a:t>organisation</a:t>
            </a:r>
            <a:r>
              <a:rPr lang="en-US" sz="2200" dirty="0">
                <a:solidFill>
                  <a:schemeClr val="tx1"/>
                </a:solidFill>
                <a:latin typeface="Times New Roman" pitchFamily="18" charset="0"/>
                <a:cs typeface="Times New Roman" pitchFamily="18" charset="0"/>
              </a:rPr>
              <a:t> and content of a webpage. </a:t>
            </a:r>
          </a:p>
        </p:txBody>
      </p:sp>
    </p:spTree>
    <p:extLst>
      <p:ext uri="{BB962C8B-B14F-4D97-AF65-F5344CB8AC3E}">
        <p14:creationId xmlns:p14="http://schemas.microsoft.com/office/powerpoint/2010/main" xmlns="" val="9103201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Online Shopping: </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Electronic </a:t>
            </a:r>
            <a:r>
              <a:rPr lang="en-US" sz="2200" dirty="0">
                <a:solidFill>
                  <a:schemeClr val="tx1"/>
                </a:solidFill>
                <a:latin typeface="Times New Roman" pitchFamily="18" charset="0"/>
                <a:cs typeface="Times New Roman" pitchFamily="18" charset="0"/>
              </a:rPr>
              <a:t>commerce, refers to the buying and selling of goods and services over the internet.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involves </a:t>
            </a:r>
            <a:r>
              <a:rPr lang="en-US" sz="2200" dirty="0" smtClean="0">
                <a:solidFill>
                  <a:schemeClr val="tx1"/>
                </a:solidFill>
                <a:latin typeface="Times New Roman" pitchFamily="18" charset="0"/>
                <a:cs typeface="Times New Roman" pitchFamily="18" charset="0"/>
              </a:rPr>
              <a:t>electronic platforms like </a:t>
            </a:r>
            <a:r>
              <a:rPr lang="en-US" sz="2200" dirty="0">
                <a:solidFill>
                  <a:schemeClr val="tx1"/>
                </a:solidFill>
                <a:latin typeface="Times New Roman" pitchFamily="18" charset="0"/>
                <a:cs typeface="Times New Roman" pitchFamily="18" charset="0"/>
              </a:rPr>
              <a:t>websites, mobile applications, and social media, to conduct transactions between businesses and consumers or between businesses.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E-commerce </a:t>
            </a:r>
            <a:r>
              <a:rPr lang="en-US" sz="2200" dirty="0">
                <a:solidFill>
                  <a:schemeClr val="tx1"/>
                </a:solidFill>
                <a:latin typeface="Times New Roman" pitchFamily="18" charset="0"/>
                <a:cs typeface="Times New Roman" pitchFamily="18" charset="0"/>
              </a:rPr>
              <a:t>has revolutionized the way businesses operate and has created new opportunities for entrepreneurs and consumers alike.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Primary </a:t>
            </a:r>
            <a:r>
              <a:rPr lang="en-US" sz="2200" dirty="0">
                <a:solidFill>
                  <a:schemeClr val="tx1"/>
                </a:solidFill>
                <a:latin typeface="Times New Roman" pitchFamily="18" charset="0"/>
                <a:cs typeface="Times New Roman" pitchFamily="18" charset="0"/>
              </a:rPr>
              <a:t>benefits </a:t>
            </a:r>
            <a:r>
              <a:rPr lang="en-US" sz="2200" dirty="0" smtClean="0">
                <a:solidFill>
                  <a:schemeClr val="tx1"/>
                </a:solidFill>
                <a:latin typeface="Times New Roman" pitchFamily="18" charset="0"/>
                <a:cs typeface="Times New Roman" pitchFamily="18" charset="0"/>
              </a:rPr>
              <a:t>is </a:t>
            </a:r>
            <a:r>
              <a:rPr lang="en-US" sz="2200" dirty="0">
                <a:solidFill>
                  <a:schemeClr val="tx1"/>
                </a:solidFill>
                <a:latin typeface="Times New Roman" pitchFamily="18" charset="0"/>
                <a:cs typeface="Times New Roman" pitchFamily="18" charset="0"/>
              </a:rPr>
              <a:t>that it offers a more convenient and efficient way to conduct business.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Consumers </a:t>
            </a:r>
            <a:r>
              <a:rPr lang="en-US" sz="2200" dirty="0">
                <a:solidFill>
                  <a:schemeClr val="tx1"/>
                </a:solidFill>
                <a:latin typeface="Times New Roman" pitchFamily="18" charset="0"/>
                <a:cs typeface="Times New Roman" pitchFamily="18" charset="0"/>
              </a:rPr>
              <a:t>can browse and purchase products from the comfort of their own homes, while businesses can reach a global audience without the need for a physical storefront.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E-commerce </a:t>
            </a:r>
            <a:r>
              <a:rPr lang="en-US" sz="2200" dirty="0">
                <a:solidFill>
                  <a:schemeClr val="tx1"/>
                </a:solidFill>
                <a:latin typeface="Times New Roman" pitchFamily="18" charset="0"/>
                <a:cs typeface="Times New Roman" pitchFamily="18" charset="0"/>
              </a:rPr>
              <a:t>has also enabled businesses to streamline their operations by automating many of the tasks involved in the sales process, such as inventory management, order processing, and shipping</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569281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Types of </a:t>
            </a:r>
            <a:r>
              <a:rPr lang="en-US" sz="2200" b="1" dirty="0">
                <a:solidFill>
                  <a:schemeClr val="tx1"/>
                </a:solidFill>
                <a:latin typeface="Times New Roman" pitchFamily="18" charset="0"/>
                <a:cs typeface="Times New Roman" pitchFamily="18" charset="0"/>
              </a:rPr>
              <a:t>E-commerce model: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Business </a:t>
            </a:r>
            <a:r>
              <a:rPr lang="en-US" sz="2200" dirty="0">
                <a:solidFill>
                  <a:schemeClr val="tx1"/>
                </a:solidFill>
                <a:latin typeface="Times New Roman" pitchFamily="18" charset="0"/>
                <a:cs typeface="Times New Roman" pitchFamily="18" charset="0"/>
              </a:rPr>
              <a:t>to Consumer (B2C): When a good or service is sold to an individual consumer by a business, e.g., </a:t>
            </a:r>
            <a:r>
              <a:rPr lang="en-US" sz="2200" dirty="0" smtClean="0">
                <a:solidFill>
                  <a:schemeClr val="tx1"/>
                </a:solidFill>
                <a:latin typeface="Times New Roman" pitchFamily="18" charset="0"/>
                <a:cs typeface="Times New Roman" pitchFamily="18" charset="0"/>
              </a:rPr>
              <a:t>shoes </a:t>
            </a:r>
            <a:r>
              <a:rPr lang="en-US" sz="2200" dirty="0">
                <a:solidFill>
                  <a:schemeClr val="tx1"/>
                </a:solidFill>
                <a:latin typeface="Times New Roman" pitchFamily="18" charset="0"/>
                <a:cs typeface="Times New Roman" pitchFamily="18" charset="0"/>
              </a:rPr>
              <a:t>from an online retailer.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Business to Business (B2B): When a good or service is sold by a business to another business, e.g., a software-as-a-service is sold by a business for other businesses to use.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Consumer to Consumer (C2C): When a good or service is sold by a consumer to another consumer, e.g</a:t>
            </a:r>
            <a:r>
              <a:rPr lang="en-US" sz="2200" dirty="0" smtClean="0">
                <a:solidFill>
                  <a:schemeClr val="tx1"/>
                </a:solidFill>
                <a:latin typeface="Times New Roman" pitchFamily="18" charset="0"/>
                <a:cs typeface="Times New Roman" pitchFamily="18" charset="0"/>
              </a:rPr>
              <a:t>., eBay.</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Consumer to Business (C2B): When a consumer’s own products or services is sold to a business or organization, e.g., an authority offers exposure to their online audience in exchange for a fee or a photographer licenses their photo for a business to use.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Business-to-government(B2G</a:t>
            </a:r>
            <a:r>
              <a:rPr lang="en-US" sz="2200" dirty="0">
                <a:solidFill>
                  <a:schemeClr val="tx1"/>
                </a:solidFill>
                <a:latin typeface="Times New Roman" pitchFamily="18" charset="0"/>
                <a:cs typeface="Times New Roman" pitchFamily="18" charset="0"/>
              </a:rPr>
              <a:t>): </a:t>
            </a:r>
            <a:r>
              <a:rPr lang="en-US" sz="2200" dirty="0" smtClean="0">
                <a:solidFill>
                  <a:schemeClr val="tx1"/>
                </a:solidFill>
                <a:latin typeface="Times New Roman" pitchFamily="18" charset="0"/>
                <a:cs typeface="Times New Roman" pitchFamily="18" charset="0"/>
              </a:rPr>
              <a:t>businesses </a:t>
            </a:r>
            <a:r>
              <a:rPr lang="en-US" sz="2200" dirty="0">
                <a:solidFill>
                  <a:schemeClr val="tx1"/>
                </a:solidFill>
                <a:latin typeface="Times New Roman" pitchFamily="18" charset="0"/>
                <a:cs typeface="Times New Roman" pitchFamily="18" charset="0"/>
              </a:rPr>
              <a:t>sell products or services to government agencies through online portals or marketplaces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Government-to-business (G2B): Government agencies sell products or services to businesses through online portals.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5229736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Government-to-consumer(G2C): Government </a:t>
            </a:r>
            <a:r>
              <a:rPr lang="en-US" sz="2200" dirty="0">
                <a:solidFill>
                  <a:schemeClr val="tx1"/>
                </a:solidFill>
                <a:latin typeface="Times New Roman" pitchFamily="18" charset="0"/>
                <a:cs typeface="Times New Roman" pitchFamily="18" charset="0"/>
              </a:rPr>
              <a:t>agencies provide products or services directly to consumers through online </a:t>
            </a:r>
            <a:r>
              <a:rPr lang="en-US" sz="2200" dirty="0" smtClean="0">
                <a:solidFill>
                  <a:schemeClr val="tx1"/>
                </a:solidFill>
                <a:latin typeface="Times New Roman" pitchFamily="18" charset="0"/>
                <a:cs typeface="Times New Roman" pitchFamily="18" charset="0"/>
              </a:rPr>
              <a:t>portals.</a:t>
            </a:r>
          </a:p>
          <a:p>
            <a:pPr algn="just"/>
            <a:r>
              <a:rPr lang="en-US" sz="2200" b="1" dirty="0">
                <a:solidFill>
                  <a:schemeClr val="tx1"/>
                </a:solidFill>
                <a:latin typeface="Times New Roman" pitchFamily="18" charset="0"/>
                <a:cs typeface="Times New Roman" pitchFamily="18" charset="0"/>
              </a:rPr>
              <a:t>Advantages of E-commerce:</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E-commerce </a:t>
            </a:r>
            <a:r>
              <a:rPr lang="en-US" sz="2200" dirty="0">
                <a:solidFill>
                  <a:schemeClr val="tx1"/>
                </a:solidFill>
                <a:latin typeface="Times New Roman" pitchFamily="18" charset="0"/>
                <a:cs typeface="Times New Roman" pitchFamily="18" charset="0"/>
              </a:rPr>
              <a:t>enables fast and secure shopping.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making digitalized world.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E-commerce also enables to choose different goods and services according to your choice.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simple way of selling and buying products and services.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E-commerce replaced the paper work as all transactions are through internet today.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provides better management system, as it has a centralized database.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E-commerce via internet covers a large number of customers worldwide.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E-commerce has several payment modes.</a:t>
            </a:r>
          </a:p>
        </p:txBody>
      </p:sp>
    </p:spTree>
    <p:extLst>
      <p:ext uri="{BB962C8B-B14F-4D97-AF65-F5344CB8AC3E}">
        <p14:creationId xmlns:p14="http://schemas.microsoft.com/office/powerpoint/2010/main" xmlns="" val="34737755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Disadvantages </a:t>
            </a:r>
            <a:r>
              <a:rPr lang="en-US" sz="2200" b="1" dirty="0">
                <a:solidFill>
                  <a:schemeClr val="tx1"/>
                </a:solidFill>
                <a:latin typeface="Times New Roman" pitchFamily="18" charset="0"/>
                <a:cs typeface="Times New Roman" pitchFamily="18" charset="0"/>
              </a:rPr>
              <a:t>of E-commerce: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E-commerce has no universal standard for quality and reliability.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E-commerce works through internet, it is possible that navigation on internet itself may be slow.</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Strong security is required in e-commerce as all transactions are through internet.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is high risk of buying unsatisfactory products through e-commerce.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uses public key infrastructure which is not safe.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Customers also trap in banking fraud which is quite frequent.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Hackers also try to get access of data or to destroy data in e-commerce</a:t>
            </a:r>
            <a:r>
              <a:rPr lang="en-US" sz="2200" dirty="0" smtClean="0">
                <a:solidFill>
                  <a:schemeClr val="tx1"/>
                </a:solidFill>
                <a:latin typeface="Times New Roman" pitchFamily="18" charset="0"/>
                <a:cs typeface="Times New Roman" pitchFamily="18" charset="0"/>
              </a:rPr>
              <a:t>.</a:t>
            </a:r>
          </a:p>
          <a:p>
            <a:pPr algn="just"/>
            <a:r>
              <a:rPr lang="en-IN" sz="2200" b="1" dirty="0" smtClean="0">
                <a:solidFill>
                  <a:schemeClr val="tx1"/>
                </a:solidFill>
                <a:latin typeface="Times New Roman" pitchFamily="18" charset="0"/>
                <a:cs typeface="Times New Roman" pitchFamily="18" charset="0"/>
              </a:rPr>
              <a:t>Uses:</a:t>
            </a:r>
            <a:r>
              <a:rPr lang="en-IN" sz="2200" dirty="0">
                <a:solidFill>
                  <a:schemeClr val="tx1"/>
                </a:solidFill>
                <a:latin typeface="Times New Roman" pitchFamily="18" charset="0"/>
                <a:cs typeface="Times New Roman" pitchFamily="18" charset="0"/>
              </a:rPr>
              <a:t> Online retail, Digital products and services, Business-to-business transactions, Online marketplaces, Auction </a:t>
            </a:r>
            <a:r>
              <a:rPr lang="en-IN" sz="2200" dirty="0" smtClean="0">
                <a:solidFill>
                  <a:schemeClr val="tx1"/>
                </a:solidFill>
                <a:latin typeface="Times New Roman" pitchFamily="18" charset="0"/>
                <a:cs typeface="Times New Roman" pitchFamily="18" charset="0"/>
              </a:rPr>
              <a:t>sites, </a:t>
            </a:r>
            <a:r>
              <a:rPr lang="en-US" sz="2200" dirty="0">
                <a:solidFill>
                  <a:schemeClr val="tx1"/>
                </a:solidFill>
                <a:latin typeface="Times New Roman" pitchFamily="18" charset="0"/>
                <a:cs typeface="Times New Roman" pitchFamily="18" charset="0"/>
              </a:rPr>
              <a:t>Online banking and financial services, Online booking and </a:t>
            </a:r>
            <a:r>
              <a:rPr lang="en-US" sz="2200" dirty="0" smtClean="0">
                <a:solidFill>
                  <a:schemeClr val="tx1"/>
                </a:solidFill>
                <a:latin typeface="Times New Roman" pitchFamily="18" charset="0"/>
                <a:cs typeface="Times New Roman" pitchFamily="18" charset="0"/>
              </a:rPr>
              <a:t>reservations, Food, Advertising.</a:t>
            </a:r>
            <a:endParaRPr lang="en-US" sz="22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8372651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US" sz="2200" b="1" dirty="0" smtClean="0">
                <a:solidFill>
                  <a:schemeClr val="tx1"/>
                </a:solidFill>
                <a:latin typeface="Times New Roman" pitchFamily="18" charset="0"/>
                <a:cs typeface="Times New Roman" pitchFamily="18" charset="0"/>
              </a:rPr>
              <a:t>Search engine:</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search engine is a coordinated set of programs that searches for and identifies items in a database that match specified criteria. Search engines are used to access information on the </a:t>
            </a:r>
            <a:r>
              <a:rPr lang="en-US" sz="2200" dirty="0" smtClean="0">
                <a:solidFill>
                  <a:schemeClr val="tx1"/>
                </a:solidFill>
                <a:latin typeface="Times New Roman" pitchFamily="18" charset="0"/>
                <a:cs typeface="Times New Roman" pitchFamily="18" charset="0"/>
              </a:rPr>
              <a:t>World Wide Web.</a:t>
            </a:r>
          </a:p>
          <a:p>
            <a:pPr algn="just"/>
            <a:r>
              <a:rPr lang="en-US" sz="2200" b="1" dirty="0" smtClean="0">
                <a:solidFill>
                  <a:schemeClr val="tx1"/>
                </a:solidFill>
                <a:latin typeface="Times New Roman" pitchFamily="18" charset="0"/>
                <a:cs typeface="Times New Roman" pitchFamily="18" charset="0"/>
              </a:rPr>
              <a:t>How </a:t>
            </a:r>
            <a:r>
              <a:rPr lang="en-US" sz="2200" b="1" dirty="0">
                <a:solidFill>
                  <a:schemeClr val="tx1"/>
                </a:solidFill>
                <a:latin typeface="Times New Roman" pitchFamily="18" charset="0"/>
                <a:cs typeface="Times New Roman" pitchFamily="18" charset="0"/>
              </a:rPr>
              <a:t>do search engines work?</a:t>
            </a:r>
          </a:p>
          <a:p>
            <a:pPr algn="just"/>
            <a:r>
              <a:rPr lang="en-US" sz="2200" dirty="0" smtClean="0">
                <a:solidFill>
                  <a:schemeClr val="tx1"/>
                </a:solidFill>
                <a:latin typeface="Times New Roman" pitchFamily="18" charset="0"/>
                <a:cs typeface="Times New Roman" pitchFamily="18" charset="0"/>
              </a:rPr>
              <a:t>Google </a:t>
            </a:r>
            <a:r>
              <a:rPr lang="en-US" sz="2200" dirty="0">
                <a:solidFill>
                  <a:schemeClr val="tx1"/>
                </a:solidFill>
                <a:latin typeface="Times New Roman" pitchFamily="18" charset="0"/>
                <a:cs typeface="Times New Roman" pitchFamily="18" charset="0"/>
              </a:rPr>
              <a:t>search takes place in the following three stages:</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Crawling</a:t>
            </a:r>
            <a:r>
              <a:rPr lang="en-US" sz="2200" b="1"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Crawlers discover what pages exist on the web. A search engine constantly looks for new and updated pages to add to its list of known pages. This is referred to as URL discovery. Once a page is discovered, the crawler examines its content. The search engine uses an algorithm to choose which pages to crawl and how often.</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Indexing. </a:t>
            </a:r>
            <a:r>
              <a:rPr lang="en-US" sz="2200" dirty="0">
                <a:solidFill>
                  <a:schemeClr val="tx1"/>
                </a:solidFill>
                <a:latin typeface="Times New Roman" pitchFamily="18" charset="0"/>
                <a:cs typeface="Times New Roman" pitchFamily="18" charset="0"/>
              </a:rPr>
              <a:t>After a page is crawled, the textual content is processed, analyzed and tagged with attributes and metadata that help the search engine understand what the content is about. This also enables the search engine to weed out duplicate pages and collect signals about the content, such as the country or region the page is local to and the usability of the page</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6594719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Searching </a:t>
            </a:r>
            <a:r>
              <a:rPr lang="en-US" sz="2200" b="1" dirty="0">
                <a:solidFill>
                  <a:schemeClr val="tx1"/>
                </a:solidFill>
                <a:latin typeface="Times New Roman" pitchFamily="18" charset="0"/>
                <a:cs typeface="Times New Roman" pitchFamily="18" charset="0"/>
              </a:rPr>
              <a:t>and ranking. </a:t>
            </a:r>
            <a:r>
              <a:rPr lang="en-US" sz="2200" dirty="0">
                <a:solidFill>
                  <a:schemeClr val="tx1"/>
                </a:solidFill>
                <a:latin typeface="Times New Roman" pitchFamily="18" charset="0"/>
                <a:cs typeface="Times New Roman" pitchFamily="18" charset="0"/>
              </a:rPr>
              <a:t>When a user enters a query, the search engine searches the index for matching pages and returns the results that appear the most relevant on the search engine results page (SERP). The engine ranks content on a number of factors, such as the authoritativeness of a page, back links to the page and keywords a page contains</a:t>
            </a:r>
            <a:r>
              <a:rPr lang="en-US" sz="2200" dirty="0" smtClean="0">
                <a:solidFill>
                  <a:schemeClr val="tx1"/>
                </a:solidFill>
                <a:latin typeface="Times New Roman" pitchFamily="18" charset="0"/>
                <a:cs typeface="Times New Roman" pitchFamily="18" charset="0"/>
              </a:rPr>
              <a:t>.</a:t>
            </a:r>
          </a:p>
          <a:p>
            <a:pPr algn="just"/>
            <a:r>
              <a:rPr lang="en-US" sz="2200" b="1" dirty="0">
                <a:solidFill>
                  <a:schemeClr val="tx1"/>
                </a:solidFill>
                <a:latin typeface="Times New Roman" pitchFamily="18" charset="0"/>
                <a:cs typeface="Times New Roman" pitchFamily="18" charset="0"/>
              </a:rPr>
              <a:t>How search engines rank </a:t>
            </a:r>
            <a:r>
              <a:rPr lang="en-US" sz="2200" b="1" dirty="0" smtClean="0">
                <a:solidFill>
                  <a:schemeClr val="tx1"/>
                </a:solidFill>
                <a:latin typeface="Times New Roman" pitchFamily="18" charset="0"/>
                <a:cs typeface="Times New Roman" pitchFamily="18" charset="0"/>
              </a:rPr>
              <a:t>results? </a:t>
            </a:r>
            <a:r>
              <a:rPr lang="en-US" sz="2200" dirty="0" smtClean="0">
                <a:solidFill>
                  <a:schemeClr val="tx1"/>
                </a:solidFill>
                <a:latin typeface="Times New Roman" pitchFamily="18" charset="0"/>
                <a:cs typeface="Times New Roman" pitchFamily="18" charset="0"/>
              </a:rPr>
              <a:t>Different ranking algorithms based </a:t>
            </a:r>
            <a:r>
              <a:rPr lang="en-US" sz="2200" dirty="0">
                <a:solidFill>
                  <a:schemeClr val="tx1"/>
                </a:solidFill>
                <a:latin typeface="Times New Roman" pitchFamily="18" charset="0"/>
                <a:cs typeface="Times New Roman" pitchFamily="18" charset="0"/>
              </a:rPr>
              <a:t>on the following criteria:</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Query </a:t>
            </a:r>
            <a:r>
              <a:rPr lang="en-US" sz="2200" b="1" dirty="0">
                <a:solidFill>
                  <a:schemeClr val="tx1"/>
                </a:solidFill>
                <a:latin typeface="Times New Roman" pitchFamily="18" charset="0"/>
                <a:cs typeface="Times New Roman" pitchFamily="18" charset="0"/>
              </a:rPr>
              <a:t>meaning. </a:t>
            </a:r>
            <a:r>
              <a:rPr lang="en-US" sz="2200" dirty="0">
                <a:solidFill>
                  <a:schemeClr val="tx1"/>
                </a:solidFill>
                <a:latin typeface="Times New Roman" pitchFamily="18" charset="0"/>
                <a:cs typeface="Times New Roman" pitchFamily="18" charset="0"/>
              </a:rPr>
              <a:t>The search engine looks at user queries to establish searcher intent, which is the specific type of information the user is looking for. Search engines use language models to do this. Language models are algorithms that read user input, understand what it means and determine the type of information that a user is looking for.</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Relevance. </a:t>
            </a:r>
            <a:r>
              <a:rPr lang="en-US" sz="2200" dirty="0">
                <a:solidFill>
                  <a:schemeClr val="tx1"/>
                </a:solidFill>
                <a:latin typeface="Times New Roman" pitchFamily="18" charset="0"/>
                <a:cs typeface="Times New Roman" pitchFamily="18" charset="0"/>
              </a:rPr>
              <a:t>Keywords from search queries are matched to keywords in content. Keywords that appear in several places in the content signify more relevance than others</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30964507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Internet Services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Quality</a:t>
            </a:r>
            <a:r>
              <a:rPr lang="en-US" sz="2200" b="1"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Search engines look for indicators of expertise, authority and trustworthiness in the content. If other prominent websites link to the content, it is considered more trustworthy.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Usability. </a:t>
            </a:r>
            <a:r>
              <a:rPr lang="en-US" sz="2200" dirty="0">
                <a:solidFill>
                  <a:schemeClr val="tx1"/>
                </a:solidFill>
                <a:latin typeface="Times New Roman" pitchFamily="18" charset="0"/>
                <a:cs typeface="Times New Roman" pitchFamily="18" charset="0"/>
              </a:rPr>
              <a:t>Search engines evaluate the accessibility and general user experience of content and reward content with better page experience. One example of page usability is mobile-friendliness, which is a measure of how easy a webpage is to use on a mobile device.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User data. </a:t>
            </a:r>
            <a:r>
              <a:rPr lang="en-US" sz="2200" dirty="0">
                <a:solidFill>
                  <a:schemeClr val="tx1"/>
                </a:solidFill>
                <a:latin typeface="Times New Roman" pitchFamily="18" charset="0"/>
                <a:cs typeface="Times New Roman" pitchFamily="18" charset="0"/>
              </a:rPr>
              <a:t>A user's past search history, search settings and location data are a few of the data types search engines use to determine the content rankings they choose.</a:t>
            </a:r>
          </a:p>
        </p:txBody>
      </p:sp>
    </p:spTree>
    <p:extLst>
      <p:ext uri="{BB962C8B-B14F-4D97-AF65-F5344CB8AC3E}">
        <p14:creationId xmlns:p14="http://schemas.microsoft.com/office/powerpoint/2010/main" xmlns="" val="31493001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smtClean="0">
                <a:solidFill>
                  <a:srgbClr val="FF0000"/>
                </a:solidFill>
                <a:latin typeface="Times New Roman" pitchFamily="18" charset="0"/>
                <a:cs typeface="Times New Roman" pitchFamily="18" charset="0"/>
              </a:rPr>
              <a:t>Chapter 2- Internet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4191000" cy="5638800"/>
          </a:xfrm>
        </p:spPr>
        <p:txBody>
          <a:bodyPr>
            <a:normAutofit/>
          </a:bodyPr>
          <a:lstStyle/>
          <a:p>
            <a:pPr marL="342900" indent="-342900" algn="just">
              <a:buFont typeface="Arial" pitchFamily="34" charset="0"/>
              <a:buChar char="•"/>
            </a:pPr>
            <a:r>
              <a:rPr lang="en-IN" sz="2200" b="1" dirty="0" smtClean="0">
                <a:solidFill>
                  <a:schemeClr val="tx1"/>
                </a:solidFill>
                <a:latin typeface="Times New Roman" pitchFamily="18" charset="0"/>
                <a:cs typeface="Times New Roman" pitchFamily="18" charset="0"/>
              </a:rPr>
              <a:t>Web </a:t>
            </a:r>
            <a:r>
              <a:rPr lang="en-IN" sz="2200" b="1" dirty="0">
                <a:solidFill>
                  <a:schemeClr val="tx1"/>
                </a:solidFill>
                <a:latin typeface="Times New Roman" pitchFamily="18" charset="0"/>
                <a:cs typeface="Times New Roman" pitchFamily="18" charset="0"/>
              </a:rPr>
              <a:t>Security terminology: </a:t>
            </a:r>
            <a:endParaRPr lang="en-IN"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Virus</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Malware</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Ransom ware</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Trojan Horse</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Worm</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Bot/Botnet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Spy ware</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Rootkit</a:t>
            </a:r>
          </a:p>
          <a:p>
            <a:pPr marL="342900" indent="-342900" algn="just">
              <a:buFont typeface="Arial" pitchFamily="34" charset="0"/>
              <a:buChar char="•"/>
            </a:pPr>
            <a:r>
              <a:rPr lang="en-IN" sz="2200" dirty="0" err="1" smtClean="0">
                <a:solidFill>
                  <a:schemeClr val="tx1"/>
                </a:solidFill>
                <a:latin typeface="Times New Roman" pitchFamily="18" charset="0"/>
                <a:cs typeface="Times New Roman" pitchFamily="18" charset="0"/>
              </a:rPr>
              <a:t>Ddos</a:t>
            </a:r>
            <a:endParaRPr lang="en-IN"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Phishing</a:t>
            </a:r>
          </a:p>
        </p:txBody>
      </p:sp>
      <p:sp>
        <p:nvSpPr>
          <p:cNvPr id="4" name="Subtitle 2"/>
          <p:cNvSpPr txBox="1">
            <a:spLocks/>
          </p:cNvSpPr>
          <p:nvPr/>
        </p:nvSpPr>
        <p:spPr>
          <a:xfrm>
            <a:off x="4800600" y="838200"/>
            <a:ext cx="4191000" cy="5638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Click jacking</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Deep fake</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White hat/Black hat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Firewall</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Encryption</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Decryption</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Penetration testing.</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1287318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rmAutofit lnSpcReduction="10000"/>
          </a:bodyPr>
          <a:lstStyle/>
          <a:p>
            <a:pPr algn="just"/>
            <a:r>
              <a:rPr lang="en-IN" sz="2200" b="1" dirty="0" smtClean="0">
                <a:solidFill>
                  <a:schemeClr val="tx1"/>
                </a:solidFill>
                <a:latin typeface="Times New Roman" pitchFamily="18" charset="0"/>
                <a:cs typeface="Times New Roman" pitchFamily="18" charset="0"/>
              </a:rPr>
              <a:t>Virus: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virus </a:t>
            </a:r>
            <a:r>
              <a:rPr lang="en-US" sz="2200" dirty="0" smtClean="0">
                <a:solidFill>
                  <a:schemeClr val="tx1"/>
                </a:solidFill>
                <a:latin typeface="Times New Roman" pitchFamily="18" charset="0"/>
                <a:cs typeface="Times New Roman" pitchFamily="18" charset="0"/>
              </a:rPr>
              <a:t>(</a:t>
            </a:r>
            <a:r>
              <a:rPr lang="en-US" sz="2200" dirty="0">
                <a:solidFill>
                  <a:schemeClr val="tx1"/>
                </a:solidFill>
                <a:latin typeface="Times New Roman" pitchFamily="18" charset="0"/>
                <a:cs typeface="Times New Roman" pitchFamily="18" charset="0"/>
              </a:rPr>
              <a:t>Vital Information Resources Under Siege</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is a program that can infect other programs by modifying them.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modification includes a copy of the virus program which then goes on to infect other programs.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Virus </a:t>
            </a:r>
            <a:r>
              <a:rPr lang="en-US" sz="2200" dirty="0">
                <a:solidFill>
                  <a:schemeClr val="tx1"/>
                </a:solidFill>
                <a:latin typeface="Times New Roman" pitchFamily="18" charset="0"/>
                <a:cs typeface="Times New Roman" pitchFamily="18" charset="0"/>
              </a:rPr>
              <a:t>are self-replicating and can wreak havoc in a system by modifying or destroying files and causing system crashing and program malfunction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Virus is nothing on its own and thus needs a </a:t>
            </a:r>
            <a:r>
              <a:rPr lang="en-US" sz="2200" dirty="0" smtClean="0">
                <a:solidFill>
                  <a:schemeClr val="tx1"/>
                </a:solidFill>
                <a:latin typeface="Times New Roman" pitchFamily="18" charset="0"/>
                <a:cs typeface="Times New Roman" pitchFamily="18" charset="0"/>
              </a:rPr>
              <a:t>host to get </a:t>
            </a:r>
            <a:r>
              <a:rPr lang="en-US" sz="2200" dirty="0">
                <a:solidFill>
                  <a:schemeClr val="tx1"/>
                </a:solidFill>
                <a:latin typeface="Times New Roman" pitchFamily="18" charset="0"/>
                <a:cs typeface="Times New Roman" pitchFamily="18" charset="0"/>
              </a:rPr>
              <a:t>into other systems and execute it when triggered</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It has 2 parts: Transfer mechanism and Payload. </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Payload again has 2 parts: </a:t>
            </a:r>
            <a:r>
              <a:rPr lang="en-US" sz="2200" dirty="0">
                <a:solidFill>
                  <a:schemeClr val="tx1"/>
                </a:solidFill>
                <a:latin typeface="Times New Roman" pitchFamily="18" charset="0"/>
                <a:cs typeface="Times New Roman" pitchFamily="18" charset="0"/>
              </a:rPr>
              <a:t>infection program mechanism and actual destructive component, this part contains the virus code</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Malware has viruses, Trojan </a:t>
            </a:r>
            <a:r>
              <a:rPr lang="en-US" sz="2200" dirty="0">
                <a:solidFill>
                  <a:schemeClr val="tx1"/>
                </a:solidFill>
                <a:latin typeface="Times New Roman" pitchFamily="18" charset="0"/>
                <a:cs typeface="Times New Roman" pitchFamily="18" charset="0"/>
              </a:rPr>
              <a:t>horse, </a:t>
            </a:r>
            <a:r>
              <a:rPr lang="en-US" sz="2200" dirty="0" err="1" smtClean="0">
                <a:solidFill>
                  <a:schemeClr val="tx1"/>
                </a:solidFill>
                <a:latin typeface="Times New Roman" pitchFamily="18" charset="0"/>
                <a:cs typeface="Times New Roman" pitchFamily="18" charset="0"/>
              </a:rPr>
              <a:t>Ransomware</a:t>
            </a:r>
            <a:r>
              <a:rPr lang="en-US" sz="2200" dirty="0" smtClean="0">
                <a:solidFill>
                  <a:schemeClr val="tx1"/>
                </a:solidFill>
                <a:latin typeface="Times New Roman" pitchFamily="18" charset="0"/>
                <a:cs typeface="Times New Roman" pitchFamily="18" charset="0"/>
              </a:rPr>
              <a:t> and worms. Viruses </a:t>
            </a:r>
            <a:r>
              <a:rPr lang="en-US" sz="2200" dirty="0">
                <a:solidFill>
                  <a:schemeClr val="tx1"/>
                </a:solidFill>
                <a:latin typeface="Times New Roman" pitchFamily="18" charset="0"/>
                <a:cs typeface="Times New Roman" pitchFamily="18" charset="0"/>
              </a:rPr>
              <a:t>are self-replicating while Trojans are not, </a:t>
            </a:r>
            <a:r>
              <a:rPr lang="en-US" sz="2200" dirty="0" err="1">
                <a:solidFill>
                  <a:schemeClr val="tx1"/>
                </a:solidFill>
                <a:latin typeface="Times New Roman" pitchFamily="18" charset="0"/>
                <a:cs typeface="Times New Roman" pitchFamily="18" charset="0"/>
              </a:rPr>
              <a:t>Ransomware</a:t>
            </a:r>
            <a:r>
              <a:rPr lang="en-US" sz="2200" dirty="0">
                <a:solidFill>
                  <a:schemeClr val="tx1"/>
                </a:solidFill>
                <a:latin typeface="Times New Roman" pitchFamily="18" charset="0"/>
                <a:cs typeface="Times New Roman" pitchFamily="18" charset="0"/>
              </a:rPr>
              <a:t> done for ransom while worms do not need a host, which makes it differ from viruses. </a:t>
            </a:r>
            <a:endParaRPr lang="en-US"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0194500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Types of viruses:</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Resident virus: </a:t>
            </a:r>
            <a:r>
              <a:rPr lang="en-US" sz="2200" dirty="0" smtClean="0">
                <a:solidFill>
                  <a:schemeClr val="tx1"/>
                </a:solidFill>
                <a:latin typeface="Times New Roman" pitchFamily="18" charset="0"/>
                <a:cs typeface="Times New Roman" pitchFamily="18" charset="0"/>
              </a:rPr>
              <a:t>lives </a:t>
            </a:r>
            <a:r>
              <a:rPr lang="en-US" sz="2200" dirty="0">
                <a:solidFill>
                  <a:schemeClr val="tx1"/>
                </a:solidFill>
                <a:latin typeface="Times New Roman" pitchFamily="18" charset="0"/>
                <a:cs typeface="Times New Roman" pitchFamily="18" charset="0"/>
              </a:rPr>
              <a:t>in RAM and interfere with normal operations.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Multipartite virus: </a:t>
            </a:r>
            <a:r>
              <a:rPr lang="en-US" sz="2200" dirty="0">
                <a:solidFill>
                  <a:schemeClr val="tx1"/>
                </a:solidFill>
                <a:latin typeface="Times New Roman" pitchFamily="18" charset="0"/>
                <a:cs typeface="Times New Roman" pitchFamily="18" charset="0"/>
              </a:rPr>
              <a:t>Has the ability to infect both executable file and boot sectors.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Direct Action Virus: </a:t>
            </a:r>
            <a:r>
              <a:rPr lang="en-US" sz="2200" dirty="0">
                <a:solidFill>
                  <a:schemeClr val="tx1"/>
                </a:solidFill>
                <a:latin typeface="Times New Roman" pitchFamily="18" charset="0"/>
                <a:cs typeface="Times New Roman" pitchFamily="18" charset="0"/>
              </a:rPr>
              <a:t>Attacks only .exe and .com files, not very harmful as it is triggered after being executed.</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Browser hijacker: </a:t>
            </a:r>
            <a:r>
              <a:rPr lang="en-US" sz="2200" dirty="0">
                <a:solidFill>
                  <a:schemeClr val="tx1"/>
                </a:solidFill>
                <a:latin typeface="Times New Roman" pitchFamily="18" charset="0"/>
                <a:cs typeface="Times New Roman" pitchFamily="18" charset="0"/>
              </a:rPr>
              <a:t>Infects browser and opens a fake website which aren’t necessary.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Overwrite virus: </a:t>
            </a:r>
            <a:r>
              <a:rPr lang="en-US" sz="2200" dirty="0">
                <a:solidFill>
                  <a:schemeClr val="tx1"/>
                </a:solidFill>
                <a:latin typeface="Times New Roman" pitchFamily="18" charset="0"/>
                <a:cs typeface="Times New Roman" pitchFamily="18" charset="0"/>
              </a:rPr>
              <a:t>Overwrites the content of a file, losing the original data.</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Boot Sector Virus: </a:t>
            </a:r>
            <a:r>
              <a:rPr lang="en-US" sz="2200" dirty="0">
                <a:solidFill>
                  <a:schemeClr val="tx1"/>
                </a:solidFill>
                <a:latin typeface="Times New Roman" pitchFamily="18" charset="0"/>
                <a:cs typeface="Times New Roman" pitchFamily="18" charset="0"/>
              </a:rPr>
              <a:t>Infects master boot records and spreads through removable media.</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Polymorphic virus: </a:t>
            </a:r>
            <a:r>
              <a:rPr lang="en-US" sz="2200" dirty="0">
                <a:solidFill>
                  <a:schemeClr val="tx1"/>
                </a:solidFill>
                <a:latin typeface="Times New Roman" pitchFamily="18" charset="0"/>
                <a:cs typeface="Times New Roman" pitchFamily="18" charset="0"/>
              </a:rPr>
              <a:t>Alters it’s signature pattern while spreading, thus difficult to detect.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File Infector virus: </a:t>
            </a:r>
            <a:r>
              <a:rPr lang="en-US" sz="2200" dirty="0">
                <a:solidFill>
                  <a:schemeClr val="tx1"/>
                </a:solidFill>
                <a:latin typeface="Times New Roman" pitchFamily="18" charset="0"/>
                <a:cs typeface="Times New Roman" pitchFamily="18" charset="0"/>
              </a:rPr>
              <a:t>Comes in an attached form format and affects .exe and .com </a:t>
            </a:r>
            <a:r>
              <a:rPr lang="en-US" sz="2200" dirty="0" smtClean="0">
                <a:solidFill>
                  <a:schemeClr val="tx1"/>
                </a:solidFill>
                <a:latin typeface="Times New Roman" pitchFamily="18" charset="0"/>
                <a:cs typeface="Times New Roman" pitchFamily="18" charset="0"/>
              </a:rPr>
              <a:t>files</a:t>
            </a:r>
            <a:r>
              <a:rPr lang="en-US" sz="2200" dirty="0">
                <a:solidFill>
                  <a:schemeClr val="tx1"/>
                </a:solidFill>
                <a:latin typeface="Times New Roman" pitchFamily="18" charset="0"/>
                <a:cs typeface="Times New Roman" pitchFamily="18" charset="0"/>
              </a:rPr>
              <a:t>.</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79491226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Malware:</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Malware is short for malicious software, and refers to any software that is designed to cause harm to computer systems, networks, or users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is </a:t>
            </a:r>
            <a:r>
              <a:rPr lang="en-US" sz="2200" dirty="0">
                <a:solidFill>
                  <a:schemeClr val="tx1"/>
                </a:solidFill>
                <a:latin typeface="Times New Roman" pitchFamily="18" charset="0"/>
                <a:cs typeface="Times New Roman" pitchFamily="18" charset="0"/>
              </a:rPr>
              <a:t>a program designed to gain access to computer systems, </a:t>
            </a:r>
            <a:r>
              <a:rPr lang="en-US" sz="2200" dirty="0" smtClean="0">
                <a:solidFill>
                  <a:schemeClr val="tx1"/>
                </a:solidFill>
                <a:latin typeface="Times New Roman" pitchFamily="18" charset="0"/>
                <a:cs typeface="Times New Roman" pitchFamily="18" charset="0"/>
              </a:rPr>
              <a:t>to </a:t>
            </a:r>
            <a:r>
              <a:rPr lang="en-US" sz="2200" dirty="0">
                <a:solidFill>
                  <a:schemeClr val="tx1"/>
                </a:solidFill>
                <a:latin typeface="Times New Roman" pitchFamily="18" charset="0"/>
                <a:cs typeface="Times New Roman" pitchFamily="18" charset="0"/>
              </a:rPr>
              <a:t>benefit of some third party, without the user’s </a:t>
            </a:r>
            <a:r>
              <a:rPr lang="en-US" sz="2200" dirty="0" smtClean="0">
                <a:solidFill>
                  <a:schemeClr val="tx1"/>
                </a:solidFill>
                <a:latin typeface="Times New Roman" pitchFamily="18" charset="0"/>
                <a:cs typeface="Times New Roman" pitchFamily="18" charset="0"/>
              </a:rPr>
              <a:t>permission. It can take many forms, including:</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Virus: </a:t>
            </a:r>
            <a:r>
              <a:rPr lang="en-US" sz="2200" dirty="0">
                <a:solidFill>
                  <a:schemeClr val="tx1"/>
                </a:solidFill>
                <a:latin typeface="Times New Roman" pitchFamily="18" charset="0"/>
                <a:cs typeface="Times New Roman" pitchFamily="18" charset="0"/>
              </a:rPr>
              <a:t>A Virus is a malicious executable code attached to another executable file. The virus spreads when an infected file is passed from system to system. Viruses can be harmless or they can modify or delete data. Opening a file can trigger a virus. Once a program virus is active, it will infect other programs on the computer..</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Worm: </a:t>
            </a:r>
            <a:r>
              <a:rPr lang="en-US" sz="2200" dirty="0" smtClean="0">
                <a:solidFill>
                  <a:schemeClr val="tx1"/>
                </a:solidFill>
                <a:latin typeface="Times New Roman" pitchFamily="18" charset="0"/>
                <a:cs typeface="Times New Roman" pitchFamily="18" charset="0"/>
              </a:rPr>
              <a:t>Worms </a:t>
            </a:r>
            <a:r>
              <a:rPr lang="en-US" sz="2200" dirty="0">
                <a:solidFill>
                  <a:schemeClr val="tx1"/>
                </a:solidFill>
                <a:latin typeface="Times New Roman" pitchFamily="18" charset="0"/>
                <a:cs typeface="Times New Roman" pitchFamily="18" charset="0"/>
              </a:rPr>
              <a:t>replicate themselves on the system, attaching themselves to different files and looking for pathways between computers, such as computer network that shares common file storage areas. Worms usually slow down networks. A virus needs a host program to run but worms can run by themselves. After a worm affects a host, it is able to spread very quickly over the network</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0225098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Spyware: </a:t>
            </a:r>
            <a:r>
              <a:rPr lang="en-US" sz="2200" dirty="0">
                <a:solidFill>
                  <a:schemeClr val="tx1"/>
                </a:solidFill>
                <a:latin typeface="Times New Roman" pitchFamily="18" charset="0"/>
                <a:cs typeface="Times New Roman" pitchFamily="18" charset="0"/>
              </a:rPr>
              <a:t>Its purpose is to steal private information from a computer system for a third party. Spyware collects information and sends it to the hacker.</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Trojan </a:t>
            </a:r>
            <a:r>
              <a:rPr lang="en-US" sz="2200" b="1" dirty="0" smtClean="0">
                <a:solidFill>
                  <a:schemeClr val="tx1"/>
                </a:solidFill>
                <a:latin typeface="Times New Roman" pitchFamily="18" charset="0"/>
                <a:cs typeface="Times New Roman" pitchFamily="18" charset="0"/>
              </a:rPr>
              <a:t>horse: </a:t>
            </a:r>
            <a:r>
              <a:rPr lang="en-US" sz="2200" dirty="0">
                <a:solidFill>
                  <a:schemeClr val="tx1"/>
                </a:solidFill>
                <a:latin typeface="Times New Roman" pitchFamily="18" charset="0"/>
                <a:cs typeface="Times New Roman" pitchFamily="18" charset="0"/>
              </a:rPr>
              <a:t>A Trojan horse is malware that carries out malicious operations under the appearance of a desired operation such as playing an online game. A Trojan horse varies from a virus because the Trojan binds itself to non-executable files, such as image files, audio files.</a:t>
            </a:r>
          </a:p>
          <a:p>
            <a:pPr marL="342900" indent="-342900" algn="just">
              <a:buFont typeface="Arial" pitchFamily="34" charset="0"/>
              <a:buChar char="•"/>
            </a:pPr>
            <a:r>
              <a:rPr lang="en-US" sz="2200" b="1" dirty="0" err="1" smtClean="0">
                <a:solidFill>
                  <a:schemeClr val="tx1"/>
                </a:solidFill>
                <a:latin typeface="Times New Roman" pitchFamily="18" charset="0"/>
                <a:cs typeface="Times New Roman" pitchFamily="18" charset="0"/>
              </a:rPr>
              <a:t>Ransomware</a:t>
            </a:r>
            <a:r>
              <a:rPr lang="en-US" sz="2200" b="1" dirty="0" smtClean="0">
                <a:solidFill>
                  <a:schemeClr val="tx1"/>
                </a:solidFill>
                <a:latin typeface="Times New Roman" pitchFamily="18" charset="0"/>
                <a:cs typeface="Times New Roman" pitchFamily="18" charset="0"/>
              </a:rPr>
              <a:t>: </a:t>
            </a:r>
            <a:r>
              <a:rPr lang="en-US" sz="2200" dirty="0" err="1" smtClean="0">
                <a:solidFill>
                  <a:schemeClr val="tx1"/>
                </a:solidFill>
                <a:latin typeface="Times New Roman" pitchFamily="18" charset="0"/>
                <a:cs typeface="Times New Roman" pitchFamily="18" charset="0"/>
              </a:rPr>
              <a:t>Ransomware</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grasps a computer system or the data it contains until the victim makes a payment. </a:t>
            </a:r>
            <a:r>
              <a:rPr lang="en-US" sz="2200" dirty="0" err="1">
                <a:solidFill>
                  <a:schemeClr val="tx1"/>
                </a:solidFill>
                <a:latin typeface="Times New Roman" pitchFamily="18" charset="0"/>
                <a:cs typeface="Times New Roman" pitchFamily="18" charset="0"/>
              </a:rPr>
              <a:t>Ransomware</a:t>
            </a:r>
            <a:r>
              <a:rPr lang="en-US" sz="2200" dirty="0">
                <a:solidFill>
                  <a:schemeClr val="tx1"/>
                </a:solidFill>
                <a:latin typeface="Times New Roman" pitchFamily="18" charset="0"/>
                <a:cs typeface="Times New Roman" pitchFamily="18" charset="0"/>
              </a:rPr>
              <a:t> encrypts data in the computer with a key which is unknown to the user. The user has to pay a ransom (price) to the criminals to retrieve data. Once the amount is paid the victim can resume using his/her system</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Rootkits:</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A rootkit modifies the OS to make a backdoor. Attackers then use the backdoor to access the computer distantly. Most rootkits take advantage of software vulnerabilities to modify system files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Protection: Use antivirus software, software and system up to date</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7272018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BOT/Botnet: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botnet (short for “robot network”) is a network of computers infected by malware that are under the control of a single attacking party, known as the “bot-herder.”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Each </a:t>
            </a:r>
            <a:r>
              <a:rPr lang="en-US" sz="2200" dirty="0">
                <a:solidFill>
                  <a:schemeClr val="tx1"/>
                </a:solidFill>
                <a:latin typeface="Times New Roman" pitchFamily="18" charset="0"/>
                <a:cs typeface="Times New Roman" pitchFamily="18" charset="0"/>
              </a:rPr>
              <a:t>individual machine under the control of the bot-herder is known as a </a:t>
            </a:r>
            <a:r>
              <a:rPr lang="en-US" sz="2200" dirty="0" smtClean="0">
                <a:solidFill>
                  <a:schemeClr val="tx1"/>
                </a:solidFill>
                <a:latin typeface="Times New Roman" pitchFamily="18" charset="0"/>
                <a:cs typeface="Times New Roman" pitchFamily="18" charset="0"/>
              </a:rPr>
              <a:t>bot, the </a:t>
            </a:r>
            <a:r>
              <a:rPr lang="en-US" sz="2200" dirty="0">
                <a:solidFill>
                  <a:schemeClr val="tx1"/>
                </a:solidFill>
                <a:latin typeface="Times New Roman" pitchFamily="18" charset="0"/>
                <a:cs typeface="Times New Roman" pitchFamily="18" charset="0"/>
              </a:rPr>
              <a:t>attacking party can command every computer on its botnet to simultaneously carry out a coordinated criminal action.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scale of a botnet (many comprised of millions of bots) enable the attacker to perform large-scale actions that were previously impossible with malware.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Since </a:t>
            </a:r>
            <a:r>
              <a:rPr lang="en-US" sz="2200" dirty="0">
                <a:solidFill>
                  <a:schemeClr val="tx1"/>
                </a:solidFill>
                <a:latin typeface="Times New Roman" pitchFamily="18" charset="0"/>
                <a:cs typeface="Times New Roman" pitchFamily="18" charset="0"/>
              </a:rPr>
              <a:t>botnets remain under control of a remote attacker, infected machines can receive updates and change their behavior on the fly. As a result, bot-herders are often able to rent access to segments of their botnet on the black market for significant financial gain</a:t>
            </a:r>
            <a:r>
              <a:rPr lang="en-US" sz="2200" dirty="0" smtClean="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42569736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US" sz="2200" dirty="0" smtClean="0">
                <a:solidFill>
                  <a:schemeClr val="tx1"/>
                </a:solidFill>
                <a:latin typeface="Times New Roman" pitchFamily="18" charset="0"/>
                <a:cs typeface="Times New Roman" pitchFamily="18" charset="0"/>
              </a:rPr>
              <a:t>Common </a:t>
            </a:r>
            <a:r>
              <a:rPr lang="en-US" sz="2200" dirty="0">
                <a:solidFill>
                  <a:schemeClr val="tx1"/>
                </a:solidFill>
                <a:latin typeface="Times New Roman" pitchFamily="18" charset="0"/>
                <a:cs typeface="Times New Roman" pitchFamily="18" charset="0"/>
              </a:rPr>
              <a:t>Botnet Actions Include: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Email </a:t>
            </a:r>
            <a:r>
              <a:rPr lang="en-US" sz="2200" b="1" dirty="0" smtClean="0">
                <a:solidFill>
                  <a:schemeClr val="tx1"/>
                </a:solidFill>
                <a:latin typeface="Times New Roman" pitchFamily="18" charset="0"/>
                <a:cs typeface="Times New Roman" pitchFamily="18" charset="0"/>
              </a:rPr>
              <a:t>spam:</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though email is seen today as an older vector for attack, spam botnets are some of the largest in size. </a:t>
            </a:r>
            <a:r>
              <a:rPr lang="en-US" sz="2200" dirty="0" smtClean="0">
                <a:solidFill>
                  <a:schemeClr val="tx1"/>
                </a:solidFill>
                <a:latin typeface="Times New Roman" pitchFamily="18" charset="0"/>
                <a:cs typeface="Times New Roman" pitchFamily="18" charset="0"/>
              </a:rPr>
              <a:t>Spam </a:t>
            </a:r>
            <a:r>
              <a:rPr lang="en-US" sz="2200" dirty="0">
                <a:solidFill>
                  <a:schemeClr val="tx1"/>
                </a:solidFill>
                <a:latin typeface="Times New Roman" pitchFamily="18" charset="0"/>
                <a:cs typeface="Times New Roman" pitchFamily="18" charset="0"/>
              </a:rPr>
              <a:t>messages, often including malware, in towering numbers from each bot.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err="1" smtClean="0">
                <a:solidFill>
                  <a:schemeClr val="tx1"/>
                </a:solidFill>
                <a:latin typeface="Times New Roman" pitchFamily="18" charset="0"/>
                <a:cs typeface="Times New Roman" pitchFamily="18" charset="0"/>
              </a:rPr>
              <a:t>DDoS</a:t>
            </a:r>
            <a:r>
              <a:rPr lang="en-US" sz="2200" b="1" dirty="0" smtClean="0">
                <a:solidFill>
                  <a:schemeClr val="tx1"/>
                </a:solidFill>
                <a:latin typeface="Times New Roman" pitchFamily="18" charset="0"/>
                <a:cs typeface="Times New Roman" pitchFamily="18" charset="0"/>
              </a:rPr>
              <a:t> attacks: </a:t>
            </a:r>
            <a:r>
              <a:rPr lang="en-US" sz="2200" dirty="0" smtClean="0">
                <a:solidFill>
                  <a:schemeClr val="tx1"/>
                </a:solidFill>
                <a:latin typeface="Times New Roman" pitchFamily="18" charset="0"/>
                <a:cs typeface="Times New Roman" pitchFamily="18" charset="0"/>
              </a:rPr>
              <a:t>leverages </a:t>
            </a:r>
            <a:r>
              <a:rPr lang="en-US" sz="2200" dirty="0">
                <a:solidFill>
                  <a:schemeClr val="tx1"/>
                </a:solidFill>
                <a:latin typeface="Times New Roman" pitchFamily="18" charset="0"/>
                <a:cs typeface="Times New Roman" pitchFamily="18" charset="0"/>
              </a:rPr>
              <a:t>the massive scale of the botnet to overload a target network or server with requests, rendering it inaccessible to its intended users. </a:t>
            </a:r>
            <a:r>
              <a:rPr lang="en-US" sz="2200" dirty="0" smtClean="0">
                <a:solidFill>
                  <a:schemeClr val="tx1"/>
                </a:solidFill>
                <a:latin typeface="Times New Roman" pitchFamily="18" charset="0"/>
                <a:cs typeface="Times New Roman" pitchFamily="18" charset="0"/>
              </a:rPr>
              <a:t>For </a:t>
            </a:r>
            <a:r>
              <a:rPr lang="en-US" sz="2200" dirty="0">
                <a:solidFill>
                  <a:schemeClr val="tx1"/>
                </a:solidFill>
                <a:latin typeface="Times New Roman" pitchFamily="18" charset="0"/>
                <a:cs typeface="Times New Roman" pitchFamily="18" charset="0"/>
              </a:rPr>
              <a:t>personal or political motives or to extort payment in exchange for ceasing the attack.</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Financial </a:t>
            </a:r>
            <a:r>
              <a:rPr lang="en-US" sz="2200" b="1" dirty="0" smtClean="0">
                <a:solidFill>
                  <a:schemeClr val="tx1"/>
                </a:solidFill>
                <a:latin typeface="Times New Roman" pitchFamily="18" charset="0"/>
                <a:cs typeface="Times New Roman" pitchFamily="18" charset="0"/>
              </a:rPr>
              <a:t>breach:</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includes botnets specifically designed for the direct theft of funds from enterprises and credit card information. Financial botnets, like the </a:t>
            </a:r>
            <a:r>
              <a:rPr lang="en-US" sz="2200" dirty="0" err="1">
                <a:solidFill>
                  <a:schemeClr val="tx1"/>
                </a:solidFill>
                <a:latin typeface="Times New Roman" pitchFamily="18" charset="0"/>
                <a:cs typeface="Times New Roman" pitchFamily="18" charset="0"/>
              </a:rPr>
              <a:t>ZeuS</a:t>
            </a:r>
            <a:r>
              <a:rPr lang="en-US" sz="2200" dirty="0">
                <a:solidFill>
                  <a:schemeClr val="tx1"/>
                </a:solidFill>
                <a:latin typeface="Times New Roman" pitchFamily="18" charset="0"/>
                <a:cs typeface="Times New Roman" pitchFamily="18" charset="0"/>
              </a:rPr>
              <a:t> botnet, </a:t>
            </a:r>
            <a:r>
              <a:rPr lang="en-US" sz="2200" dirty="0" smtClean="0">
                <a:solidFill>
                  <a:schemeClr val="tx1"/>
                </a:solidFill>
                <a:latin typeface="Times New Roman" pitchFamily="18" charset="0"/>
                <a:cs typeface="Times New Roman" pitchFamily="18" charset="0"/>
              </a:rPr>
              <a:t>attacks </a:t>
            </a:r>
            <a:r>
              <a:rPr lang="en-US" sz="2200" dirty="0">
                <a:solidFill>
                  <a:schemeClr val="tx1"/>
                </a:solidFill>
                <a:latin typeface="Times New Roman" pitchFamily="18" charset="0"/>
                <a:cs typeface="Times New Roman" pitchFamily="18" charset="0"/>
              </a:rPr>
              <a:t>involving millions of dollars stolen directly from multiple enterprises over very short periods of time.</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Targeted </a:t>
            </a:r>
            <a:r>
              <a:rPr lang="en-US" sz="2200" b="1" dirty="0" smtClean="0">
                <a:solidFill>
                  <a:schemeClr val="tx1"/>
                </a:solidFill>
                <a:latin typeface="Times New Roman" pitchFamily="18" charset="0"/>
                <a:cs typeface="Times New Roman" pitchFamily="18" charset="0"/>
              </a:rPr>
              <a:t>intrusions:</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smaller botnets designed to compromise specific high-value systems of organizations from which attackers can penetrate and intrude further into the network. </a:t>
            </a:r>
            <a:r>
              <a:rPr lang="en-US" sz="2200" dirty="0" smtClean="0">
                <a:solidFill>
                  <a:schemeClr val="tx1"/>
                </a:solidFill>
                <a:latin typeface="Times New Roman" pitchFamily="18" charset="0"/>
                <a:cs typeface="Times New Roman" pitchFamily="18" charset="0"/>
              </a:rPr>
              <a:t>Extremely </a:t>
            </a:r>
            <a:r>
              <a:rPr lang="en-US" sz="2200" dirty="0">
                <a:solidFill>
                  <a:schemeClr val="tx1"/>
                </a:solidFill>
                <a:latin typeface="Times New Roman" pitchFamily="18" charset="0"/>
                <a:cs typeface="Times New Roman" pitchFamily="18" charset="0"/>
              </a:rPr>
              <a:t>dangerous to organizations as </a:t>
            </a:r>
            <a:r>
              <a:rPr lang="en-US" sz="2200" dirty="0" smtClean="0">
                <a:solidFill>
                  <a:schemeClr val="tx1"/>
                </a:solidFill>
                <a:latin typeface="Times New Roman" pitchFamily="18" charset="0"/>
                <a:cs typeface="Times New Roman" pitchFamily="18" charset="0"/>
              </a:rPr>
              <a:t>specifically </a:t>
            </a:r>
            <a:r>
              <a:rPr lang="en-US" sz="2200" dirty="0">
                <a:solidFill>
                  <a:schemeClr val="tx1"/>
                </a:solidFill>
                <a:latin typeface="Times New Roman" pitchFamily="18" charset="0"/>
                <a:cs typeface="Times New Roman" pitchFamily="18" charset="0"/>
              </a:rPr>
              <a:t>target their most valuable assets, including financial data, </a:t>
            </a:r>
            <a:r>
              <a:rPr lang="en-US" sz="2200" dirty="0" smtClean="0">
                <a:solidFill>
                  <a:schemeClr val="tx1"/>
                </a:solidFill>
                <a:latin typeface="Times New Roman" pitchFamily="18" charset="0"/>
                <a:cs typeface="Times New Roman" pitchFamily="18" charset="0"/>
              </a:rPr>
              <a:t>R&amp;D, </a:t>
            </a:r>
            <a:r>
              <a:rPr lang="en-US" sz="2200" dirty="0">
                <a:solidFill>
                  <a:schemeClr val="tx1"/>
                </a:solidFill>
                <a:latin typeface="Times New Roman" pitchFamily="18" charset="0"/>
                <a:cs typeface="Times New Roman" pitchFamily="18" charset="0"/>
              </a:rPr>
              <a:t>intellectual property, and customer information.</a:t>
            </a:r>
          </a:p>
        </p:txBody>
      </p:sp>
    </p:spTree>
    <p:extLst>
      <p:ext uri="{BB962C8B-B14F-4D97-AF65-F5344CB8AC3E}">
        <p14:creationId xmlns:p14="http://schemas.microsoft.com/office/powerpoint/2010/main" xmlns="" val="30064716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Phishing: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“Phishing” refers to an attempt to steal sensitive information, typically in the form of usernames, passwords, credit card numbers, bank account information or other important data in order to utilize or sell the stolen information.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By </a:t>
            </a:r>
            <a:r>
              <a:rPr lang="en-US" sz="2200" dirty="0">
                <a:solidFill>
                  <a:schemeClr val="tx1"/>
                </a:solidFill>
                <a:latin typeface="Times New Roman" pitchFamily="18" charset="0"/>
                <a:cs typeface="Times New Roman" pitchFamily="18" charset="0"/>
              </a:rPr>
              <a:t>masquerading as a reputable source with an enticing request, an attacker lures in the victim in order to trick them, similarly to how a fisherman uses bait to catch a fish</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err="1" smtClean="0">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Advanced-fee scam, Account deactivation scam, Website forgery scam</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10000" y="4038600"/>
            <a:ext cx="5260232" cy="274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8854650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err="1" smtClean="0">
                <a:solidFill>
                  <a:schemeClr val="tx1"/>
                </a:solidFill>
                <a:latin typeface="Times New Roman" pitchFamily="18" charset="0"/>
                <a:cs typeface="Times New Roman" pitchFamily="18" charset="0"/>
              </a:rPr>
              <a:t>Clickjacking</a:t>
            </a:r>
            <a:r>
              <a:rPr lang="en-IN" sz="2200" b="1"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Clickjacking</a:t>
            </a:r>
            <a:r>
              <a:rPr lang="en-US" sz="2200" dirty="0">
                <a:solidFill>
                  <a:schemeClr val="tx1"/>
                </a:solidFill>
                <a:latin typeface="Times New Roman" pitchFamily="18" charset="0"/>
                <a:cs typeface="Times New Roman" pitchFamily="18" charset="0"/>
              </a:rPr>
              <a:t> is an attack that fools users into thinking they are clicking on one thing when they are actually clicking on another.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Its </a:t>
            </a:r>
            <a:r>
              <a:rPr lang="en-US" sz="2200" dirty="0">
                <a:solidFill>
                  <a:schemeClr val="tx1"/>
                </a:solidFill>
                <a:latin typeface="Times New Roman" pitchFamily="18" charset="0"/>
                <a:cs typeface="Times New Roman" pitchFamily="18" charset="0"/>
              </a:rPr>
              <a:t>other name, user interface (UI) redressing, better describes what is going 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Users </a:t>
            </a:r>
            <a:r>
              <a:rPr lang="en-US" sz="2200" dirty="0">
                <a:solidFill>
                  <a:schemeClr val="tx1"/>
                </a:solidFill>
                <a:latin typeface="Times New Roman" pitchFamily="18" charset="0"/>
                <a:cs typeface="Times New Roman" pitchFamily="18" charset="0"/>
              </a:rPr>
              <a:t>think they are using a web page’s normal UI, but in fact there is a hidden UI in control; in other words, the UI has been redressed. </a:t>
            </a:r>
            <a:r>
              <a:rPr lang="en-US" sz="2200" dirty="0" smtClean="0">
                <a:solidFill>
                  <a:schemeClr val="tx1"/>
                </a:solidFill>
                <a:latin typeface="Times New Roman" pitchFamily="18" charset="0"/>
                <a:cs typeface="Times New Roman" pitchFamily="18" charset="0"/>
              </a:rPr>
              <a:t>When </a:t>
            </a:r>
            <a:r>
              <a:rPr lang="en-US" sz="2200" dirty="0">
                <a:solidFill>
                  <a:schemeClr val="tx1"/>
                </a:solidFill>
                <a:latin typeface="Times New Roman" pitchFamily="18" charset="0"/>
                <a:cs typeface="Times New Roman" pitchFamily="18" charset="0"/>
              </a:rPr>
              <a:t>users click something they think is safe, the hidden UI performs a different action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attack is possible thanks to HTML frames (</a:t>
            </a:r>
            <a:r>
              <a:rPr lang="en-US" sz="2200" dirty="0" err="1">
                <a:solidFill>
                  <a:schemeClr val="tx1"/>
                </a:solidFill>
                <a:latin typeface="Times New Roman" pitchFamily="18" charset="0"/>
                <a:cs typeface="Times New Roman" pitchFamily="18" charset="0"/>
              </a:rPr>
              <a:t>iframes</a:t>
            </a:r>
            <a:r>
              <a:rPr lang="en-US" sz="2200" dirty="0">
                <a:solidFill>
                  <a:schemeClr val="tx1"/>
                </a:solidFill>
                <a:latin typeface="Times New Roman" pitchFamily="18" charset="0"/>
                <a:cs typeface="Times New Roman" pitchFamily="18" charset="0"/>
              </a:rPr>
              <a:t>), the ability to display web pages within other web pages through frames.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If </a:t>
            </a:r>
            <a:r>
              <a:rPr lang="en-US" sz="2200" dirty="0">
                <a:solidFill>
                  <a:schemeClr val="tx1"/>
                </a:solidFill>
                <a:latin typeface="Times New Roman" pitchFamily="18" charset="0"/>
                <a:cs typeface="Times New Roman" pitchFamily="18" charset="0"/>
              </a:rPr>
              <a:t>a web page allows itself to be displayed within a frame, an attacker can cover the original web page with a hidden, transparent layer with its own JavaScript and UI elements. </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99986884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err="1" smtClean="0">
                <a:solidFill>
                  <a:schemeClr val="tx1"/>
                </a:solidFill>
                <a:latin typeface="Times New Roman" pitchFamily="18" charset="0"/>
                <a:cs typeface="Times New Roman" pitchFamily="18" charset="0"/>
              </a:rPr>
              <a:t>Deepfake</a:t>
            </a:r>
            <a:r>
              <a:rPr lang="en-IN" sz="2200" b="1"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Deepfakes</a:t>
            </a:r>
            <a:r>
              <a:rPr lang="en-US" sz="2200" dirty="0">
                <a:solidFill>
                  <a:schemeClr val="tx1"/>
                </a:solidFill>
                <a:latin typeface="Times New Roman" pitchFamily="18" charset="0"/>
                <a:cs typeface="Times New Roman" pitchFamily="18" charset="0"/>
              </a:rPr>
              <a:t> use AI to generate completely new video or audio, with the end goal of portraying something that didn't actually occur in reality. </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term "</a:t>
            </a:r>
            <a:r>
              <a:rPr lang="en-US" sz="2200" dirty="0" err="1">
                <a:solidFill>
                  <a:schemeClr val="tx1"/>
                </a:solidFill>
                <a:latin typeface="Times New Roman" pitchFamily="18" charset="0"/>
                <a:cs typeface="Times New Roman" pitchFamily="18" charset="0"/>
              </a:rPr>
              <a:t>deepfake</a:t>
            </a:r>
            <a:r>
              <a:rPr lang="en-US" sz="2200" dirty="0">
                <a:solidFill>
                  <a:schemeClr val="tx1"/>
                </a:solidFill>
                <a:latin typeface="Times New Roman" pitchFamily="18" charset="0"/>
                <a:cs typeface="Times New Roman" pitchFamily="18" charset="0"/>
              </a:rPr>
              <a:t>" comes from the underlying technology — deep learning algorithms —  which teach themselves to solve problems with large sets of data and can be used to </a:t>
            </a:r>
            <a:r>
              <a:rPr lang="en-US" sz="2200" dirty="0" smtClean="0">
                <a:solidFill>
                  <a:schemeClr val="tx1"/>
                </a:solidFill>
                <a:latin typeface="Times New Roman" pitchFamily="18" charset="0"/>
                <a:cs typeface="Times New Roman" pitchFamily="18" charset="0"/>
              </a:rPr>
              <a:t>create </a:t>
            </a:r>
            <a:r>
              <a:rPr lang="en-US" sz="2200" dirty="0">
                <a:solidFill>
                  <a:schemeClr val="tx1"/>
                </a:solidFill>
                <a:latin typeface="Times New Roman" pitchFamily="18" charset="0"/>
                <a:cs typeface="Times New Roman" pitchFamily="18" charset="0"/>
              </a:rPr>
              <a:t>fake content of real people.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a:t>
            </a:r>
            <a:r>
              <a:rPr lang="en-US" sz="2200" dirty="0" err="1">
                <a:solidFill>
                  <a:schemeClr val="tx1"/>
                </a:solidFill>
                <a:latin typeface="Times New Roman" pitchFamily="18" charset="0"/>
                <a:cs typeface="Times New Roman" pitchFamily="18" charset="0"/>
              </a:rPr>
              <a:t>deepfake</a:t>
            </a:r>
            <a:r>
              <a:rPr lang="en-US" sz="2200" dirty="0">
                <a:solidFill>
                  <a:schemeClr val="tx1"/>
                </a:solidFill>
                <a:latin typeface="Times New Roman" pitchFamily="18" charset="0"/>
                <a:cs typeface="Times New Roman" pitchFamily="18" charset="0"/>
              </a:rPr>
              <a:t> would be footage that is generated by a computer that has been trained through countless existing </a:t>
            </a:r>
            <a:r>
              <a:rPr lang="en-US" sz="2200" dirty="0" smtClean="0">
                <a:solidFill>
                  <a:schemeClr val="tx1"/>
                </a:solidFill>
                <a:latin typeface="Times New Roman" pitchFamily="18" charset="0"/>
                <a:cs typeface="Times New Roman" pitchFamily="18" charset="0"/>
              </a:rPr>
              <a:t>images.</a:t>
            </a:r>
          </a:p>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Deepfakes</a:t>
            </a:r>
            <a:r>
              <a:rPr lang="en-US" sz="2200" dirty="0">
                <a:solidFill>
                  <a:schemeClr val="tx1"/>
                </a:solidFill>
                <a:latin typeface="Times New Roman" pitchFamily="18" charset="0"/>
                <a:cs typeface="Times New Roman" pitchFamily="18" charset="0"/>
              </a:rPr>
              <a:t> aren't just any fake or misleading images. What separates a </a:t>
            </a:r>
            <a:r>
              <a:rPr lang="en-US" sz="2200" dirty="0" err="1">
                <a:solidFill>
                  <a:schemeClr val="tx1"/>
                </a:solidFill>
                <a:latin typeface="Times New Roman" pitchFamily="18" charset="0"/>
                <a:cs typeface="Times New Roman" pitchFamily="18" charset="0"/>
              </a:rPr>
              <a:t>deepfake</a:t>
            </a:r>
            <a:r>
              <a:rPr lang="en-US" sz="2200" dirty="0">
                <a:solidFill>
                  <a:schemeClr val="tx1"/>
                </a:solidFill>
                <a:latin typeface="Times New Roman" pitchFamily="18" charset="0"/>
                <a:cs typeface="Times New Roman" pitchFamily="18" charset="0"/>
              </a:rPr>
              <a:t> is the element of human input</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are several methods for creating </a:t>
            </a:r>
            <a:r>
              <a:rPr lang="en-US" sz="2200" dirty="0" err="1">
                <a:solidFill>
                  <a:schemeClr val="tx1"/>
                </a:solidFill>
                <a:latin typeface="Times New Roman" pitchFamily="18" charset="0"/>
                <a:cs typeface="Times New Roman" pitchFamily="18" charset="0"/>
              </a:rPr>
              <a:t>deepfakes</a:t>
            </a:r>
            <a:r>
              <a:rPr lang="en-US" sz="2200" dirty="0">
                <a:solidFill>
                  <a:schemeClr val="tx1"/>
                </a:solidFill>
                <a:latin typeface="Times New Roman" pitchFamily="18" charset="0"/>
                <a:cs typeface="Times New Roman" pitchFamily="18" charset="0"/>
              </a:rPr>
              <a:t>, but the most common relies on the use of deep neural networks that employ a face-swapping technique. You first need a target video to use as the basis of the </a:t>
            </a:r>
            <a:r>
              <a:rPr lang="en-US" sz="2200" dirty="0" err="1">
                <a:solidFill>
                  <a:schemeClr val="tx1"/>
                </a:solidFill>
                <a:latin typeface="Times New Roman" pitchFamily="18" charset="0"/>
                <a:cs typeface="Times New Roman" pitchFamily="18" charset="0"/>
              </a:rPr>
              <a:t>deepfake</a:t>
            </a:r>
            <a:r>
              <a:rPr lang="en-US" sz="2200" dirty="0">
                <a:solidFill>
                  <a:schemeClr val="tx1"/>
                </a:solidFill>
                <a:latin typeface="Times New Roman" pitchFamily="18" charset="0"/>
                <a:cs typeface="Times New Roman" pitchFamily="18" charset="0"/>
              </a:rPr>
              <a:t> and then a collection of video clips of the person you want to insert in the target.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15389590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Another type of machine learning is added to the mix, known as Generative Adversarial Networks (GANs), which detects and improves any flaws in the </a:t>
            </a:r>
            <a:r>
              <a:rPr lang="en-US" sz="2200" dirty="0" err="1">
                <a:solidFill>
                  <a:schemeClr val="tx1"/>
                </a:solidFill>
                <a:latin typeface="Times New Roman" pitchFamily="18" charset="0"/>
                <a:cs typeface="Times New Roman" pitchFamily="18" charset="0"/>
              </a:rPr>
              <a:t>deepfake</a:t>
            </a:r>
            <a:r>
              <a:rPr lang="en-US" sz="2200" dirty="0">
                <a:solidFill>
                  <a:schemeClr val="tx1"/>
                </a:solidFill>
                <a:latin typeface="Times New Roman" pitchFamily="18" charset="0"/>
                <a:cs typeface="Times New Roman" pitchFamily="18" charset="0"/>
              </a:rPr>
              <a:t> within multiple rounds, making it harder for </a:t>
            </a:r>
            <a:r>
              <a:rPr lang="en-US" sz="2200" dirty="0" err="1">
                <a:solidFill>
                  <a:schemeClr val="tx1"/>
                </a:solidFill>
                <a:latin typeface="Times New Roman" pitchFamily="18" charset="0"/>
                <a:cs typeface="Times New Roman" pitchFamily="18" charset="0"/>
              </a:rPr>
              <a:t>deepfake</a:t>
            </a:r>
            <a:r>
              <a:rPr lang="en-US" sz="2200" dirty="0">
                <a:solidFill>
                  <a:schemeClr val="tx1"/>
                </a:solidFill>
                <a:latin typeface="Times New Roman" pitchFamily="18" charset="0"/>
                <a:cs typeface="Times New Roman" pitchFamily="18" charset="0"/>
              </a:rPr>
              <a:t> detectors to decode them</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As technology improves, the discrepancies between real and fake content will likely become harder to detect.  </a:t>
            </a:r>
          </a:p>
        </p:txBody>
      </p:sp>
    </p:spTree>
    <p:extLst>
      <p:ext uri="{BB962C8B-B14F-4D97-AF65-F5344CB8AC3E}">
        <p14:creationId xmlns:p14="http://schemas.microsoft.com/office/powerpoint/2010/main" xmlns="" val="82165356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White hat:</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White hat </a:t>
            </a:r>
            <a:r>
              <a:rPr lang="en-US" sz="2200" dirty="0" smtClean="0">
                <a:solidFill>
                  <a:schemeClr val="tx1"/>
                </a:solidFill>
                <a:latin typeface="Times New Roman" pitchFamily="18" charset="0"/>
                <a:cs typeface="Times New Roman" pitchFamily="18" charset="0"/>
              </a:rPr>
              <a:t>hackers (Ethical Hackers) </a:t>
            </a:r>
            <a:r>
              <a:rPr lang="en-US" sz="2200" dirty="0">
                <a:solidFill>
                  <a:schemeClr val="tx1"/>
                </a:solidFill>
                <a:latin typeface="Times New Roman" pitchFamily="18" charset="0"/>
                <a:cs typeface="Times New Roman" pitchFamily="18" charset="0"/>
              </a:rPr>
              <a:t>are </a:t>
            </a:r>
            <a:r>
              <a:rPr lang="en-US" sz="2200" dirty="0" err="1">
                <a:solidFill>
                  <a:schemeClr val="tx1"/>
                </a:solidFill>
                <a:latin typeface="Times New Roman" pitchFamily="18" charset="0"/>
                <a:cs typeface="Times New Roman" pitchFamily="18" charset="0"/>
              </a:rPr>
              <a:t>cybersecurity</a:t>
            </a:r>
            <a:r>
              <a:rPr lang="en-US" sz="2200" dirty="0">
                <a:solidFill>
                  <a:schemeClr val="tx1"/>
                </a:solidFill>
                <a:latin typeface="Times New Roman" pitchFamily="18" charset="0"/>
                <a:cs typeface="Times New Roman" pitchFamily="18" charset="0"/>
              </a:rPr>
              <a:t> professionals who are authorized or certified to hack organizational networks and computer systems.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a:t>
            </a:r>
            <a:r>
              <a:rPr lang="en-US" sz="2200" dirty="0">
                <a:solidFill>
                  <a:schemeClr val="tx1"/>
                </a:solidFill>
                <a:latin typeface="Times New Roman" pitchFamily="18" charset="0"/>
                <a:cs typeface="Times New Roman" pitchFamily="18" charset="0"/>
              </a:rPr>
              <a:t>use their expertise and skills to find vulnerabilities in systems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Typically, large organizations, businesses, and governments hire white hat hackers to identify security vulnerabilities before black hat hackers can.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White </a:t>
            </a:r>
            <a:r>
              <a:rPr lang="en-US" sz="2200" dirty="0">
                <a:solidFill>
                  <a:schemeClr val="tx1"/>
                </a:solidFill>
                <a:latin typeface="Times New Roman" pitchFamily="18" charset="0"/>
                <a:cs typeface="Times New Roman" pitchFamily="18" charset="0"/>
              </a:rPr>
              <a:t>hat hackers spot and fix the weaknesses in the security systems and safeguard them against external attacks and data breaches.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do </a:t>
            </a:r>
            <a:r>
              <a:rPr lang="en-US" sz="2200" dirty="0">
                <a:solidFill>
                  <a:schemeClr val="tx1"/>
                </a:solidFill>
                <a:latin typeface="Times New Roman" pitchFamily="18" charset="0"/>
                <a:cs typeface="Times New Roman" pitchFamily="18" charset="0"/>
              </a:rPr>
              <a:t>not intend to harm a system. Instead, they find loopholes in a system as a part of penetration testing and vulnerability assessments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Roles and responsibilities of white hat hackers: </a:t>
            </a:r>
            <a:r>
              <a:rPr lang="en-US" sz="2200" dirty="0">
                <a:solidFill>
                  <a:schemeClr val="tx1"/>
                </a:solidFill>
                <a:latin typeface="Times New Roman" pitchFamily="18" charset="0"/>
                <a:cs typeface="Times New Roman" pitchFamily="18" charset="0"/>
              </a:rPr>
              <a:t>Identify threats, risks, and weaknesses from open </a:t>
            </a:r>
            <a:r>
              <a:rPr lang="en-US" sz="2200" dirty="0" smtClean="0">
                <a:solidFill>
                  <a:schemeClr val="tx1"/>
                </a:solidFill>
                <a:latin typeface="Times New Roman" pitchFamily="18" charset="0"/>
                <a:cs typeface="Times New Roman" pitchFamily="18" charset="0"/>
              </a:rPr>
              <a:t>ports, Employing </a:t>
            </a:r>
            <a:r>
              <a:rPr lang="en-US" sz="2200" dirty="0">
                <a:solidFill>
                  <a:schemeClr val="tx1"/>
                </a:solidFill>
                <a:latin typeface="Times New Roman" pitchFamily="18" charset="0"/>
                <a:cs typeface="Times New Roman" pitchFamily="18" charset="0"/>
              </a:rPr>
              <a:t>social engineering </a:t>
            </a:r>
            <a:r>
              <a:rPr lang="en-US" sz="2200" dirty="0" smtClean="0">
                <a:solidFill>
                  <a:schemeClr val="tx1"/>
                </a:solidFill>
                <a:latin typeface="Times New Roman" pitchFamily="18" charset="0"/>
                <a:cs typeface="Times New Roman" pitchFamily="18" charset="0"/>
              </a:rPr>
              <a:t>, Analyzing </a:t>
            </a:r>
            <a:r>
              <a:rPr lang="en-US" sz="2200" dirty="0">
                <a:solidFill>
                  <a:schemeClr val="tx1"/>
                </a:solidFill>
                <a:latin typeface="Times New Roman" pitchFamily="18" charset="0"/>
                <a:cs typeface="Times New Roman" pitchFamily="18" charset="0"/>
              </a:rPr>
              <a:t>patch </a:t>
            </a:r>
            <a:r>
              <a:rPr lang="en-US" sz="2200" dirty="0" smtClean="0">
                <a:solidFill>
                  <a:schemeClr val="tx1"/>
                </a:solidFill>
                <a:latin typeface="Times New Roman" pitchFamily="18" charset="0"/>
                <a:cs typeface="Times New Roman" pitchFamily="18" charset="0"/>
              </a:rPr>
              <a:t>installations, Assessing </a:t>
            </a:r>
            <a:r>
              <a:rPr lang="en-US" sz="2200" dirty="0">
                <a:solidFill>
                  <a:schemeClr val="tx1"/>
                </a:solidFill>
                <a:latin typeface="Times New Roman" pitchFamily="18" charset="0"/>
                <a:cs typeface="Times New Roman" pitchFamily="18" charset="0"/>
              </a:rPr>
              <a:t>firewall </a:t>
            </a:r>
            <a:r>
              <a:rPr lang="en-US" sz="2200" dirty="0" smtClean="0">
                <a:solidFill>
                  <a:schemeClr val="tx1"/>
                </a:solidFill>
                <a:latin typeface="Times New Roman" pitchFamily="18" charset="0"/>
                <a:cs typeface="Times New Roman" pitchFamily="18" charset="0"/>
              </a:rPr>
              <a:t>systems, Protecting </a:t>
            </a:r>
            <a:r>
              <a:rPr lang="en-US" sz="2200" dirty="0">
                <a:solidFill>
                  <a:schemeClr val="tx1"/>
                </a:solidFill>
                <a:latin typeface="Times New Roman" pitchFamily="18" charset="0"/>
                <a:cs typeface="Times New Roman" pitchFamily="18" charset="0"/>
              </a:rPr>
              <a:t>networks </a:t>
            </a:r>
          </a:p>
        </p:txBody>
      </p:sp>
    </p:spTree>
    <p:extLst>
      <p:ext uri="{BB962C8B-B14F-4D97-AF65-F5344CB8AC3E}">
        <p14:creationId xmlns:p14="http://schemas.microsoft.com/office/powerpoint/2010/main" xmlns="" val="277106852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Black hat:</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Black hat hackers </a:t>
            </a:r>
            <a:r>
              <a:rPr lang="en-US" sz="2200" dirty="0" smtClean="0">
                <a:solidFill>
                  <a:schemeClr val="tx1"/>
                </a:solidFill>
                <a:latin typeface="Times New Roman" pitchFamily="18" charset="0"/>
                <a:cs typeface="Times New Roman" pitchFamily="18" charset="0"/>
              </a:rPr>
              <a:t>(cybercriminals) </a:t>
            </a:r>
            <a:r>
              <a:rPr lang="en-US" sz="2200" dirty="0">
                <a:solidFill>
                  <a:schemeClr val="tx1"/>
                </a:solidFill>
                <a:latin typeface="Times New Roman" pitchFamily="18" charset="0"/>
                <a:cs typeface="Times New Roman" pitchFamily="18" charset="0"/>
              </a:rPr>
              <a:t>who find computer security vulnerabilities and exploit them for malicious reasons or financial gain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a:t>
            </a:r>
            <a:r>
              <a:rPr lang="en-US" sz="2200" dirty="0">
                <a:solidFill>
                  <a:schemeClr val="tx1"/>
                </a:solidFill>
                <a:latin typeface="Times New Roman" pitchFamily="18" charset="0"/>
                <a:cs typeface="Times New Roman" pitchFamily="18" charset="0"/>
              </a:rPr>
              <a:t>gain unauthorized access to systems and harm their operations or steal sensitive information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are </a:t>
            </a:r>
            <a:r>
              <a:rPr lang="en-US" sz="2200" dirty="0">
                <a:solidFill>
                  <a:schemeClr val="tx1"/>
                </a:solidFill>
                <a:latin typeface="Times New Roman" pitchFamily="18" charset="0"/>
                <a:cs typeface="Times New Roman" pitchFamily="18" charset="0"/>
              </a:rPr>
              <a:t>knowledgeable computer professionals with the wrong intention.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a:t>
            </a:r>
            <a:r>
              <a:rPr lang="en-US" sz="2200" dirty="0">
                <a:solidFill>
                  <a:schemeClr val="tx1"/>
                </a:solidFill>
                <a:latin typeface="Times New Roman" pitchFamily="18" charset="0"/>
                <a:cs typeface="Times New Roman" pitchFamily="18" charset="0"/>
              </a:rPr>
              <a:t>have advanced technical knowledge and skills that help them navigate the </a:t>
            </a:r>
            <a:r>
              <a:rPr lang="en-US" sz="2200" dirty="0" err="1">
                <a:solidFill>
                  <a:schemeClr val="tx1"/>
                </a:solidFill>
                <a:latin typeface="Times New Roman" pitchFamily="18" charset="0"/>
                <a:cs typeface="Times New Roman" pitchFamily="18" charset="0"/>
              </a:rPr>
              <a:t>cybersecurity</a:t>
            </a:r>
            <a:r>
              <a:rPr lang="en-US" sz="2200" dirty="0">
                <a:solidFill>
                  <a:schemeClr val="tx1"/>
                </a:solidFill>
                <a:latin typeface="Times New Roman" pitchFamily="18" charset="0"/>
                <a:cs typeface="Times New Roman" pitchFamily="18" charset="0"/>
              </a:rPr>
              <a:t> landscape.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Due </a:t>
            </a:r>
            <a:r>
              <a:rPr lang="en-US" sz="2200" dirty="0">
                <a:solidFill>
                  <a:schemeClr val="tx1"/>
                </a:solidFill>
                <a:latin typeface="Times New Roman" pitchFamily="18" charset="0"/>
                <a:cs typeface="Times New Roman" pitchFamily="18" charset="0"/>
              </a:rPr>
              <a:t>to its bad intent, such as damaging the system, stealing sensitive data, violating privacy, etc., black hat hacking is illegal</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They target </a:t>
            </a:r>
            <a:r>
              <a:rPr lang="en-US" sz="2200" dirty="0">
                <a:solidFill>
                  <a:schemeClr val="tx1"/>
                </a:solidFill>
                <a:latin typeface="Times New Roman" pitchFamily="18" charset="0"/>
                <a:cs typeface="Times New Roman" pitchFamily="18" charset="0"/>
              </a:rPr>
              <a:t>individual computer users and large organizations to steal sensitive or personal data that can financially compromise a business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They can also compromise the security of major systems or alter the function of websites and networks.</a:t>
            </a:r>
          </a:p>
        </p:txBody>
      </p:sp>
    </p:spTree>
    <p:extLst>
      <p:ext uri="{BB962C8B-B14F-4D97-AF65-F5344CB8AC3E}">
        <p14:creationId xmlns:p14="http://schemas.microsoft.com/office/powerpoint/2010/main" xmlns="" val="394317450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Firewall:</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firewall can be defined as a special type of network security device or a software program that monitors and filters incoming and outgoing network traffic based on a defined set of security rules.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acts as a barrier between internal private networks and external sources (such as the public Internet</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primary purpose of a firewall is to allow non-threatening traffic and prevent malicious or unwanted data traffic for protecting the computer from viruses and attacks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Firewall can be software or hardware.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Firewalls are primarily used to prevent malware and network-based </a:t>
            </a:r>
            <a:r>
              <a:rPr lang="en-US" sz="2200" dirty="0" smtClean="0">
                <a:solidFill>
                  <a:schemeClr val="tx1"/>
                </a:solidFill>
                <a:latin typeface="Times New Roman" pitchFamily="18" charset="0"/>
                <a:cs typeface="Times New Roman" pitchFamily="18" charset="0"/>
              </a:rPr>
              <a:t>attacks and blocking </a:t>
            </a:r>
            <a:r>
              <a:rPr lang="en-US" sz="2200" dirty="0">
                <a:solidFill>
                  <a:schemeClr val="tx1"/>
                </a:solidFill>
                <a:latin typeface="Times New Roman" pitchFamily="18" charset="0"/>
                <a:cs typeface="Times New Roman" pitchFamily="18" charset="0"/>
              </a:rPr>
              <a:t>application-layer attacks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If a device works without firewall, it will give open access to other networks, made device  vulnerable to malicious software.</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Face Lost or compromised data or in some times network crashes.</a:t>
            </a:r>
          </a:p>
        </p:txBody>
      </p:sp>
    </p:spTree>
    <p:extLst>
      <p:ext uri="{BB962C8B-B14F-4D97-AF65-F5344CB8AC3E}">
        <p14:creationId xmlns:p14="http://schemas.microsoft.com/office/powerpoint/2010/main" xmlns="" val="373435386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Encryption and Decryption:</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Cryptography is used to secure and protect data during communication.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a:t>
            </a:r>
            <a:r>
              <a:rPr lang="en-US" sz="2200" dirty="0">
                <a:solidFill>
                  <a:schemeClr val="tx1"/>
                </a:solidFill>
                <a:latin typeface="Times New Roman" pitchFamily="18" charset="0"/>
                <a:cs typeface="Times New Roman" pitchFamily="18" charset="0"/>
              </a:rPr>
              <a:t>is helpful to prevent unauthorized person or group of users from accessing any confidential data. </a:t>
            </a:r>
            <a:r>
              <a:rPr lang="en-US" sz="2200" dirty="0" smtClean="0">
                <a:solidFill>
                  <a:schemeClr val="tx1"/>
                </a:solidFill>
                <a:latin typeface="Times New Roman" pitchFamily="18" charset="0"/>
                <a:cs typeface="Times New Roman" pitchFamily="18" charset="0"/>
              </a:rPr>
              <a:t>Encryption </a:t>
            </a:r>
            <a:r>
              <a:rPr lang="en-US" sz="2200" dirty="0">
                <a:solidFill>
                  <a:schemeClr val="tx1"/>
                </a:solidFill>
                <a:latin typeface="Times New Roman" pitchFamily="18" charset="0"/>
                <a:cs typeface="Times New Roman" pitchFamily="18" charset="0"/>
              </a:rPr>
              <a:t>and decryption are the two essential functionalities of cryptography.</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A </a:t>
            </a:r>
            <a:r>
              <a:rPr lang="en-US" sz="2200" dirty="0">
                <a:solidFill>
                  <a:schemeClr val="tx1"/>
                </a:solidFill>
                <a:latin typeface="Times New Roman" pitchFamily="18" charset="0"/>
                <a:cs typeface="Times New Roman" pitchFamily="18" charset="0"/>
              </a:rPr>
              <a:t>message sent over the network is transformed into an unrecognizable encrypted message known as data encryption. </a:t>
            </a:r>
            <a:r>
              <a:rPr lang="en-US" sz="2200" dirty="0" smtClean="0">
                <a:solidFill>
                  <a:schemeClr val="tx1"/>
                </a:solidFill>
                <a:latin typeface="Times New Roman" pitchFamily="18" charset="0"/>
                <a:cs typeface="Times New Roman" pitchFamily="18" charset="0"/>
              </a:rPr>
              <a:t>At </a:t>
            </a:r>
            <a:r>
              <a:rPr lang="en-US" sz="2200" dirty="0">
                <a:solidFill>
                  <a:schemeClr val="tx1"/>
                </a:solidFill>
                <a:latin typeface="Times New Roman" pitchFamily="18" charset="0"/>
                <a:cs typeface="Times New Roman" pitchFamily="18" charset="0"/>
              </a:rPr>
              <a:t>the receiving end, the received message is converted to its original form known as decryption</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b="1" dirty="0" smtClean="0">
                <a:solidFill>
                  <a:schemeClr val="tx1"/>
                </a:solidFill>
                <a:latin typeface="Times New Roman" pitchFamily="18" charset="0"/>
                <a:cs typeface="Times New Roman" pitchFamily="18" charset="0"/>
              </a:rPr>
              <a:t>Encryption:</a:t>
            </a:r>
            <a:r>
              <a:rPr lang="en-IN"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Encryption is a process which transforms the original information into an unrecognizable form.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This </a:t>
            </a:r>
            <a:r>
              <a:rPr lang="en-US" sz="2200" dirty="0">
                <a:solidFill>
                  <a:schemeClr val="tx1"/>
                </a:solidFill>
                <a:latin typeface="Times New Roman" pitchFamily="18" charset="0"/>
                <a:cs typeface="Times New Roman" pitchFamily="18" charset="0"/>
              </a:rPr>
              <a:t>new form of the message is entirely different from the original message. That’s why a hacker is not able to read the data as senders use an encryption algorithm. Encryption is usually done using key algorithms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Data is encrypted to make it safe from stealing. However, many known companies also encrypt data to keep their trade secret from their competitors.</a:t>
            </a:r>
            <a:endParaRPr lang="en-IN" sz="2200" dirty="0" smtClean="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038600" y="5029200"/>
            <a:ext cx="4743450"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2222752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marL="342900" indent="-342900" algn="just">
              <a:buFont typeface="Arial" pitchFamily="34" charset="0"/>
              <a:buChar char="•"/>
            </a:pPr>
            <a:r>
              <a:rPr lang="en-IN" sz="2200" b="1" dirty="0" smtClean="0">
                <a:solidFill>
                  <a:schemeClr val="tx1"/>
                </a:solidFill>
                <a:latin typeface="Times New Roman" pitchFamily="18" charset="0"/>
                <a:cs typeface="Times New Roman" pitchFamily="18" charset="0"/>
              </a:rPr>
              <a:t>Decryption:</a:t>
            </a:r>
            <a:r>
              <a:rPr lang="en-IN"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Decryption is a process of converting encoded/encrypted data in a form that is readable and understood by a human or a computer.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This </a:t>
            </a:r>
            <a:r>
              <a:rPr lang="en-US" sz="2200" dirty="0">
                <a:solidFill>
                  <a:schemeClr val="tx1"/>
                </a:solidFill>
                <a:latin typeface="Times New Roman" pitchFamily="18" charset="0"/>
                <a:cs typeface="Times New Roman" pitchFamily="18" charset="0"/>
              </a:rPr>
              <a:t>method is performed by un-encrypting the text manually or by using keys used to encrypt the original data</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b="1" dirty="0" smtClean="0">
                <a:solidFill>
                  <a:schemeClr val="tx1"/>
                </a:solidFill>
                <a:latin typeface="Times New Roman" pitchFamily="18" charset="0"/>
                <a:cs typeface="Times New Roman" pitchFamily="18" charset="0"/>
              </a:rPr>
              <a:t>Why Encryption and Decryption:</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To </a:t>
            </a:r>
            <a:r>
              <a:rPr lang="en-US" sz="2200" dirty="0">
                <a:solidFill>
                  <a:schemeClr val="tx1"/>
                </a:solidFill>
                <a:latin typeface="Times New Roman" pitchFamily="18" charset="0"/>
                <a:cs typeface="Times New Roman" pitchFamily="18" charset="0"/>
              </a:rPr>
              <a:t>protect your confidential data such as passwords and login id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Provides confidentiality of private information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Helps you to ensure that that the document or file has not been altered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Encryption process also prevents plagiarism and protects IP</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Helpful for network communication (like the internet) and where a hacker can easily access unencrypted data.</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an essential method as it helps you to securely protect data that you don’t want anyone else to have access.</a:t>
            </a:r>
            <a:endParaRPr lang="en-IN" sz="2200" dirty="0" smtClean="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038600" y="1066800"/>
            <a:ext cx="4695825" cy="942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3852321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marL="342900" indent="-342900" algn="just">
              <a:buFont typeface="Arial" pitchFamily="34" charset="0"/>
              <a:buChar char="•"/>
            </a:pPr>
            <a:r>
              <a:rPr lang="en-IN" sz="2200" b="1" dirty="0" smtClean="0">
                <a:solidFill>
                  <a:schemeClr val="tx1"/>
                </a:solidFill>
                <a:latin typeface="Times New Roman" pitchFamily="18" charset="0"/>
                <a:cs typeface="Times New Roman" pitchFamily="18" charset="0"/>
              </a:rPr>
              <a:t>Types of keys: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Symmetric </a:t>
            </a:r>
            <a:r>
              <a:rPr lang="en-US" sz="2200" b="1" dirty="0" smtClean="0">
                <a:solidFill>
                  <a:schemeClr val="tx1"/>
                </a:solidFill>
                <a:latin typeface="Times New Roman" pitchFamily="18" charset="0"/>
                <a:cs typeface="Times New Roman" pitchFamily="18" charset="0"/>
              </a:rPr>
              <a:t>Key: </a:t>
            </a:r>
            <a:r>
              <a:rPr lang="en-US" sz="2200" dirty="0" smtClean="0">
                <a:solidFill>
                  <a:schemeClr val="tx1"/>
                </a:solidFill>
                <a:latin typeface="Times New Roman" pitchFamily="18" charset="0"/>
                <a:cs typeface="Times New Roman" pitchFamily="18" charset="0"/>
              </a:rPr>
              <a:t>Symmetric-key </a:t>
            </a:r>
            <a:r>
              <a:rPr lang="en-US" sz="2200" dirty="0">
                <a:solidFill>
                  <a:schemeClr val="tx1"/>
                </a:solidFill>
                <a:latin typeface="Times New Roman" pitchFamily="18" charset="0"/>
                <a:cs typeface="Times New Roman" pitchFamily="18" charset="0"/>
              </a:rPr>
              <a:t>encryption are algorithms which use the same cryptographic keys for both encryption of plaintext and decryption of </a:t>
            </a:r>
            <a:r>
              <a:rPr lang="en-US" sz="2200" dirty="0" err="1">
                <a:solidFill>
                  <a:schemeClr val="tx1"/>
                </a:solidFill>
                <a:latin typeface="Times New Roman" pitchFamily="18" charset="0"/>
                <a:cs typeface="Times New Roman" pitchFamily="18" charset="0"/>
              </a:rPr>
              <a:t>ciphertext</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Asymmetric Key: </a:t>
            </a:r>
            <a:r>
              <a:rPr lang="en-US" sz="2200" dirty="0" smtClean="0">
                <a:solidFill>
                  <a:schemeClr val="tx1"/>
                </a:solidFill>
                <a:latin typeface="Times New Roman" pitchFamily="18" charset="0"/>
                <a:cs typeface="Times New Roman" pitchFamily="18" charset="0"/>
              </a:rPr>
              <a:t>Asymmetric </a:t>
            </a:r>
            <a:r>
              <a:rPr lang="en-US" sz="2200" dirty="0">
                <a:solidFill>
                  <a:schemeClr val="tx1"/>
                </a:solidFill>
                <a:latin typeface="Times New Roman" pitchFamily="18" charset="0"/>
                <a:cs typeface="Times New Roman" pitchFamily="18" charset="0"/>
              </a:rPr>
              <a:t>encryption uses 2 pairs of key for encryption. Public key is available to anyone while the secret key is only made available to the receiver of the message. This boots security.</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Public Key: </a:t>
            </a:r>
            <a:r>
              <a:rPr lang="en-US" sz="2200" dirty="0" smtClean="0">
                <a:solidFill>
                  <a:schemeClr val="tx1"/>
                </a:solidFill>
                <a:latin typeface="Times New Roman" pitchFamily="18" charset="0"/>
                <a:cs typeface="Times New Roman" pitchFamily="18" charset="0"/>
              </a:rPr>
              <a:t>Public </a:t>
            </a:r>
            <a:r>
              <a:rPr lang="en-US" sz="2200" dirty="0">
                <a:solidFill>
                  <a:schemeClr val="tx1"/>
                </a:solidFill>
                <a:latin typeface="Times New Roman" pitchFamily="18" charset="0"/>
                <a:cs typeface="Times New Roman" pitchFamily="18" charset="0"/>
              </a:rPr>
              <a:t>key cryptography is an encryption system which is based on two pairs of keys. Public keys are used to encrypt messages for a receiver.</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Private Key: </a:t>
            </a:r>
            <a:r>
              <a:rPr lang="en-US" sz="2200" dirty="0" smtClean="0">
                <a:solidFill>
                  <a:schemeClr val="tx1"/>
                </a:solidFill>
                <a:latin typeface="Times New Roman" pitchFamily="18" charset="0"/>
                <a:cs typeface="Times New Roman" pitchFamily="18" charset="0"/>
              </a:rPr>
              <a:t>Private </a:t>
            </a:r>
            <a:r>
              <a:rPr lang="en-US" sz="2200" dirty="0">
                <a:solidFill>
                  <a:schemeClr val="tx1"/>
                </a:solidFill>
                <a:latin typeface="Times New Roman" pitchFamily="18" charset="0"/>
                <a:cs typeface="Times New Roman" pitchFamily="18" charset="0"/>
              </a:rPr>
              <a:t>key may be part of a public/ private asymmetric key pair. It can be used in asymmetric encryption as you can use the same key to encrypt and decrypt data.</a:t>
            </a:r>
          </a:p>
          <a:p>
            <a:pPr marL="342900" indent="-342900" algn="just">
              <a:buFont typeface="Arial" pitchFamily="34" charset="0"/>
              <a:buChar char="•"/>
            </a:pPr>
            <a:r>
              <a:rPr lang="en-US" sz="2200" b="1" dirty="0" smtClean="0">
                <a:solidFill>
                  <a:schemeClr val="tx1"/>
                </a:solidFill>
                <a:latin typeface="Times New Roman" pitchFamily="18" charset="0"/>
                <a:cs typeface="Times New Roman" pitchFamily="18" charset="0"/>
              </a:rPr>
              <a:t>Pre-Shared Key: </a:t>
            </a:r>
            <a:r>
              <a:rPr lang="en-US" sz="2200" dirty="0" smtClean="0">
                <a:solidFill>
                  <a:schemeClr val="tx1"/>
                </a:solidFill>
                <a:latin typeface="Times New Roman" pitchFamily="18" charset="0"/>
                <a:cs typeface="Times New Roman" pitchFamily="18" charset="0"/>
              </a:rPr>
              <a:t>In </a:t>
            </a:r>
            <a:r>
              <a:rPr lang="en-US" sz="2200" dirty="0">
                <a:solidFill>
                  <a:schemeClr val="tx1"/>
                </a:solidFill>
                <a:latin typeface="Times New Roman" pitchFamily="18" charset="0"/>
                <a:cs typeface="Times New Roman" pitchFamily="18" charset="0"/>
              </a:rPr>
              <a:t>cryptography, a pre-shared key (PSK) is a shared secret which was earlier shared between the two parties using a secure channel before it is used</a:t>
            </a:r>
            <a:r>
              <a:rPr lang="en-US" sz="2200" dirty="0" smtClean="0">
                <a:solidFill>
                  <a:schemeClr val="tx1"/>
                </a:solidFill>
                <a:latin typeface="Times New Roman" pitchFamily="18" charset="0"/>
                <a:cs typeface="Times New Roman" pitchFamily="18" charset="0"/>
              </a:rPr>
              <a:t>.</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5339964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xmlns="" val="345993320"/>
              </p:ext>
            </p:extLst>
          </p:nvPr>
        </p:nvGraphicFramePr>
        <p:xfrm>
          <a:off x="152400" y="609601"/>
          <a:ext cx="8991600" cy="5663751"/>
        </p:xfrm>
        <a:graphic>
          <a:graphicData uri="http://schemas.openxmlformats.org/drawingml/2006/table">
            <a:tbl>
              <a:tblPr/>
              <a:tblGrid>
                <a:gridCol w="1447800"/>
                <a:gridCol w="3886200"/>
                <a:gridCol w="3657600"/>
              </a:tblGrid>
              <a:tr h="360440">
                <a:tc>
                  <a:txBody>
                    <a:bodyPr/>
                    <a:lstStyle/>
                    <a:p>
                      <a:pPr algn="l"/>
                      <a:r>
                        <a:rPr lang="en-US" sz="2200" b="1" dirty="0">
                          <a:effectLst/>
                          <a:latin typeface="Times New Roman" pitchFamily="18" charset="0"/>
                          <a:cs typeface="Times New Roman" pitchFamily="18" charset="0"/>
                        </a:rPr>
                        <a:t>Parameter</a:t>
                      </a:r>
                    </a:p>
                  </a:txBody>
                  <a:tcPr marL="48149" marR="48149" marT="24074" marB="24074"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sz="2200" b="1">
                          <a:effectLst/>
                          <a:latin typeface="Times New Roman" pitchFamily="18" charset="0"/>
                          <a:cs typeface="Times New Roman" pitchFamily="18" charset="0"/>
                        </a:rPr>
                        <a:t>Encryption</a:t>
                      </a:r>
                    </a:p>
                  </a:txBody>
                  <a:tcPr marL="48149" marR="48149" marT="24074" marB="24074"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sz="2200" b="1" dirty="0">
                          <a:effectLst/>
                          <a:latin typeface="Times New Roman" pitchFamily="18" charset="0"/>
                          <a:cs typeface="Times New Roman" pitchFamily="18" charset="0"/>
                        </a:rPr>
                        <a:t>Decryption</a:t>
                      </a:r>
                    </a:p>
                  </a:txBody>
                  <a:tcPr marL="48149" marR="48149" marT="24074" marB="24074"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r>
              <a:tr h="1064371">
                <a:tc>
                  <a:txBody>
                    <a:bodyPr/>
                    <a:lstStyle/>
                    <a:p>
                      <a:r>
                        <a:rPr lang="en-US" sz="2200" dirty="0">
                          <a:effectLst/>
                          <a:latin typeface="Times New Roman" pitchFamily="18" charset="0"/>
                          <a:cs typeface="Times New Roman" pitchFamily="18" charset="0"/>
                        </a:rPr>
                        <a:t>What is</a:t>
                      </a:r>
                    </a:p>
                  </a:txBody>
                  <a:tcPr marL="48149" marR="48149" marT="24074" marB="24074">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200" dirty="0">
                          <a:effectLst/>
                          <a:latin typeface="Times New Roman" pitchFamily="18" charset="0"/>
                          <a:cs typeface="Times New Roman" pitchFamily="18" charset="0"/>
                        </a:rPr>
                        <a:t>It is a process of converting normal data into an unreadable form. </a:t>
                      </a:r>
                    </a:p>
                  </a:txBody>
                  <a:tcPr marL="48149" marR="48149" marT="24074" marB="24074">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200" dirty="0">
                          <a:effectLst/>
                          <a:latin typeface="Times New Roman" pitchFamily="18" charset="0"/>
                          <a:cs typeface="Times New Roman" pitchFamily="18" charset="0"/>
                        </a:rPr>
                        <a:t>It is a method of converting the unreadable/coded data into its original form.</a:t>
                      </a:r>
                    </a:p>
                  </a:txBody>
                  <a:tcPr marL="48149" marR="48149" marT="24074" marB="24074">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1305975">
                <a:tc>
                  <a:txBody>
                    <a:bodyPr/>
                    <a:lstStyle/>
                    <a:p>
                      <a:r>
                        <a:rPr lang="en-US" sz="2200">
                          <a:effectLst/>
                          <a:latin typeface="Times New Roman" pitchFamily="18" charset="0"/>
                          <a:cs typeface="Times New Roman" pitchFamily="18" charset="0"/>
                        </a:rPr>
                        <a:t>Process</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200" dirty="0">
                          <a:effectLst/>
                          <a:latin typeface="Times New Roman" pitchFamily="18" charset="0"/>
                          <a:cs typeface="Times New Roman" pitchFamily="18" charset="0"/>
                        </a:rPr>
                        <a:t>Whenever the data is sent between two separate machines, it is encrypted automatically using a secret key.</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200">
                          <a:effectLst/>
                          <a:latin typeface="Times New Roman" pitchFamily="18" charset="0"/>
                          <a:cs typeface="Times New Roman" pitchFamily="18" charset="0"/>
                        </a:rPr>
                        <a:t>The receiver of the data automatically allows you to convert the data from the codes into its original form.</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675618">
                <a:tc>
                  <a:txBody>
                    <a:bodyPr/>
                    <a:lstStyle/>
                    <a:p>
                      <a:r>
                        <a:rPr lang="en-US" sz="2200">
                          <a:effectLst/>
                          <a:latin typeface="Times New Roman" pitchFamily="18" charset="0"/>
                          <a:cs typeface="Times New Roman" pitchFamily="18" charset="0"/>
                        </a:rPr>
                        <a:t>Location of Conversion</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200" dirty="0">
                          <a:effectLst/>
                          <a:latin typeface="Times New Roman" pitchFamily="18" charset="0"/>
                          <a:cs typeface="Times New Roman" pitchFamily="18" charset="0"/>
                        </a:rPr>
                        <a:t>The person who is sending the data to the destination.</a:t>
                      </a:r>
                    </a:p>
                  </a:txBody>
                  <a:tcPr marL="48149" marR="48149" marT="24074" marB="24074">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200" dirty="0">
                          <a:effectLst/>
                          <a:latin typeface="Times New Roman" pitchFamily="18" charset="0"/>
                          <a:cs typeface="Times New Roman" pitchFamily="18" charset="0"/>
                        </a:rPr>
                        <a:t>The receiver receives the data and converts it.</a:t>
                      </a:r>
                    </a:p>
                  </a:txBody>
                  <a:tcPr marL="48149" marR="48149" marT="24074" marB="24074">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990797">
                <a:tc>
                  <a:txBody>
                    <a:bodyPr/>
                    <a:lstStyle/>
                    <a:p>
                      <a:r>
                        <a:rPr lang="en-US" sz="2200">
                          <a:effectLst/>
                          <a:latin typeface="Times New Roman" pitchFamily="18" charset="0"/>
                          <a:cs typeface="Times New Roman" pitchFamily="18" charset="0"/>
                        </a:rPr>
                        <a:t>Example</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200">
                          <a:effectLst/>
                          <a:latin typeface="Times New Roman" pitchFamily="18" charset="0"/>
                          <a:cs typeface="Times New Roman" pitchFamily="18" charset="0"/>
                        </a:rPr>
                        <a:t>An employee is sending essential documents to his/her manager.</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200">
                          <a:effectLst/>
                          <a:latin typeface="Times New Roman" pitchFamily="18" charset="0"/>
                          <a:cs typeface="Times New Roman" pitchFamily="18" charset="0"/>
                        </a:rPr>
                        <a:t>The manager is receiving the essential documents from his/her employee.</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1029036">
                <a:tc>
                  <a:txBody>
                    <a:bodyPr/>
                    <a:lstStyle/>
                    <a:p>
                      <a:r>
                        <a:rPr lang="en-US" sz="2200">
                          <a:effectLst/>
                          <a:latin typeface="Times New Roman" pitchFamily="18" charset="0"/>
                          <a:cs typeface="Times New Roman" pitchFamily="18" charset="0"/>
                        </a:rPr>
                        <a:t>Use of Algorithm</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200" dirty="0">
                          <a:effectLst/>
                          <a:latin typeface="Times New Roman" pitchFamily="18" charset="0"/>
                          <a:cs typeface="Times New Roman" pitchFamily="18" charset="0"/>
                        </a:rPr>
                        <a:t>The same algorithm with the same key is used for the encryption-decryption process.</a:t>
                      </a: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200" dirty="0" smtClean="0">
                          <a:effectLst/>
                          <a:latin typeface="Times New Roman" pitchFamily="18" charset="0"/>
                          <a:cs typeface="Times New Roman" pitchFamily="18" charset="0"/>
                        </a:rPr>
                        <a:t>Pair of keys for</a:t>
                      </a:r>
                      <a:r>
                        <a:rPr lang="en-US" sz="2200" baseline="0" dirty="0" smtClean="0">
                          <a:effectLst/>
                          <a:latin typeface="Times New Roman" pitchFamily="18" charset="0"/>
                          <a:cs typeface="Times New Roman" pitchFamily="18" charset="0"/>
                        </a:rPr>
                        <a:t> encryption and decryption</a:t>
                      </a:r>
                      <a:endParaRPr lang="en-US" sz="2200" dirty="0">
                        <a:effectLst/>
                        <a:latin typeface="Times New Roman" pitchFamily="18" charset="0"/>
                        <a:cs typeface="Times New Roman" pitchFamily="18" charset="0"/>
                      </a:endParaRPr>
                    </a:p>
                  </a:txBody>
                  <a:tcPr marL="48149" marR="48149" marT="24074" marB="2407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bl>
          </a:graphicData>
        </a:graphic>
      </p:graphicFrame>
    </p:spTree>
    <p:extLst>
      <p:ext uri="{BB962C8B-B14F-4D97-AF65-F5344CB8AC3E}">
        <p14:creationId xmlns:p14="http://schemas.microsoft.com/office/powerpoint/2010/main" xmlns="" val="38480184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IN" sz="2200" b="1" dirty="0" smtClean="0">
                <a:solidFill>
                  <a:schemeClr val="tx1"/>
                </a:solidFill>
                <a:latin typeface="Times New Roman" pitchFamily="18" charset="0"/>
                <a:cs typeface="Times New Roman" pitchFamily="18" charset="0"/>
              </a:rPr>
              <a:t>Penetration testing:</a:t>
            </a:r>
            <a:endParaRPr lang="en-US" sz="2200" b="1"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penetration test, also known as a pen test, is a simulated cyber attack against your computer system to check for exploitable vulnerabilities. </a:t>
            </a:r>
            <a:endParaRPr lang="en-US" sz="2200" dirty="0" smtClean="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In </a:t>
            </a:r>
            <a:r>
              <a:rPr lang="en-US" sz="2200" dirty="0">
                <a:solidFill>
                  <a:schemeClr val="tx1"/>
                </a:solidFill>
                <a:latin typeface="Times New Roman" pitchFamily="18" charset="0"/>
                <a:cs typeface="Times New Roman" pitchFamily="18" charset="0"/>
              </a:rPr>
              <a:t>the context of web application security, penetration testing is commonly used to augment a web application firewall (WAF</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It can </a:t>
            </a:r>
            <a:r>
              <a:rPr lang="en-US" sz="2200" dirty="0">
                <a:solidFill>
                  <a:schemeClr val="tx1"/>
                </a:solidFill>
                <a:latin typeface="Times New Roman" pitchFamily="18" charset="0"/>
                <a:cs typeface="Times New Roman" pitchFamily="18" charset="0"/>
              </a:rPr>
              <a:t>involve the attempted breaching of any number of application systems, (e.g., application protocol interfaces (APIs), frontend/backend servers) to uncover vulnerabilities, such as </a:t>
            </a:r>
            <a:r>
              <a:rPr lang="en-US" sz="2200" dirty="0" err="1">
                <a:solidFill>
                  <a:schemeClr val="tx1"/>
                </a:solidFill>
                <a:latin typeface="Times New Roman" pitchFamily="18" charset="0"/>
                <a:cs typeface="Times New Roman" pitchFamily="18" charset="0"/>
              </a:rPr>
              <a:t>unsanitized</a:t>
            </a:r>
            <a:r>
              <a:rPr lang="en-US" sz="2200" dirty="0">
                <a:solidFill>
                  <a:schemeClr val="tx1"/>
                </a:solidFill>
                <a:latin typeface="Times New Roman" pitchFamily="18" charset="0"/>
                <a:cs typeface="Times New Roman" pitchFamily="18" charset="0"/>
              </a:rPr>
              <a:t> inputs that are susceptible to code injection </a:t>
            </a:r>
            <a:r>
              <a:rPr lang="en-US" sz="2200" dirty="0" smtClean="0">
                <a:solidFill>
                  <a:schemeClr val="tx1"/>
                </a:solidFill>
                <a:latin typeface="Times New Roman" pitchFamily="18" charset="0"/>
                <a:cs typeface="Times New Roman" pitchFamily="18" charset="0"/>
              </a:rPr>
              <a:t>attacks.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Insights provided by the penetration test can be used to fine-tune your WAF security policies and patch detected vulnerabilities</a:t>
            </a:r>
            <a:r>
              <a:rPr lang="en-US" sz="2200" dirty="0" smtClean="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smtClean="0">
                <a:solidFill>
                  <a:schemeClr val="tx1"/>
                </a:solidFill>
                <a:latin typeface="Times New Roman" pitchFamily="18" charset="0"/>
                <a:cs typeface="Times New Roman" pitchFamily="18" charset="0"/>
              </a:rPr>
              <a:t>There are 5 stages in penetration testing:</a:t>
            </a:r>
          </a:p>
          <a:p>
            <a:pPr algn="just"/>
            <a:r>
              <a:rPr lang="en-US" sz="2200" b="1" dirty="0">
                <a:solidFill>
                  <a:schemeClr val="tx1"/>
                </a:solidFill>
                <a:latin typeface="Times New Roman" pitchFamily="18" charset="0"/>
                <a:cs typeface="Times New Roman" pitchFamily="18" charset="0"/>
              </a:rPr>
              <a:t>1. Planning and </a:t>
            </a:r>
            <a:r>
              <a:rPr lang="en-US" sz="2200" b="1" dirty="0" smtClean="0">
                <a:solidFill>
                  <a:schemeClr val="tx1"/>
                </a:solidFill>
                <a:latin typeface="Times New Roman" pitchFamily="18" charset="0"/>
                <a:cs typeface="Times New Roman" pitchFamily="18" charset="0"/>
              </a:rPr>
              <a:t>reconnaissance: </a:t>
            </a:r>
            <a:r>
              <a:rPr lang="en-US" sz="2200" dirty="0" smtClean="0">
                <a:solidFill>
                  <a:schemeClr val="tx1"/>
                </a:solidFill>
                <a:latin typeface="Times New Roman" pitchFamily="18" charset="0"/>
                <a:cs typeface="Times New Roman" pitchFamily="18" charset="0"/>
              </a:rPr>
              <a:t>Defining </a:t>
            </a:r>
            <a:r>
              <a:rPr lang="en-US" sz="2200" dirty="0">
                <a:solidFill>
                  <a:schemeClr val="tx1"/>
                </a:solidFill>
                <a:latin typeface="Times New Roman" pitchFamily="18" charset="0"/>
                <a:cs typeface="Times New Roman" pitchFamily="18" charset="0"/>
              </a:rPr>
              <a:t>the scope and goals of a test, including the systems to be addressed and the testing methods to be used.</a:t>
            </a:r>
          </a:p>
          <a:p>
            <a:pPr algn="just"/>
            <a:r>
              <a:rPr lang="en-US" sz="2200" dirty="0">
                <a:solidFill>
                  <a:schemeClr val="tx1"/>
                </a:solidFill>
                <a:latin typeface="Times New Roman" pitchFamily="18" charset="0"/>
                <a:cs typeface="Times New Roman" pitchFamily="18" charset="0"/>
              </a:rPr>
              <a:t>Gathering intelligence (e.g., network and domain names, mail server) to better understand how a target works and its potential vulnerabilities.</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14809297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US" sz="2200" b="1" dirty="0">
                <a:solidFill>
                  <a:schemeClr val="tx1"/>
                </a:solidFill>
                <a:latin typeface="Times New Roman" pitchFamily="18" charset="0"/>
                <a:cs typeface="Times New Roman" pitchFamily="18" charset="0"/>
              </a:rPr>
              <a:t>2. </a:t>
            </a:r>
            <a:r>
              <a:rPr lang="en-US" sz="2200" b="1" dirty="0" smtClean="0">
                <a:solidFill>
                  <a:schemeClr val="tx1"/>
                </a:solidFill>
                <a:latin typeface="Times New Roman" pitchFamily="18" charset="0"/>
                <a:cs typeface="Times New Roman" pitchFamily="18" charset="0"/>
              </a:rPr>
              <a:t>Scanning:</a:t>
            </a:r>
            <a:r>
              <a:rPr lang="en-US" sz="2200" dirty="0" smtClean="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is to understand how the target application will respond to various intrusion attempts. This is typically done using:</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Static analysis: </a:t>
            </a:r>
            <a:r>
              <a:rPr lang="en-US" sz="2200" dirty="0">
                <a:solidFill>
                  <a:schemeClr val="tx1"/>
                </a:solidFill>
                <a:latin typeface="Times New Roman" pitchFamily="18" charset="0"/>
                <a:cs typeface="Times New Roman" pitchFamily="18" charset="0"/>
              </a:rPr>
              <a:t>Inspecting an application’s code to estimate the way it behaves while </a:t>
            </a:r>
            <a:r>
              <a:rPr lang="en-US" sz="2200" dirty="0" smtClean="0">
                <a:solidFill>
                  <a:schemeClr val="tx1"/>
                </a:solidFill>
                <a:latin typeface="Times New Roman" pitchFamily="18" charset="0"/>
                <a:cs typeface="Times New Roman" pitchFamily="18" charset="0"/>
              </a:rPr>
              <a:t>running, can </a:t>
            </a:r>
            <a:r>
              <a:rPr lang="en-US" sz="2200" dirty="0">
                <a:solidFill>
                  <a:schemeClr val="tx1"/>
                </a:solidFill>
                <a:latin typeface="Times New Roman" pitchFamily="18" charset="0"/>
                <a:cs typeface="Times New Roman" pitchFamily="18" charset="0"/>
              </a:rPr>
              <a:t>scan the entirety of the code in a single pass.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Dynamic analysis – Inspecting an application’s code in a running state. This is a more practical way of scanning, as it provides a real-time view into an application’s performance</a:t>
            </a:r>
            <a:r>
              <a:rPr lang="en-US" sz="2200" dirty="0" smtClean="0">
                <a:solidFill>
                  <a:schemeClr val="tx1"/>
                </a:solidFill>
                <a:latin typeface="Times New Roman" pitchFamily="18" charset="0"/>
                <a:cs typeface="Times New Roman" pitchFamily="18" charset="0"/>
              </a:rPr>
              <a:t>.</a:t>
            </a:r>
          </a:p>
          <a:p>
            <a:pPr algn="just"/>
            <a:r>
              <a:rPr lang="en-US" sz="2200" b="1" dirty="0">
                <a:solidFill>
                  <a:schemeClr val="tx1"/>
                </a:solidFill>
                <a:latin typeface="Times New Roman" pitchFamily="18" charset="0"/>
                <a:cs typeface="Times New Roman" pitchFamily="18" charset="0"/>
              </a:rPr>
              <a:t>3. Gaining </a:t>
            </a:r>
            <a:r>
              <a:rPr lang="en-US" sz="2200" b="1" dirty="0" smtClean="0">
                <a:solidFill>
                  <a:schemeClr val="tx1"/>
                </a:solidFill>
                <a:latin typeface="Times New Roman" pitchFamily="18" charset="0"/>
                <a:cs typeface="Times New Roman" pitchFamily="18" charset="0"/>
              </a:rPr>
              <a:t>Access: </a:t>
            </a:r>
            <a:r>
              <a:rPr lang="en-US" sz="2200" dirty="0" smtClean="0">
                <a:solidFill>
                  <a:schemeClr val="tx1"/>
                </a:solidFill>
                <a:latin typeface="Times New Roman" pitchFamily="18" charset="0"/>
                <a:cs typeface="Times New Roman" pitchFamily="18" charset="0"/>
              </a:rPr>
              <a:t>This </a:t>
            </a:r>
            <a:r>
              <a:rPr lang="en-US" sz="2200" dirty="0">
                <a:solidFill>
                  <a:schemeClr val="tx1"/>
                </a:solidFill>
                <a:latin typeface="Times New Roman" pitchFamily="18" charset="0"/>
                <a:cs typeface="Times New Roman" pitchFamily="18" charset="0"/>
              </a:rPr>
              <a:t>stage uses web application attacks, such as cross-site scripting, SQL injection and backdoors, to uncover a target’s vulnerabilities. Testers </a:t>
            </a:r>
            <a:r>
              <a:rPr lang="en-US" sz="2200" dirty="0" smtClean="0">
                <a:solidFill>
                  <a:schemeClr val="tx1"/>
                </a:solidFill>
                <a:latin typeface="Times New Roman" pitchFamily="18" charset="0"/>
                <a:cs typeface="Times New Roman" pitchFamily="18" charset="0"/>
              </a:rPr>
              <a:t>exploit </a:t>
            </a:r>
            <a:r>
              <a:rPr lang="en-US" sz="2200" dirty="0">
                <a:solidFill>
                  <a:schemeClr val="tx1"/>
                </a:solidFill>
                <a:latin typeface="Times New Roman" pitchFamily="18" charset="0"/>
                <a:cs typeface="Times New Roman" pitchFamily="18" charset="0"/>
              </a:rPr>
              <a:t>these vulnerabilities, typically by escalating privileges, stealing data, intercepting </a:t>
            </a:r>
            <a:r>
              <a:rPr lang="en-US" sz="2200" dirty="0" smtClean="0">
                <a:solidFill>
                  <a:schemeClr val="tx1"/>
                </a:solidFill>
                <a:latin typeface="Times New Roman" pitchFamily="18" charset="0"/>
                <a:cs typeface="Times New Roman" pitchFamily="18" charset="0"/>
              </a:rPr>
              <a:t>traffic </a:t>
            </a:r>
            <a:r>
              <a:rPr lang="en-US" sz="2200" dirty="0">
                <a:solidFill>
                  <a:schemeClr val="tx1"/>
                </a:solidFill>
                <a:latin typeface="Times New Roman" pitchFamily="18" charset="0"/>
                <a:cs typeface="Times New Roman" pitchFamily="18" charset="0"/>
              </a:rPr>
              <a:t>etc., to understand the </a:t>
            </a:r>
            <a:r>
              <a:rPr lang="en-US" sz="2200" dirty="0" smtClean="0">
                <a:solidFill>
                  <a:schemeClr val="tx1"/>
                </a:solidFill>
                <a:latin typeface="Times New Roman" pitchFamily="18" charset="0"/>
                <a:cs typeface="Times New Roman" pitchFamily="18" charset="0"/>
              </a:rPr>
              <a:t>damage.</a:t>
            </a:r>
          </a:p>
          <a:p>
            <a:pPr algn="just"/>
            <a:r>
              <a:rPr lang="en-US" sz="2200" b="1" dirty="0">
                <a:solidFill>
                  <a:schemeClr val="tx1"/>
                </a:solidFill>
                <a:latin typeface="Times New Roman" pitchFamily="18" charset="0"/>
                <a:cs typeface="Times New Roman" pitchFamily="18" charset="0"/>
              </a:rPr>
              <a:t>4. Maintaining </a:t>
            </a:r>
            <a:r>
              <a:rPr lang="en-US" sz="2200" b="1" dirty="0" smtClean="0">
                <a:solidFill>
                  <a:schemeClr val="tx1"/>
                </a:solidFill>
                <a:latin typeface="Times New Roman" pitchFamily="18" charset="0"/>
                <a:cs typeface="Times New Roman" pitchFamily="18" charset="0"/>
              </a:rPr>
              <a:t>access:</a:t>
            </a:r>
            <a:r>
              <a:rPr lang="en-US" sz="2200" dirty="0" smtClean="0">
                <a:solidFill>
                  <a:schemeClr val="tx1"/>
                </a:solidFill>
                <a:latin typeface="Times New Roman" pitchFamily="18" charset="0"/>
                <a:cs typeface="Times New Roman" pitchFamily="18" charset="0"/>
              </a:rPr>
              <a:t> The </a:t>
            </a:r>
            <a:r>
              <a:rPr lang="en-US" sz="2200" dirty="0">
                <a:solidFill>
                  <a:schemeClr val="tx1"/>
                </a:solidFill>
                <a:latin typeface="Times New Roman" pitchFamily="18" charset="0"/>
                <a:cs typeface="Times New Roman" pitchFamily="18" charset="0"/>
              </a:rPr>
              <a:t>goal of this stage is to see if the vulnerability can be used to achieve a persistent presence in the exploited system— long enough for a bad actor to gain in-depth access. The idea is to imitate advanced persistent threats, which often remain in a system for months in order to steal an organization’s most sensitive data.</a:t>
            </a:r>
            <a:endParaRPr lang="en-IN" sz="2200"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95134240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Web Security terminology</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610600" cy="5638800"/>
          </a:xfrm>
        </p:spPr>
        <p:txBody>
          <a:bodyPr>
            <a:noAutofit/>
          </a:bodyPr>
          <a:lstStyle/>
          <a:p>
            <a:pPr algn="just"/>
            <a:r>
              <a:rPr lang="en-US" sz="2200" b="1" dirty="0">
                <a:solidFill>
                  <a:schemeClr val="tx1"/>
                </a:solidFill>
                <a:latin typeface="Times New Roman" pitchFamily="18" charset="0"/>
                <a:cs typeface="Times New Roman" pitchFamily="18" charset="0"/>
              </a:rPr>
              <a:t>5. </a:t>
            </a:r>
            <a:r>
              <a:rPr lang="en-US" sz="2200" b="1" dirty="0" smtClean="0">
                <a:solidFill>
                  <a:schemeClr val="tx1"/>
                </a:solidFill>
                <a:latin typeface="Times New Roman" pitchFamily="18" charset="0"/>
                <a:cs typeface="Times New Roman" pitchFamily="18" charset="0"/>
              </a:rPr>
              <a:t>Analysis: </a:t>
            </a:r>
            <a:r>
              <a:rPr lang="en-US" sz="2200" dirty="0" smtClean="0">
                <a:solidFill>
                  <a:schemeClr val="tx1"/>
                </a:solidFill>
                <a:latin typeface="Times New Roman" pitchFamily="18" charset="0"/>
                <a:cs typeface="Times New Roman" pitchFamily="18" charset="0"/>
              </a:rPr>
              <a:t>The </a:t>
            </a:r>
            <a:r>
              <a:rPr lang="en-US" sz="2200" dirty="0">
                <a:solidFill>
                  <a:schemeClr val="tx1"/>
                </a:solidFill>
                <a:latin typeface="Times New Roman" pitchFamily="18" charset="0"/>
                <a:cs typeface="Times New Roman" pitchFamily="18" charset="0"/>
              </a:rPr>
              <a:t>results </a:t>
            </a:r>
            <a:r>
              <a:rPr lang="en-US" sz="2200" dirty="0" smtClean="0">
                <a:solidFill>
                  <a:schemeClr val="tx1"/>
                </a:solidFill>
                <a:latin typeface="Times New Roman" pitchFamily="18" charset="0"/>
                <a:cs typeface="Times New Roman" pitchFamily="18" charset="0"/>
              </a:rPr>
              <a:t>compiled </a:t>
            </a:r>
            <a:r>
              <a:rPr lang="en-US" sz="2200" dirty="0">
                <a:solidFill>
                  <a:schemeClr val="tx1"/>
                </a:solidFill>
                <a:latin typeface="Times New Roman" pitchFamily="18" charset="0"/>
                <a:cs typeface="Times New Roman" pitchFamily="18" charset="0"/>
              </a:rPr>
              <a:t>into a report detailing:</a:t>
            </a:r>
          </a:p>
          <a:p>
            <a:pPr marL="342900" indent="-342900" algn="just">
              <a:buFont typeface="Arial" pitchFamily="34" charset="0"/>
              <a:buChar char="•"/>
            </a:pPr>
            <a:r>
              <a:rPr lang="en-US" sz="2200" dirty="0" smtClean="0">
                <a:solidFill>
                  <a:schemeClr val="tx1"/>
                </a:solidFill>
                <a:latin typeface="Times New Roman" pitchFamily="18" charset="0"/>
                <a:cs typeface="Times New Roman" pitchFamily="18" charset="0"/>
              </a:rPr>
              <a:t>Specific </a:t>
            </a:r>
            <a:r>
              <a:rPr lang="en-US" sz="2200" dirty="0">
                <a:solidFill>
                  <a:schemeClr val="tx1"/>
                </a:solidFill>
                <a:latin typeface="Times New Roman" pitchFamily="18" charset="0"/>
                <a:cs typeface="Times New Roman" pitchFamily="18" charset="0"/>
              </a:rPr>
              <a:t>vulnerabilities that were exploited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Sensitive data that was accessed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amount of time the pen tester was able to remain in the system </a:t>
            </a:r>
            <a:r>
              <a:rPr lang="en-US" sz="2200" dirty="0" smtClean="0">
                <a:solidFill>
                  <a:schemeClr val="tx1"/>
                </a:solidFill>
                <a:latin typeface="Times New Roman" pitchFamily="18" charset="0"/>
                <a:cs typeface="Times New Roman" pitchFamily="18" charset="0"/>
              </a:rPr>
              <a:t>undetected</a:t>
            </a:r>
          </a:p>
        </p:txBody>
      </p:sp>
    </p:spTree>
    <p:extLst>
      <p:ext uri="{BB962C8B-B14F-4D97-AF65-F5344CB8AC3E}">
        <p14:creationId xmlns:p14="http://schemas.microsoft.com/office/powerpoint/2010/main" xmlns="" val="13392103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3303</TotalTime>
  <Words>8126</Words>
  <Application>Microsoft Office PowerPoint</Application>
  <PresentationFormat>On-screen Show (4:3)</PresentationFormat>
  <Paragraphs>458</Paragraphs>
  <Slides>61</Slides>
  <Notes>1</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  Department of Computer Science &amp; Engineering   </vt:lpstr>
      <vt:lpstr>Unit 2- Internet</vt:lpstr>
      <vt:lpstr>History of Internet</vt:lpstr>
      <vt:lpstr>History of Internet</vt:lpstr>
      <vt:lpstr>Internet Protocol (IP) Address</vt:lpstr>
      <vt:lpstr>Internet Protocol (IP) Address</vt:lpstr>
      <vt:lpstr>Internet Protocol (IP) Address</vt:lpstr>
      <vt:lpstr>Types of Internet Protocol (IP) Address</vt:lpstr>
      <vt:lpstr>Types of Internet Protocol (IP) Address</vt:lpstr>
      <vt:lpstr>Types of Internet Protocol (IP) Address</vt:lpstr>
      <vt:lpstr>Domain Name System (DNS)</vt:lpstr>
      <vt:lpstr>Domain Name System (DNS)</vt:lpstr>
      <vt:lpstr>Domain Name System (DNS)</vt:lpstr>
      <vt:lpstr>Domain Name System (DNS)</vt:lpstr>
      <vt:lpstr>Uniform Resource Locator (URL)</vt:lpstr>
      <vt:lpstr>Uniform Resource Locator (URL)</vt:lpstr>
      <vt:lpstr>Uniform Resource Locator (URL)</vt:lpstr>
      <vt:lpstr>Uniform Resource Locator (URL)</vt:lpstr>
      <vt:lpstr>Chapter 2- Internet</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Internet Services</vt:lpstr>
      <vt:lpstr>Chapter 2- Internet</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lpstr>Web Security terminology</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Computer Technologies MR22-1ES0104 L-2, P-2, C-3</dc:title>
  <dc:creator>Gopi Tilak</dc:creator>
  <cp:lastModifiedBy>Vikram Kalvala</cp:lastModifiedBy>
  <cp:revision>122</cp:revision>
  <dcterms:created xsi:type="dcterms:W3CDTF">2006-08-16T00:00:00Z</dcterms:created>
  <dcterms:modified xsi:type="dcterms:W3CDTF">2023-04-20T08:19:28Z</dcterms:modified>
</cp:coreProperties>
</file>