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7" r:id="rId2"/>
    <p:sldId id="284" r:id="rId3"/>
    <p:sldId id="285" r:id="rId4"/>
    <p:sldId id="286" r:id="rId5"/>
    <p:sldId id="287" r:id="rId6"/>
    <p:sldId id="288" r:id="rId7"/>
    <p:sldId id="289" r:id="rId8"/>
    <p:sldId id="290" r:id="rId9"/>
    <p:sldId id="291" r:id="rId10"/>
    <p:sldId id="292" r:id="rId11"/>
    <p:sldId id="293" r:id="rId12"/>
    <p:sldId id="294" r:id="rId13"/>
    <p:sldId id="295" r:id="rId14"/>
    <p:sldId id="283" r:id="rId15"/>
    <p:sldId id="296" r:id="rId16"/>
    <p:sldId id="297" r:id="rId17"/>
    <p:sldId id="298" r:id="rId18"/>
    <p:sldId id="299" r:id="rId19"/>
    <p:sldId id="300" r:id="rId20"/>
    <p:sldId id="301" r:id="rId21"/>
    <p:sldId id="328" r:id="rId22"/>
    <p:sldId id="352" r:id="rId23"/>
    <p:sldId id="354" r:id="rId24"/>
    <p:sldId id="355" r:id="rId25"/>
    <p:sldId id="356" r:id="rId26"/>
    <p:sldId id="357" r:id="rId27"/>
    <p:sldId id="358" r:id="rId28"/>
    <p:sldId id="344" r:id="rId29"/>
    <p:sldId id="345" r:id="rId30"/>
    <p:sldId id="347" r:id="rId31"/>
    <p:sldId id="349" r:id="rId32"/>
    <p:sldId id="359" r:id="rId33"/>
    <p:sldId id="360" r:id="rId34"/>
    <p:sldId id="361" r:id="rId35"/>
    <p:sldId id="362" r:id="rId36"/>
    <p:sldId id="363" r:id="rId37"/>
    <p:sldId id="364" r:id="rId38"/>
    <p:sldId id="365" r:id="rId39"/>
    <p:sldId id="302" r:id="rId40"/>
    <p:sldId id="303" r:id="rId41"/>
    <p:sldId id="304" r:id="rId42"/>
    <p:sldId id="305" r:id="rId43"/>
    <p:sldId id="306" r:id="rId44"/>
    <p:sldId id="307" r:id="rId45"/>
    <p:sldId id="308" r:id="rId46"/>
    <p:sldId id="309" r:id="rId47"/>
    <p:sldId id="310" r:id="rId48"/>
    <p:sldId id="311" r:id="rId49"/>
    <p:sldId id="313" r:id="rId50"/>
    <p:sldId id="315" r:id="rId51"/>
    <p:sldId id="316" r:id="rId52"/>
    <p:sldId id="317" r:id="rId53"/>
    <p:sldId id="318" r:id="rId54"/>
    <p:sldId id="319" r:id="rId55"/>
    <p:sldId id="320" r:id="rId56"/>
    <p:sldId id="321" r:id="rId57"/>
    <p:sldId id="323" r:id="rId58"/>
    <p:sldId id="324" r:id="rId59"/>
    <p:sldId id="325" r:id="rId60"/>
    <p:sldId id="326" r:id="rId61"/>
    <p:sldId id="327" r:id="rId62"/>
    <p:sldId id="312" r:id="rId63"/>
    <p:sldId id="314"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71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4E1CADA-B243-4EAC-AFEA-D512AF132AAE}" type="datetimeFigureOut">
              <a:rPr lang="en-US" smtClean="0"/>
              <a:pPr/>
              <a:t>7/23/2023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694AF4-C54B-4F48-9EA9-1819DCD4212C}" type="slidenum">
              <a:rPr lang="en-US" smtClean="0"/>
              <a:pPr/>
              <a:t>‹#›</a:t>
            </a:fld>
            <a:endParaRPr lang="en-US"/>
          </a:p>
        </p:txBody>
      </p:sp>
    </p:spTree>
    <p:extLst>
      <p:ext uri="{BB962C8B-B14F-4D97-AF65-F5344CB8AC3E}">
        <p14:creationId xmlns:p14="http://schemas.microsoft.com/office/powerpoint/2010/main" val="3536221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D96A8F4-CA93-466F-8333-17019F103A97}" type="slidenum">
              <a:rPr lang="en-US" smtClean="0"/>
              <a:pPr/>
              <a:t>1</a:t>
            </a:fld>
            <a:endParaRPr lang="en-US"/>
          </a:p>
        </p:txBody>
      </p:sp>
      <p:sp>
        <p:nvSpPr>
          <p:cNvPr id="5" name="Footer Placeholder 4"/>
          <p:cNvSpPr>
            <a:spLocks noGrp="1"/>
          </p:cNvSpPr>
          <p:nvPr>
            <p:ph type="ftr" sz="quarter" idx="1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42</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43</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44</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45</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46</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47</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48</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49</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50</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51</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52</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53</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54</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55</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56</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57</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58</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59</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60</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61</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62</a:t>
            </a:fld>
            <a:endParaRPr lang="en-US"/>
          </a:p>
        </p:txBody>
      </p:sp>
    </p:spTree>
    <p:extLst>
      <p:ext uri="{BB962C8B-B14F-4D97-AF65-F5344CB8AC3E}">
        <p14:creationId xmlns:p14="http://schemas.microsoft.com/office/powerpoint/2010/main" val="27939164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C694AF4-C54B-4F48-9EA9-1819DCD4212C}" type="slidenum">
              <a:rPr lang="en-US" smtClean="0"/>
              <a:pPr/>
              <a:t>63</a:t>
            </a:fld>
            <a:endParaRPr lang="en-US"/>
          </a:p>
        </p:txBody>
      </p:sp>
    </p:spTree>
    <p:extLst>
      <p:ext uri="{BB962C8B-B14F-4D97-AF65-F5344CB8AC3E}">
        <p14:creationId xmlns:p14="http://schemas.microsoft.com/office/powerpoint/2010/main" val="27939164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5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normAutofit fontScale="90000"/>
          </a:bodyPr>
          <a:lstStyle/>
          <a:p>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Department of Computer Science &amp; Engineering </a:t>
            </a:r>
            <a:br>
              <a:rPr lang="en-US" sz="2000" dirty="0">
                <a:latin typeface="Times New Roman" pitchFamily="18" charset="0"/>
                <a:cs typeface="Times New Roman" pitchFamily="18" charset="0"/>
              </a:rPr>
            </a:b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p:txBody>
      </p:sp>
      <p:sp>
        <p:nvSpPr>
          <p:cNvPr id="3075" name="Content Placeholder 2"/>
          <p:cNvSpPr>
            <a:spLocks noGrp="1"/>
          </p:cNvSpPr>
          <p:nvPr>
            <p:ph idx="1"/>
          </p:nvPr>
        </p:nvSpPr>
        <p:spPr/>
        <p:txBody>
          <a:bodyPr/>
          <a:lstStyle/>
          <a:p>
            <a:pPr algn="ctr">
              <a:buFont typeface="Arial" pitchFamily="34" charset="0"/>
              <a:buNone/>
            </a:pPr>
            <a:endParaRPr lang="en-US" sz="2400" dirty="0"/>
          </a:p>
          <a:p>
            <a:pPr algn="ctr">
              <a:buFont typeface="Arial" pitchFamily="34" charset="0"/>
              <a:buNone/>
            </a:pPr>
            <a:r>
              <a:rPr lang="en-US" sz="2400" dirty="0"/>
              <a:t>I Year CSE II </a:t>
            </a:r>
            <a:r>
              <a:rPr lang="en-US" sz="2400" dirty="0" err="1"/>
              <a:t>Sem</a:t>
            </a:r>
            <a:endParaRPr lang="en-US" sz="2400" dirty="0"/>
          </a:p>
          <a:p>
            <a:pPr algn="ctr">
              <a:buFont typeface="Arial" pitchFamily="34" charset="0"/>
              <a:buNone/>
            </a:pPr>
            <a:r>
              <a:rPr lang="en-US" sz="2400" dirty="0"/>
              <a:t>Subject: Adaptive Computer Technologies(MR22-1ES0103)</a:t>
            </a:r>
          </a:p>
          <a:p>
            <a:pPr algn="ctr">
              <a:buFont typeface="Arial" pitchFamily="34" charset="0"/>
              <a:buNone/>
            </a:pPr>
            <a:endParaRPr lang="en-US" sz="2400" dirty="0"/>
          </a:p>
          <a:p>
            <a:pPr algn="ctr">
              <a:buFont typeface="Arial" pitchFamily="34" charset="0"/>
              <a:buNone/>
            </a:pPr>
            <a:r>
              <a:rPr lang="en-US" sz="1800" dirty="0">
                <a:latin typeface="Times New Roman" pitchFamily="18" charset="0"/>
                <a:cs typeface="Times New Roman" pitchFamily="18" charset="0"/>
              </a:rPr>
              <a:t>Prepared by</a:t>
            </a:r>
          </a:p>
          <a:p>
            <a:pPr algn="ctr">
              <a:buFont typeface="Arial" pitchFamily="34" charset="0"/>
              <a:buNone/>
            </a:pPr>
            <a:r>
              <a:rPr lang="en-US" sz="1600" dirty="0" err="1">
                <a:latin typeface="Times New Roman" pitchFamily="18" charset="0"/>
                <a:cs typeface="Times New Roman" pitchFamily="18" charset="0"/>
              </a:rPr>
              <a:t>Vikram</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Kalvala</a:t>
            </a:r>
            <a:endParaRPr lang="en-US" sz="1600" dirty="0">
              <a:latin typeface="Times New Roman" pitchFamily="18" charset="0"/>
              <a:cs typeface="Times New Roman" pitchFamily="18" charset="0"/>
            </a:endParaRPr>
          </a:p>
          <a:p>
            <a:pPr algn="ctr">
              <a:buFont typeface="Arial" pitchFamily="34" charset="0"/>
              <a:buNone/>
            </a:pPr>
            <a:r>
              <a:rPr lang="en-US" sz="1600" dirty="0" err="1">
                <a:latin typeface="Times New Roman" pitchFamily="18" charset="0"/>
                <a:cs typeface="Times New Roman" pitchFamily="18" charset="0"/>
              </a:rPr>
              <a:t>Asst.Prof</a:t>
            </a:r>
            <a:r>
              <a:rPr lang="en-US" sz="1600" dirty="0">
                <a:latin typeface="Times New Roman" pitchFamily="18" charset="0"/>
                <a:cs typeface="Times New Roman" pitchFamily="18" charset="0"/>
              </a:rPr>
              <a:t>.</a:t>
            </a: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a:p>
            <a:pPr algn="ctr">
              <a:buFont typeface="Arial" pitchFamily="34" charset="0"/>
              <a:buNone/>
            </a:pPr>
            <a:endParaRPr lang="en-US" sz="1600" dirty="0">
              <a:latin typeface="Times New Roman" pitchFamily="18" charset="0"/>
              <a:cs typeface="Times New Roman" pitchFamily="18" charset="0"/>
            </a:endParaRPr>
          </a:p>
        </p:txBody>
      </p:sp>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791200"/>
            <a:ext cx="8391524" cy="857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Unit 3- Cloud &amp; IOT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lnSpcReduction="10000"/>
          </a:bodyPr>
          <a:lstStyle/>
          <a:p>
            <a:r>
              <a:rPr lang="en-US" sz="2200" b="1" dirty="0">
                <a:solidFill>
                  <a:schemeClr val="tx1"/>
                </a:solidFill>
                <a:latin typeface="Times New Roman" pitchFamily="18" charset="0"/>
                <a:cs typeface="Times New Roman" pitchFamily="18" charset="0"/>
              </a:rPr>
              <a:t>Cloud Computing: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Trends in Computing – Distributed Computing, Grid Computing, Cluster Computing, Utility Computing,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Cloud Computing, Definition of Cloud Computing, Characteristics, Service Models, Deployment Models, Cloud Service Models Providers.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Advantages and Disadvantages of Cloud Computing,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Cloud-based Services &amp; Applications.</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r>
              <a:rPr lang="en-US" sz="2200" dirty="0">
                <a:solidFill>
                  <a:schemeClr val="tx1"/>
                </a:solidFill>
                <a:latin typeface="Times New Roman" pitchFamily="18" charset="0"/>
                <a:cs typeface="Times New Roman" pitchFamily="18" charset="0"/>
              </a:rPr>
              <a:t>     </a:t>
            </a:r>
            <a:r>
              <a:rPr lang="en-US" sz="2200" b="1" dirty="0">
                <a:solidFill>
                  <a:schemeClr val="tx1"/>
                </a:solidFill>
                <a:latin typeface="Times New Roman" pitchFamily="18" charset="0"/>
                <a:cs typeface="Times New Roman" pitchFamily="18" charset="0"/>
              </a:rPr>
              <a:t>The Internet of Things</a:t>
            </a:r>
            <a:r>
              <a:rPr lang="en-US" sz="2200" dirty="0">
                <a:solidFill>
                  <a:schemeClr val="tx1"/>
                </a:solidFill>
                <a:latin typeface="Times New Roman" pitchFamily="18" charset="0"/>
                <a:cs typeface="Times New Roman" pitchFamily="18" charset="0"/>
              </a:rPr>
              <a:t>:</a:t>
            </a:r>
          </a:p>
          <a:p>
            <a:pPr algn="just"/>
            <a:r>
              <a:rPr lang="en-US" sz="2200" dirty="0">
                <a:solidFill>
                  <a:schemeClr val="tx1"/>
                </a:solidFill>
                <a:latin typeface="Times New Roman" pitchFamily="18" charset="0"/>
                <a:cs typeface="Times New Roman" pitchFamily="18" charset="0"/>
              </a:rPr>
              <a:t>•    An Overview -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Reference model and Architecture</a:t>
            </a:r>
          </a:p>
          <a:p>
            <a:pPr algn="just"/>
            <a:r>
              <a:rPr lang="en-US" sz="2200" dirty="0">
                <a:solidFill>
                  <a:schemeClr val="tx1"/>
                </a:solidFill>
                <a:latin typeface="Times New Roman" pitchFamily="18" charset="0"/>
                <a:cs typeface="Times New Roman" pitchFamily="18" charset="0"/>
              </a:rPr>
              <a:t>•    The Things in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 Sensors and Actuators</a:t>
            </a:r>
          </a:p>
          <a:p>
            <a:pPr algn="just"/>
            <a:r>
              <a:rPr lang="en-US" sz="2200" dirty="0">
                <a:solidFill>
                  <a:schemeClr val="tx1"/>
                </a:solidFill>
                <a:latin typeface="Times New Roman" pitchFamily="18" charset="0"/>
                <a:cs typeface="Times New Roman" pitchFamily="18" charset="0"/>
              </a:rPr>
              <a:t>• Sensor fundamentals and characteristics–Principles of sensing capacitance-magnetic and electromagnetic induction–resistance-</a:t>
            </a:r>
            <a:br>
              <a:rPr lang="en-US" sz="2200" dirty="0">
                <a:solidFill>
                  <a:schemeClr val="tx1"/>
                </a:solidFill>
                <a:latin typeface="Times New Roman" pitchFamily="18" charset="0"/>
                <a:cs typeface="Times New Roman" pitchFamily="18" charset="0"/>
              </a:rPr>
            </a:br>
            <a:r>
              <a:rPr lang="en-US" sz="2200" dirty="0">
                <a:solidFill>
                  <a:schemeClr val="tx1"/>
                </a:solidFill>
                <a:latin typeface="Times New Roman" pitchFamily="18" charset="0"/>
                <a:cs typeface="Times New Roman" pitchFamily="18" charset="0"/>
              </a:rPr>
              <a:t>piezoelectric effect–heat transfer- light.</a:t>
            </a:r>
          </a:p>
          <a:p>
            <a:pPr algn="just"/>
            <a:r>
              <a:rPr lang="en-US" sz="2200" dirty="0">
                <a:solidFill>
                  <a:schemeClr val="tx1"/>
                </a:solidFill>
                <a:latin typeface="Times New Roman" pitchFamily="18" charset="0"/>
                <a:cs typeface="Times New Roman" pitchFamily="18" charset="0"/>
              </a:rPr>
              <a:t>• Applications of IOT and Sensors.</a:t>
            </a:r>
          </a:p>
        </p:txBody>
      </p:sp>
    </p:spTree>
    <p:extLst>
      <p:ext uri="{BB962C8B-B14F-4D97-AF65-F5344CB8AC3E}">
        <p14:creationId xmlns:p14="http://schemas.microsoft.com/office/powerpoint/2010/main" val="511546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Trends in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Distributed Computing, Grid Computing, Cluster Computing, Utility Computing.</a:t>
            </a:r>
          </a:p>
          <a:p>
            <a:pPr algn="just"/>
            <a:r>
              <a:rPr lang="en-US" sz="2200" b="1" dirty="0">
                <a:solidFill>
                  <a:schemeClr val="tx1"/>
                </a:solidFill>
                <a:latin typeface="Times New Roman" pitchFamily="18" charset="0"/>
                <a:cs typeface="Times New Roman" pitchFamily="18" charset="0"/>
              </a:rPr>
              <a:t>What is Distributed Computing</a:t>
            </a:r>
            <a:r>
              <a:rPr lang="en-US"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Distributed computing refers to a system where processing and data storage is distributed across multiple devices or systems, rather than being handled by a single central device. In a distributed system, each device or system has its own processing capabilities and may also store and manage its own data. These devices or systems work together to perform tasks and share resources, with no single device serving as the central hub.</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One example of a distributed computing system is a cloud computing system, where resources such as computing power, storage, and networking are delivered over the Internet and accessed on demand. In this type of system, users can access and use shared resources through a web browser or other client software.</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038250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Distributed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US" sz="2200" b="1" dirty="0">
                <a:solidFill>
                  <a:schemeClr val="tx1"/>
                </a:solidFill>
                <a:latin typeface="Times New Roman" pitchFamily="18" charset="0"/>
                <a:cs typeface="Times New Roman" pitchFamily="18" charset="0"/>
              </a:rPr>
              <a:t>Components:</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There are several key components of a Distributed Computing System</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Devices or Systems: The devices or systems in a distributed system have their own processing capabilities and may also store and manage their own data.</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Network: The network connects the devices or systems in the distributed system, allowing them to communicate and exchange data.</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Resource Management: Distributed systems often have some type of resource management system in place to allocate and manage shared resources such as computing power, storage, and networking.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architecture of a Distributed Computing System is typically a Peer-to-Peer Architecture, where devices or systems can act as both clients and servers and communicate directly with each other.</a:t>
            </a:r>
          </a:p>
        </p:txBody>
      </p:sp>
    </p:spTree>
    <p:extLst>
      <p:ext uri="{BB962C8B-B14F-4D97-AF65-F5344CB8AC3E}">
        <p14:creationId xmlns:p14="http://schemas.microsoft.com/office/powerpoint/2010/main" val="371268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Distributed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fontScale="92500" lnSpcReduction="20000"/>
          </a:bodyPr>
          <a:lstStyle/>
          <a:p>
            <a:pPr algn="just"/>
            <a:r>
              <a:rPr lang="en-US" sz="2200" b="1" dirty="0">
                <a:solidFill>
                  <a:schemeClr val="tx1"/>
                </a:solidFill>
                <a:latin typeface="Times New Roman" pitchFamily="18" charset="0"/>
                <a:cs typeface="Times New Roman" pitchFamily="18" charset="0"/>
              </a:rPr>
              <a:t>Advantages:</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Scalability:</a:t>
            </a:r>
            <a:r>
              <a:rPr lang="en-US" sz="2200" dirty="0">
                <a:solidFill>
                  <a:schemeClr val="tx1"/>
                </a:solidFill>
                <a:latin typeface="Times New Roman" pitchFamily="18" charset="0"/>
                <a:cs typeface="Times New Roman" pitchFamily="18" charset="0"/>
              </a:rPr>
              <a:t> Distributed systems are generally more scalable than centralized systems, as they can easily add new devices or systems to the network to increase processing and storage capacity.</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Reliability:</a:t>
            </a:r>
            <a:r>
              <a:rPr lang="en-US" sz="2200" dirty="0">
                <a:solidFill>
                  <a:schemeClr val="tx1"/>
                </a:solidFill>
                <a:latin typeface="Times New Roman" pitchFamily="18" charset="0"/>
                <a:cs typeface="Times New Roman" pitchFamily="18" charset="0"/>
              </a:rPr>
              <a:t> Distributed systems are often more reliable than centralized systems, as they can continue to operate even if one device or system fails.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Flexibility:</a:t>
            </a:r>
            <a:r>
              <a:rPr lang="en-US" sz="2200" dirty="0">
                <a:solidFill>
                  <a:schemeClr val="tx1"/>
                </a:solidFill>
                <a:latin typeface="Times New Roman" pitchFamily="18" charset="0"/>
                <a:cs typeface="Times New Roman" pitchFamily="18" charset="0"/>
              </a:rPr>
              <a:t> Distributed systems are generally more flexible than centralized systems, as they can be configured and reconfigured more easily to meet changing computing needs.</a:t>
            </a:r>
          </a:p>
          <a:p>
            <a:pPr algn="just"/>
            <a:r>
              <a:rPr lang="en-IN" sz="2200" b="1" dirty="0">
                <a:solidFill>
                  <a:schemeClr val="tx1"/>
                </a:solidFill>
                <a:latin typeface="Times New Roman" pitchFamily="18" charset="0"/>
                <a:cs typeface="Times New Roman" pitchFamily="18" charset="0"/>
              </a:rPr>
              <a:t>Limitations: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Complexity:</a:t>
            </a:r>
            <a:r>
              <a:rPr lang="en-US" sz="2200" dirty="0">
                <a:solidFill>
                  <a:schemeClr val="tx1"/>
                </a:solidFill>
                <a:latin typeface="Times New Roman" pitchFamily="18" charset="0"/>
                <a:cs typeface="Times New Roman" pitchFamily="18" charset="0"/>
              </a:rPr>
              <a:t> Distributed systems can be more complex than centralized systems, as they involve multiple devices or systems that need to be coordinated and managed.</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Security:</a:t>
            </a:r>
            <a:r>
              <a:rPr lang="en-US" sz="2200" dirty="0">
                <a:solidFill>
                  <a:schemeClr val="tx1"/>
                </a:solidFill>
                <a:latin typeface="Times New Roman" pitchFamily="18" charset="0"/>
                <a:cs typeface="Times New Roman" pitchFamily="18" charset="0"/>
              </a:rPr>
              <a:t> It can be more challenging to secure a distributed system, as security measures must be implemented on each device or system to ensure the security of the entire system.</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Performance: </a:t>
            </a:r>
            <a:r>
              <a:rPr lang="en-US" sz="2200" dirty="0">
                <a:solidFill>
                  <a:schemeClr val="tx1"/>
                </a:solidFill>
                <a:latin typeface="Times New Roman" pitchFamily="18" charset="0"/>
                <a:cs typeface="Times New Roman" pitchFamily="18" charset="0"/>
              </a:rPr>
              <a:t>Distributed systems may not offer the same level of performance as centralized systems, as processing and data storage is distributed across multiple devices or systems.</a:t>
            </a:r>
          </a:p>
        </p:txBody>
      </p:sp>
    </p:spTree>
    <p:extLst>
      <p:ext uri="{BB962C8B-B14F-4D97-AF65-F5344CB8AC3E}">
        <p14:creationId xmlns:p14="http://schemas.microsoft.com/office/powerpoint/2010/main" val="3227704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Distributed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US" sz="2200" b="1" dirty="0">
                <a:solidFill>
                  <a:schemeClr val="tx1"/>
                </a:solidFill>
                <a:latin typeface="Times New Roman" pitchFamily="18" charset="0"/>
                <a:cs typeface="Times New Roman" pitchFamily="18" charset="0"/>
              </a:rPr>
              <a:t>Applications:</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Cloud Computing:</a:t>
            </a:r>
            <a:r>
              <a:rPr lang="en-US" sz="2200" dirty="0">
                <a:solidFill>
                  <a:schemeClr val="tx1"/>
                </a:solidFill>
                <a:latin typeface="Times New Roman" pitchFamily="18" charset="0"/>
                <a:cs typeface="Times New Roman" pitchFamily="18" charset="0"/>
              </a:rPr>
              <a:t> Cloud Computing systems are a type of distributed computing system that are used to deliver resources such as computing power, storage, and networking over the Internet.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Peer-to-Peer Networks</a:t>
            </a:r>
            <a:r>
              <a:rPr lang="en-US" sz="2200" dirty="0">
                <a:solidFill>
                  <a:schemeClr val="tx1"/>
                </a:solidFill>
                <a:latin typeface="Times New Roman" pitchFamily="18" charset="0"/>
                <a:cs typeface="Times New Roman" pitchFamily="18" charset="0"/>
              </a:rPr>
              <a:t>: Peer-to-Peer Networks are a type of distributed computing system that is used to share resources such as files and computing power among users.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Distributed Architectures:</a:t>
            </a:r>
            <a:r>
              <a:rPr lang="en-US" sz="2200" dirty="0">
                <a:solidFill>
                  <a:schemeClr val="tx1"/>
                </a:solidFill>
                <a:latin typeface="Times New Roman" pitchFamily="18" charset="0"/>
                <a:cs typeface="Times New Roman" pitchFamily="18" charset="0"/>
              </a:rPr>
              <a:t> Many modern computing systems, such as </a:t>
            </a:r>
            <a:r>
              <a:rPr lang="en-US" sz="2200" dirty="0" err="1">
                <a:solidFill>
                  <a:schemeClr val="tx1"/>
                </a:solidFill>
                <a:latin typeface="Times New Roman" pitchFamily="18" charset="0"/>
                <a:cs typeface="Times New Roman" pitchFamily="18" charset="0"/>
              </a:rPr>
              <a:t>microservices</a:t>
            </a:r>
            <a:r>
              <a:rPr lang="en-US" sz="2200" dirty="0">
                <a:solidFill>
                  <a:schemeClr val="tx1"/>
                </a:solidFill>
                <a:latin typeface="Times New Roman" pitchFamily="18" charset="0"/>
                <a:cs typeface="Times New Roman" pitchFamily="18" charset="0"/>
              </a:rPr>
              <a:t> architectures, use distributed architectures to distribute processing and data storage across multiple devices or systems.</a:t>
            </a:r>
          </a:p>
        </p:txBody>
      </p:sp>
    </p:spTree>
    <p:extLst>
      <p:ext uri="{BB962C8B-B14F-4D97-AF65-F5344CB8AC3E}">
        <p14:creationId xmlns:p14="http://schemas.microsoft.com/office/powerpoint/2010/main" val="2259215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Grid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Grid computing can be defined as a network of computers working together to perform a task that would rather be difficult for a single machine. All machines on that network work under the same protocol to act as a virtual supercomputer. The task that they work on may include analyzing huge datasets or simulating situations that require high computing power. Computers on the network contribute resources like processing power and storage capacity to the network.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Grid Computing is a subset of distributed computing, where a virtual supercomputer comprises machines on a network connected by some bus, mostly Ethernet or sometimes the Internet. It can also be seen as a form of Parallel Computing where instead of many CPU cores on a single machine, it contains multiple cores spread across various locations. The concept of grid computing isn’t new, but it is not yet perfected as there are no standard rules and protocols established and accepted by people. </a:t>
            </a:r>
          </a:p>
        </p:txBody>
      </p:sp>
    </p:spTree>
    <p:extLst>
      <p:ext uri="{BB962C8B-B14F-4D97-AF65-F5344CB8AC3E}">
        <p14:creationId xmlns:p14="http://schemas.microsoft.com/office/powerpoint/2010/main" val="53323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Grid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Components and Working:</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Control Node: A computer, usually a server or a group of servers which administrates the whole network and keeps the account of the resources in the network pool.</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Provider: The computer contributes its resources to the network resource pool.</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User: The computer that uses the resources on the network.</a:t>
            </a:r>
          </a:p>
          <a:p>
            <a:pPr algn="just"/>
            <a:r>
              <a:rPr lang="en-IN" sz="2200" b="1" dirty="0">
                <a:solidFill>
                  <a:schemeClr val="tx1"/>
                </a:solidFill>
                <a:latin typeface="Times New Roman" pitchFamily="18" charset="0"/>
                <a:cs typeface="Times New Roman" pitchFamily="18" charset="0"/>
              </a:rPr>
              <a:t>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not centralized, as there are no servers required, except the control node which is just used for controlling and not for processing.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Multiple heterogeneous machines i.e. machines with different Operating Systems can use a single grid computing network.</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Tasks can be performed </a:t>
            </a:r>
            <a:r>
              <a:rPr lang="en-US" sz="2200" dirty="0" err="1">
                <a:solidFill>
                  <a:schemeClr val="tx1"/>
                </a:solidFill>
                <a:latin typeface="Times New Roman" pitchFamily="18" charset="0"/>
                <a:cs typeface="Times New Roman" pitchFamily="18" charset="0"/>
              </a:rPr>
              <a:t>parallelly</a:t>
            </a:r>
            <a:r>
              <a:rPr lang="en-US" sz="2200" dirty="0">
                <a:solidFill>
                  <a:schemeClr val="tx1"/>
                </a:solidFill>
                <a:latin typeface="Times New Roman" pitchFamily="18" charset="0"/>
                <a:cs typeface="Times New Roman" pitchFamily="18" charset="0"/>
              </a:rPr>
              <a:t> across various physical locations and the users don’t have to pay for them (with money).</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59516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Grid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Disadvantages: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software of the grid is still in the involution stage.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super-fast interconnect between computer resources is the need of the hour.</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Licensing across many servers may make it prohibitive for some applications.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Many groups are reluctant with sharing resources.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Trouble in the control node can come to halt in the whole network.</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2242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Cloud </a:t>
            </a:r>
            <a:r>
              <a:rPr lang="en-IN" sz="2800" dirty="0" err="1">
                <a:solidFill>
                  <a:srgbClr val="FF0000"/>
                </a:solidFill>
                <a:latin typeface="Times New Roman" pitchFamily="18" charset="0"/>
                <a:cs typeface="Times New Roman" pitchFamily="18" charset="0"/>
              </a:rPr>
              <a:t>Vs</a:t>
            </a:r>
            <a:r>
              <a:rPr lang="en-IN" sz="2800" dirty="0">
                <a:solidFill>
                  <a:srgbClr val="FF0000"/>
                </a:solidFill>
                <a:latin typeface="Times New Roman" pitchFamily="18" charset="0"/>
                <a:cs typeface="Times New Roman" pitchFamily="18" charset="0"/>
              </a:rPr>
              <a:t> Grid Computing </a:t>
            </a:r>
            <a:endParaRPr lang="en-US" sz="2800" dirty="0">
              <a:solidFill>
                <a:srgbClr val="00B050"/>
              </a:solidFill>
              <a:latin typeface="Times New Roman" pitchFamily="18" charset="0"/>
              <a:cs typeface="Times New Roman"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513" y="871538"/>
            <a:ext cx="8308975" cy="511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0577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Cluster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lnSpcReduction="10000"/>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Cluster computing is a collection of tightly or loosely connected computers that work together so that they act as a single entity. The connected computers execute operations all together thus creating the idea of a single system. The clusters are generally connected through fast local area networks (LANs).</a:t>
            </a:r>
          </a:p>
          <a:p>
            <a:pPr algn="just"/>
            <a:r>
              <a:rPr lang="en-IN" sz="2200" b="1" dirty="0">
                <a:solidFill>
                  <a:schemeClr val="tx1"/>
                </a:solidFill>
                <a:latin typeface="Times New Roman" pitchFamily="18" charset="0"/>
                <a:cs typeface="Times New Roman" pitchFamily="18" charset="0"/>
              </a:rPr>
              <a:t>Why it is important?</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Cluster computing gives a relatively inexpensive, unconventional to the large server or mainframe computer solutions.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resolves the demand for content criticality and process services in a faster way.</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Many organizations and IT companies are implementing cluster computing to augment their scalability, availability, processing speed and resource management at economic prices.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ensures that computational power is always available.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provides a single general strategy for the implementation and application of parallel high-performance systems independent of certain hardware vendors and their product decisions.</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pic>
        <p:nvPicPr>
          <p:cNvPr id="4" name="Picture 3"/>
          <p:cNvPicPr>
            <a:picLocks noChangeAspect="1" noChangeArrowheads="1"/>
          </p:cNvPicPr>
          <p:nvPr/>
        </p:nvPicPr>
        <p:blipFill>
          <a:blip r:embed="rId2"/>
          <a:srcRect/>
          <a:stretch>
            <a:fillRect/>
          </a:stretch>
        </p:blipFill>
        <p:spPr bwMode="auto">
          <a:xfrm>
            <a:off x="6629400" y="2057400"/>
            <a:ext cx="1219200" cy="797379"/>
          </a:xfrm>
          <a:prstGeom prst="rect">
            <a:avLst/>
          </a:prstGeom>
          <a:noFill/>
          <a:ln w="9525">
            <a:noFill/>
            <a:miter lim="800000"/>
            <a:headEnd/>
            <a:tailEnd/>
          </a:ln>
          <a:effectLst/>
        </p:spPr>
      </p:pic>
    </p:spTree>
    <p:extLst>
      <p:ext uri="{BB962C8B-B14F-4D97-AF65-F5344CB8AC3E}">
        <p14:creationId xmlns:p14="http://schemas.microsoft.com/office/powerpoint/2010/main" val="2513625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Cluster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Advantages: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High Performance:</a:t>
            </a:r>
            <a:r>
              <a:rPr lang="en-US" sz="2200" dirty="0">
                <a:solidFill>
                  <a:schemeClr val="tx1"/>
                </a:solidFill>
                <a:latin typeface="Times New Roman" pitchFamily="18" charset="0"/>
                <a:cs typeface="Times New Roman" pitchFamily="18" charset="0"/>
              </a:rPr>
              <a:t> The systems offer better and enhanced performance than that of mainframe computer networks.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Easy to manage:</a:t>
            </a:r>
            <a:r>
              <a:rPr lang="en-US" sz="2200" dirty="0">
                <a:solidFill>
                  <a:schemeClr val="tx1"/>
                </a:solidFill>
                <a:latin typeface="Times New Roman" pitchFamily="18" charset="0"/>
                <a:cs typeface="Times New Roman" pitchFamily="18" charset="0"/>
              </a:rPr>
              <a:t> Cluster Computing is manageable and easy to implement.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Scalable: </a:t>
            </a:r>
            <a:r>
              <a:rPr lang="en-US" sz="2200" dirty="0">
                <a:solidFill>
                  <a:schemeClr val="tx1"/>
                </a:solidFill>
                <a:latin typeface="Times New Roman" pitchFamily="18" charset="0"/>
                <a:cs typeface="Times New Roman" pitchFamily="18" charset="0"/>
              </a:rPr>
              <a:t>Resources can be added to the clusters accordingly.</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Expandability: </a:t>
            </a:r>
            <a:r>
              <a:rPr lang="en-US" sz="2200" dirty="0">
                <a:solidFill>
                  <a:schemeClr val="tx1"/>
                </a:solidFill>
                <a:latin typeface="Times New Roman" pitchFamily="18" charset="0"/>
                <a:cs typeface="Times New Roman" pitchFamily="18" charset="0"/>
              </a:rPr>
              <a:t>Computer clusters can be expanded easily by adding additional computers to the network. Cluster computing is capable of combining several additional resources or the networks to the existing computer system.</a:t>
            </a:r>
          </a:p>
        </p:txBody>
      </p:sp>
      <p:pic>
        <p:nvPicPr>
          <p:cNvPr id="5" name="Picture 2"/>
          <p:cNvPicPr>
            <a:picLocks noChangeAspect="1" noChangeArrowheads="1"/>
          </p:cNvPicPr>
          <p:nvPr/>
        </p:nvPicPr>
        <p:blipFill>
          <a:blip r:embed="rId2"/>
          <a:srcRect/>
          <a:stretch>
            <a:fillRect/>
          </a:stretch>
        </p:blipFill>
        <p:spPr bwMode="auto">
          <a:xfrm>
            <a:off x="4267200" y="4038600"/>
            <a:ext cx="4343400" cy="2615911"/>
          </a:xfrm>
          <a:prstGeom prst="rect">
            <a:avLst/>
          </a:prstGeom>
          <a:noFill/>
          <a:ln w="9525">
            <a:noFill/>
            <a:miter lim="800000"/>
            <a:headEnd/>
            <a:tailEnd/>
          </a:ln>
          <a:effectLst/>
        </p:spPr>
      </p:pic>
    </p:spTree>
    <p:extLst>
      <p:ext uri="{BB962C8B-B14F-4D97-AF65-F5344CB8AC3E}">
        <p14:creationId xmlns:p14="http://schemas.microsoft.com/office/powerpoint/2010/main" val="1713159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Cluster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fontScale="92500"/>
          </a:bodyPr>
          <a:lstStyle/>
          <a:p>
            <a:pPr algn="just"/>
            <a:r>
              <a:rPr lang="en-IN" sz="2200" b="1" dirty="0">
                <a:solidFill>
                  <a:schemeClr val="tx1"/>
                </a:solidFill>
                <a:latin typeface="Times New Roman" pitchFamily="18" charset="0"/>
                <a:cs typeface="Times New Roman" pitchFamily="18" charset="0"/>
              </a:rPr>
              <a:t>Disadvantages: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High cost:</a:t>
            </a:r>
            <a:r>
              <a:rPr lang="en-US" sz="2200" dirty="0">
                <a:solidFill>
                  <a:schemeClr val="tx1"/>
                </a:solidFill>
                <a:latin typeface="Times New Roman" pitchFamily="18" charset="0"/>
                <a:cs typeface="Times New Roman" pitchFamily="18" charset="0"/>
              </a:rPr>
              <a:t> It is not so much cost-effective due to its high hardware and its design.</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Problem in finding fault: </a:t>
            </a:r>
            <a:r>
              <a:rPr lang="en-US" sz="2200" dirty="0">
                <a:solidFill>
                  <a:schemeClr val="tx1"/>
                </a:solidFill>
                <a:latin typeface="Times New Roman" pitchFamily="18" charset="0"/>
                <a:cs typeface="Times New Roman" pitchFamily="18" charset="0"/>
              </a:rPr>
              <a:t>It is difficult to find which component has a fault.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More space is needed:</a:t>
            </a:r>
            <a:r>
              <a:rPr lang="en-US" sz="2200" dirty="0">
                <a:solidFill>
                  <a:schemeClr val="tx1"/>
                </a:solidFill>
                <a:latin typeface="Times New Roman" pitchFamily="18" charset="0"/>
                <a:cs typeface="Times New Roman" pitchFamily="18" charset="0"/>
              </a:rPr>
              <a:t> Infrastructure may increase as more servers are needed to manage and monitor. </a:t>
            </a:r>
          </a:p>
          <a:p>
            <a:pPr algn="just"/>
            <a:r>
              <a:rPr lang="en-IN" sz="2200" b="1" dirty="0">
                <a:solidFill>
                  <a:schemeClr val="tx1"/>
                </a:solidFill>
                <a:latin typeface="Times New Roman" pitchFamily="18" charset="0"/>
                <a:cs typeface="Times New Roman" pitchFamily="18" charset="0"/>
              </a:rPr>
              <a:t>Application: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Various complex computational problems can be solved.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can be used in the applications of aerodynamics, astrophysics and in data mining.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Weather forecasting.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Image Rendering.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Various e-commerce applications.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Earthquake Simulation.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Petroleum reservoir simulation.</a:t>
            </a:r>
          </a:p>
        </p:txBody>
      </p:sp>
    </p:spTree>
    <p:extLst>
      <p:ext uri="{BB962C8B-B14F-4D97-AF65-F5344CB8AC3E}">
        <p14:creationId xmlns:p14="http://schemas.microsoft.com/office/powerpoint/2010/main" val="2565886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3945051878"/>
              </p:ext>
            </p:extLst>
          </p:nvPr>
        </p:nvGraphicFramePr>
        <p:xfrm>
          <a:off x="0" y="12700"/>
          <a:ext cx="9144000" cy="6319520"/>
        </p:xfrm>
        <a:graphic>
          <a:graphicData uri="http://schemas.openxmlformats.org/drawingml/2006/table">
            <a:tbl>
              <a:tblPr firstRow="1" bandRow="1">
                <a:tableStyleId>{073A0DAA-6AF3-43AB-8588-CEC1D06C72B9}</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70840">
                <a:tc>
                  <a:txBody>
                    <a:bodyPr/>
                    <a:lstStyle/>
                    <a:p>
                      <a:r>
                        <a:rPr lang="en-IN" dirty="0"/>
                        <a:t>Cluster</a:t>
                      </a:r>
                      <a:endParaRPr lang="en-US" dirty="0"/>
                    </a:p>
                  </a:txBody>
                  <a:tcPr/>
                </a:tc>
                <a:tc>
                  <a:txBody>
                    <a:bodyPr/>
                    <a:lstStyle/>
                    <a:p>
                      <a:r>
                        <a:rPr lang="en-IN" dirty="0"/>
                        <a:t>Grid</a:t>
                      </a:r>
                      <a:endParaRPr lang="en-US" dirty="0"/>
                    </a:p>
                  </a:txBody>
                  <a:tcPr/>
                </a:tc>
                <a:extLst>
                  <a:ext uri="{0D108BD9-81ED-4DB2-BD59-A6C34878D82A}">
                    <a16:rowId xmlns:a16="http://schemas.microsoft.com/office/drawing/2014/main" val="10000"/>
                  </a:ext>
                </a:extLst>
              </a:tr>
              <a:tr h="370840">
                <a:tc>
                  <a:txBody>
                    <a:bodyPr/>
                    <a:lstStyle/>
                    <a:p>
                      <a:r>
                        <a:rPr lang="en-US" sz="1800" b="0" i="0" kern="1200" dirty="0">
                          <a:solidFill>
                            <a:schemeClr val="dk1"/>
                          </a:solidFill>
                          <a:effectLst/>
                          <a:latin typeface="+mn-lt"/>
                          <a:ea typeface="+mn-ea"/>
                          <a:cs typeface="+mn-cs"/>
                        </a:rPr>
                        <a:t>Connected computers have to </a:t>
                      </a:r>
                      <a:r>
                        <a:rPr lang="en-US" sz="1800" b="0" i="0" kern="1200">
                          <a:solidFill>
                            <a:schemeClr val="dk1"/>
                          </a:solidFill>
                          <a:effectLst/>
                          <a:latin typeface="+mn-lt"/>
                          <a:ea typeface="+mn-ea"/>
                          <a:cs typeface="+mn-cs"/>
                        </a:rPr>
                        <a:t>be homogeneous </a:t>
                      </a:r>
                      <a:r>
                        <a:rPr lang="en-US" sz="1800" b="0" i="0" kern="1200" dirty="0">
                          <a:solidFill>
                            <a:schemeClr val="dk1"/>
                          </a:solidFill>
                          <a:effectLst/>
                          <a:latin typeface="+mn-lt"/>
                          <a:ea typeface="+mn-ea"/>
                          <a:cs typeface="+mn-cs"/>
                        </a:rPr>
                        <a:t>which means that they should have a similar kind of OS and hardware.</a:t>
                      </a:r>
                      <a:endParaRPr lang="en-US" dirty="0"/>
                    </a:p>
                  </a:txBody>
                  <a:tcPr/>
                </a:tc>
                <a:tc>
                  <a:txBody>
                    <a:bodyPr/>
                    <a:lstStyle/>
                    <a:p>
                      <a:r>
                        <a:rPr lang="en-US" dirty="0"/>
                        <a:t>Connected computers can have dissimilar OS and hardware. They can be either heterogeneous or homogeneous.</a:t>
                      </a:r>
                    </a:p>
                  </a:txBody>
                  <a:tcPr/>
                </a:tc>
                <a:extLst>
                  <a:ext uri="{0D108BD9-81ED-4DB2-BD59-A6C34878D82A}">
                    <a16:rowId xmlns:a16="http://schemas.microsoft.com/office/drawing/2014/main" val="10001"/>
                  </a:ext>
                </a:extLst>
              </a:tr>
              <a:tr h="370840">
                <a:tc>
                  <a:txBody>
                    <a:bodyPr/>
                    <a:lstStyle/>
                    <a:p>
                      <a:r>
                        <a:rPr lang="en-US" dirty="0"/>
                        <a:t>All the nodes in this are committed to performing a similar operation and no other operation is allowed to be done	</a:t>
                      </a:r>
                    </a:p>
                  </a:txBody>
                  <a:tcPr/>
                </a:tc>
                <a:tc>
                  <a:txBody>
                    <a:bodyPr/>
                    <a:lstStyle/>
                    <a:p>
                      <a:r>
                        <a:rPr lang="en-US" dirty="0"/>
                        <a:t>The nodes here allot their unused processing resources for the grid computing network.</a:t>
                      </a:r>
                    </a:p>
                  </a:txBody>
                  <a:tcPr/>
                </a:tc>
                <a:extLst>
                  <a:ext uri="{0D108BD9-81ED-4DB2-BD59-A6C34878D82A}">
                    <a16:rowId xmlns:a16="http://schemas.microsoft.com/office/drawing/2014/main" val="10002"/>
                  </a:ext>
                </a:extLst>
              </a:tr>
              <a:tr h="370840">
                <a:tc>
                  <a:txBody>
                    <a:bodyPr/>
                    <a:lstStyle/>
                    <a:p>
                      <a:r>
                        <a:rPr lang="en-US" dirty="0"/>
                        <a:t>Every node is so close to the next one	</a:t>
                      </a:r>
                    </a:p>
                  </a:txBody>
                  <a:tcPr/>
                </a:tc>
                <a:tc>
                  <a:txBody>
                    <a:bodyPr/>
                    <a:lstStyle/>
                    <a:p>
                      <a:r>
                        <a:rPr lang="en-US" dirty="0"/>
                        <a:t>The nodes can be placed at a far distance from each other</a:t>
                      </a:r>
                    </a:p>
                  </a:txBody>
                  <a:tcPr/>
                </a:tc>
                <a:extLst>
                  <a:ext uri="{0D108BD9-81ED-4DB2-BD59-A6C34878D82A}">
                    <a16:rowId xmlns:a16="http://schemas.microsoft.com/office/drawing/2014/main" val="10003"/>
                  </a:ext>
                </a:extLst>
              </a:tr>
              <a:tr h="370840">
                <a:tc>
                  <a:txBody>
                    <a:bodyPr/>
                    <a:lstStyle/>
                    <a:p>
                      <a:r>
                        <a:rPr lang="en-US" dirty="0"/>
                        <a:t>All the nodes in the network are connected through the high-speed LAN connection.</a:t>
                      </a:r>
                    </a:p>
                  </a:txBody>
                  <a:tcPr/>
                </a:tc>
                <a:tc>
                  <a:txBody>
                    <a:bodyPr/>
                    <a:lstStyle/>
                    <a:p>
                      <a:r>
                        <a:rPr lang="en-US" dirty="0"/>
                        <a:t>All the nodes in the network are connected either through low-speed buses or via the internet.</a:t>
                      </a:r>
                    </a:p>
                  </a:txBody>
                  <a:tcPr/>
                </a:tc>
                <a:extLst>
                  <a:ext uri="{0D108BD9-81ED-4DB2-BD59-A6C34878D82A}">
                    <a16:rowId xmlns:a16="http://schemas.microsoft.com/office/drawing/2014/main" val="10004"/>
                  </a:ext>
                </a:extLst>
              </a:tr>
              <a:tr h="370840">
                <a:tc>
                  <a:txBody>
                    <a:bodyPr/>
                    <a:lstStyle/>
                    <a:p>
                      <a:r>
                        <a:rPr lang="en-US" dirty="0"/>
                        <a:t>They are connected in the format of centralized network topology	</a:t>
                      </a:r>
                    </a:p>
                  </a:txBody>
                  <a:tcPr/>
                </a:tc>
                <a:tc>
                  <a:txBody>
                    <a:bodyPr/>
                    <a:lstStyle/>
                    <a:p>
                      <a:r>
                        <a:rPr lang="en-US" dirty="0"/>
                        <a:t>The nodes are connected in the format of either distributed or de-centralized network topology</a:t>
                      </a:r>
                    </a:p>
                  </a:txBody>
                  <a:tcPr/>
                </a:tc>
                <a:extLst>
                  <a:ext uri="{0D108BD9-81ED-4DB2-BD59-A6C34878D82A}">
                    <a16:rowId xmlns:a16="http://schemas.microsoft.com/office/drawing/2014/main" val="10005"/>
                  </a:ext>
                </a:extLst>
              </a:tr>
              <a:tr h="370840">
                <a:tc>
                  <a:txBody>
                    <a:bodyPr/>
                    <a:lstStyle/>
                    <a:p>
                      <a:r>
                        <a:rPr lang="en-US" dirty="0"/>
                        <a:t>Here, scheduling is managed by the central server	</a:t>
                      </a:r>
                    </a:p>
                  </a:txBody>
                  <a:tcPr/>
                </a:tc>
                <a:tc>
                  <a:txBody>
                    <a:bodyPr/>
                    <a:lstStyle/>
                    <a:p>
                      <a:r>
                        <a:rPr lang="en-US" dirty="0"/>
                        <a:t>It can also have a server, but each computer performs in its own method</a:t>
                      </a:r>
                    </a:p>
                  </a:txBody>
                  <a:tcPr/>
                </a:tc>
                <a:extLst>
                  <a:ext uri="{0D108BD9-81ED-4DB2-BD59-A6C34878D82A}">
                    <a16:rowId xmlns:a16="http://schemas.microsoft.com/office/drawing/2014/main" val="10006"/>
                  </a:ext>
                </a:extLst>
              </a:tr>
              <a:tr h="370840">
                <a:tc>
                  <a:txBody>
                    <a:bodyPr/>
                    <a:lstStyle/>
                    <a:p>
                      <a:r>
                        <a:rPr lang="en-US" dirty="0"/>
                        <a:t>The entire system is with a centralized resource administrator	</a:t>
                      </a:r>
                    </a:p>
                  </a:txBody>
                  <a:tcPr/>
                </a:tc>
                <a:tc>
                  <a:txBody>
                    <a:bodyPr/>
                    <a:lstStyle/>
                    <a:p>
                      <a:r>
                        <a:rPr lang="en-US" dirty="0"/>
                        <a:t>Each of the computers handles its resources in an independent way</a:t>
                      </a:r>
                    </a:p>
                  </a:txBody>
                  <a:tcPr/>
                </a:tc>
                <a:extLst>
                  <a:ext uri="{0D108BD9-81ED-4DB2-BD59-A6C34878D82A}">
                    <a16:rowId xmlns:a16="http://schemas.microsoft.com/office/drawing/2014/main" val="10007"/>
                  </a:ext>
                </a:extLst>
              </a:tr>
              <a:tr h="370840">
                <a:tc>
                  <a:txBody>
                    <a:bodyPr/>
                    <a:lstStyle/>
                    <a:p>
                      <a:r>
                        <a:rPr lang="en-US" dirty="0"/>
                        <a:t>These are tightly connected systems	</a:t>
                      </a:r>
                    </a:p>
                  </a:txBody>
                  <a:tcPr/>
                </a:tc>
                <a:tc>
                  <a:txBody>
                    <a:bodyPr/>
                    <a:lstStyle/>
                    <a:p>
                      <a:r>
                        <a:rPr lang="en-US" dirty="0"/>
                        <a:t>These are loosely connected systems</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210841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Utility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Utility computing plays a significant role in business models and gives a unique service provider to the customer IT services according to pay-per-use methods.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few IT services are provided to customer storage, software applications, and computing power.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So for any questions and advice required for deployment in the business model, the service providers provide the unit divisions to the company.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As the term “Utility” refers to basic amenities like electricity, water, gas, the basic software requirements for a business model are provided by utility computing.</a:t>
            </a:r>
          </a:p>
        </p:txBody>
      </p:sp>
    </p:spTree>
    <p:extLst>
      <p:ext uri="{BB962C8B-B14F-4D97-AF65-F5344CB8AC3E}">
        <p14:creationId xmlns:p14="http://schemas.microsoft.com/office/powerpoint/2010/main" val="2549281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Utility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lnSpcReduction="10000"/>
          </a:bodyPr>
          <a:lstStyle/>
          <a:p>
            <a:pPr algn="just"/>
            <a:r>
              <a:rPr lang="en-IN" sz="2200" b="1" dirty="0">
                <a:solidFill>
                  <a:schemeClr val="tx1"/>
                </a:solidFill>
                <a:latin typeface="Times New Roman" pitchFamily="18" charset="0"/>
                <a:cs typeface="Times New Roman" pitchFamily="18" charset="0"/>
              </a:rPr>
              <a:t>How it works?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Utility computing is the same as virtualization because the cumulative amount of web storage space along with calculating power is available to the resources is much the larger amount when compared to the one time-sharing computer. The backend servers are available in multiple amounts which are used to do this kind of possible web server. The concerned web servers are applied in the cluster forms which are developed and then given to lease to end-users. The technique of using one unit computation on the multi web server is known as distributed computing. The working of utility computing is easy and simple. The company pays to other companies for its usage of computing services. It includes usage of a particular computer application or some confidential access to computer processing power, rental of hardware components, and data storage space. It is based on the client requirements and the things which can be offered by utility computing. Utility computing is also offered as a package or bundle of resources.</a:t>
            </a:r>
          </a:p>
        </p:txBody>
      </p:sp>
    </p:spTree>
    <p:extLst>
      <p:ext uri="{BB962C8B-B14F-4D97-AF65-F5344CB8AC3E}">
        <p14:creationId xmlns:p14="http://schemas.microsoft.com/office/powerpoint/2010/main" val="2807133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Utility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fontScale="92500" lnSpcReduction="10000"/>
          </a:bodyPr>
          <a:lstStyle/>
          <a:p>
            <a:pPr algn="just"/>
            <a:r>
              <a:rPr lang="en-IN" sz="2200" b="1" dirty="0">
                <a:solidFill>
                  <a:schemeClr val="tx1"/>
                </a:solidFill>
                <a:latin typeface="Times New Roman" pitchFamily="18" charset="0"/>
                <a:cs typeface="Times New Roman" pitchFamily="18" charset="0"/>
              </a:rPr>
              <a:t>Components: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few components that included in the package of utility computing is computer hardware component, software applications, internet access, and cloud systems.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computer hardware such as monitors, input devices, servers, CPU and network cables.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browsing software and web servers provide internet access.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software applications that execute the huge amount of computer mandatory programs such as communication tools, mailbox, report generation, CRM and other project and process-oriented applications and everything that lies in between the client, company and the end-users. The experts from the industries call this process as software as a service.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Enabling the confidential access to a few processes of a supercomputer. Because few enterprises have substantial computational requirements. The status of the financial company keeps on changing rapidly concerning the updating cycle of the stock market. The normal computers take maximum processing time to retrieve or process the data whereas the supercomputer takes only minimum time to process and execute the information and complete the task as quickly as possible.</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062312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Cloud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Cloud computing means storing and accessing the data and programs on remote servers that are hosted on the internet instead of the computer’s hard drive or local server. Cloud computing is also referred to as Internet-based computing. </a:t>
            </a:r>
          </a:p>
          <a:p>
            <a:pPr algn="just"/>
            <a:r>
              <a:rPr lang="en-US" sz="2200" b="1" dirty="0">
                <a:solidFill>
                  <a:schemeClr val="tx1"/>
                </a:solidFill>
                <a:latin typeface="Times New Roman" pitchFamily="18" charset="0"/>
                <a:cs typeface="Times New Roman" pitchFamily="18" charset="0"/>
              </a:rPr>
              <a:t>Define Cloud Computing: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Cloud computing is the delivery of computing services—including servers, storage, databases, networking, software, analytics, and intelligence—over the Internet (“the cloud”) to offer faster innovation, flexible resources, and economies of scale.</a:t>
            </a:r>
          </a:p>
        </p:txBody>
      </p:sp>
    </p:spTree>
    <p:extLst>
      <p:ext uri="{BB962C8B-B14F-4D97-AF65-F5344CB8AC3E}">
        <p14:creationId xmlns:p14="http://schemas.microsoft.com/office/powerpoint/2010/main" val="140086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Characteristics of Cloud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fontScale="92500" lnSpcReduction="10000"/>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There are many characteristics of Cloud Computing here are few of them :</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On-demand self-services:</a:t>
            </a:r>
            <a:r>
              <a:rPr lang="en-US" sz="2200" dirty="0">
                <a:solidFill>
                  <a:schemeClr val="tx1"/>
                </a:solidFill>
                <a:latin typeface="Times New Roman" pitchFamily="18" charset="0"/>
                <a:cs typeface="Times New Roman" pitchFamily="18" charset="0"/>
              </a:rPr>
              <a:t> The Cloud computing services does not require any human administrators, user themselves are able to provision, monitor and manage computing resources as needed.</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Broad network access:</a:t>
            </a:r>
            <a:r>
              <a:rPr lang="en-US" sz="2200" dirty="0">
                <a:solidFill>
                  <a:schemeClr val="tx1"/>
                </a:solidFill>
                <a:latin typeface="Times New Roman" pitchFamily="18" charset="0"/>
                <a:cs typeface="Times New Roman" pitchFamily="18" charset="0"/>
              </a:rPr>
              <a:t> The Computing services are generally provided over standard networks and heterogeneous devices.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Rapid elasticity:</a:t>
            </a:r>
            <a:r>
              <a:rPr lang="en-US" sz="2200" dirty="0">
                <a:solidFill>
                  <a:schemeClr val="tx1"/>
                </a:solidFill>
                <a:latin typeface="Times New Roman" pitchFamily="18" charset="0"/>
                <a:cs typeface="Times New Roman" pitchFamily="18" charset="0"/>
              </a:rPr>
              <a:t> The Computing services should have IT resources that are able to scale out and in quickly and on as needed basis. Whenever the user require services it is provided to him and it is scale out as soon as its requirement gets over.</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Resource pooling:</a:t>
            </a:r>
            <a:r>
              <a:rPr lang="en-US" sz="2200" dirty="0">
                <a:solidFill>
                  <a:schemeClr val="tx1"/>
                </a:solidFill>
                <a:latin typeface="Times New Roman" pitchFamily="18" charset="0"/>
                <a:cs typeface="Times New Roman" pitchFamily="18" charset="0"/>
              </a:rPr>
              <a:t> The IT resource (e.g., networks, servers, storage, applications, and services) present are shared across multiple applications and occupant in an uncommitted manner. Multiple clients are provided service from a same physical resource.</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Multi-tenancy:</a:t>
            </a:r>
            <a:r>
              <a:rPr lang="en-US" sz="2200" dirty="0">
                <a:solidFill>
                  <a:schemeClr val="tx1"/>
                </a:solidFill>
                <a:latin typeface="Times New Roman" pitchFamily="18" charset="0"/>
                <a:cs typeface="Times New Roman" pitchFamily="18" charset="0"/>
              </a:rPr>
              <a:t> Cloud computing providers can support multiple tenants (users or organizations) on a single set of shared resources.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Security:</a:t>
            </a:r>
            <a:r>
              <a:rPr lang="en-US" sz="2200" dirty="0">
                <a:solidFill>
                  <a:schemeClr val="tx1"/>
                </a:solidFill>
                <a:latin typeface="Times New Roman" pitchFamily="18" charset="0"/>
                <a:cs typeface="Times New Roman" pitchFamily="18" charset="0"/>
              </a:rPr>
              <a:t> Cloud providers invest heavily in security measures to protect their users’ data and ensure the privacy of sensitive information.\</a:t>
            </a:r>
          </a:p>
        </p:txBody>
      </p:sp>
    </p:spTree>
    <p:extLst>
      <p:ext uri="{BB962C8B-B14F-4D97-AF65-F5344CB8AC3E}">
        <p14:creationId xmlns:p14="http://schemas.microsoft.com/office/powerpoint/2010/main" val="1262219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Characteristics of Cloud Computing </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fontScale="92500" lnSpcReduction="10000"/>
          </a:bodyPr>
          <a:lstStyle/>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Measured service: </a:t>
            </a:r>
            <a:r>
              <a:rPr lang="en-US" sz="2200" dirty="0">
                <a:solidFill>
                  <a:schemeClr val="tx1"/>
                </a:solidFill>
                <a:latin typeface="Times New Roman" pitchFamily="18" charset="0"/>
                <a:cs typeface="Times New Roman" pitchFamily="18" charset="0"/>
              </a:rPr>
              <a:t>The resource utilization is tracked for each application and occupant, it will provide both the user and the resource provider with an account of what has been used. This is done for various reasons like monitoring billing and effective use of resource.</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Virtualization:</a:t>
            </a:r>
            <a:r>
              <a:rPr lang="en-US" sz="2200" dirty="0">
                <a:solidFill>
                  <a:schemeClr val="tx1"/>
                </a:solidFill>
                <a:latin typeface="Times New Roman" pitchFamily="18" charset="0"/>
                <a:cs typeface="Times New Roman" pitchFamily="18" charset="0"/>
              </a:rPr>
              <a:t> Cloud computing providers use virtualization technology to abstract underlying hardware resources and present them as logical resources to users.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Resilient computing:</a:t>
            </a:r>
            <a:r>
              <a:rPr lang="en-US" sz="2200" dirty="0">
                <a:solidFill>
                  <a:schemeClr val="tx1"/>
                </a:solidFill>
                <a:latin typeface="Times New Roman" pitchFamily="18" charset="0"/>
                <a:cs typeface="Times New Roman" pitchFamily="18" charset="0"/>
              </a:rPr>
              <a:t> Cloud computing services are typically designed with redundancy and fault tolerance in mind, which ensures high availability and reliability.</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Flexible pricing models:</a:t>
            </a:r>
            <a:r>
              <a:rPr lang="en-US" sz="2200" dirty="0">
                <a:solidFill>
                  <a:schemeClr val="tx1"/>
                </a:solidFill>
                <a:latin typeface="Times New Roman" pitchFamily="18" charset="0"/>
                <a:cs typeface="Times New Roman" pitchFamily="18" charset="0"/>
              </a:rPr>
              <a:t> Cloud providers offer a variety of pricing models, including pay-per-use, subscription-based, and spot pricing, allowing users to choose the option that best suits their needs.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Automation:</a:t>
            </a:r>
            <a:r>
              <a:rPr lang="en-US" sz="2200" dirty="0">
                <a:solidFill>
                  <a:schemeClr val="tx1"/>
                </a:solidFill>
                <a:latin typeface="Times New Roman" pitchFamily="18" charset="0"/>
                <a:cs typeface="Times New Roman" pitchFamily="18" charset="0"/>
              </a:rPr>
              <a:t> Cloud computing services are often highly automated, allowing users to deploy and manage resources with minimal manual intervention.</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Sustainability:</a:t>
            </a:r>
            <a:r>
              <a:rPr lang="en-US" sz="2200" dirty="0">
                <a:solidFill>
                  <a:schemeClr val="tx1"/>
                </a:solidFill>
                <a:latin typeface="Times New Roman" pitchFamily="18" charset="0"/>
                <a:cs typeface="Times New Roman" pitchFamily="18" charset="0"/>
              </a:rPr>
              <a:t> Cloud providers are increasingly focused on sustainable practices, such as energy-efficient data centers and the use of renewable energy sources, to reduce their environmental impact.</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255571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Cloud Service Models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Software as a service (</a:t>
            </a:r>
            <a:r>
              <a:rPr lang="en-US" sz="2200" dirty="0" err="1">
                <a:solidFill>
                  <a:schemeClr val="tx1"/>
                </a:solidFill>
                <a:latin typeface="Times New Roman" pitchFamily="18" charset="0"/>
                <a:cs typeface="Times New Roman" pitchFamily="18" charset="0"/>
              </a:rPr>
              <a:t>SaaS</a:t>
            </a:r>
            <a:r>
              <a:rPr lang="en-US"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Platform as a service (</a:t>
            </a:r>
            <a:r>
              <a:rPr lang="en-IN" sz="2200" dirty="0" err="1">
                <a:solidFill>
                  <a:schemeClr val="tx1"/>
                </a:solidFill>
                <a:latin typeface="Times New Roman" pitchFamily="18" charset="0"/>
                <a:cs typeface="Times New Roman" pitchFamily="18" charset="0"/>
              </a:rPr>
              <a:t>PaaS</a:t>
            </a:r>
            <a:r>
              <a:rPr lang="en-IN"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Infrastructure as a service (</a:t>
            </a:r>
            <a:r>
              <a:rPr lang="en-IN" sz="2200" dirty="0" err="1">
                <a:solidFill>
                  <a:schemeClr val="tx1"/>
                </a:solidFill>
                <a:latin typeface="Times New Roman" pitchFamily="18" charset="0"/>
                <a:cs typeface="Times New Roman" pitchFamily="18" charset="0"/>
              </a:rPr>
              <a:t>IaaS</a:t>
            </a:r>
            <a:r>
              <a:rPr lang="en-IN"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a:p>
            <a:pPr algn="just"/>
            <a:endParaRPr lang="en-US" sz="2200" dirty="0">
              <a:solidFill>
                <a:schemeClr val="tx1"/>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 y="2073728"/>
            <a:ext cx="2743200" cy="2449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3912" y="685800"/>
            <a:ext cx="4037610" cy="2612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9775" y="3200400"/>
            <a:ext cx="6419712" cy="3378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6761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Software as a Service (</a:t>
            </a:r>
            <a:r>
              <a:rPr lang="en-IN" sz="2800" dirty="0" err="1">
                <a:solidFill>
                  <a:srgbClr val="FF0000"/>
                </a:solidFill>
                <a:latin typeface="Times New Roman" pitchFamily="18" charset="0"/>
                <a:cs typeface="Times New Roman" pitchFamily="18" charset="0"/>
              </a:rPr>
              <a:t>SaaS</a:t>
            </a:r>
            <a:r>
              <a:rPr lang="en-IN" sz="2800" dirty="0">
                <a:solidFill>
                  <a:srgbClr val="FF0000"/>
                </a:solidFill>
                <a:latin typeface="Times New Roman" pitchFamily="18" charset="0"/>
                <a:cs typeface="Times New Roman" pitchFamily="18" charset="0"/>
              </a:rPr>
              <a: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err="1">
                <a:solidFill>
                  <a:schemeClr val="tx1"/>
                </a:solidFill>
                <a:latin typeface="Times New Roman" pitchFamily="18" charset="0"/>
                <a:cs typeface="Times New Roman" pitchFamily="18" charset="0"/>
              </a:rPr>
              <a:t>SaaS</a:t>
            </a:r>
            <a:r>
              <a:rPr lang="en-US" sz="2200" dirty="0">
                <a:solidFill>
                  <a:schemeClr val="tx1"/>
                </a:solidFill>
                <a:latin typeface="Times New Roman" pitchFamily="18" charset="0"/>
                <a:cs typeface="Times New Roman" pitchFamily="18" charset="0"/>
              </a:rPr>
              <a:t> is also known as "on-demand software". It is a software in which the applications are hosted by a cloud service provider.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Users can access these applications with the help of internet connection and web browser.</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Independent platform and don’t need to install s/w in PC.</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Cloud runs single instance of s/w available for multiple end users, making it cheap.</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Resources managed by a vendor and accessible via web browser or lightweight client application.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End customers are frequent users of  </a:t>
            </a:r>
            <a:r>
              <a:rPr lang="en-IN" sz="2200" dirty="0" err="1">
                <a:solidFill>
                  <a:schemeClr val="tx1"/>
                </a:solidFill>
                <a:latin typeface="Times New Roman" pitchFamily="18" charset="0"/>
                <a:cs typeface="Times New Roman" pitchFamily="18" charset="0"/>
              </a:rPr>
              <a:t>SaaS</a:t>
            </a:r>
            <a:r>
              <a:rPr lang="en-IN" sz="2200" dirty="0">
                <a:solidFill>
                  <a:schemeClr val="tx1"/>
                </a:solidFill>
                <a:latin typeface="Times New Roman" pitchFamily="18" charset="0"/>
                <a:cs typeface="Times New Roman" pitchFamily="18" charset="0"/>
              </a:rPr>
              <a:t>.</a:t>
            </a:r>
          </a:p>
          <a:p>
            <a:pPr algn="just"/>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Google eco system, MS office 365, sales force etc.</a:t>
            </a:r>
          </a:p>
          <a:p>
            <a:pPr algn="just"/>
            <a:r>
              <a:rPr lang="en-IN" sz="2200" dirty="0">
                <a:solidFill>
                  <a:schemeClr val="tx1"/>
                </a:solidFill>
                <a:latin typeface="Times New Roman" pitchFamily="18" charset="0"/>
                <a:cs typeface="Times New Roman" pitchFamily="18" charset="0"/>
              </a:rPr>
              <a:t>Use cases: Netflix, Zoom, </a:t>
            </a:r>
            <a:r>
              <a:rPr lang="en-IN" sz="2200" dirty="0" err="1">
                <a:solidFill>
                  <a:schemeClr val="tx1"/>
                </a:solidFill>
                <a:latin typeface="Times New Roman" pitchFamily="18" charset="0"/>
                <a:cs typeface="Times New Roman" pitchFamily="18" charset="0"/>
              </a:rPr>
              <a:t>Dropbox</a:t>
            </a:r>
            <a:r>
              <a:rPr lang="en-IN" sz="2200" dirty="0">
                <a:solidFill>
                  <a:schemeClr val="tx1"/>
                </a:solidFill>
                <a:latin typeface="Times New Roman" pitchFamily="18" charset="0"/>
                <a:cs typeface="Times New Roman" pitchFamily="18" charset="0"/>
              </a:rPr>
              <a:t>, </a:t>
            </a:r>
          </a:p>
          <a:p>
            <a:pPr algn="just"/>
            <a:endParaRPr lang="en-IN" sz="2200" b="1" dirty="0">
              <a:solidFill>
                <a:schemeClr val="tx1"/>
              </a:solidFill>
              <a:latin typeface="Times New Roman" pitchFamily="18" charset="0"/>
              <a:cs typeface="Times New Roman" pitchFamily="18" charset="0"/>
            </a:endParaRP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5715" t="8500" r="11333" b="55068"/>
          <a:stretch/>
        </p:blipFill>
        <p:spPr bwMode="auto">
          <a:xfrm>
            <a:off x="3508829" y="5334000"/>
            <a:ext cx="5558971" cy="150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0179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Software as a Service (</a:t>
            </a:r>
            <a:r>
              <a:rPr lang="en-IN" sz="2800" dirty="0" err="1">
                <a:solidFill>
                  <a:srgbClr val="FF0000"/>
                </a:solidFill>
                <a:latin typeface="Times New Roman" pitchFamily="18" charset="0"/>
                <a:cs typeface="Times New Roman" pitchFamily="18" charset="0"/>
              </a:rPr>
              <a:t>SaaS</a:t>
            </a:r>
            <a:r>
              <a:rPr lang="en-IN" sz="2800" dirty="0">
                <a:solidFill>
                  <a:srgbClr val="FF0000"/>
                </a:solidFill>
                <a:latin typeface="Times New Roman" pitchFamily="18" charset="0"/>
                <a:cs typeface="Times New Roman" pitchFamily="18" charset="0"/>
              </a:rPr>
              <a: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Advantages: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Universally accessible from any platform</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Can work from any where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Excellent for collaborative work</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Vendor provides modest s/w tools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Multi-tenancy</a:t>
            </a:r>
          </a:p>
          <a:p>
            <a:pPr algn="just"/>
            <a:r>
              <a:rPr lang="en-IN" sz="2200" b="1" dirty="0">
                <a:solidFill>
                  <a:schemeClr val="tx1"/>
                </a:solidFill>
                <a:latin typeface="Times New Roman" pitchFamily="18" charset="0"/>
                <a:cs typeface="Times New Roman" pitchFamily="18" charset="0"/>
              </a:rPr>
              <a:t>Disadvantages: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Portability and browser issues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Performance depend on internet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Compliance restrictions</a:t>
            </a:r>
          </a:p>
        </p:txBody>
      </p:sp>
    </p:spTree>
    <p:extLst>
      <p:ext uri="{BB962C8B-B14F-4D97-AF65-F5344CB8AC3E}">
        <p14:creationId xmlns:p14="http://schemas.microsoft.com/office/powerpoint/2010/main" val="42583939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Platform as a Service (</a:t>
            </a:r>
            <a:r>
              <a:rPr lang="en-IN" sz="2800" dirty="0" err="1">
                <a:solidFill>
                  <a:srgbClr val="FF0000"/>
                </a:solidFill>
                <a:latin typeface="Times New Roman" pitchFamily="18" charset="0"/>
                <a:cs typeface="Times New Roman" pitchFamily="18" charset="0"/>
              </a:rPr>
              <a:t>PaaS</a:t>
            </a:r>
            <a:r>
              <a:rPr lang="en-IN" sz="2800" dirty="0">
                <a:solidFill>
                  <a:srgbClr val="FF0000"/>
                </a:solidFill>
                <a:latin typeface="Times New Roman" pitchFamily="18" charset="0"/>
                <a:cs typeface="Times New Roman" pitchFamily="18" charset="0"/>
              </a:rPr>
              <a: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err="1">
                <a:solidFill>
                  <a:schemeClr val="tx1"/>
                </a:solidFill>
                <a:latin typeface="Times New Roman" pitchFamily="18" charset="0"/>
                <a:cs typeface="Times New Roman" pitchFamily="18" charset="0"/>
              </a:rPr>
              <a:t>PaaS</a:t>
            </a:r>
            <a:r>
              <a:rPr lang="en-US" sz="2200" dirty="0">
                <a:solidFill>
                  <a:schemeClr val="tx1"/>
                </a:solidFill>
                <a:latin typeface="Times New Roman" pitchFamily="18" charset="0"/>
                <a:cs typeface="Times New Roman" pitchFamily="18" charset="0"/>
              </a:rPr>
              <a:t> cloud computing platform is created for the programmer to develop, test, run, and manage the applications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A development environment made up of programming language execution environment, OS, web server and a database.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Users can build, compile and run their programs without worrying of underlying infrastructure.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User manage data and application resources, all other resources managed by vendor.</a:t>
            </a:r>
          </a:p>
          <a:p>
            <a:pPr algn="just"/>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AWS elastic beanstalk, </a:t>
            </a:r>
            <a:r>
              <a:rPr lang="en-IN" sz="2200" dirty="0" err="1">
                <a:solidFill>
                  <a:schemeClr val="tx1"/>
                </a:solidFill>
                <a:latin typeface="Times New Roman" pitchFamily="18" charset="0"/>
                <a:cs typeface="Times New Roman" pitchFamily="18" charset="0"/>
              </a:rPr>
              <a:t>google</a:t>
            </a:r>
            <a:r>
              <a:rPr lang="en-IN" sz="2200" dirty="0">
                <a:solidFill>
                  <a:schemeClr val="tx1"/>
                </a:solidFill>
                <a:latin typeface="Times New Roman" pitchFamily="18" charset="0"/>
                <a:cs typeface="Times New Roman" pitchFamily="18" charset="0"/>
              </a:rPr>
              <a:t> app engine, Windows azure.</a:t>
            </a:r>
          </a:p>
          <a:p>
            <a:pPr algn="just"/>
            <a:r>
              <a:rPr lang="en-IN" sz="2200" dirty="0">
                <a:solidFill>
                  <a:schemeClr val="tx1"/>
                </a:solidFill>
                <a:latin typeface="Times New Roman" pitchFamily="18" charset="0"/>
                <a:cs typeface="Times New Roman" pitchFamily="18" charset="0"/>
              </a:rPr>
              <a:t>Use cases: Mobile application development, cross platform apps, API development and interface, </a:t>
            </a:r>
            <a:r>
              <a:rPr lang="en-IN" sz="2200" dirty="0" err="1">
                <a:solidFill>
                  <a:schemeClr val="tx1"/>
                </a:solidFill>
                <a:latin typeface="Times New Roman" pitchFamily="18" charset="0"/>
                <a:cs typeface="Times New Roman" pitchFamily="18" charset="0"/>
              </a:rPr>
              <a:t>IoT</a:t>
            </a:r>
            <a:r>
              <a:rPr lang="en-IN" sz="2200" dirty="0">
                <a:solidFill>
                  <a:schemeClr val="tx1"/>
                </a:solidFill>
                <a:latin typeface="Times New Roman" pitchFamily="18" charset="0"/>
                <a:cs typeface="Times New Roman" pitchFamily="18" charset="0"/>
              </a:rPr>
              <a:t>, </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952" t="43267" r="11334" b="27307"/>
          <a:stretch/>
        </p:blipFill>
        <p:spPr bwMode="auto">
          <a:xfrm>
            <a:off x="2714173" y="5410200"/>
            <a:ext cx="6150428"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40793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Platform as a Service (</a:t>
            </a:r>
            <a:r>
              <a:rPr lang="en-IN" sz="2800" dirty="0" err="1">
                <a:solidFill>
                  <a:srgbClr val="FF0000"/>
                </a:solidFill>
                <a:latin typeface="Times New Roman" pitchFamily="18" charset="0"/>
                <a:cs typeface="Times New Roman" pitchFamily="18" charset="0"/>
              </a:rPr>
              <a:t>PaaS</a:t>
            </a:r>
            <a:r>
              <a:rPr lang="en-IN" sz="2800" dirty="0">
                <a:solidFill>
                  <a:srgbClr val="FF0000"/>
                </a:solidFill>
                <a:latin typeface="Times New Roman" pitchFamily="18" charset="0"/>
                <a:cs typeface="Times New Roman" pitchFamily="18" charset="0"/>
              </a:rPr>
              <a: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Advantages: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Cost effective, rapid development and scalable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Faster market for developers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Easy deployment of web applications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Private or public deployment</a:t>
            </a:r>
          </a:p>
          <a:p>
            <a:pPr algn="just"/>
            <a:r>
              <a:rPr lang="en-IN" sz="2200" b="1" dirty="0">
                <a:solidFill>
                  <a:schemeClr val="tx1"/>
                </a:solidFill>
                <a:latin typeface="Times New Roman" pitchFamily="18" charset="0"/>
                <a:cs typeface="Times New Roman" pitchFamily="18" charset="0"/>
              </a:rPr>
              <a:t>Disadvantages: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Developers limited to providers languages and tools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Migration issues- vendor </a:t>
            </a:r>
            <a:r>
              <a:rPr lang="en-IN" sz="2200" dirty="0" err="1">
                <a:solidFill>
                  <a:schemeClr val="tx1"/>
                </a:solidFill>
                <a:latin typeface="Times New Roman" pitchFamily="18" charset="0"/>
                <a:cs typeface="Times New Roman" pitchFamily="18" charset="0"/>
              </a:rPr>
              <a:t>lockin</a:t>
            </a: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7676285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Infrastructure as a Service (</a:t>
            </a:r>
            <a:r>
              <a:rPr lang="en-IN" sz="2800" dirty="0" err="1">
                <a:solidFill>
                  <a:srgbClr val="FF0000"/>
                </a:solidFill>
                <a:latin typeface="Times New Roman" pitchFamily="18" charset="0"/>
                <a:cs typeface="Times New Roman" pitchFamily="18" charset="0"/>
              </a:rPr>
              <a:t>IaaS</a:t>
            </a:r>
            <a:r>
              <a:rPr lang="en-IN" sz="2800" dirty="0">
                <a:solidFill>
                  <a:srgbClr val="FF0000"/>
                </a:solidFill>
                <a:latin typeface="Times New Roman" pitchFamily="18" charset="0"/>
                <a:cs typeface="Times New Roman" pitchFamily="18" charset="0"/>
              </a:rPr>
              <a: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err="1">
                <a:solidFill>
                  <a:schemeClr val="tx1"/>
                </a:solidFill>
                <a:latin typeface="Times New Roman" pitchFamily="18" charset="0"/>
                <a:cs typeface="Times New Roman" pitchFamily="18" charset="0"/>
              </a:rPr>
              <a:t>IaaS</a:t>
            </a:r>
            <a:r>
              <a:rPr lang="en-US" sz="2200" dirty="0">
                <a:solidFill>
                  <a:schemeClr val="tx1"/>
                </a:solidFill>
                <a:latin typeface="Times New Roman" pitchFamily="18" charset="0"/>
                <a:cs typeface="Times New Roman" pitchFamily="18" charset="0"/>
              </a:rPr>
              <a:t> is also known as Hardware as a Service (</a:t>
            </a:r>
            <a:r>
              <a:rPr lang="en-US" sz="2200" dirty="0" err="1">
                <a:solidFill>
                  <a:schemeClr val="tx1"/>
                </a:solidFill>
                <a:latin typeface="Times New Roman" pitchFamily="18" charset="0"/>
                <a:cs typeface="Times New Roman" pitchFamily="18" charset="0"/>
              </a:rPr>
              <a:t>HaaS</a:t>
            </a:r>
            <a:r>
              <a:rPr lang="en-US" sz="2200" dirty="0">
                <a:solidFill>
                  <a:schemeClr val="tx1"/>
                </a:solidFill>
                <a:latin typeface="Times New Roman" pitchFamily="18" charset="0"/>
                <a:cs typeface="Times New Roman" pitchFamily="18" charset="0"/>
              </a:rPr>
              <a:t>). It is a computing infrastructure managed over the internet.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main advantage of using </a:t>
            </a:r>
            <a:r>
              <a:rPr lang="en-US" sz="2200" dirty="0" err="1">
                <a:solidFill>
                  <a:schemeClr val="tx1"/>
                </a:solidFill>
                <a:latin typeface="Times New Roman" pitchFamily="18" charset="0"/>
                <a:cs typeface="Times New Roman" pitchFamily="18" charset="0"/>
              </a:rPr>
              <a:t>IaaS</a:t>
            </a:r>
            <a:r>
              <a:rPr lang="en-US" sz="2200" dirty="0">
                <a:solidFill>
                  <a:schemeClr val="tx1"/>
                </a:solidFill>
                <a:latin typeface="Times New Roman" pitchFamily="18" charset="0"/>
                <a:cs typeface="Times New Roman" pitchFamily="18" charset="0"/>
              </a:rPr>
              <a:t> is that it helps users to avoid the cost and complexity of purchasing and managing the physical servers.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It offers computing resources and infrastructure in virtual environment.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Resources such as data storage, virtualization, servers and networking.</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Vendors are responsible for handling above resources, users responsible for handling application, data, runtime and middleware.</a:t>
            </a:r>
          </a:p>
          <a:p>
            <a:pPr algn="just"/>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Mainly for system admins. AWS EC2, </a:t>
            </a:r>
            <a:r>
              <a:rPr lang="en-IN" sz="2200" dirty="0" err="1">
                <a:solidFill>
                  <a:schemeClr val="tx1"/>
                </a:solidFill>
                <a:latin typeface="Times New Roman" pitchFamily="18" charset="0"/>
                <a:cs typeface="Times New Roman" pitchFamily="18" charset="0"/>
              </a:rPr>
              <a:t>GoGrid</a:t>
            </a:r>
            <a:r>
              <a:rPr lang="en-IN" sz="2200" dirty="0">
                <a:solidFill>
                  <a:schemeClr val="tx1"/>
                </a:solidFill>
                <a:latin typeface="Times New Roman" pitchFamily="18" charset="0"/>
                <a:cs typeface="Times New Roman" pitchFamily="18" charset="0"/>
              </a:rPr>
              <a:t>, Rackspace.com etc.</a:t>
            </a:r>
          </a:p>
          <a:p>
            <a:pPr algn="just"/>
            <a:r>
              <a:rPr lang="en-IN" sz="2200" dirty="0">
                <a:solidFill>
                  <a:schemeClr val="tx1"/>
                </a:solidFill>
                <a:latin typeface="Times New Roman" pitchFamily="18" charset="0"/>
                <a:cs typeface="Times New Roman" pitchFamily="18" charset="0"/>
              </a:rPr>
              <a:t>Use cases: Graphical apps, Web based apps, High performance computers and development process</a:t>
            </a:r>
          </a:p>
        </p:txBody>
      </p:sp>
      <p:pic>
        <p:nvPicPr>
          <p:cNvPr id="5"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7952" t="72605" r="11334" b="4975"/>
          <a:stretch/>
        </p:blipFill>
        <p:spPr bwMode="auto">
          <a:xfrm>
            <a:off x="2993572" y="5791200"/>
            <a:ext cx="6150428" cy="9289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4087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Infrastructure as a Service (</a:t>
            </a:r>
            <a:r>
              <a:rPr lang="en-IN" sz="2800" dirty="0" err="1">
                <a:solidFill>
                  <a:srgbClr val="FF0000"/>
                </a:solidFill>
                <a:latin typeface="Times New Roman" pitchFamily="18" charset="0"/>
                <a:cs typeface="Times New Roman" pitchFamily="18" charset="0"/>
              </a:rPr>
              <a:t>IaaS</a:t>
            </a:r>
            <a:r>
              <a:rPr lang="en-IN" sz="2800" dirty="0">
                <a:solidFill>
                  <a:srgbClr val="FF0000"/>
                </a:solidFill>
                <a:latin typeface="Times New Roman" pitchFamily="18" charset="0"/>
                <a:cs typeface="Times New Roman" pitchFamily="18" charset="0"/>
              </a:rPr>
              <a:t>)</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Advantages: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Cloud provides infrastructure.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Enhanced scalability, dynamic work loads.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Flexible.</a:t>
            </a:r>
          </a:p>
          <a:p>
            <a:pPr algn="just"/>
            <a:r>
              <a:rPr lang="en-IN" sz="2200" b="1" dirty="0">
                <a:solidFill>
                  <a:schemeClr val="tx1"/>
                </a:solidFill>
                <a:latin typeface="Times New Roman" pitchFamily="18" charset="0"/>
                <a:cs typeface="Times New Roman" pitchFamily="18" charset="0"/>
              </a:rPr>
              <a:t>Disadvantages: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Security issues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Network and service delays</a:t>
            </a:r>
          </a:p>
        </p:txBody>
      </p:sp>
    </p:spTree>
    <p:extLst>
      <p:ext uri="{BB962C8B-B14F-4D97-AF65-F5344CB8AC3E}">
        <p14:creationId xmlns:p14="http://schemas.microsoft.com/office/powerpoint/2010/main" val="15912281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Cloud Deployment Models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fontScale="92500" lnSpcReduction="10000"/>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Cloud Deployment Model functions as a virtual computing environment with a deployment architecture that varies depending on the amount of data you want to store and who has access to the infrastructure.</a:t>
            </a:r>
          </a:p>
          <a:p>
            <a:pPr algn="just"/>
            <a:r>
              <a:rPr lang="en-US" sz="2200" b="1" dirty="0">
                <a:solidFill>
                  <a:schemeClr val="tx1"/>
                </a:solidFill>
                <a:latin typeface="Times New Roman" pitchFamily="18" charset="0"/>
                <a:cs typeface="Times New Roman" pitchFamily="18" charset="0"/>
              </a:rPr>
              <a:t>Types of Cloud Computing Deployment Models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cloud deployment model identifies the specific type of cloud environment based on ownership, scale, and access, as well as the cloud’s nature and purpose.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location of the servers you’re utilizing and who controls them are defined by a cloud deployment model. It specifies how your cloud infrastructure will look, what you can change, and whether you will be given services or will have to create everything yourself.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Relationships between the infrastructure and your users are also defined by cloud deployment types. Different types of cloud computing deployment models are described below.</a:t>
            </a:r>
          </a:p>
          <a:p>
            <a:pPr marL="457200" indent="-457200" algn="just">
              <a:buFont typeface="+mj-lt"/>
              <a:buAutoNum type="arabicPeriod"/>
            </a:pPr>
            <a:r>
              <a:rPr lang="en-US" sz="2200" dirty="0">
                <a:solidFill>
                  <a:schemeClr val="tx1"/>
                </a:solidFill>
                <a:latin typeface="Times New Roman" pitchFamily="18" charset="0"/>
                <a:cs typeface="Times New Roman" pitchFamily="18" charset="0"/>
              </a:rPr>
              <a:t>Public Cloud</a:t>
            </a:r>
          </a:p>
          <a:p>
            <a:pPr marL="457200" indent="-457200" algn="just">
              <a:buFont typeface="+mj-lt"/>
              <a:buAutoNum type="arabicPeriod"/>
            </a:pPr>
            <a:r>
              <a:rPr lang="en-US" sz="2200" dirty="0">
                <a:solidFill>
                  <a:schemeClr val="tx1"/>
                </a:solidFill>
                <a:latin typeface="Times New Roman" pitchFamily="18" charset="0"/>
                <a:cs typeface="Times New Roman" pitchFamily="18" charset="0"/>
              </a:rPr>
              <a:t>Private Cloud</a:t>
            </a:r>
          </a:p>
          <a:p>
            <a:pPr marL="457200" indent="-457200" algn="just">
              <a:buFont typeface="+mj-lt"/>
              <a:buAutoNum type="arabicPeriod"/>
            </a:pPr>
            <a:r>
              <a:rPr lang="en-US" sz="2200" dirty="0">
                <a:solidFill>
                  <a:schemeClr val="tx1"/>
                </a:solidFill>
                <a:latin typeface="Times New Roman" pitchFamily="18" charset="0"/>
                <a:cs typeface="Times New Roman" pitchFamily="18" charset="0"/>
              </a:rPr>
              <a:t>Hybrid Cloud</a:t>
            </a:r>
          </a:p>
          <a:p>
            <a:pPr marL="457200" indent="-457200" algn="just">
              <a:buFont typeface="+mj-lt"/>
              <a:buAutoNum type="arabicPeriod"/>
            </a:pPr>
            <a:r>
              <a:rPr lang="en-US" sz="2200" dirty="0">
                <a:solidFill>
                  <a:schemeClr val="tx1"/>
                </a:solidFill>
                <a:latin typeface="Times New Roman" pitchFamily="18" charset="0"/>
                <a:cs typeface="Times New Roman" pitchFamily="18" charset="0"/>
              </a:rPr>
              <a:t>Community Cloud</a:t>
            </a:r>
          </a:p>
          <a:p>
            <a:pPr algn="just"/>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129411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Public Cloud</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public cloud makes it possible for anybody to access systems and services, may be less secure as it is open to everyone.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one in which cloud infrastructure services are provided over the internet to the general people or major industry groups.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infrastructure owned by the entity, not by the consumer.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a type of cloud hosting that allows customers and users to easily access systems and services.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Service providers supply services to a variety of customers.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 this arrangement, storage backup and retrieval services are given for free, as a subscription, or on a per-user basis. </a:t>
            </a:r>
          </a:p>
          <a:p>
            <a:pPr marL="342900" indent="-342900" algn="just">
              <a:buFont typeface="Arial" pitchFamily="34" charset="0"/>
              <a:buChar char="•"/>
            </a:pPr>
            <a:r>
              <a:rPr lang="fr-FR" sz="2200" dirty="0" err="1">
                <a:solidFill>
                  <a:schemeClr val="tx1"/>
                </a:solidFill>
                <a:latin typeface="Times New Roman" pitchFamily="18" charset="0"/>
                <a:cs typeface="Times New Roman" pitchFamily="18" charset="0"/>
              </a:rPr>
              <a:t>Example</a:t>
            </a:r>
            <a:r>
              <a:rPr lang="fr-FR" sz="2200" dirty="0">
                <a:solidFill>
                  <a:schemeClr val="tx1"/>
                </a:solidFill>
                <a:latin typeface="Times New Roman" pitchFamily="18" charset="0"/>
                <a:cs typeface="Times New Roman" pitchFamily="18" charset="0"/>
              </a:rPr>
              <a:t> - Gmail, </a:t>
            </a:r>
            <a:r>
              <a:rPr lang="fr-FR" sz="2200" dirty="0" err="1">
                <a:solidFill>
                  <a:schemeClr val="tx1"/>
                </a:solidFill>
                <a:latin typeface="Times New Roman" pitchFamily="18" charset="0"/>
                <a:cs typeface="Times New Roman" pitchFamily="18" charset="0"/>
              </a:rPr>
              <a:t>Dropbox</a:t>
            </a:r>
            <a:r>
              <a:rPr lang="fr-FR" sz="2200" dirty="0">
                <a:solidFill>
                  <a:schemeClr val="tx1"/>
                </a:solidFill>
                <a:latin typeface="Times New Roman" pitchFamily="18" charset="0"/>
                <a:cs typeface="Times New Roman" pitchFamily="18" charset="0"/>
              </a:rPr>
              <a:t>, Microsoft Azure, etc.</a:t>
            </a:r>
            <a:endParaRPr lang="en-US" sz="2200" dirty="0">
              <a:solidFill>
                <a:schemeClr val="tx1"/>
              </a:solidFill>
              <a:latin typeface="Times New Roman" pitchFamily="18" charset="0"/>
              <a:cs typeface="Times New Roman" pitchFamily="18" charset="0"/>
            </a:endParaRPr>
          </a:p>
        </p:txBody>
      </p:sp>
      <p:pic>
        <p:nvPicPr>
          <p:cNvPr id="4" name="Content Placeholder 3" descr="Group4-660x330.jpg"/>
          <p:cNvPicPr>
            <a:picLocks noChangeAspect="1"/>
          </p:cNvPicPr>
          <p:nvPr/>
        </p:nvPicPr>
        <p:blipFill>
          <a:blip r:embed="rId2"/>
          <a:stretch>
            <a:fillRect/>
          </a:stretch>
        </p:blipFill>
        <p:spPr>
          <a:xfrm>
            <a:off x="4953000" y="4876800"/>
            <a:ext cx="4000500" cy="1794164"/>
          </a:xfrm>
          <a:prstGeom prst="rect">
            <a:avLst/>
          </a:prstGeom>
        </p:spPr>
      </p:pic>
    </p:spTree>
    <p:extLst>
      <p:ext uri="{BB962C8B-B14F-4D97-AF65-F5344CB8AC3E}">
        <p14:creationId xmlns:p14="http://schemas.microsoft.com/office/powerpoint/2010/main" val="25711652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Private Cloud</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This is opposite of the public cloud deployment model. It’s a one-on-one environment for a single user (customer).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No need to share your hardware with anyone else. The distinction between private and public clouds is in how you handle all of the hardware.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also called the “internal cloud” &amp; it refers to the ability to access systems and services within a given border or organization.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Implemented in a secure environment that is protected by powerful firewalls and under the supervision of an organization’s IT department.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private cloud gives greater flexibility of control over cloud resources.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Ex: HP Data Centers, Microsoft, </a:t>
            </a:r>
            <a:r>
              <a:rPr lang="en-US" sz="2200" dirty="0" err="1">
                <a:solidFill>
                  <a:schemeClr val="tx1"/>
                </a:solidFill>
                <a:latin typeface="Times New Roman" pitchFamily="18" charset="0"/>
                <a:cs typeface="Times New Roman" pitchFamily="18" charset="0"/>
              </a:rPr>
              <a:t>Elastra</a:t>
            </a:r>
            <a:r>
              <a:rPr lang="en-US" sz="2200" dirty="0">
                <a:solidFill>
                  <a:schemeClr val="tx1"/>
                </a:solidFill>
                <a:latin typeface="Times New Roman" pitchFamily="18" charset="0"/>
                <a:cs typeface="Times New Roman" pitchFamily="18" charset="0"/>
              </a:rPr>
              <a:t>-private cloud, and Ubuntu</a:t>
            </a:r>
          </a:p>
        </p:txBody>
      </p:sp>
      <p:pic>
        <p:nvPicPr>
          <p:cNvPr id="4" name="Content Placeholder 3" descr="Group1-660x330.jpg"/>
          <p:cNvPicPr>
            <a:picLocks noChangeAspect="1"/>
          </p:cNvPicPr>
          <p:nvPr/>
        </p:nvPicPr>
        <p:blipFill>
          <a:blip r:embed="rId2"/>
          <a:stretch>
            <a:fillRect/>
          </a:stretch>
        </p:blipFill>
        <p:spPr>
          <a:xfrm>
            <a:off x="5334000" y="5638800"/>
            <a:ext cx="2933700" cy="1040319"/>
          </a:xfrm>
          <a:prstGeom prst="rect">
            <a:avLst/>
          </a:prstGeom>
        </p:spPr>
      </p:pic>
    </p:spTree>
    <p:extLst>
      <p:ext uri="{BB962C8B-B14F-4D97-AF65-F5344CB8AC3E}">
        <p14:creationId xmlns:p14="http://schemas.microsoft.com/office/powerpoint/2010/main" val="1223630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Hybrid Cloud</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By bridging the public and private worlds with a layer of proprietary software, hybrid cloud computing gives the best of both worlds.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With a hybrid solution, you may host the app in a safe environment while taking advantage of the public cloud’s cost savings.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Organizations can move data and applications between different clouds using a combination of two or more cloud deployment methods, depending on their needs.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Ex: A large company maintaining a hybrid cloud of public and private. </a:t>
            </a:r>
          </a:p>
          <a:p>
            <a:pPr algn="just"/>
            <a:endParaRPr lang="en-US" sz="2200" dirty="0">
              <a:solidFill>
                <a:schemeClr val="tx1"/>
              </a:solidFill>
              <a:latin typeface="Times New Roman" pitchFamily="18" charset="0"/>
              <a:cs typeface="Times New Roman" pitchFamily="18" charset="0"/>
            </a:endParaRPr>
          </a:p>
        </p:txBody>
      </p:sp>
      <p:pic>
        <p:nvPicPr>
          <p:cNvPr id="4" name="Content Placeholder 3" descr="Group2-660x330.jpg"/>
          <p:cNvPicPr>
            <a:picLocks noChangeAspect="1"/>
          </p:cNvPicPr>
          <p:nvPr/>
        </p:nvPicPr>
        <p:blipFill>
          <a:blip r:embed="rId2"/>
          <a:stretch>
            <a:fillRect/>
          </a:stretch>
        </p:blipFill>
        <p:spPr>
          <a:xfrm>
            <a:off x="2819400" y="3657600"/>
            <a:ext cx="6286500" cy="3143250"/>
          </a:xfrm>
          <a:prstGeom prst="rect">
            <a:avLst/>
          </a:prstGeom>
        </p:spPr>
      </p:pic>
    </p:spTree>
    <p:extLst>
      <p:ext uri="{BB962C8B-B14F-4D97-AF65-F5344CB8AC3E}">
        <p14:creationId xmlns:p14="http://schemas.microsoft.com/office/powerpoint/2010/main" val="19929369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Community Cloud</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a model between public and private cloud.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Only selected organizations or communities of users having the same line of business or same agenda have access to this type of cloud.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Example: All the banks maintaining a common cloud having the database of loan defaulters, which is shared among the banks to refer while issuing a fresh loan. </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3432175"/>
            <a:ext cx="47625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1597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Advantages &amp; Disadvantages of cloud computing</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a:solidFill>
                  <a:schemeClr val="tx1"/>
                </a:solidFill>
                <a:latin typeface="Times New Roman" pitchFamily="18" charset="0"/>
                <a:cs typeface="Times New Roman" pitchFamily="18" charset="0"/>
              </a:rPr>
              <a:t>Advantages: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Cost Reduction: </a:t>
            </a:r>
            <a:r>
              <a:rPr lang="en-US" sz="2200" dirty="0">
                <a:solidFill>
                  <a:schemeClr val="tx1"/>
                </a:solidFill>
                <a:latin typeface="Times New Roman" pitchFamily="18" charset="0"/>
                <a:cs typeface="Times New Roman" pitchFamily="18" charset="0"/>
              </a:rPr>
              <a:t>The major reason companies shift towards cloud computing is that it takes lower costs. The business does not need to build its own IT infrastructure or purchase hardware or equipment. Costs include physical hardware for data storage purposes like hard drives, solid-state drives or disks, etc.</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Better Collaboration: </a:t>
            </a:r>
            <a:r>
              <a:rPr lang="en-US" sz="2200" dirty="0">
                <a:solidFill>
                  <a:schemeClr val="tx1"/>
                </a:solidFill>
                <a:latin typeface="Times New Roman" pitchFamily="18" charset="0"/>
                <a:cs typeface="Times New Roman" pitchFamily="18" charset="0"/>
              </a:rPr>
              <a:t>Cloud computing allows people to access cloud data from any device, from anywhere, from any time as long as they have an internet connection.</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Backup and Restore Data: </a:t>
            </a:r>
            <a:r>
              <a:rPr lang="en-US" sz="2200" dirty="0">
                <a:solidFill>
                  <a:schemeClr val="tx1"/>
                </a:solidFill>
                <a:latin typeface="Times New Roman" pitchFamily="18" charset="0"/>
                <a:cs typeface="Times New Roman" pitchFamily="18" charset="0"/>
              </a:rPr>
              <a:t>As the data is stored in the cloud, it is a lot easier to get the backup and recovery of that data with just a few clicks; otherwise, very time-consuming process on-premise, manually.</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Security: </a:t>
            </a:r>
            <a:r>
              <a:rPr lang="en-US" sz="2200" dirty="0">
                <a:solidFill>
                  <a:schemeClr val="tx1"/>
                </a:solidFill>
                <a:latin typeface="Times New Roman" pitchFamily="18" charset="0"/>
                <a:cs typeface="Times New Roman" pitchFamily="18" charset="0"/>
              </a:rPr>
              <a:t>Due to different security reasons, cloud providers have designed very high-security cloud features so that you can allow what data is accessible to which person groups. Cloud providers also hire top security experts and develop the most advanced security solutions, providing robust protection.</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algn="just"/>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138875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Advantages &amp; Disadvantages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a:solidFill>
                  <a:schemeClr val="tx1"/>
                </a:solidFill>
                <a:latin typeface="Times New Roman" pitchFamily="18" charset="0"/>
                <a:cs typeface="Times New Roman" pitchFamily="18" charset="0"/>
              </a:rPr>
              <a:t>Advantages: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Pay as you go: </a:t>
            </a:r>
            <a:r>
              <a:rPr lang="en-US" sz="2200" dirty="0">
                <a:solidFill>
                  <a:schemeClr val="tx1"/>
                </a:solidFill>
                <a:latin typeface="Times New Roman" pitchFamily="18" charset="0"/>
                <a:cs typeface="Times New Roman" pitchFamily="18" charset="0"/>
              </a:rPr>
              <a:t>Cloud computing allows you flexibility because you have to pay only for what you use as a service.</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Boundless storage capacity: </a:t>
            </a:r>
            <a:r>
              <a:rPr lang="en-US" sz="2200" dirty="0">
                <a:solidFill>
                  <a:schemeClr val="tx1"/>
                </a:solidFill>
                <a:latin typeface="Times New Roman" pitchFamily="18" charset="0"/>
                <a:cs typeface="Times New Roman" pitchFamily="18" charset="0"/>
              </a:rPr>
              <a:t>No storage capacity is predefined, so you can increase or decrease storage capacity according to your needs at any time.</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Accessibility: </a:t>
            </a:r>
            <a:r>
              <a:rPr lang="en-US" sz="2200" dirty="0">
                <a:solidFill>
                  <a:schemeClr val="tx1"/>
                </a:solidFill>
                <a:latin typeface="Times New Roman" pitchFamily="18" charset="0"/>
                <a:cs typeface="Times New Roman" pitchFamily="18" charset="0"/>
              </a:rPr>
              <a:t>Cloud computing allows you to quickly and easily store, access, and manipulate information on the cloud.</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Mobility: </a:t>
            </a:r>
            <a:r>
              <a:rPr lang="en-US" sz="2200" dirty="0">
                <a:solidFill>
                  <a:schemeClr val="tx1"/>
                </a:solidFill>
                <a:latin typeface="Times New Roman" pitchFamily="18" charset="0"/>
                <a:cs typeface="Times New Roman" pitchFamily="18" charset="0"/>
              </a:rPr>
              <a:t>Cloud computing allows easy access to all cloud data via mobile through the internet.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Quicker Deployments: </a:t>
            </a:r>
            <a:r>
              <a:rPr lang="en-US" sz="2200" dirty="0">
                <a:solidFill>
                  <a:schemeClr val="tx1"/>
                </a:solidFill>
                <a:latin typeface="Times New Roman" pitchFamily="18" charset="0"/>
                <a:cs typeface="Times New Roman" pitchFamily="18" charset="0"/>
              </a:rPr>
              <a:t>Deploy our services to the cloud more quickly and with fewer clicks. As compared to setting up all the configurations on the normal deployments.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Automatic Software Integrations: S</a:t>
            </a:r>
            <a:r>
              <a:rPr lang="en-US" sz="2200" dirty="0">
                <a:solidFill>
                  <a:schemeClr val="tx1"/>
                </a:solidFill>
                <a:latin typeface="Times New Roman" pitchFamily="18" charset="0"/>
                <a:cs typeface="Times New Roman" pitchFamily="18" charset="0"/>
              </a:rPr>
              <a:t>et automation of software updates and upgrades. So as soon as a newer version of any software is released, it will automatically integrate into the services you are using.</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algn="just"/>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432939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Advantages &amp; Disadvantages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a:solidFill>
                  <a:schemeClr val="tx1"/>
                </a:solidFill>
                <a:latin typeface="Times New Roman" pitchFamily="18" charset="0"/>
                <a:cs typeface="Times New Roman" pitchFamily="18" charset="0"/>
              </a:rPr>
              <a:t>Disadvantages: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Internet Connectivity: </a:t>
            </a:r>
            <a:r>
              <a:rPr lang="en-US" sz="2200" dirty="0">
                <a:solidFill>
                  <a:schemeClr val="tx1"/>
                </a:solidFill>
                <a:latin typeface="Times New Roman" pitchFamily="18" charset="0"/>
                <a:cs typeface="Times New Roman" pitchFamily="18" charset="0"/>
              </a:rPr>
              <a:t>Data (files, images, video, audio, etc.) is stored in the cloud. So to access the data, an internet connection is required. In the absence of the internet, we can't access it.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Downtime: </a:t>
            </a:r>
            <a:r>
              <a:rPr lang="en-US" sz="2200" dirty="0">
                <a:solidFill>
                  <a:schemeClr val="tx1"/>
                </a:solidFill>
                <a:latin typeface="Times New Roman" pitchFamily="18" charset="0"/>
                <a:cs typeface="Times New Roman" pitchFamily="18" charset="0"/>
              </a:rPr>
              <a:t>We can't access the data if there is downtime (internet loss at the cloud provider's end). </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Vendor lock-in: </a:t>
            </a:r>
            <a:r>
              <a:rPr lang="en-US" sz="2200" dirty="0">
                <a:solidFill>
                  <a:schemeClr val="tx1"/>
                </a:solidFill>
                <a:latin typeface="Times New Roman" pitchFamily="18" charset="0"/>
                <a:cs typeface="Times New Roman" pitchFamily="18" charset="0"/>
              </a:rPr>
              <a:t>When transferring all the data from one cloud provider to another, there can be many issues, such as the different cloud providers using different platforms, hosting, and running of the applications on the different platforms that can result in configuration and complexities issues.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Limited Bandwidth: </a:t>
            </a:r>
            <a:r>
              <a:rPr lang="en-US" sz="2200" dirty="0">
                <a:solidFill>
                  <a:schemeClr val="tx1"/>
                </a:solidFill>
                <a:latin typeface="Times New Roman" pitchFamily="18" charset="0"/>
                <a:cs typeface="Times New Roman" pitchFamily="18" charset="0"/>
              </a:rPr>
              <a:t>As the Cloud provider provides limited bandwidth to all its users, you have to pay significantly higher costs if your organization surpasses that limit.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Security: </a:t>
            </a:r>
            <a:r>
              <a:rPr lang="en-US" sz="2200" dirty="0">
                <a:solidFill>
                  <a:schemeClr val="tx1"/>
                </a:solidFill>
                <a:latin typeface="Times New Roman" pitchFamily="18" charset="0"/>
                <a:cs typeface="Times New Roman" pitchFamily="18" charset="0"/>
              </a:rPr>
              <a:t>Even though the cloud providers are storing information very securely, we still don't have to forget that data is vulnerable to cyber-attacks when stored in the cloud.</a:t>
            </a:r>
          </a:p>
        </p:txBody>
      </p:sp>
    </p:spTree>
    <p:extLst>
      <p:ext uri="{BB962C8B-B14F-4D97-AF65-F5344CB8AC3E}">
        <p14:creationId xmlns:p14="http://schemas.microsoft.com/office/powerpoint/2010/main" val="14664874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Advantages &amp; Disadvantages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algn="just"/>
            <a:r>
              <a:rPr lang="en-IN" sz="2200" b="1" dirty="0">
                <a:solidFill>
                  <a:schemeClr val="tx1"/>
                </a:solidFill>
                <a:latin typeface="Times New Roman" pitchFamily="18" charset="0"/>
                <a:cs typeface="Times New Roman" pitchFamily="18" charset="0"/>
              </a:rPr>
              <a:t>Disadvantages:</a:t>
            </a:r>
            <a:endParaRPr lang="en-US" sz="2200" b="1"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Performance Variation: </a:t>
            </a:r>
            <a:r>
              <a:rPr lang="en-US" sz="2200" dirty="0">
                <a:solidFill>
                  <a:schemeClr val="tx1"/>
                </a:solidFill>
                <a:latin typeface="Times New Roman" pitchFamily="18" charset="0"/>
                <a:cs typeface="Times New Roman" pitchFamily="18" charset="0"/>
              </a:rPr>
              <a:t>As the server is hosted on a cloud provider, which also provides services to other businesses, any cyber attack on shared resources may slow down your services.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Lack of support staff: </a:t>
            </a:r>
            <a:r>
              <a:rPr lang="en-US" sz="2200" dirty="0">
                <a:solidFill>
                  <a:schemeClr val="tx1"/>
                </a:solidFill>
                <a:latin typeface="Times New Roman" pitchFamily="18" charset="0"/>
                <a:cs typeface="Times New Roman" pitchFamily="18" charset="0"/>
              </a:rPr>
              <a:t>Some cloud companies do not provide proper support to their clients; then, you have to only depend on FAQs or online help.</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Limited Control and Flexibility: </a:t>
            </a:r>
            <a:r>
              <a:rPr lang="en-US" sz="2200" dirty="0">
                <a:solidFill>
                  <a:schemeClr val="tx1"/>
                </a:solidFill>
                <a:latin typeface="Times New Roman" pitchFamily="18" charset="0"/>
                <a:cs typeface="Times New Roman" pitchFamily="18" charset="0"/>
              </a:rPr>
              <a:t>The cloud infrastructure is completely owned, managed, and monitored by the cloud providers. So businesses using cloud computing have limited control over their data, applications, and services. </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Technical issues: </a:t>
            </a:r>
            <a:r>
              <a:rPr lang="en-US" sz="2200" dirty="0">
                <a:solidFill>
                  <a:schemeClr val="tx1"/>
                </a:solidFill>
                <a:latin typeface="Times New Roman" pitchFamily="18" charset="0"/>
                <a:cs typeface="Times New Roman" pitchFamily="18" charset="0"/>
              </a:rPr>
              <a:t>Due to frequent version releases of some applications, you have to constantly upgrade your systems to meet a market need; in between these updates, there is a chance that you may be stuck on some technical problems.</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716270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Cloud Base Applications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Adobe Creative Cloud: </a:t>
            </a:r>
            <a:r>
              <a:rPr lang="en-US" sz="2200" dirty="0">
                <a:solidFill>
                  <a:schemeClr val="tx1"/>
                </a:solidFill>
                <a:latin typeface="Times New Roman" pitchFamily="18" charset="0"/>
                <a:cs typeface="Times New Roman" pitchFamily="18" charset="0"/>
              </a:rPr>
              <a:t>It is made for designers, artists, filmmakers, and other creative professionals. It is a suite of apps which includes </a:t>
            </a:r>
            <a:r>
              <a:rPr lang="en-US" sz="2200" dirty="0" err="1">
                <a:solidFill>
                  <a:schemeClr val="tx1"/>
                </a:solidFill>
                <a:latin typeface="Times New Roman" pitchFamily="18" charset="0"/>
                <a:cs typeface="Times New Roman" pitchFamily="18" charset="0"/>
              </a:rPr>
              <a:t>PhotoShop</a:t>
            </a:r>
            <a:r>
              <a:rPr lang="en-US" sz="2200" dirty="0">
                <a:solidFill>
                  <a:schemeClr val="tx1"/>
                </a:solidFill>
                <a:latin typeface="Times New Roman" pitchFamily="18" charset="0"/>
                <a:cs typeface="Times New Roman" pitchFamily="18" charset="0"/>
              </a:rPr>
              <a:t> image editing programming, Illustrator, InDesign, </a:t>
            </a:r>
            <a:r>
              <a:rPr lang="en-US" sz="2200" dirty="0" err="1">
                <a:solidFill>
                  <a:schemeClr val="tx1"/>
                </a:solidFill>
                <a:latin typeface="Times New Roman" pitchFamily="18" charset="0"/>
                <a:cs typeface="Times New Roman" pitchFamily="18" charset="0"/>
              </a:rPr>
              <a:t>TypeKit</a:t>
            </a:r>
            <a:r>
              <a:rPr lang="en-US" sz="2200" dirty="0">
                <a:solidFill>
                  <a:schemeClr val="tx1"/>
                </a:solidFill>
                <a:latin typeface="Times New Roman" pitchFamily="18" charset="0"/>
                <a:cs typeface="Times New Roman" pitchFamily="18" charset="0"/>
              </a:rPr>
              <a:t>, Dreamweaver, XD, and Audition.</a:t>
            </a:r>
          </a:p>
          <a:p>
            <a:pPr marL="342900" indent="-342900" algn="just">
              <a:buFont typeface="Arial" pitchFamily="34" charset="0"/>
              <a:buChar char="•"/>
            </a:pPr>
            <a:r>
              <a:rPr lang="en-US" sz="2200" b="1" dirty="0" err="1">
                <a:solidFill>
                  <a:schemeClr val="tx1"/>
                </a:solidFill>
                <a:latin typeface="Times New Roman" pitchFamily="18" charset="0"/>
                <a:cs typeface="Times New Roman" pitchFamily="18" charset="0"/>
              </a:rPr>
              <a:t>MailChimp</a:t>
            </a:r>
            <a:r>
              <a:rPr lang="en-US" sz="2200" b="1" dirty="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It offers an e-mail publishing platform. It is widely employed by the businesses to design and send their e-mail campaigns.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Chatter: </a:t>
            </a:r>
            <a:r>
              <a:rPr lang="en-US" sz="2200" dirty="0">
                <a:solidFill>
                  <a:schemeClr val="tx1"/>
                </a:solidFill>
                <a:latin typeface="Times New Roman" pitchFamily="18" charset="0"/>
                <a:cs typeface="Times New Roman" pitchFamily="18" charset="0"/>
              </a:rPr>
              <a:t>Chatter app helps the employee to share important information about organization in real time. One can get the instant feed regarding any issue.</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Google Apps for Business: </a:t>
            </a:r>
            <a:r>
              <a:rPr lang="en-US" sz="2200" dirty="0">
                <a:solidFill>
                  <a:schemeClr val="tx1"/>
                </a:solidFill>
                <a:latin typeface="Times New Roman" pitchFamily="18" charset="0"/>
                <a:cs typeface="Times New Roman" pitchFamily="18" charset="0"/>
              </a:rPr>
              <a:t>Google offers creating text documents, spreadsheets, presentations, etc., on Google Docs which allows the business users to share them in collaborating manner.</a:t>
            </a:r>
          </a:p>
          <a:p>
            <a:pPr marL="342900" indent="-342900" algn="just">
              <a:buFont typeface="Arial" pitchFamily="34" charset="0"/>
              <a:buChar char="•"/>
            </a:pPr>
            <a:r>
              <a:rPr lang="en-US" sz="2200" b="1" dirty="0" err="1">
                <a:solidFill>
                  <a:schemeClr val="tx1"/>
                </a:solidFill>
                <a:latin typeface="Times New Roman" pitchFamily="18" charset="0"/>
                <a:cs typeface="Times New Roman" pitchFamily="18" charset="0"/>
              </a:rPr>
              <a:t>Quickbooks</a:t>
            </a:r>
            <a:r>
              <a:rPr lang="en-US" sz="2200" b="1" dirty="0">
                <a:solidFill>
                  <a:schemeClr val="tx1"/>
                </a:solidFill>
                <a:latin typeface="Times New Roman" pitchFamily="18" charset="0"/>
                <a:cs typeface="Times New Roman" pitchFamily="18" charset="0"/>
              </a:rPr>
              <a:t>:</a:t>
            </a:r>
            <a:r>
              <a:rPr lang="en-US" sz="2200" dirty="0">
                <a:solidFill>
                  <a:schemeClr val="tx1"/>
                </a:solidFill>
                <a:latin typeface="Times New Roman" pitchFamily="18" charset="0"/>
                <a:cs typeface="Times New Roman" pitchFamily="18" charset="0"/>
              </a:rPr>
              <a:t> It offers online accounting solutions for a business. It helps in monitoring cash flow, creating VAT returns and creating business reports.</a:t>
            </a: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87713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US" sz="2800" dirty="0">
                <a:solidFill>
                  <a:srgbClr val="FF0000"/>
                </a:solidFill>
                <a:latin typeface="Times New Roman" pitchFamily="18" charset="0"/>
                <a:cs typeface="Times New Roman" pitchFamily="18" charset="0"/>
              </a:rPr>
              <a:t>Cloud Base Applications</a:t>
            </a:r>
            <a:endParaRPr lang="en-US" sz="2800" dirty="0">
              <a:solidFill>
                <a:srgbClr val="00B050"/>
              </a:solidFill>
              <a:latin typeface="Times New Roman" pitchFamily="18" charset="0"/>
              <a:cs typeface="Times New Roman" pitchFamily="18" charset="0"/>
            </a:endParaRPr>
          </a:p>
        </p:txBody>
      </p:sp>
      <p:sp>
        <p:nvSpPr>
          <p:cNvPr id="3" name="Subtitle 2"/>
          <p:cNvSpPr>
            <a:spLocks noGrp="1"/>
          </p:cNvSpPr>
          <p:nvPr>
            <p:ph type="subTitle" idx="1"/>
          </p:nvPr>
        </p:nvSpPr>
        <p:spPr>
          <a:xfrm>
            <a:off x="304800" y="762000"/>
            <a:ext cx="8458200" cy="5638800"/>
          </a:xfrm>
        </p:spPr>
        <p:txBody>
          <a:bodyPr>
            <a:noAutofit/>
          </a:bodyPr>
          <a:lstStyle/>
          <a:p>
            <a:pPr marL="342900" indent="-342900" algn="just">
              <a:buFont typeface="Arial" pitchFamily="34" charset="0"/>
              <a:buChar char="•"/>
            </a:pPr>
            <a:r>
              <a:rPr lang="en-US" sz="2200" b="1" dirty="0" err="1">
                <a:solidFill>
                  <a:schemeClr val="tx1"/>
                </a:solidFill>
                <a:latin typeface="Times New Roman" pitchFamily="18" charset="0"/>
                <a:cs typeface="Times New Roman" pitchFamily="18" charset="0"/>
              </a:rPr>
              <a:t>Paypal</a:t>
            </a:r>
            <a:r>
              <a:rPr lang="en-US" sz="2200" b="1"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Paypal</a:t>
            </a:r>
            <a:r>
              <a:rPr lang="en-US" sz="2200" dirty="0">
                <a:solidFill>
                  <a:schemeClr val="tx1"/>
                </a:solidFill>
                <a:latin typeface="Times New Roman" pitchFamily="18" charset="0"/>
                <a:cs typeface="Times New Roman" pitchFamily="18" charset="0"/>
              </a:rPr>
              <a:t> offers the simplest and easiest online payment mode using a secure internet account. </a:t>
            </a:r>
            <a:r>
              <a:rPr lang="en-US" sz="2200" dirty="0" err="1">
                <a:solidFill>
                  <a:schemeClr val="tx1"/>
                </a:solidFill>
                <a:latin typeface="Times New Roman" pitchFamily="18" charset="0"/>
                <a:cs typeface="Times New Roman" pitchFamily="18" charset="0"/>
              </a:rPr>
              <a:t>Paypal</a:t>
            </a:r>
            <a:r>
              <a:rPr lang="en-US" sz="2200" dirty="0">
                <a:solidFill>
                  <a:schemeClr val="tx1"/>
                </a:solidFill>
                <a:latin typeface="Times New Roman" pitchFamily="18" charset="0"/>
                <a:cs typeface="Times New Roman" pitchFamily="18" charset="0"/>
              </a:rPr>
              <a:t> accepts the payment through debit cards, credit cards, and also from </a:t>
            </a:r>
            <a:r>
              <a:rPr lang="en-US" sz="2200" dirty="0" err="1">
                <a:solidFill>
                  <a:schemeClr val="tx1"/>
                </a:solidFill>
                <a:latin typeface="Times New Roman" pitchFamily="18" charset="0"/>
                <a:cs typeface="Times New Roman" pitchFamily="18" charset="0"/>
              </a:rPr>
              <a:t>Paypal</a:t>
            </a:r>
            <a:r>
              <a:rPr lang="en-US" sz="2200" dirty="0">
                <a:solidFill>
                  <a:schemeClr val="tx1"/>
                </a:solidFill>
                <a:latin typeface="Times New Roman" pitchFamily="18" charset="0"/>
                <a:cs typeface="Times New Roman" pitchFamily="18" charset="0"/>
              </a:rPr>
              <a:t> account holders.</a:t>
            </a:r>
          </a:p>
          <a:p>
            <a:pPr marL="342900" indent="-342900" algn="just">
              <a:buFont typeface="Arial" pitchFamily="34" charset="0"/>
              <a:buChar char="•"/>
            </a:pPr>
            <a:r>
              <a:rPr lang="en-IN" sz="2200" b="1" dirty="0">
                <a:solidFill>
                  <a:schemeClr val="tx1"/>
                </a:solidFill>
                <a:latin typeface="Times New Roman" pitchFamily="18" charset="0"/>
                <a:cs typeface="Times New Roman" pitchFamily="18" charset="0"/>
              </a:rPr>
              <a:t>Education:</a:t>
            </a:r>
            <a:r>
              <a:rPr lang="en-IN" sz="2200" dirty="0">
                <a:solidFill>
                  <a:schemeClr val="tx1"/>
                </a:solidFill>
                <a:latin typeface="Times New Roman" pitchFamily="18" charset="0"/>
                <a:cs typeface="Times New Roman" pitchFamily="18" charset="0"/>
              </a:rPr>
              <a:t> Cloud computing</a:t>
            </a:r>
            <a:r>
              <a:rPr lang="en-US" sz="2200" dirty="0">
                <a:solidFill>
                  <a:schemeClr val="tx1"/>
                </a:solidFill>
                <a:latin typeface="Times New Roman" pitchFamily="18" charset="0"/>
                <a:cs typeface="Times New Roman" pitchFamily="18" charset="0"/>
              </a:rPr>
              <a:t> offers various online distance learning platforms and student information portals to the students. </a:t>
            </a:r>
            <a:r>
              <a:rPr lang="en-IN" sz="2200" dirty="0">
                <a:solidFill>
                  <a:schemeClr val="tx1"/>
                </a:solidFill>
                <a:latin typeface="Times New Roman" pitchFamily="18" charset="0"/>
                <a:cs typeface="Times New Roman" pitchFamily="18" charset="0"/>
              </a:rPr>
              <a:t>Google apps, chrome book etc.</a:t>
            </a:r>
          </a:p>
          <a:p>
            <a:pPr marL="342900" indent="-342900" algn="just">
              <a:buFont typeface="Arial" pitchFamily="34" charset="0"/>
              <a:buChar char="•"/>
            </a:pPr>
            <a:r>
              <a:rPr lang="en-IN" sz="2200" b="1" dirty="0">
                <a:solidFill>
                  <a:schemeClr val="tx1"/>
                </a:solidFill>
                <a:latin typeface="Times New Roman" pitchFamily="18" charset="0"/>
                <a:cs typeface="Times New Roman" pitchFamily="18" charset="0"/>
              </a:rPr>
              <a:t>Entertainment: </a:t>
            </a:r>
            <a:r>
              <a:rPr lang="en-US" sz="2200" dirty="0">
                <a:solidFill>
                  <a:schemeClr val="tx1"/>
                </a:solidFill>
                <a:latin typeface="Times New Roman" pitchFamily="18" charset="0"/>
                <a:cs typeface="Times New Roman" pitchFamily="18" charset="0"/>
              </a:rPr>
              <a:t>Entertainment industries use a multi-cloud strategy to interact with the target audience. Cloud computing offers various entertainment applications such as online games and video conferencing.</a:t>
            </a:r>
          </a:p>
          <a:p>
            <a:pPr marL="342900" indent="-342900" algn="just">
              <a:buFont typeface="Arial" pitchFamily="34" charset="0"/>
              <a:buChar char="•"/>
            </a:pPr>
            <a:r>
              <a:rPr lang="en-IN" sz="2200" b="1" dirty="0">
                <a:solidFill>
                  <a:schemeClr val="tx1"/>
                </a:solidFill>
                <a:latin typeface="Times New Roman" pitchFamily="18" charset="0"/>
                <a:cs typeface="Times New Roman" pitchFamily="18" charset="0"/>
              </a:rPr>
              <a:t>Social applications: </a:t>
            </a:r>
            <a:r>
              <a:rPr lang="en-US" sz="2200" dirty="0">
                <a:solidFill>
                  <a:schemeClr val="tx1"/>
                </a:solidFill>
                <a:latin typeface="Times New Roman" pitchFamily="18" charset="0"/>
                <a:cs typeface="Times New Roman" pitchFamily="18" charset="0"/>
              </a:rPr>
              <a:t>Social cloud applications allow a large number of users to connect with each other using social networking applications such as Facebook, Twitter, </a:t>
            </a:r>
            <a:r>
              <a:rPr lang="en-US" sz="2200" dirty="0" err="1">
                <a:solidFill>
                  <a:schemeClr val="tx1"/>
                </a:solidFill>
                <a:latin typeface="Times New Roman" pitchFamily="18" charset="0"/>
                <a:cs typeface="Times New Roman" pitchFamily="18" charset="0"/>
              </a:rPr>
              <a:t>Linkedln</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etc</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416387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The Internet of Things</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US" sz="2200" dirty="0">
                <a:solidFill>
                  <a:schemeClr val="tx1"/>
                </a:solidFill>
                <a:latin typeface="Times New Roman" pitchFamily="18" charset="0"/>
                <a:cs typeface="Times New Roman" pitchFamily="18" charset="0"/>
              </a:rPr>
              <a:t>•    An Overview -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Reference model and Architecture</a:t>
            </a:r>
          </a:p>
          <a:p>
            <a:pPr algn="just"/>
            <a:r>
              <a:rPr lang="en-US" sz="2200" dirty="0">
                <a:solidFill>
                  <a:schemeClr val="tx1"/>
                </a:solidFill>
                <a:latin typeface="Times New Roman" pitchFamily="18" charset="0"/>
                <a:cs typeface="Times New Roman" pitchFamily="18" charset="0"/>
              </a:rPr>
              <a:t>•    The Things in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 Sensors and Actuators</a:t>
            </a:r>
          </a:p>
          <a:p>
            <a:pPr algn="just"/>
            <a:r>
              <a:rPr lang="en-US" sz="2200" dirty="0">
                <a:solidFill>
                  <a:schemeClr val="tx1"/>
                </a:solidFill>
                <a:latin typeface="Times New Roman" pitchFamily="18" charset="0"/>
                <a:cs typeface="Times New Roman" pitchFamily="18" charset="0"/>
              </a:rPr>
              <a:t>• Sensor fundamentals and characteristics–Principles of sensing capacitance-magnetic and electromagnetic induction–resistance-</a:t>
            </a:r>
            <a:br>
              <a:rPr lang="en-US" sz="2200" dirty="0">
                <a:solidFill>
                  <a:schemeClr val="tx1"/>
                </a:solidFill>
                <a:latin typeface="Times New Roman" pitchFamily="18" charset="0"/>
                <a:cs typeface="Times New Roman" pitchFamily="18" charset="0"/>
              </a:rPr>
            </a:br>
            <a:r>
              <a:rPr lang="en-US" sz="2200" dirty="0">
                <a:solidFill>
                  <a:schemeClr val="tx1"/>
                </a:solidFill>
                <a:latin typeface="Times New Roman" pitchFamily="18" charset="0"/>
                <a:cs typeface="Times New Roman" pitchFamily="18" charset="0"/>
              </a:rPr>
              <a:t>piezoelectric effect–heat transfer- light.</a:t>
            </a:r>
          </a:p>
          <a:p>
            <a:pPr algn="just"/>
            <a:r>
              <a:rPr lang="en-US" sz="2200" dirty="0">
                <a:solidFill>
                  <a:schemeClr val="tx1"/>
                </a:solidFill>
                <a:latin typeface="Times New Roman" pitchFamily="18" charset="0"/>
                <a:cs typeface="Times New Roman" pitchFamily="18" charset="0"/>
              </a:rPr>
              <a:t>• Applications of IOT and Sensors.</a:t>
            </a:r>
          </a:p>
          <a:p>
            <a:pPr algn="just"/>
            <a:endParaRPr lang="en-US"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689914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Overview of IOT</a:t>
            </a:r>
          </a:p>
        </p:txBody>
      </p:sp>
      <p:sp>
        <p:nvSpPr>
          <p:cNvPr id="3" name="Subtitle 2"/>
          <p:cNvSpPr>
            <a:spLocks noGrp="1"/>
          </p:cNvSpPr>
          <p:nvPr>
            <p:ph type="subTitle" idx="1"/>
          </p:nvPr>
        </p:nvSpPr>
        <p:spPr>
          <a:xfrm>
            <a:off x="304800" y="762000"/>
            <a:ext cx="8458200" cy="5638800"/>
          </a:xfrm>
        </p:spPr>
        <p:txBody>
          <a:bodyPr>
            <a:normAutofit fontScale="92500"/>
          </a:bodyPr>
          <a:lstStyle/>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Internet of Things is the network of physical objects or ‘things’ embedded with electronics, software, sensors and connectivity to enable it to achieve greater value and service by exchanging data with the manufacturer, operator and/or other connected devices. Each thing is uniquely identifiable through its embedded computing system but is able to interoperate within the existing Internet infrastructure.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concept of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began with things classified as identity communication devices. Radio Frequency Identification Device (RFID) is an example of an identity communication device.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Things are tagged to these devices for their identification in future and can be tracked, controlled and monitored using remote computers connected through the Internet.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Other examples: GPS-based tracking, controlling and monitoring of devices; machine-to-machine (M2M) communication; connected cars; communication between wearable and personal devices and Industry 4.0.</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concept has made smart cities a reality and is also made self-driving cars functional.</a:t>
            </a:r>
          </a:p>
        </p:txBody>
      </p:sp>
    </p:spTree>
    <p:extLst>
      <p:ext uri="{BB962C8B-B14F-4D97-AF65-F5344CB8AC3E}">
        <p14:creationId xmlns:p14="http://schemas.microsoft.com/office/powerpoint/2010/main" val="41599941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Overview of IOT</a:t>
            </a:r>
          </a:p>
        </p:txBody>
      </p:sp>
      <p:sp>
        <p:nvSpPr>
          <p:cNvPr id="3" name="Subtitle 2"/>
          <p:cNvSpPr>
            <a:spLocks noGrp="1"/>
          </p:cNvSpPr>
          <p:nvPr>
            <p:ph type="subTitle" idx="1"/>
          </p:nvPr>
        </p:nvSpPr>
        <p:spPr>
          <a:xfrm>
            <a:off x="304800" y="762000"/>
            <a:ext cx="8458200" cy="5638800"/>
          </a:xfrm>
        </p:spPr>
        <p:txBody>
          <a:bodyPr>
            <a:normAutofit lnSpcReduction="10000"/>
          </a:bodyPr>
          <a:lstStyle/>
          <a:p>
            <a:pPr algn="just"/>
            <a:r>
              <a:rPr lang="en-IN" sz="2200" dirty="0">
                <a:solidFill>
                  <a:schemeClr val="tx1"/>
                </a:solidFill>
                <a:latin typeface="Times New Roman" pitchFamily="18" charset="0"/>
                <a:cs typeface="Times New Roman" pitchFamily="18" charset="0"/>
              </a:rPr>
              <a:t>Technology behind </a:t>
            </a:r>
            <a:r>
              <a:rPr lang="en-IN" sz="2200" dirty="0" err="1">
                <a:solidFill>
                  <a:schemeClr val="tx1"/>
                </a:solidFill>
                <a:latin typeface="Times New Roman" pitchFamily="18" charset="0"/>
                <a:cs typeface="Times New Roman" pitchFamily="18" charset="0"/>
              </a:rPr>
              <a:t>IoT</a:t>
            </a:r>
            <a:r>
              <a:rPr lang="en-IN" sz="2200" dirty="0">
                <a:solidFill>
                  <a:schemeClr val="tx1"/>
                </a:solidFill>
                <a:latin typeface="Times New Roman" pitchFamily="18" charset="0"/>
                <a:cs typeface="Times New Roman" pitchFamily="18" charset="0"/>
              </a:rPr>
              <a:t>:</a:t>
            </a: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Hardware (</a:t>
            </a:r>
            <a:r>
              <a:rPr lang="en-US" sz="2200" dirty="0" err="1">
                <a:solidFill>
                  <a:schemeClr val="tx1"/>
                </a:solidFill>
                <a:latin typeface="Times New Roman" pitchFamily="18" charset="0"/>
                <a:cs typeface="Times New Roman" pitchFamily="18" charset="0"/>
              </a:rPr>
              <a:t>Arduino</a:t>
            </a:r>
            <a:r>
              <a:rPr lang="en-US" sz="2200" dirty="0">
                <a:solidFill>
                  <a:schemeClr val="tx1"/>
                </a:solidFill>
                <a:latin typeface="Times New Roman" pitchFamily="18" charset="0"/>
                <a:cs typeface="Times New Roman" pitchFamily="18" charset="0"/>
              </a:rPr>
              <a:t> Raspberry Pi, Intel Galileo, Intel Edison, ARM </a:t>
            </a:r>
            <a:r>
              <a:rPr lang="en-US" sz="2200" dirty="0" err="1">
                <a:solidFill>
                  <a:schemeClr val="tx1"/>
                </a:solidFill>
                <a:latin typeface="Times New Roman" pitchFamily="18" charset="0"/>
                <a:cs typeface="Times New Roman" pitchFamily="18" charset="0"/>
              </a:rPr>
              <a:t>mBed</a:t>
            </a:r>
            <a:r>
              <a:rPr lang="en-US" sz="2200" dirty="0">
                <a:solidFill>
                  <a:schemeClr val="tx1"/>
                </a:solidFill>
                <a:latin typeface="Times New Roman" pitchFamily="18" charset="0"/>
                <a:cs typeface="Times New Roman" pitchFamily="18" charset="0"/>
              </a:rPr>
              <a:t>, Bosch XDK110, Beagle Bone Black and Wireless </a:t>
            </a:r>
            <a:r>
              <a:rPr lang="en-US" sz="2200" dirty="0" err="1">
                <a:solidFill>
                  <a:schemeClr val="tx1"/>
                </a:solidFill>
                <a:latin typeface="Times New Roman" pitchFamily="18" charset="0"/>
                <a:cs typeface="Times New Roman" pitchFamily="18" charset="0"/>
              </a:rPr>
              <a:t>SoC</a:t>
            </a:r>
            <a:r>
              <a:rPr lang="en-US"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Integrated Development Environment (IDE) for developing device software, firmware and APIs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Protocols [RPL, </a:t>
            </a:r>
            <a:r>
              <a:rPr lang="en-US" sz="2200" dirty="0" err="1">
                <a:solidFill>
                  <a:schemeClr val="tx1"/>
                </a:solidFill>
                <a:latin typeface="Times New Roman" pitchFamily="18" charset="0"/>
                <a:cs typeface="Times New Roman" pitchFamily="18" charset="0"/>
              </a:rPr>
              <a:t>CoAP</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RESTful</a:t>
            </a:r>
            <a:r>
              <a:rPr lang="en-US" sz="2200" dirty="0">
                <a:solidFill>
                  <a:schemeClr val="tx1"/>
                </a:solidFill>
                <a:latin typeface="Times New Roman" pitchFamily="18" charset="0"/>
                <a:cs typeface="Times New Roman" pitchFamily="18" charset="0"/>
              </a:rPr>
              <a:t> HTTP, MQTT, XMPP (Extensible Messaging and Presence Protocol)]</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Communication (</a:t>
            </a:r>
            <a:r>
              <a:rPr lang="en-US" sz="2200" dirty="0" err="1">
                <a:solidFill>
                  <a:schemeClr val="tx1"/>
                </a:solidFill>
                <a:latin typeface="Times New Roman" pitchFamily="18" charset="0"/>
                <a:cs typeface="Times New Roman" pitchFamily="18" charset="0"/>
              </a:rPr>
              <a:t>Powerline</a:t>
            </a:r>
            <a:r>
              <a:rPr lang="en-US" sz="2200" dirty="0">
                <a:solidFill>
                  <a:schemeClr val="tx1"/>
                </a:solidFill>
                <a:latin typeface="Times New Roman" pitchFamily="18" charset="0"/>
                <a:cs typeface="Times New Roman" pitchFamily="18" charset="0"/>
              </a:rPr>
              <a:t> Ethernet, RFID, NFC, 6LowPAN, UWB, </a:t>
            </a:r>
            <a:r>
              <a:rPr lang="en-US" sz="2200" dirty="0" err="1">
                <a:solidFill>
                  <a:schemeClr val="tx1"/>
                </a:solidFill>
                <a:latin typeface="Times New Roman" pitchFamily="18" charset="0"/>
                <a:cs typeface="Times New Roman" pitchFamily="18" charset="0"/>
              </a:rPr>
              <a:t>ZigBee</a:t>
            </a:r>
            <a:r>
              <a:rPr lang="en-US" sz="2200" dirty="0">
                <a:solidFill>
                  <a:schemeClr val="tx1"/>
                </a:solidFill>
                <a:latin typeface="Times New Roman" pitchFamily="18" charset="0"/>
                <a:cs typeface="Times New Roman" pitchFamily="18" charset="0"/>
              </a:rPr>
              <a:t>, Bluetooth, </a:t>
            </a:r>
            <a:r>
              <a:rPr lang="en-US" sz="2200" dirty="0" err="1">
                <a:solidFill>
                  <a:schemeClr val="tx1"/>
                </a:solidFill>
                <a:latin typeface="Times New Roman" pitchFamily="18" charset="0"/>
                <a:cs typeface="Times New Roman" pitchFamily="18" charset="0"/>
              </a:rPr>
              <a:t>WiFi</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WiMax</a:t>
            </a:r>
            <a:r>
              <a:rPr lang="en-US" sz="2200" dirty="0">
                <a:solidFill>
                  <a:schemeClr val="tx1"/>
                </a:solidFill>
                <a:latin typeface="Times New Roman" pitchFamily="18" charset="0"/>
                <a:cs typeface="Times New Roman" pitchFamily="18" charset="0"/>
              </a:rPr>
              <a:t>, 2G/3G/4G)</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Network backbone (IPv4, IPv6, UDP and 6LowPAN)</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Software (RIOT OS, </a:t>
            </a:r>
            <a:r>
              <a:rPr lang="en-US" sz="2200" dirty="0" err="1">
                <a:solidFill>
                  <a:schemeClr val="tx1"/>
                </a:solidFill>
                <a:latin typeface="Times New Roman" pitchFamily="18" charset="0"/>
                <a:cs typeface="Times New Roman" pitchFamily="18" charset="0"/>
              </a:rPr>
              <a:t>Contiki</a:t>
            </a:r>
            <a:r>
              <a:rPr lang="en-US" sz="2200" dirty="0">
                <a:solidFill>
                  <a:schemeClr val="tx1"/>
                </a:solidFill>
                <a:latin typeface="Times New Roman" pitchFamily="18" charset="0"/>
                <a:cs typeface="Times New Roman" pitchFamily="18" charset="0"/>
              </a:rPr>
              <a:t> OS, </a:t>
            </a:r>
            <a:r>
              <a:rPr lang="en-US" sz="2200" dirty="0" err="1">
                <a:solidFill>
                  <a:schemeClr val="tx1"/>
                </a:solidFill>
                <a:latin typeface="Times New Roman" pitchFamily="18" charset="0"/>
                <a:cs typeface="Times New Roman" pitchFamily="18" charset="0"/>
              </a:rPr>
              <a:t>Thingsquare</a:t>
            </a:r>
            <a:r>
              <a:rPr lang="en-US" sz="2200" dirty="0">
                <a:solidFill>
                  <a:schemeClr val="tx1"/>
                </a:solidFill>
                <a:latin typeface="Times New Roman" pitchFamily="18" charset="0"/>
                <a:cs typeface="Times New Roman" pitchFamily="18" charset="0"/>
              </a:rPr>
              <a:t> Mist firmware, Eclipse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Internetwork Cloud Platforms/Data Centre (Sense, </a:t>
            </a:r>
            <a:r>
              <a:rPr lang="en-US" sz="2200" dirty="0" err="1">
                <a:solidFill>
                  <a:schemeClr val="tx1"/>
                </a:solidFill>
                <a:latin typeface="Times New Roman" pitchFamily="18" charset="0"/>
                <a:cs typeface="Times New Roman" pitchFamily="18" charset="0"/>
              </a:rPr>
              <a:t>ThingWorx</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Nimbits</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Xively</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openHAB</a:t>
            </a:r>
            <a:r>
              <a:rPr lang="en-US" sz="2200" dirty="0">
                <a:solidFill>
                  <a:schemeClr val="tx1"/>
                </a:solidFill>
                <a:latin typeface="Times New Roman" pitchFamily="18" charset="0"/>
                <a:cs typeface="Times New Roman" pitchFamily="18" charset="0"/>
              </a:rPr>
              <a:t>, AWS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IBM </a:t>
            </a:r>
            <a:r>
              <a:rPr lang="en-US" sz="2200" dirty="0" err="1">
                <a:solidFill>
                  <a:schemeClr val="tx1"/>
                </a:solidFill>
                <a:latin typeface="Times New Roman" pitchFamily="18" charset="0"/>
                <a:cs typeface="Times New Roman" pitchFamily="18" charset="0"/>
              </a:rPr>
              <a:t>BlueMix</a:t>
            </a:r>
            <a:r>
              <a:rPr lang="en-US" sz="2200" dirty="0">
                <a:solidFill>
                  <a:schemeClr val="tx1"/>
                </a:solidFill>
                <a:latin typeface="Times New Roman" pitchFamily="18" charset="0"/>
                <a:cs typeface="Times New Roman" pitchFamily="18" charset="0"/>
              </a:rPr>
              <a:t>, CISCO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IOx</a:t>
            </a:r>
            <a:r>
              <a:rPr lang="en-US" sz="2200" dirty="0">
                <a:solidFill>
                  <a:schemeClr val="tx1"/>
                </a:solidFill>
                <a:latin typeface="Times New Roman" pitchFamily="18" charset="0"/>
                <a:cs typeface="Times New Roman" pitchFamily="18" charset="0"/>
              </a:rPr>
              <a:t> and Fog, </a:t>
            </a:r>
            <a:r>
              <a:rPr lang="en-US" sz="2200" dirty="0" err="1">
                <a:solidFill>
                  <a:schemeClr val="tx1"/>
                </a:solidFill>
                <a:latin typeface="Times New Roman" pitchFamily="18" charset="0"/>
                <a:cs typeface="Times New Roman" pitchFamily="18" charset="0"/>
              </a:rPr>
              <a:t>EvryThng</a:t>
            </a:r>
            <a:r>
              <a:rPr lang="en-US" sz="2200" dirty="0">
                <a:solidFill>
                  <a:schemeClr val="tx1"/>
                </a:solidFill>
                <a:latin typeface="Times New Roman" pitchFamily="18" charset="0"/>
                <a:cs typeface="Times New Roman" pitchFamily="18" charset="0"/>
              </a:rPr>
              <a:t>, Azure, TCS CUP)</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Machine learning algorithms and software.</a:t>
            </a:r>
          </a:p>
        </p:txBody>
      </p:sp>
    </p:spTree>
    <p:extLst>
      <p:ext uri="{BB962C8B-B14F-4D97-AF65-F5344CB8AC3E}">
        <p14:creationId xmlns:p14="http://schemas.microsoft.com/office/powerpoint/2010/main" val="16566665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IOT reference model</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dirty="0" err="1">
                <a:solidFill>
                  <a:schemeClr val="tx1"/>
                </a:solidFill>
                <a:latin typeface="Times New Roman" pitchFamily="18" charset="0"/>
                <a:cs typeface="Times New Roman" pitchFamily="18" charset="0"/>
              </a:rPr>
              <a:t>IoT</a:t>
            </a:r>
            <a:r>
              <a:rPr lang="en-IN" sz="2200" dirty="0">
                <a:solidFill>
                  <a:schemeClr val="tx1"/>
                </a:solidFill>
                <a:latin typeface="Times New Roman" pitchFamily="18" charset="0"/>
                <a:cs typeface="Times New Roman" pitchFamily="18" charset="0"/>
              </a:rPr>
              <a:t> reference model:</a:t>
            </a:r>
            <a:endParaRPr lang="en-US" sz="2200" dirty="0">
              <a:solidFill>
                <a:schemeClr val="tx1"/>
              </a:solidFill>
              <a:latin typeface="Times New Roman" pitchFamily="18" charset="0"/>
              <a:cs typeface="Times New Roman" pitchFamily="18" charset="0"/>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7848" t="36310" r="45451" b="22152"/>
          <a:stretch/>
        </p:blipFill>
        <p:spPr bwMode="auto">
          <a:xfrm>
            <a:off x="152400" y="2362200"/>
            <a:ext cx="7065125"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05150" y="685800"/>
            <a:ext cx="6038850"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5150" y="1066800"/>
            <a:ext cx="5962650" cy="63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1828800"/>
            <a:ext cx="60960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87833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IOT reference model</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dirty="0" err="1">
                <a:solidFill>
                  <a:schemeClr val="tx1"/>
                </a:solidFill>
                <a:latin typeface="Times New Roman" pitchFamily="18" charset="0"/>
                <a:cs typeface="Times New Roman" pitchFamily="18" charset="0"/>
              </a:rPr>
              <a:t>IoT</a:t>
            </a:r>
            <a:r>
              <a:rPr lang="en-IN" sz="2200" dirty="0">
                <a:solidFill>
                  <a:schemeClr val="tx1"/>
                </a:solidFill>
                <a:latin typeface="Times New Roman" pitchFamily="18" charset="0"/>
                <a:cs typeface="Times New Roman" pitchFamily="18" charset="0"/>
              </a:rPr>
              <a:t> reference model:</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Sensors: </a:t>
            </a:r>
            <a:r>
              <a:rPr lang="en-US" sz="2200" dirty="0">
                <a:solidFill>
                  <a:schemeClr val="tx1"/>
                </a:solidFill>
                <a:latin typeface="Times New Roman" pitchFamily="18" charset="0"/>
                <a:cs typeface="Times New Roman" pitchFamily="18" charset="0"/>
              </a:rPr>
              <a:t>There’s virtually no end to the type of sensor that may be required for various projects, the choices are wide open.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Network: </a:t>
            </a:r>
            <a:r>
              <a:rPr lang="en-US" sz="2200" dirty="0">
                <a:solidFill>
                  <a:schemeClr val="tx1"/>
                </a:solidFill>
                <a:latin typeface="Times New Roman" pitchFamily="18" charset="0"/>
                <a:cs typeface="Times New Roman" pitchFamily="18" charset="0"/>
              </a:rPr>
              <a:t>The primary job of any network is to transfer data, route data traffic and manage throughput.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Edge: </a:t>
            </a:r>
            <a:r>
              <a:rPr lang="en-US" sz="2200" dirty="0">
                <a:solidFill>
                  <a:schemeClr val="tx1"/>
                </a:solidFill>
                <a:latin typeface="Times New Roman" pitchFamily="18" charset="0"/>
                <a:cs typeface="Times New Roman" pitchFamily="18" charset="0"/>
              </a:rPr>
              <a:t>check the data as it comes across and acts upon it where defined.</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Storage: </a:t>
            </a:r>
            <a:r>
              <a:rPr lang="en-US" sz="2200" dirty="0">
                <a:solidFill>
                  <a:schemeClr val="tx1"/>
                </a:solidFill>
                <a:latin typeface="Times New Roman" pitchFamily="18" charset="0"/>
                <a:cs typeface="Times New Roman" pitchFamily="18" charset="0"/>
              </a:rPr>
              <a:t>The Cloud is often assumed with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projects, but sometimes it should be on premises.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Data abstraction: c</a:t>
            </a:r>
            <a:r>
              <a:rPr lang="en-US" sz="2200" dirty="0" err="1">
                <a:solidFill>
                  <a:schemeClr val="tx1"/>
                </a:solidFill>
                <a:latin typeface="Times New Roman" pitchFamily="18" charset="0"/>
                <a:cs typeface="Times New Roman" pitchFamily="18" charset="0"/>
              </a:rPr>
              <a:t>ollects</a:t>
            </a:r>
            <a:r>
              <a:rPr lang="en-US" sz="2200" dirty="0">
                <a:solidFill>
                  <a:schemeClr val="tx1"/>
                </a:solidFill>
                <a:latin typeface="Times New Roman" pitchFamily="18" charset="0"/>
                <a:cs typeface="Times New Roman" pitchFamily="18" charset="0"/>
              </a:rPr>
              <a:t> different data pieces and makes them available for analysis.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Application: </a:t>
            </a:r>
            <a:r>
              <a:rPr lang="en-US" sz="2200" dirty="0">
                <a:solidFill>
                  <a:schemeClr val="tx1"/>
                </a:solidFill>
                <a:latin typeface="Times New Roman" pitchFamily="18" charset="0"/>
                <a:cs typeface="Times New Roman" pitchFamily="18" charset="0"/>
              </a:rPr>
              <a:t>identify which results are reactive, proactive and predictive.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Collaboration and process: </a:t>
            </a:r>
            <a:r>
              <a:rPr lang="en-US" sz="2200" dirty="0">
                <a:solidFill>
                  <a:schemeClr val="tx1"/>
                </a:solidFill>
                <a:latin typeface="Times New Roman" pitchFamily="18" charset="0"/>
                <a:cs typeface="Times New Roman" pitchFamily="18" charset="0"/>
              </a:rPr>
              <a:t>the groups that could benefit from the data and services of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a:t>
            </a:r>
          </a:p>
        </p:txBody>
      </p:sp>
    </p:spTree>
    <p:extLst>
      <p:ext uri="{BB962C8B-B14F-4D97-AF65-F5344CB8AC3E}">
        <p14:creationId xmlns:p14="http://schemas.microsoft.com/office/powerpoint/2010/main" val="1089952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IOT architecture</a:t>
            </a: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Sensing layer: Things (sensors &amp; actuators) or endpoint devices are </a:t>
            </a:r>
            <a:r>
              <a:rPr lang="en-US" sz="2200" dirty="0">
                <a:solidFill>
                  <a:schemeClr val="tx1"/>
                </a:solidFill>
                <a:latin typeface="Times New Roman" pitchFamily="18" charset="0"/>
                <a:cs typeface="Times New Roman" pitchFamily="18" charset="0"/>
              </a:rPr>
              <a:t>capable of collecting, accepting, and processing data over the network.</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Network layer: </a:t>
            </a:r>
            <a:r>
              <a:rPr lang="en-US" sz="2200" dirty="0">
                <a:solidFill>
                  <a:schemeClr val="tx1"/>
                </a:solidFill>
                <a:latin typeface="Times New Roman" pitchFamily="18" charset="0"/>
                <a:cs typeface="Times New Roman" pitchFamily="18" charset="0"/>
              </a:rPr>
              <a:t>contains Data Acquiring Systems (DAS) ((collecting and aggregating data from sensors, then converting analog data to digital data, etc.) and Internet/Network gateways.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Processing layer: brain of </a:t>
            </a:r>
            <a:r>
              <a:rPr lang="en-IN" sz="2200" dirty="0" err="1">
                <a:solidFill>
                  <a:schemeClr val="tx1"/>
                </a:solidFill>
                <a:latin typeface="Times New Roman" pitchFamily="18" charset="0"/>
                <a:cs typeface="Times New Roman" pitchFamily="18" charset="0"/>
              </a:rPr>
              <a:t>IoT</a:t>
            </a:r>
            <a:r>
              <a:rPr lang="en-IN" sz="2200" dirty="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data is analyzed, pre-processed, and stored then sent to the data center, accessed by software applications,</a:t>
            </a:r>
            <a:endParaRPr lang="en-IN" sz="2200" dirty="0">
              <a:solidFill>
                <a:schemeClr val="tx1"/>
              </a:solidFill>
              <a:latin typeface="Times New Roman" pitchFamily="18" charset="0"/>
              <a:cs typeface="Times New Roman" pitchFamily="18" charset="0"/>
            </a:endParaRPr>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8344"/>
          <a:stretch/>
        </p:blipFill>
        <p:spPr bwMode="auto">
          <a:xfrm>
            <a:off x="4800600" y="3308754"/>
            <a:ext cx="4343400" cy="3473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ubtitle 2"/>
          <p:cNvSpPr txBox="1">
            <a:spLocks/>
          </p:cNvSpPr>
          <p:nvPr/>
        </p:nvSpPr>
        <p:spPr>
          <a:xfrm>
            <a:off x="304800" y="3322609"/>
            <a:ext cx="4495800" cy="24384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Application layer: </a:t>
            </a:r>
            <a:r>
              <a:rPr lang="en-US" sz="2200" dirty="0">
                <a:solidFill>
                  <a:schemeClr val="tx1"/>
                </a:solidFill>
                <a:latin typeface="Times New Roman" pitchFamily="18" charset="0"/>
                <a:cs typeface="Times New Roman" pitchFamily="18" charset="0"/>
              </a:rPr>
              <a:t>User interaction takes place at the application layer, which delivers application-specific services to the user.</a:t>
            </a:r>
          </a:p>
        </p:txBody>
      </p:sp>
    </p:spTree>
    <p:extLst>
      <p:ext uri="{BB962C8B-B14F-4D97-AF65-F5344CB8AC3E}">
        <p14:creationId xmlns:p14="http://schemas.microsoft.com/office/powerpoint/2010/main" val="13007442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The things in IOT: Sensors and Actuators</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dirty="0">
                <a:solidFill>
                  <a:schemeClr val="tx1"/>
                </a:solidFill>
                <a:latin typeface="Times New Roman" pitchFamily="18" charset="0"/>
                <a:cs typeface="Times New Roman" pitchFamily="18" charset="0"/>
              </a:rPr>
              <a:t>Sensors: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sensor is a device (typically electronic) that detects events or changes in its physical environment (e.g., temperature, sound, heat, pressure, flow, magnetism, motion, chemical and biochemical parameters) and provides a corresponding output.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Most sensors take analog inputs and deliver digital, often electrical, outputs.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Sensors are comparable to the human five senses.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Sensors typically collect data using physical interfaces (inputs) that sense the environment and then convert input signals into electrical signals (outputs) that are understood by the communication and computing devices.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Output signals are then processed by the gateways and/or by applications of the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Platform.</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607402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The things in IOT: Sensors and Actuators</a:t>
            </a:r>
          </a:p>
        </p:txBody>
      </p:sp>
      <p:sp>
        <p:nvSpPr>
          <p:cNvPr id="3" name="Subtitle 2"/>
          <p:cNvSpPr>
            <a:spLocks noGrp="1"/>
          </p:cNvSpPr>
          <p:nvPr>
            <p:ph type="subTitle" idx="1"/>
          </p:nvPr>
        </p:nvSpPr>
        <p:spPr>
          <a:xfrm>
            <a:off x="304800" y="762000"/>
            <a:ext cx="8458200" cy="5638800"/>
          </a:xfrm>
        </p:spPr>
        <p:txBody>
          <a:bodyPr>
            <a:normAutofit fontScale="92500" lnSpcReduction="10000"/>
          </a:bodyPr>
          <a:lstStyle/>
          <a:p>
            <a:pPr algn="just"/>
            <a:r>
              <a:rPr lang="en-IN" sz="2200" dirty="0">
                <a:solidFill>
                  <a:schemeClr val="tx1"/>
                </a:solidFill>
                <a:latin typeface="Times New Roman" pitchFamily="18" charset="0"/>
                <a:cs typeface="Times New Roman" pitchFamily="18" charset="0"/>
              </a:rPr>
              <a:t>Types of Sensors: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Temperature sensors: Thermocouples, Resistance temperature detectors, Thermistors and semi conductor sensor.</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Pressure sensors: </a:t>
            </a:r>
            <a:r>
              <a:rPr lang="en-US" sz="2200" dirty="0">
                <a:solidFill>
                  <a:schemeClr val="tx1"/>
                </a:solidFill>
                <a:latin typeface="Times New Roman" pitchFamily="18" charset="0"/>
                <a:cs typeface="Times New Roman" pitchFamily="18" charset="0"/>
              </a:rPr>
              <a:t>measure the pressure of gases or liquids including water level, flow, speed, and altitude. </a:t>
            </a:r>
            <a:r>
              <a:rPr lang="en-US" sz="2200" dirty="0" err="1">
                <a:solidFill>
                  <a:schemeClr val="tx1"/>
                </a:solidFill>
                <a:latin typeface="Times New Roman" pitchFamily="18" charset="0"/>
                <a:cs typeface="Times New Roman" pitchFamily="18" charset="0"/>
              </a:rPr>
              <a:t>Eg</a:t>
            </a:r>
            <a:r>
              <a:rPr lang="en-US" sz="2200" dirty="0">
                <a:solidFill>
                  <a:schemeClr val="tx1"/>
                </a:solidFill>
                <a:latin typeface="Times New Roman" pitchFamily="18" charset="0"/>
                <a:cs typeface="Times New Roman" pitchFamily="18" charset="0"/>
              </a:rPr>
              <a:t>. Touchscreen smartphones.</a:t>
            </a: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Flow sensors: </a:t>
            </a:r>
            <a:r>
              <a:rPr lang="en-US" sz="2200" dirty="0">
                <a:solidFill>
                  <a:schemeClr val="tx1"/>
                </a:solidFill>
                <a:latin typeface="Times New Roman" pitchFamily="18" charset="0"/>
                <a:cs typeface="Times New Roman" pitchFamily="18" charset="0"/>
              </a:rPr>
              <a:t>to detect and record the rate of fluid flow in a pipe.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Level sensors: t</a:t>
            </a:r>
            <a:r>
              <a:rPr lang="en-US" sz="2200" dirty="0">
                <a:solidFill>
                  <a:schemeClr val="tx1"/>
                </a:solidFill>
                <a:latin typeface="Times New Roman" pitchFamily="18" charset="0"/>
                <a:cs typeface="Times New Roman" pitchFamily="18" charset="0"/>
              </a:rPr>
              <a:t>o measure the level of fluids continuously or at point values.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Imaging sensors: </a:t>
            </a:r>
            <a:r>
              <a:rPr lang="en-US" sz="2200" dirty="0">
                <a:solidFill>
                  <a:schemeClr val="tx1"/>
                </a:solidFill>
                <a:latin typeface="Times New Roman" pitchFamily="18" charset="0"/>
                <a:cs typeface="Times New Roman" pitchFamily="18" charset="0"/>
              </a:rPr>
              <a:t>used in digital cameras, medical imaging machines, and night vision equipment.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Noise sensors: to detect noise pollution.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Air pollution sensors: to monitor air pollution.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Proximity &amp; Displacement sensors: presence of objects using EM, light or sound.</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Infrared sensors: heat based motion monitoring.</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Moisture and humidity: hygrometer sensors-humidity in air.</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Speed sensor: speed of vehicles. </a:t>
            </a:r>
            <a:r>
              <a:rPr lang="en-IN" sz="2200" dirty="0" err="1">
                <a:solidFill>
                  <a:schemeClr val="tx1"/>
                </a:solidFill>
                <a:latin typeface="Times New Roman" pitchFamily="18" charset="0"/>
                <a:cs typeface="Times New Roman" pitchFamily="18" charset="0"/>
              </a:rPr>
              <a:t>Eg</a:t>
            </a:r>
            <a:r>
              <a:rPr lang="en-IN" sz="2200" dirty="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wheel speed sensors, speedometers, Doppler radar, and laser surface </a:t>
            </a:r>
            <a:r>
              <a:rPr lang="en-US" sz="2200" dirty="0" err="1">
                <a:solidFill>
                  <a:schemeClr val="tx1"/>
                </a:solidFill>
                <a:latin typeface="Times New Roman" pitchFamily="18" charset="0"/>
                <a:cs typeface="Times New Roman" pitchFamily="18" charset="0"/>
              </a:rPr>
              <a:t>velocimeter</a:t>
            </a:r>
            <a:r>
              <a:rPr lang="en-US"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US"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907659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The things in IOT: Sensors and Actuators</a:t>
            </a:r>
          </a:p>
        </p:txBody>
      </p:sp>
      <p:sp>
        <p:nvSpPr>
          <p:cNvPr id="3" name="Subtitle 2"/>
          <p:cNvSpPr>
            <a:spLocks noGrp="1"/>
          </p:cNvSpPr>
          <p:nvPr>
            <p:ph type="subTitle" idx="1"/>
          </p:nvPr>
        </p:nvSpPr>
        <p:spPr>
          <a:xfrm>
            <a:off x="304800" y="762000"/>
            <a:ext cx="8458200" cy="5638800"/>
          </a:xfrm>
        </p:spPr>
        <p:txBody>
          <a:bodyPr>
            <a:normAutofit fontScale="85000" lnSpcReduction="20000"/>
          </a:bodyPr>
          <a:lstStyle/>
          <a:p>
            <a:pPr algn="just"/>
            <a:r>
              <a:rPr lang="en-IN" sz="2200" dirty="0">
                <a:solidFill>
                  <a:schemeClr val="tx1"/>
                </a:solidFill>
                <a:latin typeface="Times New Roman" pitchFamily="18" charset="0"/>
                <a:cs typeface="Times New Roman" pitchFamily="18" charset="0"/>
              </a:rPr>
              <a:t>Characteristics of Sensors: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Data Filtering</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Minimum Power Consumption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Compact</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Smart detection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High sensitivity: small change in o/p to i/p.</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Linearity: o/p to i/p linear relation.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Dynamic range: range of signals converted to electrical signals by sensor.</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Accuracy: maximum expected error b/w measured and ideal.</a:t>
            </a:r>
          </a:p>
          <a:p>
            <a:pPr marL="342900" indent="-342900" algn="just">
              <a:buFont typeface="Arial" pitchFamily="34" charset="0"/>
              <a:buChar char="•"/>
            </a:pPr>
            <a:r>
              <a:rPr lang="en-IN" sz="2200" dirty="0" err="1">
                <a:solidFill>
                  <a:schemeClr val="tx1"/>
                </a:solidFill>
                <a:latin typeface="Times New Roman" pitchFamily="18" charset="0"/>
                <a:cs typeface="Times New Roman" pitchFamily="18" charset="0"/>
              </a:rPr>
              <a:t>Hysterisis</a:t>
            </a:r>
            <a:r>
              <a:rPr lang="en-IN" sz="2200" dirty="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sensor does not return the same output value when the input stimulus is driven up or down</a:t>
            </a: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Limited noise: filter out noise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Wide bandwidth: </a:t>
            </a:r>
            <a:r>
              <a:rPr lang="en-US" sz="2200" dirty="0">
                <a:solidFill>
                  <a:schemeClr val="tx1"/>
                </a:solidFill>
                <a:latin typeface="Times New Roman" pitchFamily="18" charset="0"/>
                <a:cs typeface="Times New Roman" pitchFamily="18" charset="0"/>
              </a:rPr>
              <a:t>The bandwidth of a sensor is the frequency range between the instantaneous change to decay time.</a:t>
            </a: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High resolution: smallest detectable signal fluctuation.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Minimum interruption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Higher reliability</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Ease of use</a:t>
            </a:r>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1235" t="39683" r="46678" b="16072"/>
          <a:stretch/>
        </p:blipFill>
        <p:spPr bwMode="auto">
          <a:xfrm>
            <a:off x="6241142" y="649513"/>
            <a:ext cx="2873829" cy="323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08432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The things in IOT: Sensors and Actuators</a:t>
            </a:r>
          </a:p>
        </p:txBody>
      </p:sp>
      <p:sp>
        <p:nvSpPr>
          <p:cNvPr id="3" name="Subtitle 2"/>
          <p:cNvSpPr>
            <a:spLocks noGrp="1"/>
          </p:cNvSpPr>
          <p:nvPr>
            <p:ph type="subTitle" idx="1"/>
          </p:nvPr>
        </p:nvSpPr>
        <p:spPr>
          <a:xfrm>
            <a:off x="304800" y="762000"/>
            <a:ext cx="8458200" cy="5638800"/>
          </a:xfrm>
        </p:spPr>
        <p:txBody>
          <a:bodyPr>
            <a:normAutofit fontScale="92500"/>
          </a:bodyPr>
          <a:lstStyle/>
          <a:p>
            <a:pPr algn="just"/>
            <a:r>
              <a:rPr lang="en-IN" sz="2200" dirty="0">
                <a:solidFill>
                  <a:schemeClr val="tx1"/>
                </a:solidFill>
                <a:latin typeface="Times New Roman" pitchFamily="18" charset="0"/>
                <a:cs typeface="Times New Roman" pitchFamily="18" charset="0"/>
              </a:rPr>
              <a:t>Actuators: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An actuator is a type of motor that is responsible for controlling or taking action in a system. It takes a source of data or energy (e.g., hydraulic fluid pressure, other sources of power) and converts the data/energy to motion to control a system.</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Actuators use sensor-collected and analyzed data as well as other types of data intelligence to control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systems.</a:t>
            </a:r>
          </a:p>
          <a:p>
            <a:pPr algn="just"/>
            <a:r>
              <a:rPr lang="en-IN" sz="2200" dirty="0">
                <a:solidFill>
                  <a:schemeClr val="tx1"/>
                </a:solidFill>
                <a:latin typeface="Times New Roman" pitchFamily="18" charset="0"/>
                <a:cs typeface="Times New Roman" pitchFamily="18" charset="0"/>
              </a:rPr>
              <a:t>Types of Actuators: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Electrical Actuators: </a:t>
            </a:r>
            <a:r>
              <a:rPr lang="en-US" sz="2200" dirty="0">
                <a:solidFill>
                  <a:schemeClr val="tx1"/>
                </a:solidFill>
                <a:latin typeface="Times New Roman" pitchFamily="18" charset="0"/>
                <a:cs typeface="Times New Roman" pitchFamily="18" charset="0"/>
              </a:rPr>
              <a:t>small motors that convert energy to mechanical torque.</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Mechanical Linear Actuators: </a:t>
            </a:r>
            <a:r>
              <a:rPr lang="en-US" sz="2200" dirty="0">
                <a:solidFill>
                  <a:schemeClr val="tx1"/>
                </a:solidFill>
                <a:latin typeface="Times New Roman" pitchFamily="18" charset="0"/>
                <a:cs typeface="Times New Roman" pitchFamily="18" charset="0"/>
              </a:rPr>
              <a:t>convert rotary motion to linear motion. </a:t>
            </a:r>
            <a:r>
              <a:rPr lang="en-US" sz="2200" dirty="0" err="1">
                <a:solidFill>
                  <a:schemeClr val="tx1"/>
                </a:solidFill>
                <a:latin typeface="Times New Roman" pitchFamily="18" charset="0"/>
                <a:cs typeface="Times New Roman" pitchFamily="18" charset="0"/>
              </a:rPr>
              <a:t>Eg</a:t>
            </a:r>
            <a:r>
              <a:rPr lang="en-US" sz="2200" dirty="0">
                <a:solidFill>
                  <a:schemeClr val="tx1"/>
                </a:solidFill>
                <a:latin typeface="Times New Roman" pitchFamily="18" charset="0"/>
                <a:cs typeface="Times New Roman" pitchFamily="18" charset="0"/>
              </a:rPr>
              <a:t>. Screw.</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Hydraulic Actuators: hydraulic power to mechanical process. </a:t>
            </a:r>
            <a:r>
              <a:rPr lang="en-US" sz="2200" dirty="0">
                <a:solidFill>
                  <a:schemeClr val="tx1"/>
                </a:solidFill>
                <a:latin typeface="Times New Roman" pitchFamily="18" charset="0"/>
                <a:cs typeface="Times New Roman" pitchFamily="18" charset="0"/>
              </a:rPr>
              <a:t>linear, rotary, or oscillatory motion.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Pneumatic actuators: similar to hydraulic, but use compressed gas.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Manual actuators: </a:t>
            </a:r>
            <a:r>
              <a:rPr lang="en-US" sz="2200" dirty="0">
                <a:solidFill>
                  <a:schemeClr val="tx1"/>
                </a:solidFill>
                <a:latin typeface="Times New Roman" pitchFamily="18" charset="0"/>
                <a:cs typeface="Times New Roman" pitchFamily="18" charset="0"/>
              </a:rPr>
              <a:t>employs levers, gears, or wheels to enable movement.</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411439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US" sz="2200" b="1" dirty="0">
                <a:solidFill>
                  <a:schemeClr val="tx1"/>
                </a:solidFill>
                <a:latin typeface="Times New Roman" pitchFamily="18" charset="0"/>
                <a:cs typeface="Times New Roman" pitchFamily="18" charset="0"/>
              </a:rPr>
              <a:t>Principles of sensing: </a:t>
            </a:r>
            <a:r>
              <a:rPr lang="en-US" sz="2200" dirty="0">
                <a:solidFill>
                  <a:schemeClr val="tx1"/>
                </a:solidFill>
                <a:latin typeface="Times New Roman" pitchFamily="18" charset="0"/>
                <a:cs typeface="Times New Roman" pitchFamily="18" charset="0"/>
              </a:rPr>
              <a:t>capacitance, magnetic and electromagnetic induction, resistance, piezoelectric effect, heat transfer, light.</a:t>
            </a:r>
          </a:p>
          <a:p>
            <a:pPr algn="just"/>
            <a:r>
              <a:rPr lang="en-IN" sz="2200" b="1" dirty="0">
                <a:solidFill>
                  <a:schemeClr val="tx1"/>
                </a:solidFill>
                <a:latin typeface="Times New Roman" pitchFamily="18" charset="0"/>
                <a:cs typeface="Times New Roman" pitchFamily="18" charset="0"/>
              </a:rPr>
              <a:t>Capacitance: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It is mainly based on the capacitive coupling principle.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This sensor can simply detect &amp; measure different things like motion, chemical composition, displacement, electric field &amp; indirectly detect many other variables which can be changed into dielectric constant or motion like acceleration, pressure, fluid composition &amp; fluid level.</a:t>
            </a: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capacitive sensor works like a normal capacitor. In this sensor, a metal plate within the sensing face is electrically connected to an oscillator circuit and the target which is detected can act as the next plate of the capacitor. </a:t>
            </a:r>
            <a:endParaRPr lang="en-IN" sz="2200" dirty="0">
              <a:solidFill>
                <a:schemeClr val="tx1"/>
              </a:solidFill>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4772025"/>
            <a:ext cx="2857500"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04800" y="5181600"/>
            <a:ext cx="5867400" cy="769441"/>
          </a:xfrm>
          <a:prstGeom prst="rect">
            <a:avLst/>
          </a:prstGeom>
        </p:spPr>
        <p:txBody>
          <a:bodyPr wrap="square">
            <a:spAutoFit/>
          </a:bodyPr>
          <a:lstStyle/>
          <a:p>
            <a:pPr marL="342900" indent="-342900" algn="just">
              <a:buFont typeface="Arial" pitchFamily="34" charset="0"/>
              <a:buChar char="•"/>
            </a:pPr>
            <a:r>
              <a:rPr lang="en-US" sz="2200" dirty="0">
                <a:latin typeface="Times New Roman" pitchFamily="18" charset="0"/>
                <a:cs typeface="Times New Roman" pitchFamily="18" charset="0"/>
              </a:rPr>
              <a:t>Capacitive sensor generates an electrostatic field.</a:t>
            </a:r>
          </a:p>
        </p:txBody>
      </p:sp>
    </p:spTree>
    <p:extLst>
      <p:ext uri="{BB962C8B-B14F-4D97-AF65-F5344CB8AC3E}">
        <p14:creationId xmlns:p14="http://schemas.microsoft.com/office/powerpoint/2010/main" val="37373593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Capacitance: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Consequently, the oscillator circuit will begin to oscillate &amp; change the sensor’s output condition once it arrives at a certain amplitude.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Once the target goes away from the capacitive sensor, the amplitude of the oscillator will reduce, switching the capacitive sensor back to its original position.</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Range from 1 inch to 2 inches.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These sensors detect the superior dielectric constant of an object simply.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So, this makes achievable the detection of the material within nonmetallic containers because the dielectric constant of liquid is much higher as compared to the container.</a:t>
            </a:r>
            <a:endParaRPr lang="en-IN" sz="2200" dirty="0">
              <a:solidFill>
                <a:schemeClr val="tx1"/>
              </a:solidFill>
              <a:latin typeface="Times New Roman" pitchFamily="18" charset="0"/>
              <a:cs typeface="Times New Roman" pitchFamily="18" charset="0"/>
            </a:endParaRPr>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2050" y="5105400"/>
            <a:ext cx="5203825"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8600" y="5130800"/>
            <a:ext cx="2971800" cy="167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665233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Magnetic:</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Magnetic sensor definition is a sensor which is used to notice disturbances as well as changes within a magnetic field such as strength, direction, and flux.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There are different types of detection sensors which can work on some of the characteristics like light, pressure, temperature.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These sensors are separated into two groups. The first one is used to calculate the total magnetic field, whereas the second one is used to calculate vector components of the field.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magnetic sensor comprises a chip with a </a:t>
            </a:r>
            <a:r>
              <a:rPr lang="en-US" sz="2200" dirty="0" err="1">
                <a:solidFill>
                  <a:schemeClr val="tx1"/>
                </a:solidFill>
                <a:latin typeface="Times New Roman" pitchFamily="18" charset="0"/>
                <a:cs typeface="Times New Roman" pitchFamily="18" charset="0"/>
              </a:rPr>
              <a:t>magnetoresistive</a:t>
            </a:r>
            <a:r>
              <a:rPr lang="en-US" sz="2200" dirty="0">
                <a:solidFill>
                  <a:schemeClr val="tx1"/>
                </a:solidFill>
                <a:latin typeface="Times New Roman" pitchFamily="18" charset="0"/>
                <a:cs typeface="Times New Roman" pitchFamily="18" charset="0"/>
              </a:rPr>
              <a:t> component which is used to detect a magnetic vector &amp; a magnet intended for magnetic vector biasing which can be detected by the </a:t>
            </a:r>
            <a:r>
              <a:rPr lang="en-US" sz="2200" dirty="0" err="1">
                <a:solidFill>
                  <a:schemeClr val="tx1"/>
                </a:solidFill>
                <a:latin typeface="Times New Roman" pitchFamily="18" charset="0"/>
                <a:cs typeface="Times New Roman" pitchFamily="18" charset="0"/>
              </a:rPr>
              <a:t>magnetoresistive</a:t>
            </a:r>
            <a:r>
              <a:rPr lang="en-US" sz="2200" dirty="0">
                <a:solidFill>
                  <a:schemeClr val="tx1"/>
                </a:solidFill>
                <a:latin typeface="Times New Roman" pitchFamily="18" charset="0"/>
                <a:cs typeface="Times New Roman" pitchFamily="18" charset="0"/>
              </a:rPr>
              <a:t> component.</a:t>
            </a:r>
          </a:p>
        </p:txBody>
      </p:sp>
    </p:spTree>
    <p:extLst>
      <p:ext uri="{BB962C8B-B14F-4D97-AF65-F5344CB8AC3E}">
        <p14:creationId xmlns:p14="http://schemas.microsoft.com/office/powerpoint/2010/main" val="25653667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Magnetic:</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chip which is used in the sensor can be used for sensing the change within the magnetic vector. This vector notices the behavior of a magnetic body depending on a change of resistance value of the </a:t>
            </a:r>
            <a:r>
              <a:rPr lang="en-US" sz="2200" dirty="0" err="1">
                <a:solidFill>
                  <a:schemeClr val="tx1"/>
                </a:solidFill>
                <a:latin typeface="Times New Roman" pitchFamily="18" charset="0"/>
                <a:cs typeface="Times New Roman" pitchFamily="18" charset="0"/>
              </a:rPr>
              <a:t>magnetoresistive</a:t>
            </a:r>
            <a:r>
              <a:rPr lang="en-US" sz="2200" dirty="0">
                <a:solidFill>
                  <a:schemeClr val="tx1"/>
                </a:solidFill>
                <a:latin typeface="Times New Roman" pitchFamily="18" charset="0"/>
                <a:cs typeface="Times New Roman" pitchFamily="18" charset="0"/>
              </a:rPr>
              <a:t> component.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Whenever the magnetic vector biasing is occurred due to the magnet in co-operation by the magnetic body, then it will be the motion inside the sensing chip. This sensor can be used to compass functionality, which is accessible during Navigation menu.</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2127390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638800"/>
          </a:xfrm>
        </p:spPr>
        <p:txBody>
          <a:bodyPr>
            <a:normAutofit lnSpcReduction="10000"/>
          </a:bodyPr>
          <a:lstStyle/>
          <a:p>
            <a:pPr algn="just"/>
            <a:r>
              <a:rPr lang="en-IN" sz="2200" b="1" dirty="0">
                <a:solidFill>
                  <a:schemeClr val="tx1"/>
                </a:solidFill>
                <a:latin typeface="Times New Roman" pitchFamily="18" charset="0"/>
                <a:cs typeface="Times New Roman" pitchFamily="18" charset="0"/>
              </a:rPr>
              <a:t>Electromagnetic induction (inductive sensors):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Inductive sensor is an essential component used in machines. These sensors are robust devices and mainly designed depending on the requirements of the proximity sensor.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These sensors detect conductive otherwise metallic parts where contact is difficult. These sensors are used in hygiene based and outdoor applications.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They are multi-voltage and high-temperature sensors in non-contact way hence not subjected to mechanical wear and tear.</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working principle of an inductive sensor mainly depends on the electromagnetic induction principle for detecting or measuring objects.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Inductive sensor mainly includes an induction loop which is enough for detecting electromagnetic.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working of these sensors can be done by generating an oscillating electromagnetic field which is formed by a magnetic object when it is in motion. </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987606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Electromagnetic induction (inductive sensors):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moving object activates the current flow within the induction loop likewise with Faraday’s law of induction.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So that changes will have occurred within the electromagnetic field. So it can be detected with the circuit of sensors.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suitable signal can be an output when a magnetic metal is noticed.</a:t>
            </a:r>
          </a:p>
          <a:p>
            <a:pPr algn="just"/>
            <a:r>
              <a:rPr lang="en-IN" sz="2200" dirty="0">
                <a:solidFill>
                  <a:schemeClr val="tx1"/>
                </a:solidFill>
                <a:latin typeface="Times New Roman" pitchFamily="18" charset="0"/>
                <a:cs typeface="Times New Roman" pitchFamily="18" charset="0"/>
              </a:rPr>
              <a:t>Applications: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Proximity, medical MRI, transformer and coil, traffic sensors and moving car, metal detectors, speed detection</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1" y="4172228"/>
            <a:ext cx="4267200" cy="26494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32194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638800"/>
          </a:xfrm>
        </p:spPr>
        <p:txBody>
          <a:bodyPr>
            <a:normAutofit fontScale="92500"/>
          </a:bodyPr>
          <a:lstStyle/>
          <a:p>
            <a:pPr algn="just"/>
            <a:r>
              <a:rPr lang="en-IN" sz="2200" b="1" dirty="0">
                <a:solidFill>
                  <a:schemeClr val="tx1"/>
                </a:solidFill>
                <a:latin typeface="Times New Roman" pitchFamily="18" charset="0"/>
                <a:cs typeface="Times New Roman" pitchFamily="18" charset="0"/>
              </a:rPr>
              <a:t>Resistance: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resistive sensor is a transducer or electromechanical device that converts a mechanical change such as displacement into an electrical signal that can be monitored after conditioning.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Thermistors, </a:t>
            </a:r>
            <a:r>
              <a:rPr lang="en-US" sz="2200" dirty="0" err="1">
                <a:solidFill>
                  <a:schemeClr val="tx1"/>
                </a:solidFill>
                <a:latin typeface="Times New Roman" pitchFamily="18" charset="0"/>
                <a:cs typeface="Times New Roman" pitchFamily="18" charset="0"/>
              </a:rPr>
              <a:t>photoresistors</a:t>
            </a:r>
            <a:r>
              <a:rPr lang="en-US" sz="2200" dirty="0">
                <a:solidFill>
                  <a:schemeClr val="tx1"/>
                </a:solidFill>
                <a:latin typeface="Times New Roman" pitchFamily="18" charset="0"/>
                <a:cs typeface="Times New Roman" pitchFamily="18" charset="0"/>
              </a:rPr>
              <a:t>, and potentiometers are some examples of common resistive sensors.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Resistive sensing is based on the concept of electrical resistance, which in simple terms means how easily electric charges can move through a component in an electric circuit.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This depends in both the geometrical dimensions as well as the material of the component.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Therefore the resistance  can be described with the formula</a:t>
            </a: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Where ρ is the specific electric resistance of the material, l is the length of the component and A is the cross-section area of the component.</a:t>
            </a: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6131" y="4900612"/>
            <a:ext cx="1057275" cy="714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500" y="4267200"/>
            <a:ext cx="2857500"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24352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Resistance:</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Changing any of these quantities will change the electrical resistance of the components, changing the specific electric resistance is technically difficult.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When force is applied on a force-sensing resistor the contact area between the sensing layer and the electrodes increases or decreases directly proportional to the force, which therefore increases or decreases A in the formula.</a:t>
            </a:r>
          </a:p>
          <a:p>
            <a:pPr marL="342900" indent="-342900" algn="just">
              <a:buFont typeface="Arial" pitchFamily="34" charset="0"/>
              <a:buChar char="•"/>
            </a:pPr>
            <a:r>
              <a:rPr lang="en-IN" sz="2200" dirty="0" err="1">
                <a:solidFill>
                  <a:schemeClr val="tx1"/>
                </a:solidFill>
                <a:latin typeface="Times New Roman" pitchFamily="18" charset="0"/>
                <a:cs typeface="Times New Roman" pitchFamily="18" charset="0"/>
              </a:rPr>
              <a:t>Photoresistor</a:t>
            </a:r>
            <a:r>
              <a:rPr lang="en-IN" sz="2200" dirty="0">
                <a:solidFill>
                  <a:schemeClr val="tx1"/>
                </a:solidFill>
                <a:latin typeface="Times New Roman" pitchFamily="18" charset="0"/>
                <a:cs typeface="Times New Roman" pitchFamily="18" charset="0"/>
              </a:rPr>
              <a:t>: </a:t>
            </a:r>
            <a:r>
              <a:rPr lang="en-US" sz="2200" dirty="0">
                <a:solidFill>
                  <a:schemeClr val="tx1"/>
                </a:solidFill>
                <a:latin typeface="Times New Roman" pitchFamily="18" charset="0"/>
                <a:cs typeface="Times New Roman" pitchFamily="18" charset="0"/>
              </a:rPr>
              <a:t>resistance decreases as the light incident on the face of the </a:t>
            </a:r>
            <a:r>
              <a:rPr lang="en-US" sz="2200" dirty="0" err="1">
                <a:solidFill>
                  <a:schemeClr val="tx1"/>
                </a:solidFill>
                <a:latin typeface="Times New Roman" pitchFamily="18" charset="0"/>
                <a:cs typeface="Times New Roman" pitchFamily="18" charset="0"/>
              </a:rPr>
              <a:t>photoresistor</a:t>
            </a:r>
            <a:r>
              <a:rPr lang="en-US" sz="2200" dirty="0">
                <a:solidFill>
                  <a:schemeClr val="tx1"/>
                </a:solidFill>
                <a:latin typeface="Times New Roman" pitchFamily="18" charset="0"/>
                <a:cs typeface="Times New Roman" pitchFamily="18" charset="0"/>
              </a:rPr>
              <a:t> increases.</a:t>
            </a:r>
          </a:p>
          <a:p>
            <a:pPr marL="342900" indent="-342900" algn="just">
              <a:buFont typeface="Arial" pitchFamily="34" charset="0"/>
              <a:buChar char="•"/>
            </a:pPr>
            <a:r>
              <a:rPr lang="en-IN" sz="2200" dirty="0">
                <a:solidFill>
                  <a:schemeClr val="tx1"/>
                </a:solidFill>
                <a:latin typeface="Times New Roman" pitchFamily="18" charset="0"/>
                <a:cs typeface="Times New Roman" pitchFamily="18" charset="0"/>
              </a:rPr>
              <a:t>Thermistor: semiconductor material- small change in temperature, large change in resistance.</a:t>
            </a: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8888" y="4813300"/>
            <a:ext cx="2288524" cy="204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2400" y="4813300"/>
            <a:ext cx="1438275" cy="202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04801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Piezoelectric effect: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Piezoelectricity or piezoelectric effect is the charge created across certain materials when a mechanical stress is applied.</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A piezoelectric sensor is a device that uses the piezoelectric effect to measure changes in pressure, acceleration, temperature, strain, or force by converting them to an electrical charge.</a:t>
            </a:r>
          </a:p>
          <a:p>
            <a:pPr marL="342900" indent="-342900" algn="just">
              <a:buFont typeface="Arial" pitchFamily="34" charset="0"/>
              <a:buChar char="•"/>
            </a:pPr>
            <a:endParaRPr lang="en-IN" sz="2200" dirty="0">
              <a:solidFill>
                <a:schemeClr val="tx1"/>
              </a:solidFill>
              <a:latin typeface="Times New Roman" pitchFamily="18" charset="0"/>
              <a:cs typeface="Times New Roman" pitchFamily="18" charset="0"/>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1875" y="457200"/>
            <a:ext cx="142875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0" y="4656951"/>
            <a:ext cx="209550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04800" y="2990433"/>
            <a:ext cx="8578850" cy="2800767"/>
          </a:xfrm>
          <a:prstGeom prst="rect">
            <a:avLst/>
          </a:prstGeom>
        </p:spPr>
        <p:txBody>
          <a:bodyPr wrap="square">
            <a:spAutoFit/>
          </a:bodyPr>
          <a:lstStyle/>
          <a:p>
            <a:pPr marL="342900" indent="-342900" algn="just">
              <a:buFont typeface="Arial" pitchFamily="34" charset="0"/>
              <a:buChar char="•"/>
            </a:pPr>
            <a:r>
              <a:rPr lang="en-US" sz="2200" dirty="0">
                <a:latin typeface="Times New Roman" pitchFamily="18" charset="0"/>
                <a:cs typeface="Times New Roman" pitchFamily="18" charset="0"/>
              </a:rPr>
              <a:t>When a force is applied to a piezoelectric material, an electric charge is generated across the faces of the crystal. This can be measured as a voltage proportional to the pressure (see diagram to the right).</a:t>
            </a:r>
          </a:p>
          <a:p>
            <a:pPr marL="342900" indent="-342900" algn="just">
              <a:buFont typeface="Arial" pitchFamily="34" charset="0"/>
              <a:buChar char="•"/>
            </a:pPr>
            <a:r>
              <a:rPr lang="en-US" sz="2200" dirty="0">
                <a:latin typeface="Times New Roman" pitchFamily="18" charset="0"/>
                <a:cs typeface="Times New Roman" pitchFamily="18" charset="0"/>
              </a:rPr>
              <a:t>used for measuring dynamic pressure, for example in turbulence, blast, and engine combustion. These all require fast response, ruggedness and a wide range of operation.</a:t>
            </a:r>
          </a:p>
          <a:p>
            <a:pPr marL="342900" indent="-342900" algn="just">
              <a:buFont typeface="Arial" pitchFamily="34" charset="0"/>
              <a:buChar char="•"/>
            </a:pPr>
            <a:r>
              <a:rPr lang="en-US" sz="2200" dirty="0">
                <a:latin typeface="Times New Roman" pitchFamily="18" charset="0"/>
                <a:cs typeface="Times New Roman" pitchFamily="18" charset="0"/>
              </a:rPr>
              <a:t>Medical applications. </a:t>
            </a:r>
            <a:r>
              <a:rPr lang="en-US" sz="2200" dirty="0" err="1">
                <a:latin typeface="Times New Roman" pitchFamily="18" charset="0"/>
                <a:cs typeface="Times New Roman" pitchFamily="18" charset="0"/>
              </a:rPr>
              <a:t>Eg</a:t>
            </a:r>
            <a:r>
              <a:rPr lang="en-US" sz="2200" dirty="0">
                <a:latin typeface="Times New Roman" pitchFamily="18" charset="0"/>
                <a:cs typeface="Times New Roman" pitchFamily="18" charset="0"/>
              </a:rPr>
              <a:t>. a thin-film plastic sensor can be attached to the skin and used for real-time monitoring of the arterial pulse. </a:t>
            </a:r>
          </a:p>
        </p:txBody>
      </p:sp>
    </p:spTree>
    <p:extLst>
      <p:ext uri="{BB962C8B-B14F-4D97-AF65-F5344CB8AC3E}">
        <p14:creationId xmlns:p14="http://schemas.microsoft.com/office/powerpoint/2010/main" val="42055470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Heat transfer:</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Heat transfer is perhaps the most commonly measured conservational quantity. This is anticipated since most physical, electronic, chemical, mechanical, and biological systems are affected by temperature. </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There are four types of temperature sensors: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Thermocouple Sensors: </a:t>
            </a:r>
            <a:r>
              <a:rPr lang="en-US" sz="2200" dirty="0">
                <a:solidFill>
                  <a:schemeClr val="tx1"/>
                </a:solidFill>
                <a:latin typeface="Times New Roman" pitchFamily="18" charset="0"/>
                <a:cs typeface="Times New Roman" pitchFamily="18" charset="0"/>
              </a:rPr>
              <a:t>A thermocouple is a device consisting of two different and dissimilar conductors in contact. It produces a voltage as a result of the thermoelectric effect. Thermocouple sensor is made by joining two dissimilar metals at one end. </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Resistance Temperature Detector (RTD) Sensors: </a:t>
            </a:r>
            <a:r>
              <a:rPr lang="en-US" sz="2200" dirty="0">
                <a:solidFill>
                  <a:schemeClr val="tx1"/>
                </a:solidFill>
                <a:latin typeface="Times New Roman" pitchFamily="18" charset="0"/>
                <a:cs typeface="Times New Roman" pitchFamily="18" charset="0"/>
              </a:rPr>
              <a:t>RTDs are temperature sensing devices whose resistance changes with temperature. They have been used for many years to measure temperature in laboratory and industrial processes and have developed a reputation for accuracy, repeatability, and stability.</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905668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638800"/>
          </a:xfrm>
        </p:spPr>
        <p:txBody>
          <a:bodyPr>
            <a:normAutofit/>
          </a:bodyPr>
          <a:lstStyle/>
          <a:p>
            <a:pPr algn="just"/>
            <a:r>
              <a:rPr lang="en-IN" sz="2200" b="1" dirty="0">
                <a:solidFill>
                  <a:schemeClr val="tx1"/>
                </a:solidFill>
                <a:latin typeface="Times New Roman" pitchFamily="18" charset="0"/>
                <a:cs typeface="Times New Roman" pitchFamily="18" charset="0"/>
              </a:rPr>
              <a:t>Heat transfer:</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Thermistors: </a:t>
            </a:r>
            <a:r>
              <a:rPr lang="en-US" sz="2200" dirty="0">
                <a:solidFill>
                  <a:schemeClr val="tx1"/>
                </a:solidFill>
                <a:latin typeface="Times New Roman" pitchFamily="18" charset="0"/>
                <a:cs typeface="Times New Roman" pitchFamily="18" charset="0"/>
              </a:rPr>
              <a:t>Similar to the RTD, the thermistor is a temperature sensing device whose resistance changes with temperature. Thermistors, however, are made from semiconductor materials. Resistance is determined in the same manner as the RTD, but thermistors exhibit a highly nonlinear resistance vs. temperature curve.</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Semiconductor Sensors: </a:t>
            </a:r>
            <a:r>
              <a:rPr lang="en-US" sz="2200" dirty="0">
                <a:solidFill>
                  <a:schemeClr val="tx1"/>
                </a:solidFill>
                <a:latin typeface="Times New Roman" pitchFamily="18" charset="0"/>
                <a:cs typeface="Times New Roman" pitchFamily="18" charset="0"/>
              </a:rPr>
              <a:t>They are classified into different types like voltage output, current output, digital output, resistance output silicon, and diode temperature sensors. Modern semiconductor temperature sensors offer high accuracy and high linearity over an operating range of about 55 °C to +150 °C (−58 to 302 °F). They can also include signal processing circuitry within the same package as the sensor, thereby avoiding the need to add compensation circuits. </a:t>
            </a:r>
            <a:endParaRPr lang="en-IN" sz="2200" dirty="0">
              <a:solidFill>
                <a:schemeClr val="tx1"/>
              </a:solidFill>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5638800"/>
            <a:ext cx="2700424" cy="110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1593" y="5556250"/>
            <a:ext cx="1470736" cy="1264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11204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638800"/>
          </a:xfrm>
        </p:spPr>
        <p:txBody>
          <a:bodyPr>
            <a:normAutofit lnSpcReduction="10000"/>
          </a:bodyPr>
          <a:lstStyle/>
          <a:p>
            <a:pPr algn="just"/>
            <a:r>
              <a:rPr lang="en-IN" sz="2200" b="1" dirty="0">
                <a:solidFill>
                  <a:schemeClr val="tx1"/>
                </a:solidFill>
                <a:latin typeface="Times New Roman" pitchFamily="18" charset="0"/>
                <a:cs typeface="Times New Roman" pitchFamily="18" charset="0"/>
              </a:rPr>
              <a:t>Light:</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Light Sensors are photoelectric devices that convert light energy (photons) whether visible or infra-red light into an electrical (electrons) signal.</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Light Sensor generates an output signal indicating the intensity of light by measuring the radiant energy that exists in a very narrow range of frequencies basically called “light”, and which ranges in frequency from “Infra-red” to “Visible” up to “Ultraviolet” light spectrum.</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The light sensor is a passive devices that convert this “light energy” whether visible or in the infra-red parts of the spectrum into an electrical signal output. Light sensors are more commonly known as “Photoelectric Devices” or “Photo Sensors” because the convert light energy (photons) into electricity (electrons).</a:t>
            </a:r>
          </a:p>
          <a:p>
            <a:pPr marL="342900" indent="-342900" algn="just">
              <a:buFont typeface="Arial" pitchFamily="34" charset="0"/>
              <a:buChar char="•"/>
            </a:pPr>
            <a:r>
              <a:rPr lang="en-US" sz="2200" dirty="0">
                <a:solidFill>
                  <a:schemeClr val="tx1"/>
                </a:solidFill>
                <a:latin typeface="Times New Roman" pitchFamily="18" charset="0"/>
                <a:cs typeface="Times New Roman" pitchFamily="18" charset="0"/>
              </a:rPr>
              <a:t>Photoelectric devices can be grouped into two main categories, those which generate electricity when illuminated, such as Photo-</a:t>
            </a:r>
            <a:r>
              <a:rPr lang="en-US" sz="2200" dirty="0" err="1">
                <a:solidFill>
                  <a:schemeClr val="tx1"/>
                </a:solidFill>
                <a:latin typeface="Times New Roman" pitchFamily="18" charset="0"/>
                <a:cs typeface="Times New Roman" pitchFamily="18" charset="0"/>
              </a:rPr>
              <a:t>voltaics</a:t>
            </a:r>
            <a:r>
              <a:rPr lang="en-US" sz="2200" dirty="0">
                <a:solidFill>
                  <a:schemeClr val="tx1"/>
                </a:solidFill>
                <a:latin typeface="Times New Roman" pitchFamily="18" charset="0"/>
                <a:cs typeface="Times New Roman" pitchFamily="18" charset="0"/>
              </a:rPr>
              <a:t> or Photo-</a:t>
            </a:r>
            <a:r>
              <a:rPr lang="en-US" sz="2200" dirty="0" err="1">
                <a:solidFill>
                  <a:schemeClr val="tx1"/>
                </a:solidFill>
                <a:latin typeface="Times New Roman" pitchFamily="18" charset="0"/>
                <a:cs typeface="Times New Roman" pitchFamily="18" charset="0"/>
              </a:rPr>
              <a:t>emissives</a:t>
            </a:r>
            <a:r>
              <a:rPr lang="en-US" sz="2200" dirty="0">
                <a:solidFill>
                  <a:schemeClr val="tx1"/>
                </a:solidFill>
                <a:latin typeface="Times New Roman" pitchFamily="18" charset="0"/>
                <a:cs typeface="Times New Roman" pitchFamily="18" charset="0"/>
              </a:rPr>
              <a:t> </a:t>
            </a:r>
            <a:r>
              <a:rPr lang="en-US" sz="2200" dirty="0" err="1">
                <a:solidFill>
                  <a:schemeClr val="tx1"/>
                </a:solidFill>
                <a:latin typeface="Times New Roman" pitchFamily="18" charset="0"/>
                <a:cs typeface="Times New Roman" pitchFamily="18" charset="0"/>
              </a:rPr>
              <a:t>etc</a:t>
            </a:r>
            <a:r>
              <a:rPr lang="en-US" sz="2200" dirty="0">
                <a:solidFill>
                  <a:schemeClr val="tx1"/>
                </a:solidFill>
                <a:latin typeface="Times New Roman" pitchFamily="18" charset="0"/>
                <a:cs typeface="Times New Roman" pitchFamily="18" charset="0"/>
              </a:rPr>
              <a:t>, and those which change their electrical properties in some way such as Photo-resistors or Photo-conductors.</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4843619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Sensor fundamentals and characteristics</a:t>
            </a:r>
          </a:p>
        </p:txBody>
      </p:sp>
      <p:sp>
        <p:nvSpPr>
          <p:cNvPr id="3" name="Subtitle 2"/>
          <p:cNvSpPr>
            <a:spLocks noGrp="1"/>
          </p:cNvSpPr>
          <p:nvPr>
            <p:ph type="subTitle" idx="1"/>
          </p:nvPr>
        </p:nvSpPr>
        <p:spPr>
          <a:xfrm>
            <a:off x="304800" y="762000"/>
            <a:ext cx="8458200" cy="5867400"/>
          </a:xfrm>
        </p:spPr>
        <p:txBody>
          <a:bodyPr>
            <a:normAutofit fontScale="92500" lnSpcReduction="10000"/>
          </a:bodyPr>
          <a:lstStyle/>
          <a:p>
            <a:pPr algn="just"/>
            <a:r>
              <a:rPr lang="en-IN" sz="2200" b="1" dirty="0">
                <a:solidFill>
                  <a:schemeClr val="tx1"/>
                </a:solidFill>
                <a:latin typeface="Times New Roman" pitchFamily="18" charset="0"/>
                <a:cs typeface="Times New Roman" pitchFamily="18" charset="0"/>
              </a:rPr>
              <a:t>Classification of light sensors: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Photo-emissive Cells: </a:t>
            </a:r>
            <a:r>
              <a:rPr lang="en-US" sz="2200" dirty="0">
                <a:solidFill>
                  <a:schemeClr val="tx1"/>
                </a:solidFill>
                <a:latin typeface="Times New Roman" pitchFamily="18" charset="0"/>
                <a:cs typeface="Times New Roman" pitchFamily="18" charset="0"/>
              </a:rPr>
              <a:t>Release free electrons from a light sensitive material such as </a:t>
            </a:r>
            <a:r>
              <a:rPr lang="en-US" sz="2200" dirty="0" err="1">
                <a:solidFill>
                  <a:schemeClr val="tx1"/>
                </a:solidFill>
                <a:latin typeface="Times New Roman" pitchFamily="18" charset="0"/>
                <a:cs typeface="Times New Roman" pitchFamily="18" charset="0"/>
              </a:rPr>
              <a:t>caesium</a:t>
            </a:r>
            <a:r>
              <a:rPr lang="en-US" sz="2200" dirty="0">
                <a:solidFill>
                  <a:schemeClr val="tx1"/>
                </a:solidFill>
                <a:latin typeface="Times New Roman" pitchFamily="18" charset="0"/>
                <a:cs typeface="Times New Roman" pitchFamily="18" charset="0"/>
              </a:rPr>
              <a:t> when struck by a photon of sufficient energy. The higher the frequency, the more energy the photons have converting light energy into electrical energy.</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Photo-conductive Cells:</a:t>
            </a:r>
            <a:r>
              <a:rPr lang="en-US" sz="2200" dirty="0">
                <a:solidFill>
                  <a:schemeClr val="tx1"/>
                </a:solidFill>
                <a:latin typeface="Times New Roman" pitchFamily="18" charset="0"/>
                <a:cs typeface="Times New Roman" pitchFamily="18" charset="0"/>
              </a:rPr>
              <a:t> Vary their electrical resistance when subjected to light. Photoconductivity results from light hitting a semiconductor material which controls the current flow through it. Thus, more light increase the current for a given applied voltage. The most common photoconductive material is Cadmium </a:t>
            </a:r>
            <a:r>
              <a:rPr lang="en-US" sz="2200" dirty="0" err="1">
                <a:solidFill>
                  <a:schemeClr val="tx1"/>
                </a:solidFill>
                <a:latin typeface="Times New Roman" pitchFamily="18" charset="0"/>
                <a:cs typeface="Times New Roman" pitchFamily="18" charset="0"/>
              </a:rPr>
              <a:t>Sulphide</a:t>
            </a:r>
            <a:r>
              <a:rPr lang="en-US" sz="2200" dirty="0">
                <a:solidFill>
                  <a:schemeClr val="tx1"/>
                </a:solidFill>
                <a:latin typeface="Times New Roman" pitchFamily="18" charset="0"/>
                <a:cs typeface="Times New Roman" pitchFamily="18" charset="0"/>
              </a:rPr>
              <a:t> used in LDR photocells.</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Photo-voltaic Cells:</a:t>
            </a:r>
            <a:r>
              <a:rPr lang="en-US" sz="2200" dirty="0">
                <a:solidFill>
                  <a:schemeClr val="tx1"/>
                </a:solidFill>
                <a:latin typeface="Times New Roman" pitchFamily="18" charset="0"/>
                <a:cs typeface="Times New Roman" pitchFamily="18" charset="0"/>
              </a:rPr>
              <a:t> Generate an </a:t>
            </a:r>
            <a:r>
              <a:rPr lang="en-US" sz="2200" dirty="0" err="1">
                <a:solidFill>
                  <a:schemeClr val="tx1"/>
                </a:solidFill>
                <a:latin typeface="Times New Roman" pitchFamily="18" charset="0"/>
                <a:cs typeface="Times New Roman" pitchFamily="18" charset="0"/>
              </a:rPr>
              <a:t>emf</a:t>
            </a:r>
            <a:r>
              <a:rPr lang="en-US" sz="2200" dirty="0">
                <a:solidFill>
                  <a:schemeClr val="tx1"/>
                </a:solidFill>
                <a:latin typeface="Times New Roman" pitchFamily="18" charset="0"/>
                <a:cs typeface="Times New Roman" pitchFamily="18" charset="0"/>
              </a:rPr>
              <a:t> in proportion to the radiant light energy received and is similar in effect to photoconductivity. Light energy falls on to two semiconductor materials sandwiched together creating a voltage of approximately 0.5V. The most common photovoltaic material is Selenium used in </a:t>
            </a:r>
            <a:r>
              <a:rPr lang="en-US" sz="2200" b="1" dirty="0">
                <a:solidFill>
                  <a:schemeClr val="tx1"/>
                </a:solidFill>
                <a:latin typeface="Times New Roman" pitchFamily="18" charset="0"/>
                <a:cs typeface="Times New Roman" pitchFamily="18" charset="0"/>
              </a:rPr>
              <a:t>solar cells</a:t>
            </a:r>
            <a:r>
              <a:rPr lang="en-US" sz="2200" dirty="0">
                <a:solidFill>
                  <a:schemeClr val="tx1"/>
                </a:solidFill>
                <a:latin typeface="Times New Roman" pitchFamily="18" charset="0"/>
                <a:cs typeface="Times New Roman" pitchFamily="18" charset="0"/>
              </a:rPr>
              <a:t>.</a:t>
            </a:r>
          </a:p>
          <a:p>
            <a:pPr marL="342900" indent="-342900" algn="just">
              <a:buFont typeface="Arial" pitchFamily="34" charset="0"/>
              <a:buChar char="•"/>
            </a:pPr>
            <a:r>
              <a:rPr lang="en-US" sz="2200" b="1" dirty="0">
                <a:solidFill>
                  <a:schemeClr val="tx1"/>
                </a:solidFill>
                <a:latin typeface="Times New Roman" pitchFamily="18" charset="0"/>
                <a:cs typeface="Times New Roman" pitchFamily="18" charset="0"/>
              </a:rPr>
              <a:t>Photo-junction Devices:</a:t>
            </a:r>
            <a:r>
              <a:rPr lang="en-US" sz="2200" dirty="0">
                <a:solidFill>
                  <a:schemeClr val="tx1"/>
                </a:solidFill>
                <a:latin typeface="Times New Roman" pitchFamily="18" charset="0"/>
                <a:cs typeface="Times New Roman" pitchFamily="18" charset="0"/>
              </a:rPr>
              <a:t> Semiconductor devices such as the photodiode or phototransistor which use light to control the flow of electrons and holes across their PN-junction. Designed for detector application and light penetration with their spectral response tuned to the wavelength of incident light.</a:t>
            </a:r>
          </a:p>
        </p:txBody>
      </p:sp>
      <p:pic>
        <p:nvPicPr>
          <p:cNvPr id="1229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6640865" y="3237426"/>
            <a:ext cx="394856" cy="722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63345" y="6295179"/>
            <a:ext cx="495300" cy="431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792238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Applications of IOT and Sensors</a:t>
            </a: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IN" sz="2200" b="1" dirty="0" err="1">
                <a:solidFill>
                  <a:schemeClr val="tx1"/>
                </a:solidFill>
                <a:latin typeface="Times New Roman" pitchFamily="18" charset="0"/>
                <a:cs typeface="Times New Roman" pitchFamily="18" charset="0"/>
              </a:rPr>
              <a:t>IoT</a:t>
            </a:r>
            <a:r>
              <a:rPr lang="en-IN" sz="2200" b="1" dirty="0">
                <a:solidFill>
                  <a:schemeClr val="tx1"/>
                </a:solidFill>
                <a:latin typeface="Times New Roman" pitchFamily="18" charset="0"/>
                <a:cs typeface="Times New Roman" pitchFamily="18" charset="0"/>
              </a:rPr>
              <a:t> in Agriculture and Farming: </a:t>
            </a:r>
            <a:r>
              <a:rPr lang="en-IN" sz="2200" dirty="0">
                <a:solidFill>
                  <a:schemeClr val="tx1"/>
                </a:solidFill>
                <a:latin typeface="Times New Roman" pitchFamily="18" charset="0"/>
                <a:cs typeface="Times New Roman" pitchFamily="18" charset="0"/>
              </a:rPr>
              <a:t>Advanced yield monitoring, Optimal seeding, Optimal water usage and Livestock monitoring.</a:t>
            </a:r>
          </a:p>
          <a:p>
            <a:pPr marL="342900" indent="-342900" algn="just">
              <a:buFont typeface="Arial" pitchFamily="34" charset="0"/>
              <a:buChar char="•"/>
            </a:pPr>
            <a:r>
              <a:rPr lang="en-IN" sz="2200" b="1" dirty="0" err="1">
                <a:solidFill>
                  <a:schemeClr val="tx1"/>
                </a:solidFill>
                <a:latin typeface="Times New Roman" pitchFamily="18" charset="0"/>
                <a:cs typeface="Times New Roman" pitchFamily="18" charset="0"/>
              </a:rPr>
              <a:t>IoT</a:t>
            </a:r>
            <a:r>
              <a:rPr lang="en-IN" sz="2200" b="1" dirty="0">
                <a:solidFill>
                  <a:schemeClr val="tx1"/>
                </a:solidFill>
                <a:latin typeface="Times New Roman" pitchFamily="18" charset="0"/>
                <a:cs typeface="Times New Roman" pitchFamily="18" charset="0"/>
              </a:rPr>
              <a:t> Energy solutions: </a:t>
            </a:r>
            <a:r>
              <a:rPr lang="en-IN" sz="2200" dirty="0">
                <a:solidFill>
                  <a:schemeClr val="tx1"/>
                </a:solidFill>
                <a:latin typeface="Times New Roman" pitchFamily="18" charset="0"/>
                <a:cs typeface="Times New Roman" pitchFamily="18" charset="0"/>
              </a:rPr>
              <a:t>Smart meters, Smart homes and smart monitoring of renewable energy sources.</a:t>
            </a:r>
          </a:p>
          <a:p>
            <a:pPr marL="342900" indent="-342900" algn="just">
              <a:buFont typeface="Arial" pitchFamily="34" charset="0"/>
              <a:buChar char="•"/>
            </a:pPr>
            <a:r>
              <a:rPr lang="en-IN" sz="2200" b="1" dirty="0" err="1">
                <a:solidFill>
                  <a:schemeClr val="tx1"/>
                </a:solidFill>
                <a:latin typeface="Times New Roman" pitchFamily="18" charset="0"/>
                <a:cs typeface="Times New Roman" pitchFamily="18" charset="0"/>
              </a:rPr>
              <a:t>IoT</a:t>
            </a:r>
            <a:r>
              <a:rPr lang="en-IN" sz="2200" b="1" dirty="0">
                <a:solidFill>
                  <a:schemeClr val="tx1"/>
                </a:solidFill>
                <a:latin typeface="Times New Roman" pitchFamily="18" charset="0"/>
                <a:cs typeface="Times New Roman" pitchFamily="18" charset="0"/>
              </a:rPr>
              <a:t> Oil and Gas Solutions: </a:t>
            </a:r>
            <a:r>
              <a:rPr lang="en-IN" sz="2200" dirty="0">
                <a:solidFill>
                  <a:schemeClr val="tx1"/>
                </a:solidFill>
                <a:latin typeface="Times New Roman" pitchFamily="18" charset="0"/>
                <a:cs typeface="Times New Roman" pitchFamily="18" charset="0"/>
              </a:rPr>
              <a:t>Connected oil and gas fields and downstream applications.</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3084" y="3048000"/>
            <a:ext cx="5881841" cy="3646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831777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7709"/>
            <a:ext cx="7772400" cy="658092"/>
          </a:xfrm>
        </p:spPr>
        <p:txBody>
          <a:bodyPr>
            <a:noAutofit/>
          </a:bodyPr>
          <a:lstStyle/>
          <a:p>
            <a:r>
              <a:rPr lang="en-IN" sz="2800" dirty="0">
                <a:solidFill>
                  <a:srgbClr val="FF0000"/>
                </a:solidFill>
                <a:latin typeface="Times New Roman" pitchFamily="18" charset="0"/>
                <a:cs typeface="Times New Roman" pitchFamily="18" charset="0"/>
              </a:rPr>
              <a:t>Applications of IOT and Sensors</a:t>
            </a:r>
          </a:p>
        </p:txBody>
      </p:sp>
      <p:sp>
        <p:nvSpPr>
          <p:cNvPr id="3" name="Subtitle 2"/>
          <p:cNvSpPr>
            <a:spLocks noGrp="1"/>
          </p:cNvSpPr>
          <p:nvPr>
            <p:ph type="subTitle" idx="1"/>
          </p:nvPr>
        </p:nvSpPr>
        <p:spPr>
          <a:xfrm>
            <a:off x="304800" y="762000"/>
            <a:ext cx="8458200" cy="5638800"/>
          </a:xfrm>
        </p:spPr>
        <p:txBody>
          <a:bodyPr>
            <a:normAutofit/>
          </a:bodyPr>
          <a:lstStyle/>
          <a:p>
            <a:pPr marL="342900" indent="-342900" algn="just">
              <a:buFont typeface="Arial" pitchFamily="34" charset="0"/>
              <a:buChar char="•"/>
            </a:pPr>
            <a:r>
              <a:rPr lang="en-US" sz="2200" b="1" dirty="0" err="1">
                <a:solidFill>
                  <a:schemeClr val="tx1"/>
                </a:solidFill>
                <a:latin typeface="Times New Roman" pitchFamily="18" charset="0"/>
                <a:cs typeface="Times New Roman" pitchFamily="18" charset="0"/>
              </a:rPr>
              <a:t>IoT</a:t>
            </a:r>
            <a:r>
              <a:rPr lang="en-US" sz="2200" b="1" dirty="0">
                <a:solidFill>
                  <a:schemeClr val="tx1"/>
                </a:solidFill>
                <a:latin typeface="Times New Roman" pitchFamily="18" charset="0"/>
                <a:cs typeface="Times New Roman" pitchFamily="18" charset="0"/>
              </a:rPr>
              <a:t> in Smart Building Solutions: </a:t>
            </a:r>
            <a:r>
              <a:rPr lang="en-US" sz="2200" dirty="0">
                <a:solidFill>
                  <a:schemeClr val="tx1"/>
                </a:solidFill>
                <a:latin typeface="Times New Roman" pitchFamily="18" charset="0"/>
                <a:cs typeface="Times New Roman" pitchFamily="18" charset="0"/>
              </a:rPr>
              <a:t>Safety Monitoring and Alerting, Smart Lighting, Flooding, Water Leakage, and Pollution Monitoring and Detection of Hazardous Gases and Radiation Levels.</a:t>
            </a:r>
          </a:p>
          <a:p>
            <a:pPr marL="342900" indent="-342900" algn="just">
              <a:buFont typeface="Arial" pitchFamily="34" charset="0"/>
              <a:buChar char="•"/>
            </a:pPr>
            <a:r>
              <a:rPr lang="en-US" sz="2200" b="1" dirty="0" err="1">
                <a:solidFill>
                  <a:schemeClr val="tx1"/>
                </a:solidFill>
                <a:latin typeface="Times New Roman" pitchFamily="18" charset="0"/>
                <a:cs typeface="Times New Roman" pitchFamily="18" charset="0"/>
              </a:rPr>
              <a:t>IoT</a:t>
            </a:r>
            <a:r>
              <a:rPr lang="en-US" sz="2200" b="1" dirty="0">
                <a:solidFill>
                  <a:schemeClr val="tx1"/>
                </a:solidFill>
                <a:latin typeface="Times New Roman" pitchFamily="18" charset="0"/>
                <a:cs typeface="Times New Roman" pitchFamily="18" charset="0"/>
              </a:rPr>
              <a:t> Finance: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Usage-based auto insurance,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Solution to reduce Fraud and Liability and </a:t>
            </a:r>
            <a:r>
              <a:rPr lang="en-US" sz="2200" dirty="0" err="1">
                <a:solidFill>
                  <a:schemeClr val="tx1"/>
                </a:solidFill>
                <a:latin typeface="Times New Roman" pitchFamily="18" charset="0"/>
                <a:cs typeface="Times New Roman" pitchFamily="18" charset="0"/>
              </a:rPr>
              <a:t>IoT</a:t>
            </a:r>
            <a:r>
              <a:rPr lang="en-US" sz="2200" dirty="0">
                <a:solidFill>
                  <a:schemeClr val="tx1"/>
                </a:solidFill>
                <a:latin typeface="Times New Roman" pitchFamily="18" charset="0"/>
                <a:cs typeface="Times New Roman" pitchFamily="18" charset="0"/>
              </a:rPr>
              <a:t> Safety Solutions.</a:t>
            </a:r>
          </a:p>
          <a:p>
            <a:pPr marL="342900" indent="-342900" algn="just">
              <a:buFont typeface="Arial" pitchFamily="34" charset="0"/>
              <a:buChar char="•"/>
            </a:pPr>
            <a:r>
              <a:rPr lang="en-US" sz="2200" b="1" dirty="0" err="1">
                <a:solidFill>
                  <a:schemeClr val="tx1"/>
                </a:solidFill>
                <a:latin typeface="Times New Roman" pitchFamily="18" charset="0"/>
                <a:cs typeface="Times New Roman" pitchFamily="18" charset="0"/>
              </a:rPr>
              <a:t>IoT</a:t>
            </a:r>
            <a:r>
              <a:rPr lang="en-US" sz="2200" b="1" dirty="0">
                <a:solidFill>
                  <a:schemeClr val="tx1"/>
                </a:solidFill>
                <a:latin typeface="Times New Roman" pitchFamily="18" charset="0"/>
                <a:cs typeface="Times New Roman" pitchFamily="18" charset="0"/>
              </a:rPr>
              <a:t> Healthcare: </a:t>
            </a:r>
            <a:r>
              <a:rPr lang="en-US" sz="2200" dirty="0">
                <a:solidFill>
                  <a:schemeClr val="tx1"/>
                </a:solidFill>
                <a:latin typeface="Times New Roman" pitchFamily="18" charset="0"/>
                <a:cs typeface="Times New Roman" pitchFamily="18" charset="0"/>
              </a:rPr>
              <a:t>Fall Detection, Tracking of medical devices, Medical fridges for hospitals and alerts.</a:t>
            </a:r>
          </a:p>
          <a:p>
            <a:pPr marL="342900" indent="-342900" algn="just">
              <a:buFont typeface="Arial" pitchFamily="34" charset="0"/>
              <a:buChar char="•"/>
            </a:pPr>
            <a:r>
              <a:rPr lang="en-US" sz="2200" b="1" dirty="0" err="1">
                <a:solidFill>
                  <a:schemeClr val="tx1"/>
                </a:solidFill>
                <a:latin typeface="Times New Roman" pitchFamily="18" charset="0"/>
                <a:cs typeface="Times New Roman" pitchFamily="18" charset="0"/>
              </a:rPr>
              <a:t>IoT</a:t>
            </a:r>
            <a:r>
              <a:rPr lang="en-US" sz="2200" b="1" dirty="0">
                <a:solidFill>
                  <a:schemeClr val="tx1"/>
                </a:solidFill>
                <a:latin typeface="Times New Roman" pitchFamily="18" charset="0"/>
                <a:cs typeface="Times New Roman" pitchFamily="18" charset="0"/>
              </a:rPr>
              <a:t> Industrial: </a:t>
            </a:r>
            <a:r>
              <a:rPr lang="en-US" sz="2200" dirty="0">
                <a:solidFill>
                  <a:schemeClr val="tx1"/>
                </a:solidFill>
                <a:latin typeface="Times New Roman" pitchFamily="18" charset="0"/>
                <a:cs typeface="Times New Roman" pitchFamily="18" charset="0"/>
              </a:rPr>
              <a:t>Predictive maintenance, Connected Factory, Connected Mine and Supply Chain Control.</a:t>
            </a:r>
            <a:endParaRPr lang="en-IN" sz="2200" dirty="0">
              <a:solidFill>
                <a:schemeClr val="tx1"/>
              </a:solidFill>
              <a:latin typeface="Times New Roman" pitchFamily="18" charset="0"/>
              <a:cs typeface="Times New Roman" pitchFamily="18" charset="0"/>
            </a:endParaRPr>
          </a:p>
          <a:p>
            <a:pPr marL="342900" indent="-342900" algn="just">
              <a:buFont typeface="Arial" pitchFamily="34" charset="0"/>
              <a:buChar char="•"/>
            </a:pPr>
            <a:r>
              <a:rPr lang="en-IN" sz="2200" b="1" dirty="0" err="1">
                <a:solidFill>
                  <a:schemeClr val="tx1"/>
                </a:solidFill>
                <a:latin typeface="Times New Roman" pitchFamily="18" charset="0"/>
                <a:cs typeface="Times New Roman" pitchFamily="18" charset="0"/>
              </a:rPr>
              <a:t>IoT</a:t>
            </a:r>
            <a:r>
              <a:rPr lang="en-IN" sz="2200" b="1" dirty="0">
                <a:solidFill>
                  <a:schemeClr val="tx1"/>
                </a:solidFill>
                <a:latin typeface="Times New Roman" pitchFamily="18" charset="0"/>
                <a:cs typeface="Times New Roman" pitchFamily="18" charset="0"/>
              </a:rPr>
              <a:t> Retail: </a:t>
            </a:r>
            <a:r>
              <a:rPr lang="en-US" sz="2200" dirty="0">
                <a:solidFill>
                  <a:schemeClr val="tx1"/>
                </a:solidFill>
                <a:latin typeface="Times New Roman" pitchFamily="18" charset="0"/>
                <a:cs typeface="Times New Roman" pitchFamily="18" charset="0"/>
              </a:rPr>
              <a:t>Full Tracking of Products in Stores, Full Automation of Product Delivery, Flexible Shopping and Loyalty Programs, Customer Engagement Suite and Interactive consumer engagement and operations.</a:t>
            </a:r>
          </a:p>
          <a:p>
            <a:pPr marL="342900" indent="-342900" algn="just">
              <a:buFont typeface="Arial" pitchFamily="34" charset="0"/>
              <a:buChar char="•"/>
            </a:pPr>
            <a:r>
              <a:rPr lang="en-IN" sz="2200" b="1" dirty="0" err="1">
                <a:solidFill>
                  <a:schemeClr val="tx1"/>
                </a:solidFill>
                <a:latin typeface="Times New Roman" pitchFamily="18" charset="0"/>
                <a:cs typeface="Times New Roman" pitchFamily="18" charset="0"/>
              </a:rPr>
              <a:t>IoT</a:t>
            </a:r>
            <a:r>
              <a:rPr lang="en-IN" sz="2200" b="1" dirty="0">
                <a:solidFill>
                  <a:schemeClr val="tx1"/>
                </a:solidFill>
                <a:latin typeface="Times New Roman" pitchFamily="18" charset="0"/>
                <a:cs typeface="Times New Roman" pitchFamily="18" charset="0"/>
              </a:rPr>
              <a:t> Transportation: </a:t>
            </a:r>
            <a:r>
              <a:rPr lang="en-IN" sz="2200" dirty="0">
                <a:solidFill>
                  <a:schemeClr val="tx1"/>
                </a:solidFill>
                <a:latin typeface="Times New Roman" pitchFamily="18" charset="0"/>
                <a:cs typeface="Times New Roman" pitchFamily="18" charset="0"/>
              </a:rPr>
              <a:t>Smart and Connected Parking, </a:t>
            </a:r>
            <a:r>
              <a:rPr lang="en-US" sz="2200" dirty="0">
                <a:solidFill>
                  <a:schemeClr val="tx1"/>
                </a:solidFill>
                <a:latin typeface="Times New Roman" pitchFamily="18" charset="0"/>
                <a:cs typeface="Times New Roman" pitchFamily="18" charset="0"/>
              </a:rPr>
              <a:t>Smart Roads and Traffic Congestion, Connected Rail, </a:t>
            </a:r>
            <a:endParaRPr lang="en-IN" sz="22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553228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1378</TotalTime>
  <Words>7722</Words>
  <Application>Microsoft Office PowerPoint</Application>
  <PresentationFormat>On-screen Show (4:3)</PresentationFormat>
  <Paragraphs>482</Paragraphs>
  <Slides>63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Arial</vt:lpstr>
      <vt:lpstr>Calibri</vt:lpstr>
      <vt:lpstr>Times New Roman</vt:lpstr>
      <vt:lpstr>Office Theme</vt:lpstr>
      <vt:lpstr>  Department of Computer Science &amp; Engineering   </vt:lpstr>
      <vt:lpstr>Unit 3- Cloud &amp; IOT</vt:lpstr>
      <vt:lpstr>Trends in Computing </vt:lpstr>
      <vt:lpstr>Distributed Computing </vt:lpstr>
      <vt:lpstr>Distributed Computing </vt:lpstr>
      <vt:lpstr>Distributed Computing </vt:lpstr>
      <vt:lpstr>Grid Computing </vt:lpstr>
      <vt:lpstr>Grid Computing </vt:lpstr>
      <vt:lpstr>Grid Computing </vt:lpstr>
      <vt:lpstr>Cloud Vs Grid Computing </vt:lpstr>
      <vt:lpstr>Cluster Computing </vt:lpstr>
      <vt:lpstr>Cluster Computing </vt:lpstr>
      <vt:lpstr>Cluster Computing </vt:lpstr>
      <vt:lpstr>PowerPoint Presentation</vt:lpstr>
      <vt:lpstr>Utility Computing </vt:lpstr>
      <vt:lpstr>Utility Computing </vt:lpstr>
      <vt:lpstr>Utility Computing </vt:lpstr>
      <vt:lpstr>Cloud Computing </vt:lpstr>
      <vt:lpstr>Characteristics of Cloud Computing </vt:lpstr>
      <vt:lpstr>Characteristics of Cloud Computing </vt:lpstr>
      <vt:lpstr>Cloud Service Models</vt:lpstr>
      <vt:lpstr>Software as a Service (SaaS)</vt:lpstr>
      <vt:lpstr>Software as a Service (SaaS)</vt:lpstr>
      <vt:lpstr>Platform as a Service (PaaS)</vt:lpstr>
      <vt:lpstr>Platform as a Service (PaaS)</vt:lpstr>
      <vt:lpstr>Infrastructure as a Service (IaaS)</vt:lpstr>
      <vt:lpstr>Infrastructure as a Service (IaaS)</vt:lpstr>
      <vt:lpstr>Cloud Deployment Models</vt:lpstr>
      <vt:lpstr>Public Cloud</vt:lpstr>
      <vt:lpstr>Private Cloud</vt:lpstr>
      <vt:lpstr>Hybrid Cloud</vt:lpstr>
      <vt:lpstr>Community Cloud</vt:lpstr>
      <vt:lpstr>Advantages &amp; Disadvantages of cloud computing</vt:lpstr>
      <vt:lpstr>Advantages &amp; Disadvantages</vt:lpstr>
      <vt:lpstr>Advantages &amp; Disadvantages</vt:lpstr>
      <vt:lpstr>Advantages &amp; Disadvantages</vt:lpstr>
      <vt:lpstr>Cloud Base Applications</vt:lpstr>
      <vt:lpstr>Cloud Base Applications</vt:lpstr>
      <vt:lpstr>The Internet of Things</vt:lpstr>
      <vt:lpstr>Overview of IOT</vt:lpstr>
      <vt:lpstr>Overview of IOT</vt:lpstr>
      <vt:lpstr>IOT reference model</vt:lpstr>
      <vt:lpstr>IOT reference model</vt:lpstr>
      <vt:lpstr>IOT architecture</vt:lpstr>
      <vt:lpstr>The things in IOT: Sensors and Actuators</vt:lpstr>
      <vt:lpstr>The things in IOT: Sensors and Actuators</vt:lpstr>
      <vt:lpstr>The things in IOT: Sensors and Actuators</vt:lpstr>
      <vt:lpstr>The things in IOT: Sensors and Actuators</vt:lpstr>
      <vt:lpstr>Sensor fundamentals and characteristics</vt:lpstr>
      <vt:lpstr>Sensor fundamentals and characteristics</vt:lpstr>
      <vt:lpstr>Sensor fundamentals and characteristics</vt:lpstr>
      <vt:lpstr>Sensor fundamentals and characteristics</vt:lpstr>
      <vt:lpstr>Sensor fundamentals and characteristics</vt:lpstr>
      <vt:lpstr>Sensor fundamentals and characteristics</vt:lpstr>
      <vt:lpstr>Sensor fundamentals and characteristics</vt:lpstr>
      <vt:lpstr>Sensor fundamentals and characteristics</vt:lpstr>
      <vt:lpstr>Sensor fundamentals and characteristics</vt:lpstr>
      <vt:lpstr>Sensor fundamentals and characteristics</vt:lpstr>
      <vt:lpstr>Sensor fundamentals and characteristics</vt:lpstr>
      <vt:lpstr>Sensor fundamentals and characteristics</vt:lpstr>
      <vt:lpstr>Sensor fundamentals and characteristics</vt:lpstr>
      <vt:lpstr>Applications of IOT and Sensors</vt:lpstr>
      <vt:lpstr>Applications of IOT and Sensors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Department of Computer Science &amp; Engineering   </dc:title>
  <dc:creator>Skandha Priya</dc:creator>
  <cp:lastModifiedBy>Subhapreet Patro</cp:lastModifiedBy>
  <cp:revision>139</cp:revision>
  <dcterms:created xsi:type="dcterms:W3CDTF">2006-08-16T00:00:00Z</dcterms:created>
  <dcterms:modified xsi:type="dcterms:W3CDTF">2023-07-23T10:04:04Z</dcterms:modified>
</cp:coreProperties>
</file>