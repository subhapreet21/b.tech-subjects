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58" r:id="rId3"/>
    <p:sldId id="260" r:id="rId4"/>
    <p:sldId id="261" r:id="rId5"/>
    <p:sldId id="262" r:id="rId6"/>
    <p:sldId id="263" r:id="rId7"/>
    <p:sldId id="264" r:id="rId8"/>
    <p:sldId id="265" r:id="rId9"/>
    <p:sldId id="266" r:id="rId10"/>
    <p:sldId id="267" r:id="rId11"/>
    <p:sldId id="268"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6" r:id="rId28"/>
    <p:sldId id="28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10" autoAdjust="0"/>
    <p:restoredTop sz="94660"/>
  </p:normalViewPr>
  <p:slideViewPr>
    <p:cSldViewPr snapToGrid="0">
      <p:cViewPr varScale="1">
        <p:scale>
          <a:sx n="73" d="100"/>
          <a:sy n="73" d="100"/>
        </p:scale>
        <p:origin x="-624"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0315CA-899E-4C04-B8EA-192EC45CD08E}" type="datetimeFigureOut">
              <a:rPr lang="en-IN" smtClean="0"/>
              <a:pPr/>
              <a:t>27-06-2023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310196-D33C-476A-B195-DF4B8700C656}" type="slidenum">
              <a:rPr lang="en-IN" smtClean="0"/>
              <a:pPr/>
              <a:t>‹#›</a:t>
            </a:fld>
            <a:endParaRPr lang="en-IN"/>
          </a:p>
        </p:txBody>
      </p:sp>
    </p:spTree>
    <p:extLst>
      <p:ext uri="{BB962C8B-B14F-4D97-AF65-F5344CB8AC3E}">
        <p14:creationId xmlns="" xmlns:p14="http://schemas.microsoft.com/office/powerpoint/2010/main" val="425029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D96A8F4-CA93-466F-8333-17019F103A97}" type="slidenum">
              <a:rPr lang="en-US" smtClean="0"/>
              <a:pPr/>
              <a:t>1</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27</a:t>
            </a:fld>
            <a:endParaRPr lang="en-US"/>
          </a:p>
        </p:txBody>
      </p:sp>
    </p:spTree>
    <p:extLst>
      <p:ext uri="{BB962C8B-B14F-4D97-AF65-F5344CB8AC3E}">
        <p14:creationId xmlns=""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09F6F6-132B-38EB-F857-270AFE09E3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E345475B-0BCC-5226-4237-F960866AC7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E5FD01D3-3860-4CCC-EABC-079AD829C04D}"/>
              </a:ext>
            </a:extLst>
          </p:cNvPr>
          <p:cNvSpPr>
            <a:spLocks noGrp="1"/>
          </p:cNvSpPr>
          <p:nvPr>
            <p:ph type="dt" sz="half" idx="10"/>
          </p:nvPr>
        </p:nvSpPr>
        <p:spPr/>
        <p:txBody>
          <a:bodyPr/>
          <a:lstStyle/>
          <a:p>
            <a:fld id="{F240E6E7-AA3C-4B33-86B8-E08834C2D4EE}" type="datetimeFigureOut">
              <a:rPr lang="en-IN" smtClean="0"/>
              <a:pPr/>
              <a:t>27-06-2023</a:t>
            </a:fld>
            <a:endParaRPr lang="en-IN"/>
          </a:p>
        </p:txBody>
      </p:sp>
      <p:sp>
        <p:nvSpPr>
          <p:cNvPr id="5" name="Footer Placeholder 4">
            <a:extLst>
              <a:ext uri="{FF2B5EF4-FFF2-40B4-BE49-F238E27FC236}">
                <a16:creationId xmlns="" xmlns:a16="http://schemas.microsoft.com/office/drawing/2014/main" id="{B945E411-FA49-8995-336C-41CDE00307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920041E-7F8A-3A19-DF0A-E14F7EF2568B}"/>
              </a:ext>
            </a:extLst>
          </p:cNvPr>
          <p:cNvSpPr>
            <a:spLocks noGrp="1"/>
          </p:cNvSpPr>
          <p:nvPr>
            <p:ph type="sldNum" sz="quarter" idx="12"/>
          </p:nvPr>
        </p:nvSpPr>
        <p:spPr/>
        <p:txBody>
          <a:bodyPr/>
          <a:lstStyle/>
          <a:p>
            <a:fld id="{99855BAD-669C-432D-8762-E79584A26ED4}" type="slidenum">
              <a:rPr lang="en-IN" smtClean="0"/>
              <a:pPr/>
              <a:t>‹#›</a:t>
            </a:fld>
            <a:endParaRPr lang="en-IN"/>
          </a:p>
        </p:txBody>
      </p:sp>
    </p:spTree>
    <p:extLst>
      <p:ext uri="{BB962C8B-B14F-4D97-AF65-F5344CB8AC3E}">
        <p14:creationId xmlns="" xmlns:p14="http://schemas.microsoft.com/office/powerpoint/2010/main" val="433529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EE1936-6C9F-2CAD-A935-09EEEEEDFC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58236138-FC15-8496-418B-58BF486F9B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8FDE40F-3B04-7DA0-DE3C-7C799F00F855}"/>
              </a:ext>
            </a:extLst>
          </p:cNvPr>
          <p:cNvSpPr>
            <a:spLocks noGrp="1"/>
          </p:cNvSpPr>
          <p:nvPr>
            <p:ph type="dt" sz="half" idx="10"/>
          </p:nvPr>
        </p:nvSpPr>
        <p:spPr/>
        <p:txBody>
          <a:bodyPr/>
          <a:lstStyle/>
          <a:p>
            <a:fld id="{F240E6E7-AA3C-4B33-86B8-E08834C2D4EE}" type="datetimeFigureOut">
              <a:rPr lang="en-IN" smtClean="0"/>
              <a:pPr/>
              <a:t>27-06-2023</a:t>
            </a:fld>
            <a:endParaRPr lang="en-IN"/>
          </a:p>
        </p:txBody>
      </p:sp>
      <p:sp>
        <p:nvSpPr>
          <p:cNvPr id="5" name="Footer Placeholder 4">
            <a:extLst>
              <a:ext uri="{FF2B5EF4-FFF2-40B4-BE49-F238E27FC236}">
                <a16:creationId xmlns="" xmlns:a16="http://schemas.microsoft.com/office/drawing/2014/main" id="{1F5D8289-43C3-2E47-1200-858F35CC5E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9F42787-FD88-BE91-B5AE-5803057546B7}"/>
              </a:ext>
            </a:extLst>
          </p:cNvPr>
          <p:cNvSpPr>
            <a:spLocks noGrp="1"/>
          </p:cNvSpPr>
          <p:nvPr>
            <p:ph type="sldNum" sz="quarter" idx="12"/>
          </p:nvPr>
        </p:nvSpPr>
        <p:spPr/>
        <p:txBody>
          <a:bodyPr/>
          <a:lstStyle/>
          <a:p>
            <a:fld id="{99855BAD-669C-432D-8762-E79584A26ED4}" type="slidenum">
              <a:rPr lang="en-IN" smtClean="0"/>
              <a:pPr/>
              <a:t>‹#›</a:t>
            </a:fld>
            <a:endParaRPr lang="en-IN"/>
          </a:p>
        </p:txBody>
      </p:sp>
    </p:spTree>
    <p:extLst>
      <p:ext uri="{BB962C8B-B14F-4D97-AF65-F5344CB8AC3E}">
        <p14:creationId xmlns="" xmlns:p14="http://schemas.microsoft.com/office/powerpoint/2010/main" val="3896253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05A86B-81E9-FE4B-4029-8C1712A827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7016AF54-4947-9F9E-AF2B-0E2DD276C2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34EF3BDC-5E9C-7257-38B9-CBA82EB1AC10}"/>
              </a:ext>
            </a:extLst>
          </p:cNvPr>
          <p:cNvSpPr>
            <a:spLocks noGrp="1"/>
          </p:cNvSpPr>
          <p:nvPr>
            <p:ph type="dt" sz="half" idx="10"/>
          </p:nvPr>
        </p:nvSpPr>
        <p:spPr/>
        <p:txBody>
          <a:bodyPr/>
          <a:lstStyle/>
          <a:p>
            <a:fld id="{F240E6E7-AA3C-4B33-86B8-E08834C2D4EE}" type="datetimeFigureOut">
              <a:rPr lang="en-IN" smtClean="0"/>
              <a:pPr/>
              <a:t>27-06-2023</a:t>
            </a:fld>
            <a:endParaRPr lang="en-IN"/>
          </a:p>
        </p:txBody>
      </p:sp>
      <p:sp>
        <p:nvSpPr>
          <p:cNvPr id="5" name="Footer Placeholder 4">
            <a:extLst>
              <a:ext uri="{FF2B5EF4-FFF2-40B4-BE49-F238E27FC236}">
                <a16:creationId xmlns="" xmlns:a16="http://schemas.microsoft.com/office/drawing/2014/main" id="{3D07B503-EFDD-0C5B-4469-4DC8759745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7BA79B8-34D6-4CC2-AA2C-363E96ED459A}"/>
              </a:ext>
            </a:extLst>
          </p:cNvPr>
          <p:cNvSpPr>
            <a:spLocks noGrp="1"/>
          </p:cNvSpPr>
          <p:nvPr>
            <p:ph type="sldNum" sz="quarter" idx="12"/>
          </p:nvPr>
        </p:nvSpPr>
        <p:spPr/>
        <p:txBody>
          <a:bodyPr/>
          <a:lstStyle/>
          <a:p>
            <a:fld id="{99855BAD-669C-432D-8762-E79584A26ED4}" type="slidenum">
              <a:rPr lang="en-IN" smtClean="0"/>
              <a:pPr/>
              <a:t>‹#›</a:t>
            </a:fld>
            <a:endParaRPr lang="en-IN"/>
          </a:p>
        </p:txBody>
      </p:sp>
    </p:spTree>
    <p:extLst>
      <p:ext uri="{BB962C8B-B14F-4D97-AF65-F5344CB8AC3E}">
        <p14:creationId xmlns="" xmlns:p14="http://schemas.microsoft.com/office/powerpoint/2010/main" val="266711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3720094-5C64-7D0C-2E88-52A3AD2503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6CAD663F-82D0-DB8D-AEAC-ABC6AFD323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57BA0590-460C-58B6-831A-EB4899E8FE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D92D9E15-5366-79BF-6ED6-B30BDDA96F90}"/>
              </a:ext>
            </a:extLst>
          </p:cNvPr>
          <p:cNvSpPr>
            <a:spLocks noGrp="1"/>
          </p:cNvSpPr>
          <p:nvPr>
            <p:ph type="dt" sz="half" idx="10"/>
          </p:nvPr>
        </p:nvSpPr>
        <p:spPr/>
        <p:txBody>
          <a:bodyPr/>
          <a:lstStyle/>
          <a:p>
            <a:fld id="{F240E6E7-AA3C-4B33-86B8-E08834C2D4EE}" type="datetimeFigureOut">
              <a:rPr lang="en-IN" smtClean="0"/>
              <a:pPr/>
              <a:t>27-06-2023</a:t>
            </a:fld>
            <a:endParaRPr lang="en-IN"/>
          </a:p>
        </p:txBody>
      </p:sp>
      <p:sp>
        <p:nvSpPr>
          <p:cNvPr id="6" name="Footer Placeholder 5">
            <a:extLst>
              <a:ext uri="{FF2B5EF4-FFF2-40B4-BE49-F238E27FC236}">
                <a16:creationId xmlns="" xmlns:a16="http://schemas.microsoft.com/office/drawing/2014/main" id="{A9B86832-38C2-E609-93C5-A50BECC9EF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88D14550-7549-15FA-2CBD-765A19E155AC}"/>
              </a:ext>
            </a:extLst>
          </p:cNvPr>
          <p:cNvSpPr>
            <a:spLocks noGrp="1"/>
          </p:cNvSpPr>
          <p:nvPr>
            <p:ph type="sldNum" sz="quarter" idx="12"/>
          </p:nvPr>
        </p:nvSpPr>
        <p:spPr/>
        <p:txBody>
          <a:bodyPr/>
          <a:lstStyle/>
          <a:p>
            <a:fld id="{99855BAD-669C-432D-8762-E79584A26ED4}" type="slidenum">
              <a:rPr lang="en-IN" smtClean="0"/>
              <a:pPr/>
              <a:t>‹#›</a:t>
            </a:fld>
            <a:endParaRPr lang="en-IN"/>
          </a:p>
        </p:txBody>
      </p:sp>
    </p:spTree>
    <p:extLst>
      <p:ext uri="{BB962C8B-B14F-4D97-AF65-F5344CB8AC3E}">
        <p14:creationId xmlns="" xmlns:p14="http://schemas.microsoft.com/office/powerpoint/2010/main" val="3270690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A7E6150-D29B-3D11-91F9-B8D42FCEE92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1873A4A3-FBF0-59C9-B4BB-B5A9F696F3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BFE00E84-FDD1-E39A-F708-0860D5E1DC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FFCEB3FC-125E-DF96-5F2F-B19963C255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59106795-F97F-C878-DE80-04A2E92972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A5E088BA-4215-94FE-CFB7-F3D44348F06A}"/>
              </a:ext>
            </a:extLst>
          </p:cNvPr>
          <p:cNvSpPr>
            <a:spLocks noGrp="1"/>
          </p:cNvSpPr>
          <p:nvPr>
            <p:ph type="dt" sz="half" idx="10"/>
          </p:nvPr>
        </p:nvSpPr>
        <p:spPr/>
        <p:txBody>
          <a:bodyPr/>
          <a:lstStyle/>
          <a:p>
            <a:fld id="{F240E6E7-AA3C-4B33-86B8-E08834C2D4EE}" type="datetimeFigureOut">
              <a:rPr lang="en-IN" smtClean="0"/>
              <a:pPr/>
              <a:t>27-06-2023</a:t>
            </a:fld>
            <a:endParaRPr lang="en-IN"/>
          </a:p>
        </p:txBody>
      </p:sp>
      <p:sp>
        <p:nvSpPr>
          <p:cNvPr id="8" name="Footer Placeholder 7">
            <a:extLst>
              <a:ext uri="{FF2B5EF4-FFF2-40B4-BE49-F238E27FC236}">
                <a16:creationId xmlns="" xmlns:a16="http://schemas.microsoft.com/office/drawing/2014/main" id="{14CC1EFF-EAD0-35B3-C591-754CADCF21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7F773348-F007-1D0C-1D3A-ED3F301564B0}"/>
              </a:ext>
            </a:extLst>
          </p:cNvPr>
          <p:cNvSpPr>
            <a:spLocks noGrp="1"/>
          </p:cNvSpPr>
          <p:nvPr>
            <p:ph type="sldNum" sz="quarter" idx="12"/>
          </p:nvPr>
        </p:nvSpPr>
        <p:spPr/>
        <p:txBody>
          <a:bodyPr/>
          <a:lstStyle/>
          <a:p>
            <a:fld id="{99855BAD-669C-432D-8762-E79584A26ED4}" type="slidenum">
              <a:rPr lang="en-IN" smtClean="0"/>
              <a:pPr/>
              <a:t>‹#›</a:t>
            </a:fld>
            <a:endParaRPr lang="en-IN"/>
          </a:p>
        </p:txBody>
      </p:sp>
    </p:spTree>
    <p:extLst>
      <p:ext uri="{BB962C8B-B14F-4D97-AF65-F5344CB8AC3E}">
        <p14:creationId xmlns="" xmlns:p14="http://schemas.microsoft.com/office/powerpoint/2010/main" val="3123090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0A400E-F612-FAB8-DE5E-E000B077AF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0D9080A1-CD58-EC2B-D45E-FEB6200A7D30}"/>
              </a:ext>
            </a:extLst>
          </p:cNvPr>
          <p:cNvSpPr>
            <a:spLocks noGrp="1"/>
          </p:cNvSpPr>
          <p:nvPr>
            <p:ph type="dt" sz="half" idx="10"/>
          </p:nvPr>
        </p:nvSpPr>
        <p:spPr/>
        <p:txBody>
          <a:bodyPr/>
          <a:lstStyle/>
          <a:p>
            <a:fld id="{F240E6E7-AA3C-4B33-86B8-E08834C2D4EE}" type="datetimeFigureOut">
              <a:rPr lang="en-IN" smtClean="0"/>
              <a:pPr/>
              <a:t>27-06-2023</a:t>
            </a:fld>
            <a:endParaRPr lang="en-IN"/>
          </a:p>
        </p:txBody>
      </p:sp>
      <p:sp>
        <p:nvSpPr>
          <p:cNvPr id="4" name="Footer Placeholder 3">
            <a:extLst>
              <a:ext uri="{FF2B5EF4-FFF2-40B4-BE49-F238E27FC236}">
                <a16:creationId xmlns="" xmlns:a16="http://schemas.microsoft.com/office/drawing/2014/main" id="{97E50BE3-3A17-9BF5-2ACD-415C897BFE9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1EA3D68B-870B-7233-2218-54098353E474}"/>
              </a:ext>
            </a:extLst>
          </p:cNvPr>
          <p:cNvSpPr>
            <a:spLocks noGrp="1"/>
          </p:cNvSpPr>
          <p:nvPr>
            <p:ph type="sldNum" sz="quarter" idx="12"/>
          </p:nvPr>
        </p:nvSpPr>
        <p:spPr/>
        <p:txBody>
          <a:bodyPr/>
          <a:lstStyle/>
          <a:p>
            <a:fld id="{99855BAD-669C-432D-8762-E79584A26ED4}" type="slidenum">
              <a:rPr lang="en-IN" smtClean="0"/>
              <a:pPr/>
              <a:t>‹#›</a:t>
            </a:fld>
            <a:endParaRPr lang="en-IN"/>
          </a:p>
        </p:txBody>
      </p:sp>
    </p:spTree>
    <p:extLst>
      <p:ext uri="{BB962C8B-B14F-4D97-AF65-F5344CB8AC3E}">
        <p14:creationId xmlns="" xmlns:p14="http://schemas.microsoft.com/office/powerpoint/2010/main" val="751179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833B0AC5-5842-AEC5-31C8-072D89C235E8}"/>
              </a:ext>
            </a:extLst>
          </p:cNvPr>
          <p:cNvSpPr>
            <a:spLocks noGrp="1"/>
          </p:cNvSpPr>
          <p:nvPr>
            <p:ph type="dt" sz="half" idx="10"/>
          </p:nvPr>
        </p:nvSpPr>
        <p:spPr/>
        <p:txBody>
          <a:bodyPr/>
          <a:lstStyle/>
          <a:p>
            <a:fld id="{F240E6E7-AA3C-4B33-86B8-E08834C2D4EE}" type="datetimeFigureOut">
              <a:rPr lang="en-IN" smtClean="0"/>
              <a:pPr/>
              <a:t>27-06-2023</a:t>
            </a:fld>
            <a:endParaRPr lang="en-IN"/>
          </a:p>
        </p:txBody>
      </p:sp>
      <p:sp>
        <p:nvSpPr>
          <p:cNvPr id="3" name="Footer Placeholder 2">
            <a:extLst>
              <a:ext uri="{FF2B5EF4-FFF2-40B4-BE49-F238E27FC236}">
                <a16:creationId xmlns="" xmlns:a16="http://schemas.microsoft.com/office/drawing/2014/main" id="{ECD85F70-3267-66A1-9259-488348E5356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FFD2FAAE-DF78-3F2C-0A14-9CF81CBA13F2}"/>
              </a:ext>
            </a:extLst>
          </p:cNvPr>
          <p:cNvSpPr>
            <a:spLocks noGrp="1"/>
          </p:cNvSpPr>
          <p:nvPr>
            <p:ph type="sldNum" sz="quarter" idx="12"/>
          </p:nvPr>
        </p:nvSpPr>
        <p:spPr/>
        <p:txBody>
          <a:bodyPr/>
          <a:lstStyle/>
          <a:p>
            <a:fld id="{99855BAD-669C-432D-8762-E79584A26ED4}" type="slidenum">
              <a:rPr lang="en-IN" smtClean="0"/>
              <a:pPr/>
              <a:t>‹#›</a:t>
            </a:fld>
            <a:endParaRPr lang="en-IN"/>
          </a:p>
        </p:txBody>
      </p:sp>
    </p:spTree>
    <p:extLst>
      <p:ext uri="{BB962C8B-B14F-4D97-AF65-F5344CB8AC3E}">
        <p14:creationId xmlns="" xmlns:p14="http://schemas.microsoft.com/office/powerpoint/2010/main" val="2304703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E6D6F73-96F5-44A4-92A7-DE3E9C0644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35B74FE7-3C21-2A1A-DEB0-E1B1A5CBAD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E13FC82D-85A5-24CE-1886-5132FF03DD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37DD1DE0-3C7F-F1F4-3F0A-41A095A615B5}"/>
              </a:ext>
            </a:extLst>
          </p:cNvPr>
          <p:cNvSpPr>
            <a:spLocks noGrp="1"/>
          </p:cNvSpPr>
          <p:nvPr>
            <p:ph type="dt" sz="half" idx="10"/>
          </p:nvPr>
        </p:nvSpPr>
        <p:spPr/>
        <p:txBody>
          <a:bodyPr/>
          <a:lstStyle/>
          <a:p>
            <a:fld id="{F240E6E7-AA3C-4B33-86B8-E08834C2D4EE}" type="datetimeFigureOut">
              <a:rPr lang="en-IN" smtClean="0"/>
              <a:pPr/>
              <a:t>27-06-2023</a:t>
            </a:fld>
            <a:endParaRPr lang="en-IN"/>
          </a:p>
        </p:txBody>
      </p:sp>
      <p:sp>
        <p:nvSpPr>
          <p:cNvPr id="6" name="Footer Placeholder 5">
            <a:extLst>
              <a:ext uri="{FF2B5EF4-FFF2-40B4-BE49-F238E27FC236}">
                <a16:creationId xmlns="" xmlns:a16="http://schemas.microsoft.com/office/drawing/2014/main" id="{616BAFEE-56D7-B097-256A-1B5A460376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7F15B692-518A-1196-F7E6-E8154AB34582}"/>
              </a:ext>
            </a:extLst>
          </p:cNvPr>
          <p:cNvSpPr>
            <a:spLocks noGrp="1"/>
          </p:cNvSpPr>
          <p:nvPr>
            <p:ph type="sldNum" sz="quarter" idx="12"/>
          </p:nvPr>
        </p:nvSpPr>
        <p:spPr/>
        <p:txBody>
          <a:bodyPr/>
          <a:lstStyle/>
          <a:p>
            <a:fld id="{99855BAD-669C-432D-8762-E79584A26ED4}" type="slidenum">
              <a:rPr lang="en-IN" smtClean="0"/>
              <a:pPr/>
              <a:t>‹#›</a:t>
            </a:fld>
            <a:endParaRPr lang="en-IN"/>
          </a:p>
        </p:txBody>
      </p:sp>
    </p:spTree>
    <p:extLst>
      <p:ext uri="{BB962C8B-B14F-4D97-AF65-F5344CB8AC3E}">
        <p14:creationId xmlns="" xmlns:p14="http://schemas.microsoft.com/office/powerpoint/2010/main" val="578459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4A9715-E5EA-66BC-3032-C419F093D9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F5D66EDB-EB02-97EB-32FC-FC6421C91D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9BC379A1-5465-8D14-C362-B5DC5F835B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039BB82-BEE0-B983-5A7D-0DFDD38E2213}"/>
              </a:ext>
            </a:extLst>
          </p:cNvPr>
          <p:cNvSpPr>
            <a:spLocks noGrp="1"/>
          </p:cNvSpPr>
          <p:nvPr>
            <p:ph type="dt" sz="half" idx="10"/>
          </p:nvPr>
        </p:nvSpPr>
        <p:spPr/>
        <p:txBody>
          <a:bodyPr/>
          <a:lstStyle/>
          <a:p>
            <a:fld id="{F240E6E7-AA3C-4B33-86B8-E08834C2D4EE}" type="datetimeFigureOut">
              <a:rPr lang="en-IN" smtClean="0"/>
              <a:pPr/>
              <a:t>27-06-2023</a:t>
            </a:fld>
            <a:endParaRPr lang="en-IN"/>
          </a:p>
        </p:txBody>
      </p:sp>
      <p:sp>
        <p:nvSpPr>
          <p:cNvPr id="6" name="Footer Placeholder 5">
            <a:extLst>
              <a:ext uri="{FF2B5EF4-FFF2-40B4-BE49-F238E27FC236}">
                <a16:creationId xmlns="" xmlns:a16="http://schemas.microsoft.com/office/drawing/2014/main" id="{23BCCAAB-8599-AD29-5FF0-831DB92B5D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60B1E210-139C-65C5-29A8-C4E66CD188DF}"/>
              </a:ext>
            </a:extLst>
          </p:cNvPr>
          <p:cNvSpPr>
            <a:spLocks noGrp="1"/>
          </p:cNvSpPr>
          <p:nvPr>
            <p:ph type="sldNum" sz="quarter" idx="12"/>
          </p:nvPr>
        </p:nvSpPr>
        <p:spPr/>
        <p:txBody>
          <a:bodyPr/>
          <a:lstStyle/>
          <a:p>
            <a:fld id="{99855BAD-669C-432D-8762-E79584A26ED4}" type="slidenum">
              <a:rPr lang="en-IN" smtClean="0"/>
              <a:pPr/>
              <a:t>‹#›</a:t>
            </a:fld>
            <a:endParaRPr lang="en-IN"/>
          </a:p>
        </p:txBody>
      </p:sp>
    </p:spTree>
    <p:extLst>
      <p:ext uri="{BB962C8B-B14F-4D97-AF65-F5344CB8AC3E}">
        <p14:creationId xmlns="" xmlns:p14="http://schemas.microsoft.com/office/powerpoint/2010/main" val="731982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BDCA90-EBDB-D8E2-EE57-5F5C847307F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18246AB0-4B6D-93CB-EB4B-159B99CB62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34C4052A-AED9-D120-715E-EC27F360631A}"/>
              </a:ext>
            </a:extLst>
          </p:cNvPr>
          <p:cNvSpPr>
            <a:spLocks noGrp="1"/>
          </p:cNvSpPr>
          <p:nvPr>
            <p:ph type="dt" sz="half" idx="10"/>
          </p:nvPr>
        </p:nvSpPr>
        <p:spPr/>
        <p:txBody>
          <a:bodyPr/>
          <a:lstStyle/>
          <a:p>
            <a:fld id="{F240E6E7-AA3C-4B33-86B8-E08834C2D4EE}" type="datetimeFigureOut">
              <a:rPr lang="en-IN" smtClean="0"/>
              <a:pPr/>
              <a:t>27-06-2023</a:t>
            </a:fld>
            <a:endParaRPr lang="en-IN"/>
          </a:p>
        </p:txBody>
      </p:sp>
      <p:sp>
        <p:nvSpPr>
          <p:cNvPr id="5" name="Footer Placeholder 4">
            <a:extLst>
              <a:ext uri="{FF2B5EF4-FFF2-40B4-BE49-F238E27FC236}">
                <a16:creationId xmlns="" xmlns:a16="http://schemas.microsoft.com/office/drawing/2014/main" id="{72878314-F77F-161C-008D-12E65C2242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8F4CA1D4-1424-F8AF-BE7D-5D3322F92E8D}"/>
              </a:ext>
            </a:extLst>
          </p:cNvPr>
          <p:cNvSpPr>
            <a:spLocks noGrp="1"/>
          </p:cNvSpPr>
          <p:nvPr>
            <p:ph type="sldNum" sz="quarter" idx="12"/>
          </p:nvPr>
        </p:nvSpPr>
        <p:spPr/>
        <p:txBody>
          <a:bodyPr/>
          <a:lstStyle/>
          <a:p>
            <a:fld id="{99855BAD-669C-432D-8762-E79584A26ED4}" type="slidenum">
              <a:rPr lang="en-IN" smtClean="0"/>
              <a:pPr/>
              <a:t>‹#›</a:t>
            </a:fld>
            <a:endParaRPr lang="en-IN"/>
          </a:p>
        </p:txBody>
      </p:sp>
    </p:spTree>
    <p:extLst>
      <p:ext uri="{BB962C8B-B14F-4D97-AF65-F5344CB8AC3E}">
        <p14:creationId xmlns="" xmlns:p14="http://schemas.microsoft.com/office/powerpoint/2010/main" val="2164553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A3577CCF-B96B-FBFA-7E4C-D54DA855E1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D395A514-8704-E9EF-A488-F735AB610C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9FA2857-3E02-7D11-B19F-920BDA2F4DE4}"/>
              </a:ext>
            </a:extLst>
          </p:cNvPr>
          <p:cNvSpPr>
            <a:spLocks noGrp="1"/>
          </p:cNvSpPr>
          <p:nvPr>
            <p:ph type="dt" sz="half" idx="10"/>
          </p:nvPr>
        </p:nvSpPr>
        <p:spPr/>
        <p:txBody>
          <a:bodyPr/>
          <a:lstStyle/>
          <a:p>
            <a:fld id="{F240E6E7-AA3C-4B33-86B8-E08834C2D4EE}" type="datetimeFigureOut">
              <a:rPr lang="en-IN" smtClean="0"/>
              <a:pPr/>
              <a:t>27-06-2023</a:t>
            </a:fld>
            <a:endParaRPr lang="en-IN"/>
          </a:p>
        </p:txBody>
      </p:sp>
      <p:sp>
        <p:nvSpPr>
          <p:cNvPr id="5" name="Footer Placeholder 4">
            <a:extLst>
              <a:ext uri="{FF2B5EF4-FFF2-40B4-BE49-F238E27FC236}">
                <a16:creationId xmlns="" xmlns:a16="http://schemas.microsoft.com/office/drawing/2014/main" id="{B36D9C89-4CA5-BC38-EE04-052550416E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D123F1A-E933-60C7-5F1E-9B0C77B72EF0}"/>
              </a:ext>
            </a:extLst>
          </p:cNvPr>
          <p:cNvSpPr>
            <a:spLocks noGrp="1"/>
          </p:cNvSpPr>
          <p:nvPr>
            <p:ph type="sldNum" sz="quarter" idx="12"/>
          </p:nvPr>
        </p:nvSpPr>
        <p:spPr/>
        <p:txBody>
          <a:bodyPr/>
          <a:lstStyle/>
          <a:p>
            <a:fld id="{99855BAD-669C-432D-8762-E79584A26ED4}" type="slidenum">
              <a:rPr lang="en-IN" smtClean="0"/>
              <a:pPr/>
              <a:t>‹#›</a:t>
            </a:fld>
            <a:endParaRPr lang="en-IN"/>
          </a:p>
        </p:txBody>
      </p:sp>
    </p:spTree>
    <p:extLst>
      <p:ext uri="{BB962C8B-B14F-4D97-AF65-F5344CB8AC3E}">
        <p14:creationId xmlns="" xmlns:p14="http://schemas.microsoft.com/office/powerpoint/2010/main" val="9107512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108634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ustom Layout">
    <p:bg>
      <p:bgPr>
        <a:solidFill>
          <a:srgbClr val="EAECED"/>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 xmlns:a16="http://schemas.microsoft.com/office/drawing/2014/main" id="{B0768A56-81D3-4641-AFED-10FE7BF56B57}"/>
              </a:ext>
            </a:extLst>
          </p:cNvPr>
          <p:cNvPicPr>
            <a:picLocks noChangeAspect="1"/>
          </p:cNvPicPr>
          <p:nvPr userDrawn="1"/>
        </p:nvPicPr>
        <p:blipFill>
          <a:blip r:embed="rId2">
            <a:extLst>
              <a:ext uri="{96DAC541-7B7A-43D3-8B79-37D633B846F1}">
                <asvg:svgBlip xmlns="" xmlns:asvg="http://schemas.microsoft.com/office/drawing/2016/SVG/main" r:embed="rId3"/>
              </a:ext>
            </a:extLst>
          </a:blip>
          <a:srcRect l="769" t="4251" r="769" b="906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5" name="Freeform: Shape 14">
            <a:extLst>
              <a:ext uri="{FF2B5EF4-FFF2-40B4-BE49-F238E27FC236}">
                <a16:creationId xmlns="" xmlns:a16="http://schemas.microsoft.com/office/drawing/2014/main" id="{B20673AD-71DA-4C4A-8C7E-A67E063E1BF7}"/>
              </a:ext>
            </a:extLst>
          </p:cNvPr>
          <p:cNvSpPr/>
          <p:nvPr userDrawn="1"/>
        </p:nvSpPr>
        <p:spPr>
          <a:xfrm>
            <a:off x="6654800" y="3498850"/>
            <a:ext cx="5537200" cy="3359150"/>
          </a:xfrm>
          <a:custGeom>
            <a:avLst/>
            <a:gdLst>
              <a:gd name="connsiteX0" fmla="*/ 3359150 w 5537200"/>
              <a:gd name="connsiteY0" fmla="*/ 0 h 3359150"/>
              <a:gd name="connsiteX1" fmla="*/ 5495881 w 5537200"/>
              <a:gd name="connsiteY1" fmla="*/ 767067 h 3359150"/>
              <a:gd name="connsiteX2" fmla="*/ 5537200 w 5537200"/>
              <a:gd name="connsiteY2" fmla="*/ 804620 h 3359150"/>
              <a:gd name="connsiteX3" fmla="*/ 5537200 w 5537200"/>
              <a:gd name="connsiteY3" fmla="*/ 3359150 h 3359150"/>
              <a:gd name="connsiteX4" fmla="*/ 0 w 5537200"/>
              <a:gd name="connsiteY4" fmla="*/ 3359150 h 3359150"/>
              <a:gd name="connsiteX5" fmla="*/ 3359150 w 5537200"/>
              <a:gd name="connsiteY5" fmla="*/ 0 h 335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37200" h="3359150">
                <a:moveTo>
                  <a:pt x="3359150" y="0"/>
                </a:moveTo>
                <a:cubicBezTo>
                  <a:pt x="4170803" y="0"/>
                  <a:pt x="4915222" y="287864"/>
                  <a:pt x="5495881" y="767067"/>
                </a:cubicBezTo>
                <a:lnTo>
                  <a:pt x="5537200" y="804620"/>
                </a:lnTo>
                <a:lnTo>
                  <a:pt x="5537200" y="3359150"/>
                </a:lnTo>
                <a:lnTo>
                  <a:pt x="0" y="3359150"/>
                </a:lnTo>
                <a:cubicBezTo>
                  <a:pt x="0" y="1503943"/>
                  <a:pt x="1503943" y="0"/>
                  <a:pt x="3359150" y="0"/>
                </a:cubicBezTo>
                <a:close/>
              </a:path>
            </a:pathLst>
          </a:custGeom>
          <a:solidFill>
            <a:srgbClr val="C5E3E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8" name="Freeform: Shape 17">
            <a:extLst>
              <a:ext uri="{FF2B5EF4-FFF2-40B4-BE49-F238E27FC236}">
                <a16:creationId xmlns="" xmlns:a16="http://schemas.microsoft.com/office/drawing/2014/main" id="{4EFCFFC4-CB09-4DFA-A0E1-75F3DCA62724}"/>
              </a:ext>
            </a:extLst>
          </p:cNvPr>
          <p:cNvSpPr/>
          <p:nvPr userDrawn="1"/>
        </p:nvSpPr>
        <p:spPr>
          <a:xfrm>
            <a:off x="0" y="0"/>
            <a:ext cx="2743200" cy="2946400"/>
          </a:xfrm>
          <a:custGeom>
            <a:avLst/>
            <a:gdLst>
              <a:gd name="connsiteX0" fmla="*/ 0 w 2743200"/>
              <a:gd name="connsiteY0" fmla="*/ 0 h 2946400"/>
              <a:gd name="connsiteX1" fmla="*/ 2340798 w 2743200"/>
              <a:gd name="connsiteY1" fmla="*/ 0 h 2946400"/>
              <a:gd name="connsiteX2" fmla="*/ 2434123 w 2743200"/>
              <a:gd name="connsiteY2" fmla="*/ 124802 h 2946400"/>
              <a:gd name="connsiteX3" fmla="*/ 2743200 w 2743200"/>
              <a:gd name="connsiteY3" fmla="*/ 1136650 h 2946400"/>
              <a:gd name="connsiteX4" fmla="*/ 933450 w 2743200"/>
              <a:gd name="connsiteY4" fmla="*/ 2946400 h 2946400"/>
              <a:gd name="connsiteX5" fmla="*/ 70816 w 2743200"/>
              <a:gd name="connsiteY5" fmla="*/ 2727973 h 2946400"/>
              <a:gd name="connsiteX6" fmla="*/ 0 w 2743200"/>
              <a:gd name="connsiteY6" fmla="*/ 2684951 h 29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43200" h="2946400">
                <a:moveTo>
                  <a:pt x="0" y="0"/>
                </a:moveTo>
                <a:lnTo>
                  <a:pt x="2340798" y="0"/>
                </a:lnTo>
                <a:lnTo>
                  <a:pt x="2434123" y="124802"/>
                </a:lnTo>
                <a:cubicBezTo>
                  <a:pt x="2629258" y="413640"/>
                  <a:pt x="2743200" y="761839"/>
                  <a:pt x="2743200" y="1136650"/>
                </a:cubicBezTo>
                <a:cubicBezTo>
                  <a:pt x="2743200" y="2136147"/>
                  <a:pt x="1932947" y="2946400"/>
                  <a:pt x="933450" y="2946400"/>
                </a:cubicBezTo>
                <a:cubicBezTo>
                  <a:pt x="621107" y="2946400"/>
                  <a:pt x="327245" y="2867274"/>
                  <a:pt x="70816" y="2727973"/>
                </a:cubicBezTo>
                <a:lnTo>
                  <a:pt x="0" y="2684951"/>
                </a:lnTo>
                <a:close/>
              </a:path>
            </a:pathLst>
          </a:custGeom>
          <a:solidFill>
            <a:srgbClr val="C5E3E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6" name="Oval 15">
            <a:extLst>
              <a:ext uri="{FF2B5EF4-FFF2-40B4-BE49-F238E27FC236}">
                <a16:creationId xmlns="" xmlns:a16="http://schemas.microsoft.com/office/drawing/2014/main" id="{5EAEDEED-E37B-48BB-917A-6FA896E82883}"/>
              </a:ext>
            </a:extLst>
          </p:cNvPr>
          <p:cNvSpPr/>
          <p:nvPr userDrawn="1"/>
        </p:nvSpPr>
        <p:spPr>
          <a:xfrm>
            <a:off x="0" y="165100"/>
            <a:ext cx="2019300" cy="20193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Freeform: Shape 20">
            <a:extLst>
              <a:ext uri="{FF2B5EF4-FFF2-40B4-BE49-F238E27FC236}">
                <a16:creationId xmlns="" xmlns:a16="http://schemas.microsoft.com/office/drawing/2014/main" id="{0E4B6412-78B3-4042-8E30-4E19B93138A2}"/>
              </a:ext>
            </a:extLst>
          </p:cNvPr>
          <p:cNvSpPr/>
          <p:nvPr userDrawn="1"/>
        </p:nvSpPr>
        <p:spPr>
          <a:xfrm>
            <a:off x="8255000" y="4565650"/>
            <a:ext cx="3517900" cy="2292350"/>
          </a:xfrm>
          <a:custGeom>
            <a:avLst/>
            <a:gdLst>
              <a:gd name="connsiteX0" fmla="*/ 1758950 w 3517900"/>
              <a:gd name="connsiteY0" fmla="*/ 0 h 2292350"/>
              <a:gd name="connsiteX1" fmla="*/ 3517900 w 3517900"/>
              <a:gd name="connsiteY1" fmla="*/ 1758950 h 2292350"/>
              <a:gd name="connsiteX2" fmla="*/ 3438821 w 3517900"/>
              <a:gd name="connsiteY2" fmla="*/ 2282008 h 2292350"/>
              <a:gd name="connsiteX3" fmla="*/ 3435036 w 3517900"/>
              <a:gd name="connsiteY3" fmla="*/ 2292350 h 2292350"/>
              <a:gd name="connsiteX4" fmla="*/ 82865 w 3517900"/>
              <a:gd name="connsiteY4" fmla="*/ 2292350 h 2292350"/>
              <a:gd name="connsiteX5" fmla="*/ 79079 w 3517900"/>
              <a:gd name="connsiteY5" fmla="*/ 2282008 h 2292350"/>
              <a:gd name="connsiteX6" fmla="*/ 0 w 3517900"/>
              <a:gd name="connsiteY6" fmla="*/ 1758950 h 2292350"/>
              <a:gd name="connsiteX7" fmla="*/ 1758950 w 3517900"/>
              <a:gd name="connsiteY7" fmla="*/ 0 h 2292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17900" h="2292350">
                <a:moveTo>
                  <a:pt x="1758950" y="0"/>
                </a:moveTo>
                <a:cubicBezTo>
                  <a:pt x="2730391" y="0"/>
                  <a:pt x="3517900" y="787509"/>
                  <a:pt x="3517900" y="1758950"/>
                </a:cubicBezTo>
                <a:cubicBezTo>
                  <a:pt x="3517900" y="1941095"/>
                  <a:pt x="3490214" y="2116774"/>
                  <a:pt x="3438821" y="2282008"/>
                </a:cubicBezTo>
                <a:lnTo>
                  <a:pt x="3435036" y="2292350"/>
                </a:lnTo>
                <a:lnTo>
                  <a:pt x="82865" y="2292350"/>
                </a:lnTo>
                <a:lnTo>
                  <a:pt x="79079" y="2282008"/>
                </a:lnTo>
                <a:cubicBezTo>
                  <a:pt x="27686" y="2116774"/>
                  <a:pt x="0" y="1941095"/>
                  <a:pt x="0" y="1758950"/>
                </a:cubicBezTo>
                <a:cubicBezTo>
                  <a:pt x="0" y="787509"/>
                  <a:pt x="787509" y="0"/>
                  <a:pt x="175895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 xmlns:p14="http://schemas.microsoft.com/office/powerpoint/2010/main" val="141646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36F9FF64-6190-D208-3840-F289F49040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3E052827-21B9-667B-D63E-F9D13F5D60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D8BC495-F23A-0CA9-7186-B70EA2B245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40E6E7-AA3C-4B33-86B8-E08834C2D4EE}" type="datetimeFigureOut">
              <a:rPr lang="en-IN" smtClean="0"/>
              <a:pPr/>
              <a:t>27-06-2023</a:t>
            </a:fld>
            <a:endParaRPr lang="en-IN"/>
          </a:p>
        </p:txBody>
      </p:sp>
      <p:sp>
        <p:nvSpPr>
          <p:cNvPr id="5" name="Footer Placeholder 4">
            <a:extLst>
              <a:ext uri="{FF2B5EF4-FFF2-40B4-BE49-F238E27FC236}">
                <a16:creationId xmlns="" xmlns:a16="http://schemas.microsoft.com/office/drawing/2014/main" id="{B872EDE0-CEE0-E4FF-06B5-F0C7273003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949CB916-2662-933A-4B3F-EF5183368C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855BAD-669C-432D-8762-E79584A26ED4}" type="slidenum">
              <a:rPr lang="en-IN" smtClean="0"/>
              <a:pPr/>
              <a:t>‹#›</a:t>
            </a:fld>
            <a:endParaRPr lang="en-IN"/>
          </a:p>
        </p:txBody>
      </p:sp>
    </p:spTree>
    <p:extLst>
      <p:ext uri="{BB962C8B-B14F-4D97-AF65-F5344CB8AC3E}">
        <p14:creationId xmlns="" xmlns:p14="http://schemas.microsoft.com/office/powerpoint/2010/main" val="4258421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763555" y="867018"/>
            <a:ext cx="10515600" cy="1325563"/>
          </a:xfrm>
        </p:spPr>
        <p:txBody>
          <a:bodyPr>
            <a:normAutofit fontScale="90000"/>
          </a:bodyPr>
          <a:lstStyle/>
          <a:p>
            <a:pPr algn="ctr"/>
            <a:r>
              <a:rPr lang="en-US" sz="2400" dirty="0">
                <a:latin typeface="Times New Roman" pitchFamily="18" charset="0"/>
                <a:cs typeface="Times New Roman" pitchFamily="18" charset="0"/>
              </a:rPr>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r>
            <a:br>
              <a:rPr lang="en-US" sz="2400" dirty="0">
                <a:latin typeface="Times New Roman" pitchFamily="18" charset="0"/>
                <a:cs typeface="Times New Roman" pitchFamily="18" charset="0"/>
              </a:rPr>
            </a:br>
            <a:r>
              <a:rPr lang="en-US" sz="2400" b="1" dirty="0">
                <a:latin typeface="Times New Roman" pitchFamily="18" charset="0"/>
                <a:cs typeface="Times New Roman" pitchFamily="18" charset="0"/>
              </a:rPr>
              <a:t>Department of </a:t>
            </a:r>
            <a:r>
              <a:rPr lang="en-US" sz="2400" b="1" dirty="0" smtClean="0">
                <a:latin typeface="Times New Roman" pitchFamily="18" charset="0"/>
                <a:cs typeface="Times New Roman" pitchFamily="18" charset="0"/>
              </a:rPr>
              <a:t>Computer Science and Engineering </a:t>
            </a:r>
            <a:r>
              <a:rPr lang="en-US" sz="2000" b="1" dirty="0">
                <a:latin typeface="Times New Roman" pitchFamily="18" charset="0"/>
                <a:cs typeface="Times New Roman" pitchFamily="18" charset="0"/>
              </a:rPr>
              <a:t/>
            </a:r>
            <a:br>
              <a:rPr lang="en-US" sz="2000" b="1" dirty="0">
                <a:latin typeface="Times New Roman" pitchFamily="18" charset="0"/>
                <a:cs typeface="Times New Roman" pitchFamily="18" charset="0"/>
              </a:rPr>
            </a:b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3075" name="Content Placeholder 2"/>
          <p:cNvSpPr>
            <a:spLocks noGrp="1"/>
          </p:cNvSpPr>
          <p:nvPr>
            <p:ph idx="1"/>
          </p:nvPr>
        </p:nvSpPr>
        <p:spPr>
          <a:xfrm>
            <a:off x="436984" y="2382254"/>
            <a:ext cx="10515600" cy="4351338"/>
          </a:xfrm>
        </p:spPr>
        <p:txBody>
          <a:bodyPr/>
          <a:lstStyle/>
          <a:p>
            <a:pPr algn="ctr">
              <a:buFont typeface="Arial" pitchFamily="34" charset="0"/>
              <a:buNone/>
            </a:pPr>
            <a:endParaRPr lang="en-US" sz="2400" dirty="0"/>
          </a:p>
          <a:p>
            <a:pPr algn="ctr">
              <a:buFont typeface="Arial" pitchFamily="34" charset="0"/>
              <a:buNone/>
            </a:pPr>
            <a:r>
              <a:rPr lang="en-US" sz="2400" b="1" dirty="0"/>
              <a:t>I Year </a:t>
            </a:r>
            <a:r>
              <a:rPr lang="en-US" sz="2400" b="1" dirty="0" smtClean="0"/>
              <a:t>CSE</a:t>
            </a:r>
            <a:r>
              <a:rPr lang="en-US" sz="2400" b="1" dirty="0" smtClean="0"/>
              <a:t>- </a:t>
            </a:r>
            <a:r>
              <a:rPr lang="en-US" sz="2400" b="1" dirty="0"/>
              <a:t>II Semester</a:t>
            </a:r>
          </a:p>
          <a:p>
            <a:pPr algn="ctr">
              <a:buFont typeface="Arial" pitchFamily="34" charset="0"/>
              <a:buNone/>
            </a:pPr>
            <a:r>
              <a:rPr lang="en-US" sz="2400" b="1" dirty="0"/>
              <a:t>Subject: Adaptive Computer Technologies(MR22-1ES0103)</a:t>
            </a:r>
          </a:p>
          <a:p>
            <a:pPr algn="ctr">
              <a:buFont typeface="Arial" pitchFamily="34" charset="0"/>
              <a:buNone/>
            </a:pPr>
            <a:endParaRPr lang="en-US" sz="2400" dirty="0"/>
          </a:p>
          <a:p>
            <a:pPr algn="ctr">
              <a:buFont typeface="Arial" pitchFamily="34" charset="0"/>
              <a:buNone/>
            </a:pPr>
            <a:r>
              <a:rPr lang="en-US" sz="1800" b="1" dirty="0">
                <a:latin typeface="Times New Roman" pitchFamily="18" charset="0"/>
                <a:cs typeface="Times New Roman" pitchFamily="18" charset="0"/>
              </a:rPr>
              <a:t>Prepared by</a:t>
            </a:r>
          </a:p>
          <a:p>
            <a:pPr algn="ctr">
              <a:buFont typeface="Arial" pitchFamily="34" charset="0"/>
              <a:buNone/>
            </a:pPr>
            <a:r>
              <a:rPr lang="en-US" sz="1800" b="1" dirty="0" err="1" smtClean="0">
                <a:latin typeface="Times New Roman" pitchFamily="18" charset="0"/>
                <a:cs typeface="Times New Roman" pitchFamily="18" charset="0"/>
              </a:rPr>
              <a:t>Vikram</a:t>
            </a:r>
            <a:r>
              <a:rPr lang="en-US" sz="1800" b="1" dirty="0" smtClean="0">
                <a:latin typeface="Times New Roman" pitchFamily="18" charset="0"/>
                <a:cs typeface="Times New Roman" pitchFamily="18" charset="0"/>
              </a:rPr>
              <a:t> </a:t>
            </a:r>
            <a:r>
              <a:rPr lang="en-US" sz="1800" b="1" dirty="0" err="1" smtClean="0">
                <a:latin typeface="Times New Roman" pitchFamily="18" charset="0"/>
                <a:cs typeface="Times New Roman" pitchFamily="18" charset="0"/>
              </a:rPr>
              <a:t>Kalvala</a:t>
            </a:r>
            <a:endParaRPr lang="en-US" sz="1800" b="1" dirty="0">
              <a:latin typeface="Times New Roman" pitchFamily="18" charset="0"/>
              <a:cs typeface="Times New Roman" pitchFamily="18" charset="0"/>
            </a:endParaRPr>
          </a:p>
          <a:p>
            <a:pPr algn="ctr">
              <a:buFont typeface="Arial" pitchFamily="34" charset="0"/>
              <a:buNone/>
            </a:pPr>
            <a:r>
              <a:rPr lang="en-US" sz="1800" b="1" dirty="0" err="1" smtClean="0">
                <a:latin typeface="Times New Roman" pitchFamily="18" charset="0"/>
                <a:cs typeface="Times New Roman" pitchFamily="18" charset="0"/>
              </a:rPr>
              <a:t>Asst.Prof</a:t>
            </a:r>
            <a:r>
              <a:rPr lang="en-US" sz="1800" b="1" dirty="0" smtClean="0">
                <a:latin typeface="Times New Roman" pitchFamily="18" charset="0"/>
                <a:cs typeface="Times New Roman" pitchFamily="18" charset="0"/>
              </a:rPr>
              <a:t>.</a:t>
            </a:r>
            <a:endParaRPr lang="en-US" sz="1800" b="1"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p:txBody>
      </p:sp>
      <p:pic>
        <p:nvPicPr>
          <p:cNvPr id="7" name="Picture 6"/>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046584" y="45244"/>
            <a:ext cx="8391524" cy="857250"/>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3CB4D9F-F54D-285E-6E9F-8C9C36C51294}"/>
              </a:ext>
            </a:extLst>
          </p:cNvPr>
          <p:cNvSpPr>
            <a:spLocks noGrp="1"/>
          </p:cNvSpPr>
          <p:nvPr>
            <p:ph type="title"/>
          </p:nvPr>
        </p:nvSpPr>
        <p:spPr/>
        <p:txBody>
          <a:bodyPr>
            <a:normAutofit/>
          </a:bodyPr>
          <a:lstStyle/>
          <a:p>
            <a:r>
              <a:rPr lang="en-IN" sz="4000" dirty="0">
                <a:solidFill>
                  <a:srgbClr val="FF0000"/>
                </a:solidFill>
              </a:rPr>
              <a:t>UNIT-4</a:t>
            </a:r>
            <a:br>
              <a:rPr lang="en-IN" sz="4000" dirty="0">
                <a:solidFill>
                  <a:srgbClr val="FF0000"/>
                </a:solidFill>
              </a:rPr>
            </a:br>
            <a:r>
              <a:rPr lang="en-IN" sz="4000" dirty="0">
                <a:solidFill>
                  <a:srgbClr val="FF0000"/>
                </a:solidFill>
              </a:rPr>
              <a:t>Augmented Reality and Virtual Reality</a:t>
            </a:r>
          </a:p>
        </p:txBody>
      </p:sp>
      <p:sp>
        <p:nvSpPr>
          <p:cNvPr id="3" name="Content Placeholder 2">
            <a:extLst>
              <a:ext uri="{FF2B5EF4-FFF2-40B4-BE49-F238E27FC236}">
                <a16:creationId xmlns="" xmlns:a16="http://schemas.microsoft.com/office/drawing/2014/main" id="{7F159F54-F55A-F71E-7D88-30A6F389F285}"/>
              </a:ext>
            </a:extLst>
          </p:cNvPr>
          <p:cNvSpPr>
            <a:spLocks noGrp="1"/>
          </p:cNvSpPr>
          <p:nvPr>
            <p:ph sz="half" idx="1"/>
          </p:nvPr>
        </p:nvSpPr>
        <p:spPr>
          <a:xfrm>
            <a:off x="704850" y="1825625"/>
            <a:ext cx="3731855" cy="4351338"/>
          </a:xfrm>
        </p:spPr>
        <p:txBody>
          <a:bodyPr>
            <a:normAutofit fontScale="92500" lnSpcReduction="20000"/>
          </a:bodyPr>
          <a:lstStyle/>
          <a:p>
            <a:pPr marL="0" indent="0">
              <a:buNone/>
            </a:pPr>
            <a:r>
              <a:rPr lang="en-IN" dirty="0"/>
              <a:t>Contents:</a:t>
            </a:r>
          </a:p>
          <a:p>
            <a:pPr marL="0" indent="0">
              <a:buNone/>
            </a:pPr>
            <a:endParaRPr lang="en-IN" dirty="0"/>
          </a:p>
          <a:p>
            <a:r>
              <a:rPr lang="en-IN" sz="2400" dirty="0"/>
              <a:t>Virtual Reality                                  </a:t>
            </a:r>
          </a:p>
          <a:p>
            <a:r>
              <a:rPr lang="en-IN" sz="2400" dirty="0"/>
              <a:t>Augmented Reality</a:t>
            </a:r>
          </a:p>
          <a:p>
            <a:r>
              <a:rPr lang="en-IN" sz="2400" dirty="0"/>
              <a:t>Mixed Reality</a:t>
            </a:r>
          </a:p>
          <a:p>
            <a:r>
              <a:rPr lang="en-IN" sz="2400" dirty="0"/>
              <a:t>Augmented Virtuality</a:t>
            </a:r>
          </a:p>
          <a:p>
            <a:r>
              <a:rPr lang="en-IN" sz="2400" dirty="0"/>
              <a:t>Extended Reality</a:t>
            </a:r>
          </a:p>
          <a:p>
            <a:r>
              <a:rPr lang="en-IN" sz="2400" dirty="0"/>
              <a:t>History</a:t>
            </a:r>
          </a:p>
          <a:p>
            <a:r>
              <a:rPr lang="en-IN" sz="2400" dirty="0"/>
              <a:t>VR Features</a:t>
            </a:r>
          </a:p>
          <a:p>
            <a:r>
              <a:rPr lang="en-IN" sz="2400" dirty="0"/>
              <a:t>VR Controllers</a:t>
            </a:r>
          </a:p>
          <a:p>
            <a:r>
              <a:rPr lang="en-IN" sz="2400" dirty="0"/>
              <a:t>Current issues with VR</a:t>
            </a:r>
          </a:p>
          <a:p>
            <a:endParaRPr lang="en-IN" sz="2400" dirty="0"/>
          </a:p>
        </p:txBody>
      </p:sp>
      <p:sp>
        <p:nvSpPr>
          <p:cNvPr id="4" name="Content Placeholder 3">
            <a:extLst>
              <a:ext uri="{FF2B5EF4-FFF2-40B4-BE49-F238E27FC236}">
                <a16:creationId xmlns="" xmlns:a16="http://schemas.microsoft.com/office/drawing/2014/main" id="{13A0BCB9-CD16-A562-653C-34E9CE5E85AF}"/>
              </a:ext>
            </a:extLst>
          </p:cNvPr>
          <p:cNvSpPr>
            <a:spLocks noGrp="1"/>
          </p:cNvSpPr>
          <p:nvPr>
            <p:ph sz="half" idx="2"/>
          </p:nvPr>
        </p:nvSpPr>
        <p:spPr>
          <a:xfrm>
            <a:off x="4436705" y="1825625"/>
            <a:ext cx="5181600" cy="4351338"/>
          </a:xfrm>
        </p:spPr>
        <p:txBody>
          <a:bodyPr>
            <a:normAutofit fontScale="92500" lnSpcReduction="20000"/>
          </a:bodyPr>
          <a:lstStyle/>
          <a:p>
            <a:endParaRPr lang="en-IN" dirty="0"/>
          </a:p>
          <a:p>
            <a:endParaRPr lang="en-IN" dirty="0"/>
          </a:p>
          <a:p>
            <a:r>
              <a:rPr lang="en-IN" sz="2400" dirty="0"/>
              <a:t>AR mobile devices</a:t>
            </a:r>
          </a:p>
          <a:p>
            <a:r>
              <a:rPr lang="en-IN" sz="2400" dirty="0"/>
              <a:t>AR Headsets</a:t>
            </a:r>
          </a:p>
          <a:p>
            <a:r>
              <a:rPr lang="en-IN" sz="2400" dirty="0"/>
              <a:t>AR Glasses</a:t>
            </a:r>
          </a:p>
          <a:p>
            <a:r>
              <a:rPr lang="en-IN" sz="2400" dirty="0"/>
              <a:t>AR Controllers</a:t>
            </a:r>
          </a:p>
          <a:p>
            <a:r>
              <a:rPr lang="en-IN" sz="2400" dirty="0"/>
              <a:t>Current issues with AR</a:t>
            </a:r>
          </a:p>
          <a:p>
            <a:r>
              <a:rPr lang="en-IN" sz="2400" dirty="0"/>
              <a:t>Importance of AR &amp; VR in educational and IT sector</a:t>
            </a:r>
          </a:p>
          <a:p>
            <a:endParaRPr lang="en-IN" sz="2400" dirty="0"/>
          </a:p>
        </p:txBody>
      </p:sp>
    </p:spTree>
    <p:extLst>
      <p:ext uri="{BB962C8B-B14F-4D97-AF65-F5344CB8AC3E}">
        <p14:creationId xmlns="" xmlns:p14="http://schemas.microsoft.com/office/powerpoint/2010/main" val="1153297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71819" y="518675"/>
            <a:ext cx="5702003" cy="601762"/>
          </a:xfrm>
          <a:prstGeom prst="rect">
            <a:avLst/>
          </a:prstGeom>
          <a:noFill/>
          <a:ln/>
        </p:spPr>
        <p:txBody>
          <a:bodyPr wrap="none" rtlCol="0" anchor="t"/>
          <a:lstStyle/>
          <a:p>
            <a:pPr>
              <a:lnSpc>
                <a:spcPts val="4738"/>
              </a:lnSpc>
            </a:pPr>
            <a:r>
              <a:rPr lang="en-US" sz="4400" b="1" kern="0" spc="-109" dirty="0">
                <a:solidFill>
                  <a:srgbClr val="FF0000"/>
                </a:solidFill>
                <a:latin typeface="+mj-lt"/>
                <a:ea typeface="Inter" pitchFamily="34" charset="-122"/>
              </a:rPr>
              <a:t>Introduction to AR &amp; VR</a:t>
            </a:r>
            <a:endParaRPr lang="en-US" sz="4400" dirty="0">
              <a:solidFill>
                <a:srgbClr val="FF0000"/>
              </a:solidFill>
              <a:latin typeface="+mj-lt"/>
            </a:endParaRPr>
          </a:p>
        </p:txBody>
      </p:sp>
      <p:sp>
        <p:nvSpPr>
          <p:cNvPr id="5" name="Shape 3"/>
          <p:cNvSpPr/>
          <p:nvPr/>
        </p:nvSpPr>
        <p:spPr>
          <a:xfrm>
            <a:off x="171819" y="1784456"/>
            <a:ext cx="416619" cy="416619"/>
          </a:xfrm>
          <a:prstGeom prst="roundRect">
            <a:avLst>
              <a:gd name="adj" fmla="val 10974"/>
            </a:avLst>
          </a:prstGeom>
          <a:solidFill>
            <a:srgbClr val="DADBF1"/>
          </a:solidFill>
          <a:ln w="7620">
            <a:solidFill>
              <a:srgbClr val="B4B7E4"/>
            </a:solidFill>
            <a:prstDash val="solid"/>
          </a:ln>
        </p:spPr>
      </p:sp>
      <p:sp>
        <p:nvSpPr>
          <p:cNvPr id="6" name="Text 4"/>
          <p:cNvSpPr/>
          <p:nvPr/>
        </p:nvSpPr>
        <p:spPr>
          <a:xfrm>
            <a:off x="241965" y="1784456"/>
            <a:ext cx="276325" cy="360958"/>
          </a:xfrm>
          <a:prstGeom prst="rect">
            <a:avLst/>
          </a:prstGeom>
          <a:noFill/>
          <a:ln/>
        </p:spPr>
        <p:txBody>
          <a:bodyPr wrap="none" rtlCol="0" anchor="t"/>
          <a:lstStyle/>
          <a:p>
            <a:pPr algn="ctr">
              <a:lnSpc>
                <a:spcPts val="2843"/>
              </a:lnSpc>
            </a:pPr>
            <a:r>
              <a:rPr lang="en-US" sz="2187" b="1" kern="0" spc="-29" dirty="0">
                <a:solidFill>
                  <a:srgbClr val="272525"/>
                </a:solidFill>
                <a:latin typeface="Inter" pitchFamily="34" charset="0"/>
                <a:ea typeface="Inter" pitchFamily="34" charset="-122"/>
                <a:cs typeface="Inter" pitchFamily="34" charset="-120"/>
              </a:rPr>
              <a:t>1</a:t>
            </a:r>
            <a:endParaRPr lang="en-US" sz="2187" dirty="0"/>
          </a:p>
        </p:txBody>
      </p:sp>
      <p:sp>
        <p:nvSpPr>
          <p:cNvPr id="7" name="Text 5"/>
          <p:cNvSpPr/>
          <p:nvPr/>
        </p:nvSpPr>
        <p:spPr>
          <a:xfrm>
            <a:off x="589861" y="1842398"/>
            <a:ext cx="1851620" cy="300832"/>
          </a:xfrm>
          <a:prstGeom prst="rect">
            <a:avLst/>
          </a:prstGeom>
          <a:noFill/>
          <a:ln/>
        </p:spPr>
        <p:txBody>
          <a:bodyPr wrap="none" rtlCol="0" anchor="t"/>
          <a:lstStyle/>
          <a:p>
            <a:pPr>
              <a:lnSpc>
                <a:spcPts val="2369"/>
              </a:lnSpc>
            </a:pPr>
            <a:r>
              <a:rPr lang="en-US" sz="1822" b="1" kern="0" spc="-55" dirty="0">
                <a:solidFill>
                  <a:srgbClr val="272525"/>
                </a:solidFill>
                <a:latin typeface="Inter" pitchFamily="34" charset="0"/>
                <a:ea typeface="Inter" pitchFamily="34" charset="-122"/>
                <a:cs typeface="Inter" pitchFamily="34" charset="-120"/>
              </a:rPr>
              <a:t>Definition.</a:t>
            </a:r>
            <a:endParaRPr lang="en-US" sz="1822" dirty="0"/>
          </a:p>
        </p:txBody>
      </p:sp>
      <p:sp>
        <p:nvSpPr>
          <p:cNvPr id="8" name="Text 6"/>
          <p:cNvSpPr/>
          <p:nvPr/>
        </p:nvSpPr>
        <p:spPr>
          <a:xfrm>
            <a:off x="188515" y="2478788"/>
            <a:ext cx="2421334" cy="1665883"/>
          </a:xfrm>
          <a:prstGeom prst="rect">
            <a:avLst/>
          </a:prstGeom>
          <a:noFill/>
          <a:ln/>
        </p:spPr>
        <p:txBody>
          <a:bodyPr wrap="square" rtlCol="0" anchor="t"/>
          <a:lstStyle/>
          <a:p>
            <a:pPr>
              <a:lnSpc>
                <a:spcPts val="2624"/>
              </a:lnSpc>
            </a:pPr>
            <a:r>
              <a:rPr lang="en-US" kern="0" spc="-29" dirty="0">
                <a:solidFill>
                  <a:srgbClr val="272525"/>
                </a:solidFill>
                <a:latin typeface="Inter" pitchFamily="34" charset="0"/>
                <a:ea typeface="Inter" pitchFamily="34" charset="-122"/>
                <a:cs typeface="Inter" pitchFamily="34" charset="-120"/>
              </a:rPr>
              <a:t>An immersive technology that overlays digital information over the real world or replaces the real world with a simulated one.</a:t>
            </a:r>
            <a:endParaRPr lang="en-US" dirty="0"/>
          </a:p>
        </p:txBody>
      </p:sp>
      <p:sp>
        <p:nvSpPr>
          <p:cNvPr id="9" name="Shape 7"/>
          <p:cNvSpPr/>
          <p:nvPr/>
        </p:nvSpPr>
        <p:spPr>
          <a:xfrm>
            <a:off x="3118107" y="1842398"/>
            <a:ext cx="416619" cy="416619"/>
          </a:xfrm>
          <a:prstGeom prst="roundRect">
            <a:avLst>
              <a:gd name="adj" fmla="val 10974"/>
            </a:avLst>
          </a:prstGeom>
          <a:solidFill>
            <a:srgbClr val="DADBF1"/>
          </a:solidFill>
          <a:ln w="7620">
            <a:solidFill>
              <a:srgbClr val="B4B7E4"/>
            </a:solidFill>
            <a:prstDash val="solid"/>
          </a:ln>
        </p:spPr>
      </p:sp>
      <p:sp>
        <p:nvSpPr>
          <p:cNvPr id="10" name="Text 8"/>
          <p:cNvSpPr/>
          <p:nvPr/>
        </p:nvSpPr>
        <p:spPr>
          <a:xfrm>
            <a:off x="3242528" y="1842398"/>
            <a:ext cx="167779" cy="360958"/>
          </a:xfrm>
          <a:prstGeom prst="rect">
            <a:avLst/>
          </a:prstGeom>
          <a:noFill/>
          <a:ln/>
        </p:spPr>
        <p:txBody>
          <a:bodyPr wrap="none" rtlCol="0" anchor="t"/>
          <a:lstStyle/>
          <a:p>
            <a:pPr algn="ctr">
              <a:lnSpc>
                <a:spcPts val="2843"/>
              </a:lnSpc>
            </a:pPr>
            <a:r>
              <a:rPr lang="en-US" sz="2187" b="1" kern="0" spc="-29" dirty="0">
                <a:solidFill>
                  <a:srgbClr val="272525"/>
                </a:solidFill>
                <a:latin typeface="Inter" pitchFamily="34" charset="0"/>
                <a:ea typeface="Inter" pitchFamily="34" charset="-122"/>
                <a:cs typeface="Inter" pitchFamily="34" charset="-120"/>
              </a:rPr>
              <a:t>2</a:t>
            </a:r>
            <a:endParaRPr lang="en-US" sz="2187" dirty="0"/>
          </a:p>
        </p:txBody>
      </p:sp>
      <p:sp>
        <p:nvSpPr>
          <p:cNvPr id="11" name="Text 9"/>
          <p:cNvSpPr/>
          <p:nvPr/>
        </p:nvSpPr>
        <p:spPr>
          <a:xfrm>
            <a:off x="3581328" y="1872461"/>
            <a:ext cx="1883469" cy="300832"/>
          </a:xfrm>
          <a:prstGeom prst="rect">
            <a:avLst/>
          </a:prstGeom>
          <a:noFill/>
          <a:ln/>
        </p:spPr>
        <p:txBody>
          <a:bodyPr wrap="none" rtlCol="0" anchor="t"/>
          <a:lstStyle/>
          <a:p>
            <a:pPr>
              <a:lnSpc>
                <a:spcPts val="2369"/>
              </a:lnSpc>
            </a:pPr>
            <a:r>
              <a:rPr lang="en-US" sz="1822" b="1" kern="0" spc="-55" dirty="0">
                <a:solidFill>
                  <a:srgbClr val="272525"/>
                </a:solidFill>
                <a:latin typeface="Inter" pitchFamily="34" charset="0"/>
                <a:ea typeface="Inter" pitchFamily="34" charset="-122"/>
                <a:cs typeface="Inter" pitchFamily="34" charset="-120"/>
              </a:rPr>
              <a:t>Key Components.</a:t>
            </a:r>
            <a:endParaRPr lang="en-US" sz="1822" dirty="0"/>
          </a:p>
        </p:txBody>
      </p:sp>
      <p:sp>
        <p:nvSpPr>
          <p:cNvPr id="12" name="Text 10"/>
          <p:cNvSpPr/>
          <p:nvPr/>
        </p:nvSpPr>
        <p:spPr>
          <a:xfrm>
            <a:off x="3134360" y="2478788"/>
            <a:ext cx="2421334" cy="1665883"/>
          </a:xfrm>
          <a:prstGeom prst="rect">
            <a:avLst/>
          </a:prstGeom>
          <a:noFill/>
          <a:ln/>
        </p:spPr>
        <p:txBody>
          <a:bodyPr wrap="square" rtlCol="0" anchor="t"/>
          <a:lstStyle/>
          <a:p>
            <a:pPr>
              <a:lnSpc>
                <a:spcPts val="2624"/>
              </a:lnSpc>
            </a:pPr>
            <a:r>
              <a:rPr lang="en-US" kern="0" spc="-29" dirty="0">
                <a:solidFill>
                  <a:srgbClr val="272525"/>
                </a:solidFill>
                <a:latin typeface="Inter" pitchFamily="34" charset="0"/>
                <a:ea typeface="Inter" pitchFamily="34" charset="-122"/>
                <a:cs typeface="Inter" pitchFamily="34" charset="-120"/>
              </a:rPr>
              <a:t>Head-mounted displays, cameras, and sensors that track your motions and translate them into virtual experiences</a:t>
            </a:r>
            <a:r>
              <a:rPr lang="en-US" sz="1458" kern="0" spc="-29" dirty="0">
                <a:solidFill>
                  <a:srgbClr val="272525"/>
                </a:solidFill>
                <a:latin typeface="Inter" pitchFamily="34" charset="0"/>
                <a:ea typeface="Inter" pitchFamily="34" charset="-122"/>
                <a:cs typeface="Inter" pitchFamily="34" charset="-120"/>
              </a:rPr>
              <a:t>.</a:t>
            </a:r>
            <a:endParaRPr lang="en-US" sz="1458" dirty="0"/>
          </a:p>
        </p:txBody>
      </p:sp>
      <p:sp>
        <p:nvSpPr>
          <p:cNvPr id="13" name="Shape 11"/>
          <p:cNvSpPr/>
          <p:nvPr/>
        </p:nvSpPr>
        <p:spPr>
          <a:xfrm>
            <a:off x="5976366" y="1883381"/>
            <a:ext cx="416619" cy="416619"/>
          </a:xfrm>
          <a:prstGeom prst="roundRect">
            <a:avLst>
              <a:gd name="adj" fmla="val 10974"/>
            </a:avLst>
          </a:prstGeom>
          <a:solidFill>
            <a:srgbClr val="DADBF1"/>
          </a:solidFill>
          <a:ln w="7620">
            <a:solidFill>
              <a:srgbClr val="B4B7E4"/>
            </a:solidFill>
            <a:prstDash val="solid"/>
          </a:ln>
        </p:spPr>
      </p:sp>
      <p:sp>
        <p:nvSpPr>
          <p:cNvPr id="14" name="Text 12"/>
          <p:cNvSpPr/>
          <p:nvPr/>
        </p:nvSpPr>
        <p:spPr>
          <a:xfrm>
            <a:off x="6025193" y="1872461"/>
            <a:ext cx="191612" cy="360958"/>
          </a:xfrm>
          <a:prstGeom prst="rect">
            <a:avLst/>
          </a:prstGeom>
          <a:noFill/>
          <a:ln/>
        </p:spPr>
        <p:txBody>
          <a:bodyPr wrap="none" rtlCol="0" anchor="t"/>
          <a:lstStyle/>
          <a:p>
            <a:pPr algn="ctr">
              <a:lnSpc>
                <a:spcPts val="2843"/>
              </a:lnSpc>
            </a:pPr>
            <a:r>
              <a:rPr lang="en-US" sz="2187" b="1" kern="0" spc="-29" dirty="0">
                <a:solidFill>
                  <a:srgbClr val="272525"/>
                </a:solidFill>
                <a:latin typeface="Inter" pitchFamily="34" charset="0"/>
                <a:ea typeface="Inter" pitchFamily="34" charset="-122"/>
                <a:cs typeface="Inter" pitchFamily="34" charset="-120"/>
              </a:rPr>
              <a:t>3</a:t>
            </a:r>
            <a:endParaRPr lang="en-US" sz="2187" dirty="0"/>
          </a:p>
        </p:txBody>
      </p:sp>
      <p:sp>
        <p:nvSpPr>
          <p:cNvPr id="15" name="Text 13"/>
          <p:cNvSpPr/>
          <p:nvPr/>
        </p:nvSpPr>
        <p:spPr>
          <a:xfrm>
            <a:off x="6441812" y="1883381"/>
            <a:ext cx="1851620" cy="300832"/>
          </a:xfrm>
          <a:prstGeom prst="rect">
            <a:avLst/>
          </a:prstGeom>
          <a:noFill/>
          <a:ln/>
        </p:spPr>
        <p:txBody>
          <a:bodyPr wrap="none" rtlCol="0" anchor="t"/>
          <a:lstStyle/>
          <a:p>
            <a:pPr>
              <a:lnSpc>
                <a:spcPts val="2369"/>
              </a:lnSpc>
            </a:pPr>
            <a:r>
              <a:rPr lang="en-US" sz="1822" b="1" kern="0" spc="-55" dirty="0">
                <a:solidFill>
                  <a:srgbClr val="272525"/>
                </a:solidFill>
                <a:latin typeface="Inter" pitchFamily="34" charset="0"/>
                <a:ea typeface="Inter" pitchFamily="34" charset="-122"/>
                <a:cs typeface="Inter" pitchFamily="34" charset="-120"/>
              </a:rPr>
              <a:t>Applications.</a:t>
            </a:r>
            <a:endParaRPr lang="en-US" sz="1822" dirty="0"/>
          </a:p>
        </p:txBody>
      </p:sp>
      <p:sp>
        <p:nvSpPr>
          <p:cNvPr id="16" name="Text 14"/>
          <p:cNvSpPr/>
          <p:nvPr/>
        </p:nvSpPr>
        <p:spPr>
          <a:xfrm>
            <a:off x="5893230" y="2478788"/>
            <a:ext cx="2669746" cy="1807462"/>
          </a:xfrm>
          <a:prstGeom prst="rect">
            <a:avLst/>
          </a:prstGeom>
          <a:noFill/>
          <a:ln/>
        </p:spPr>
        <p:txBody>
          <a:bodyPr wrap="none" rtlCol="0" anchor="t"/>
          <a:lstStyle/>
          <a:p>
            <a:pPr>
              <a:lnSpc>
                <a:spcPts val="2624"/>
              </a:lnSpc>
            </a:pPr>
            <a:r>
              <a:rPr lang="en-US" kern="0" spc="-29" dirty="0">
                <a:solidFill>
                  <a:srgbClr val="272525"/>
                </a:solidFill>
                <a:latin typeface="Inter" pitchFamily="34" charset="0"/>
                <a:ea typeface="Inter" pitchFamily="34" charset="-122"/>
                <a:cs typeface="Inter" pitchFamily="34" charset="-120"/>
              </a:rPr>
              <a:t>Gaming,</a:t>
            </a:r>
          </a:p>
          <a:p>
            <a:pPr>
              <a:lnSpc>
                <a:spcPts val="2624"/>
              </a:lnSpc>
            </a:pPr>
            <a:r>
              <a:rPr lang="en-US" kern="0" spc="-29" dirty="0">
                <a:solidFill>
                  <a:srgbClr val="272525"/>
                </a:solidFill>
                <a:latin typeface="Inter" pitchFamily="34" charset="0"/>
                <a:ea typeface="Inter" pitchFamily="34" charset="-122"/>
                <a:cs typeface="Inter" pitchFamily="34" charset="-120"/>
              </a:rPr>
              <a:t> Education</a:t>
            </a:r>
          </a:p>
          <a:p>
            <a:pPr>
              <a:lnSpc>
                <a:spcPts val="2624"/>
              </a:lnSpc>
            </a:pPr>
            <a:r>
              <a:rPr lang="en-US" kern="0" spc="-29" dirty="0">
                <a:solidFill>
                  <a:srgbClr val="272525"/>
                </a:solidFill>
                <a:latin typeface="Inter" pitchFamily="34" charset="0"/>
                <a:ea typeface="Inter" pitchFamily="34" charset="-122"/>
                <a:cs typeface="Inter" pitchFamily="34" charset="-120"/>
              </a:rPr>
              <a:t> Healthcare, </a:t>
            </a:r>
          </a:p>
          <a:p>
            <a:pPr>
              <a:lnSpc>
                <a:spcPts val="2624"/>
              </a:lnSpc>
            </a:pPr>
            <a:r>
              <a:rPr lang="en-US" kern="0" spc="-29" dirty="0">
                <a:solidFill>
                  <a:srgbClr val="272525"/>
                </a:solidFill>
                <a:latin typeface="Inter" pitchFamily="34" charset="0"/>
                <a:ea typeface="Inter" pitchFamily="34" charset="-122"/>
                <a:cs typeface="Inter" pitchFamily="34" charset="-120"/>
              </a:rPr>
              <a:t>Marketing and more </a:t>
            </a:r>
          </a:p>
          <a:p>
            <a:pPr>
              <a:lnSpc>
                <a:spcPts val="2624"/>
              </a:lnSpc>
            </a:pPr>
            <a:r>
              <a:rPr lang="en-US" kern="0" spc="-29" dirty="0">
                <a:solidFill>
                  <a:srgbClr val="272525"/>
                </a:solidFill>
                <a:latin typeface="Inter" pitchFamily="34" charset="0"/>
                <a:ea typeface="Inter" pitchFamily="34" charset="-122"/>
                <a:cs typeface="Inter" pitchFamily="34" charset="-120"/>
              </a:rPr>
              <a:t> </a:t>
            </a:r>
            <a:endParaRPr lang="en-US" sz="1458" dirty="0"/>
          </a:p>
        </p:txBody>
      </p:sp>
      <p:pic>
        <p:nvPicPr>
          <p:cNvPr id="20" name="Image 0" descr="preencoded.png">
            <a:extLst>
              <a:ext uri="{FF2B5EF4-FFF2-40B4-BE49-F238E27FC236}">
                <a16:creationId xmlns="" xmlns:a16="http://schemas.microsoft.com/office/drawing/2014/main" id="{C9D419C5-0D66-1329-9232-DE48AB494985}"/>
              </a:ext>
            </a:extLst>
          </p:cNvPr>
          <p:cNvPicPr>
            <a:picLocks noChangeAspect="1"/>
          </p:cNvPicPr>
          <p:nvPr/>
        </p:nvPicPr>
        <p:blipFill>
          <a:blip r:embed="rId3"/>
          <a:stretch>
            <a:fillRect/>
          </a:stretch>
        </p:blipFill>
        <p:spPr>
          <a:xfrm>
            <a:off x="8883452" y="1270281"/>
            <a:ext cx="3250356" cy="4188939"/>
          </a:xfrm>
          <a:prstGeom prst="rect">
            <a:avLst/>
          </a:prstGeom>
          <a:effectLst>
            <a:reflection stA="19000" endPos="65000" dist="50800" dir="5400000" sy="-100000" algn="bl" rotWithShape="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1E2D3D-D3E3-8D43-0118-206BE1A4BF70}"/>
              </a:ext>
            </a:extLst>
          </p:cNvPr>
          <p:cNvSpPr>
            <a:spLocks noGrp="1"/>
          </p:cNvSpPr>
          <p:nvPr>
            <p:ph type="title"/>
          </p:nvPr>
        </p:nvSpPr>
        <p:spPr>
          <a:xfrm>
            <a:off x="185057" y="102230"/>
            <a:ext cx="10515600" cy="1325563"/>
          </a:xfrm>
        </p:spPr>
        <p:txBody>
          <a:bodyPr/>
          <a:lstStyle/>
          <a:p>
            <a:r>
              <a:rPr lang="en-IN" dirty="0">
                <a:solidFill>
                  <a:srgbClr val="FF0000"/>
                </a:solidFill>
              </a:rPr>
              <a:t>Virtual Reality</a:t>
            </a:r>
          </a:p>
        </p:txBody>
      </p:sp>
      <p:sp>
        <p:nvSpPr>
          <p:cNvPr id="3" name="Content Placeholder 2">
            <a:extLst>
              <a:ext uri="{FF2B5EF4-FFF2-40B4-BE49-F238E27FC236}">
                <a16:creationId xmlns="" xmlns:a16="http://schemas.microsoft.com/office/drawing/2014/main" id="{33B2EC6C-3875-9A60-2298-6F7559B84296}"/>
              </a:ext>
            </a:extLst>
          </p:cNvPr>
          <p:cNvSpPr>
            <a:spLocks noGrp="1"/>
          </p:cNvSpPr>
          <p:nvPr>
            <p:ph sz="half" idx="1"/>
          </p:nvPr>
        </p:nvSpPr>
        <p:spPr>
          <a:xfrm>
            <a:off x="185057" y="1427793"/>
            <a:ext cx="5181600" cy="4351338"/>
          </a:xfrm>
        </p:spPr>
        <p:txBody>
          <a:bodyPr>
            <a:normAutofit/>
          </a:bodyPr>
          <a:lstStyle/>
          <a:p>
            <a:r>
              <a:rPr lang="en-US" dirty="0"/>
              <a:t>Virtual reality refers to the use of computer technology to create a simulated environment. The user can interact with this environment as if it were real. This technology has been around for decades, but recent advancements in hardware and software have made it more accessible to consumers.</a:t>
            </a:r>
          </a:p>
          <a:p>
            <a:pPr marL="0" indent="0">
              <a:buNone/>
            </a:pPr>
            <a:endParaRPr lang="en-IN" dirty="0"/>
          </a:p>
        </p:txBody>
      </p:sp>
      <p:pic>
        <p:nvPicPr>
          <p:cNvPr id="6" name="Content Placeholder 5">
            <a:extLst>
              <a:ext uri="{FF2B5EF4-FFF2-40B4-BE49-F238E27FC236}">
                <a16:creationId xmlns="" xmlns:a16="http://schemas.microsoft.com/office/drawing/2014/main" id="{256068CE-2D13-ABF6-15E0-1E4E220A8A0C}"/>
              </a:ext>
            </a:extLst>
          </p:cNvPr>
          <p:cNvPicPr>
            <a:picLocks noGrp="1" noChangeAspect="1"/>
          </p:cNvPicPr>
          <p:nvPr>
            <p:ph sz="half" idx="2"/>
          </p:nvPr>
        </p:nvPicPr>
        <p:blipFill>
          <a:blip r:embed="rId2">
            <a:extLst>
              <a:ext uri="{28A0092B-C50C-407E-A947-70E740481C1C}">
                <a14:useLocalDpi xmlns="" xmlns:a14="http://schemas.microsoft.com/office/drawing/2010/main" val="0"/>
              </a:ext>
            </a:extLst>
          </a:blip>
          <a:stretch>
            <a:fillRect/>
          </a:stretch>
        </p:blipFill>
        <p:spPr>
          <a:xfrm>
            <a:off x="6349320" y="1253331"/>
            <a:ext cx="4351337" cy="4351337"/>
          </a:xfrm>
          <a:prstGeom prst="roundRect">
            <a:avLst>
              <a:gd name="adj" fmla="val 8594"/>
            </a:avLst>
          </a:prstGeom>
          <a:solidFill>
            <a:srgbClr val="FFFFFF">
              <a:shade val="85000"/>
            </a:srgbClr>
          </a:solidFill>
          <a:ln>
            <a:noFill/>
          </a:ln>
          <a:effectLst>
            <a:reflection blurRad="12700" stA="38000" endPos="28000" dist="5000" dir="5400000" sy="-100000" algn="bl" rotWithShape="0"/>
            <a:softEdge rad="0"/>
          </a:effectLst>
        </p:spPr>
      </p:pic>
    </p:spTree>
    <p:extLst>
      <p:ext uri="{BB962C8B-B14F-4D97-AF65-F5344CB8AC3E}">
        <p14:creationId xmlns="" xmlns:p14="http://schemas.microsoft.com/office/powerpoint/2010/main" val="1482264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5FEA18-5ECB-3351-34C1-04CAFD08AAD9}"/>
              </a:ext>
            </a:extLst>
          </p:cNvPr>
          <p:cNvSpPr>
            <a:spLocks noGrp="1"/>
          </p:cNvSpPr>
          <p:nvPr>
            <p:ph type="title"/>
          </p:nvPr>
        </p:nvSpPr>
        <p:spPr/>
        <p:txBody>
          <a:bodyPr/>
          <a:lstStyle/>
          <a:p>
            <a:r>
              <a:rPr lang="en-IN" dirty="0">
                <a:solidFill>
                  <a:srgbClr val="FF0000"/>
                </a:solidFill>
              </a:rPr>
              <a:t>Augmented Reality</a:t>
            </a:r>
          </a:p>
        </p:txBody>
      </p:sp>
      <p:sp>
        <p:nvSpPr>
          <p:cNvPr id="3" name="Content Placeholder 2">
            <a:extLst>
              <a:ext uri="{FF2B5EF4-FFF2-40B4-BE49-F238E27FC236}">
                <a16:creationId xmlns="" xmlns:a16="http://schemas.microsoft.com/office/drawing/2014/main" id="{D97375EC-3797-AA8B-87CD-24D036468D78}"/>
              </a:ext>
            </a:extLst>
          </p:cNvPr>
          <p:cNvSpPr>
            <a:spLocks noGrp="1"/>
          </p:cNvSpPr>
          <p:nvPr>
            <p:ph sz="half" idx="1"/>
          </p:nvPr>
        </p:nvSpPr>
        <p:spPr>
          <a:xfrm>
            <a:off x="6143625" y="2006600"/>
            <a:ext cx="5181600" cy="4351338"/>
          </a:xfrm>
        </p:spPr>
        <p:txBody>
          <a:bodyPr>
            <a:normAutofit lnSpcReduction="10000"/>
          </a:bodyPr>
          <a:lstStyle/>
          <a:p>
            <a:r>
              <a:rPr lang="en-US" dirty="0"/>
              <a:t>Augmented reality (AR) is a technology that overlays digital information onto the real world. Unlike virtual reality, which creates a completely artificial environment, AR enhances the user's perception of reality by adding computer-generated elements to it. This technology has many potential applications, including gaming, education, and advertising.</a:t>
            </a:r>
            <a:endParaRPr lang="en-IN" dirty="0"/>
          </a:p>
        </p:txBody>
      </p:sp>
      <p:pic>
        <p:nvPicPr>
          <p:cNvPr id="6" name="Content Placeholder 5">
            <a:extLst>
              <a:ext uri="{FF2B5EF4-FFF2-40B4-BE49-F238E27FC236}">
                <a16:creationId xmlns="" xmlns:a16="http://schemas.microsoft.com/office/drawing/2014/main" id="{A18DA427-54E5-AA29-2506-60848557A47A}"/>
              </a:ext>
            </a:extLst>
          </p:cNvPr>
          <p:cNvPicPr>
            <a:picLocks noGrp="1" noChangeAspect="1"/>
          </p:cNvPicPr>
          <p:nvPr>
            <p:ph sz="half" idx="2"/>
          </p:nvPr>
        </p:nvPicPr>
        <p:blipFill>
          <a:blip r:embed="rId2">
            <a:extLst>
              <a:ext uri="{28A0092B-C50C-407E-A947-70E740481C1C}">
                <a14:useLocalDpi xmlns="" xmlns:a14="http://schemas.microsoft.com/office/drawing/2010/main" val="0"/>
              </a:ext>
            </a:extLst>
          </a:blip>
          <a:stretch>
            <a:fillRect/>
          </a:stretch>
        </p:blipFill>
        <p:spPr>
          <a:xfrm>
            <a:off x="838200" y="1833563"/>
            <a:ext cx="4351338" cy="43513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1484515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416F3C-7860-DE9F-4330-58E8BA5EE39A}"/>
              </a:ext>
            </a:extLst>
          </p:cNvPr>
          <p:cNvSpPr>
            <a:spLocks noGrp="1"/>
          </p:cNvSpPr>
          <p:nvPr>
            <p:ph type="title"/>
          </p:nvPr>
        </p:nvSpPr>
        <p:spPr/>
        <p:txBody>
          <a:bodyPr/>
          <a:lstStyle/>
          <a:p>
            <a:r>
              <a:rPr lang="en-IN" dirty="0">
                <a:solidFill>
                  <a:srgbClr val="FF0000"/>
                </a:solidFill>
              </a:rPr>
              <a:t>Mixed Reality</a:t>
            </a:r>
          </a:p>
        </p:txBody>
      </p:sp>
      <p:sp>
        <p:nvSpPr>
          <p:cNvPr id="3" name="Content Placeholder 2">
            <a:extLst>
              <a:ext uri="{FF2B5EF4-FFF2-40B4-BE49-F238E27FC236}">
                <a16:creationId xmlns="" xmlns:a16="http://schemas.microsoft.com/office/drawing/2014/main" id="{BBA696F8-2F83-4B98-F81B-B8381B6F6110}"/>
              </a:ext>
            </a:extLst>
          </p:cNvPr>
          <p:cNvSpPr>
            <a:spLocks noGrp="1"/>
          </p:cNvSpPr>
          <p:nvPr>
            <p:ph sz="half" idx="1"/>
          </p:nvPr>
        </p:nvSpPr>
        <p:spPr>
          <a:xfrm>
            <a:off x="762000" y="1825625"/>
            <a:ext cx="5181600" cy="4351338"/>
          </a:xfrm>
        </p:spPr>
        <p:txBody>
          <a:bodyPr/>
          <a:lstStyle/>
          <a:p>
            <a:pPr marL="0" indent="0" algn="just">
              <a:buNone/>
            </a:pPr>
            <a:r>
              <a:rPr lang="en-US" dirty="0"/>
              <a:t>Mixed reality is a type of technology that combines aspects of both virtual and augmented reality to create a unique experience. This technology allows users to interact with virtual objects and environments in real time, creating a seamless blend between the digital and physical worlds.</a:t>
            </a:r>
            <a:endParaRPr lang="en-IN" dirty="0"/>
          </a:p>
        </p:txBody>
      </p:sp>
      <p:pic>
        <p:nvPicPr>
          <p:cNvPr id="6" name="Content Placeholder 5">
            <a:extLst>
              <a:ext uri="{FF2B5EF4-FFF2-40B4-BE49-F238E27FC236}">
                <a16:creationId xmlns="" xmlns:a16="http://schemas.microsoft.com/office/drawing/2014/main" id="{037D4AD4-69B4-FED7-472F-93D759358879}"/>
              </a:ext>
            </a:extLst>
          </p:cNvPr>
          <p:cNvPicPr>
            <a:picLocks noGrp="1" noChangeAspect="1"/>
          </p:cNvPicPr>
          <p:nvPr>
            <p:ph sz="half" idx="2"/>
          </p:nvPr>
        </p:nvPicPr>
        <p:blipFill>
          <a:blip r:embed="rId2">
            <a:extLst>
              <a:ext uri="{28A0092B-C50C-407E-A947-70E740481C1C}">
                <a14:useLocalDpi xmlns="" xmlns:a14="http://schemas.microsoft.com/office/drawing/2010/main" val="0"/>
              </a:ext>
            </a:extLst>
          </a:blip>
          <a:stretch>
            <a:fillRect/>
          </a:stretch>
        </p:blipFill>
        <p:spPr>
          <a:xfrm>
            <a:off x="6911181" y="1577975"/>
            <a:ext cx="4351338" cy="43513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2810788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46932F-CB55-702C-6FE3-3C0F7A065D5D}"/>
              </a:ext>
            </a:extLst>
          </p:cNvPr>
          <p:cNvSpPr>
            <a:spLocks noGrp="1"/>
          </p:cNvSpPr>
          <p:nvPr>
            <p:ph type="title"/>
          </p:nvPr>
        </p:nvSpPr>
        <p:spPr>
          <a:xfrm>
            <a:off x="209550" y="155575"/>
            <a:ext cx="10515600" cy="1325563"/>
          </a:xfrm>
        </p:spPr>
        <p:txBody>
          <a:bodyPr/>
          <a:lstStyle/>
          <a:p>
            <a:r>
              <a:rPr lang="en-IN" dirty="0">
                <a:solidFill>
                  <a:srgbClr val="FF0000"/>
                </a:solidFill>
              </a:rPr>
              <a:t>Uses of Mixed Reality</a:t>
            </a:r>
          </a:p>
        </p:txBody>
      </p:sp>
      <p:sp>
        <p:nvSpPr>
          <p:cNvPr id="3" name="Content Placeholder 2">
            <a:extLst>
              <a:ext uri="{FF2B5EF4-FFF2-40B4-BE49-F238E27FC236}">
                <a16:creationId xmlns="" xmlns:a16="http://schemas.microsoft.com/office/drawing/2014/main" id="{EB442F63-2FB7-E82D-95BA-BA625DFA9472}"/>
              </a:ext>
            </a:extLst>
          </p:cNvPr>
          <p:cNvSpPr>
            <a:spLocks noGrp="1"/>
          </p:cNvSpPr>
          <p:nvPr>
            <p:ph sz="half" idx="1"/>
          </p:nvPr>
        </p:nvSpPr>
        <p:spPr>
          <a:xfrm>
            <a:off x="295275" y="1797050"/>
            <a:ext cx="5181600" cy="4351338"/>
          </a:xfrm>
        </p:spPr>
        <p:txBody>
          <a:bodyPr/>
          <a:lstStyle/>
          <a:p>
            <a:pPr marL="0" indent="0">
              <a:buNone/>
            </a:pPr>
            <a:r>
              <a:rPr lang="en-US" sz="2800" b="1" kern="0" spc="-66" dirty="0">
                <a:solidFill>
                  <a:srgbClr val="000000"/>
                </a:solidFill>
                <a:latin typeface="Inter" pitchFamily="34" charset="0"/>
                <a:ea typeface="Inter" pitchFamily="34" charset="-122"/>
                <a:cs typeface="Inter" pitchFamily="34" charset="-120"/>
              </a:rPr>
              <a:t>Use cases for Mixed Reality</a:t>
            </a:r>
            <a:endParaRPr lang="en-US" sz="2800" dirty="0"/>
          </a:p>
          <a:p>
            <a:pPr marL="0" indent="0">
              <a:buNone/>
            </a:pPr>
            <a:endParaRPr lang="en-US" sz="2800" kern="0" spc="-35" dirty="0">
              <a:solidFill>
                <a:srgbClr val="272525"/>
              </a:solidFill>
              <a:latin typeface="Inter" pitchFamily="34" charset="0"/>
              <a:ea typeface="Inter" pitchFamily="34" charset="-122"/>
              <a:cs typeface="Inter" pitchFamily="34" charset="-120"/>
            </a:endParaRPr>
          </a:p>
          <a:p>
            <a:r>
              <a:rPr lang="en-US" sz="2800" kern="0" spc="-35" dirty="0">
                <a:solidFill>
                  <a:srgbClr val="272525"/>
                </a:solidFill>
                <a:latin typeface="Inter" pitchFamily="34" charset="0"/>
                <a:ea typeface="Inter" pitchFamily="34" charset="-122"/>
                <a:cs typeface="Inter" pitchFamily="34" charset="-120"/>
              </a:rPr>
              <a:t>Industrial training</a:t>
            </a:r>
          </a:p>
          <a:p>
            <a:r>
              <a:rPr lang="en-US" kern="0" spc="-35" dirty="0">
                <a:solidFill>
                  <a:srgbClr val="272525"/>
                </a:solidFill>
                <a:latin typeface="Inter" pitchFamily="34" charset="0"/>
                <a:ea typeface="Inter" pitchFamily="34" charset="-122"/>
                <a:cs typeface="Inter" pitchFamily="34" charset="-120"/>
              </a:rPr>
              <a:t>C</a:t>
            </a:r>
            <a:r>
              <a:rPr lang="en-US" sz="2800" kern="0" spc="-35" dirty="0">
                <a:solidFill>
                  <a:srgbClr val="272525"/>
                </a:solidFill>
                <a:latin typeface="Inter" pitchFamily="34" charset="0"/>
                <a:ea typeface="Inter" pitchFamily="34" charset="-122"/>
                <a:cs typeface="Inter" pitchFamily="34" charset="-120"/>
              </a:rPr>
              <a:t>omplex procedures</a:t>
            </a:r>
          </a:p>
          <a:p>
            <a:r>
              <a:rPr lang="en-US" kern="0" spc="-35" dirty="0">
                <a:solidFill>
                  <a:srgbClr val="272525"/>
                </a:solidFill>
                <a:latin typeface="Inter" pitchFamily="34" charset="0"/>
                <a:ea typeface="Inter" pitchFamily="34" charset="-122"/>
                <a:cs typeface="Inter" pitchFamily="34" charset="-120"/>
              </a:rPr>
              <a:t>M</a:t>
            </a:r>
            <a:r>
              <a:rPr lang="en-US" sz="2800" kern="0" spc="-35" dirty="0">
                <a:solidFill>
                  <a:srgbClr val="272525"/>
                </a:solidFill>
                <a:latin typeface="Inter" pitchFamily="34" charset="0"/>
                <a:ea typeface="Inter" pitchFamily="34" charset="-122"/>
                <a:cs typeface="Inter" pitchFamily="34" charset="-120"/>
              </a:rPr>
              <a:t>edical procedures</a:t>
            </a:r>
          </a:p>
          <a:p>
            <a:r>
              <a:rPr lang="en-US" kern="0" spc="-35" dirty="0">
                <a:solidFill>
                  <a:srgbClr val="272525"/>
                </a:solidFill>
                <a:latin typeface="Inter" pitchFamily="34" charset="0"/>
                <a:ea typeface="Inter" pitchFamily="34" charset="-122"/>
              </a:rPr>
              <a:t>Education</a:t>
            </a:r>
            <a:endParaRPr lang="en-US" sz="2800" dirty="0"/>
          </a:p>
          <a:p>
            <a:endParaRPr lang="en-IN" dirty="0"/>
          </a:p>
        </p:txBody>
      </p:sp>
      <p:sp>
        <p:nvSpPr>
          <p:cNvPr id="4" name="Content Placeholder 3">
            <a:extLst>
              <a:ext uri="{FF2B5EF4-FFF2-40B4-BE49-F238E27FC236}">
                <a16:creationId xmlns="" xmlns:a16="http://schemas.microsoft.com/office/drawing/2014/main" id="{5668571F-FC07-3B64-061B-A0C742B8AABA}"/>
              </a:ext>
            </a:extLst>
          </p:cNvPr>
          <p:cNvSpPr>
            <a:spLocks noGrp="1"/>
          </p:cNvSpPr>
          <p:nvPr>
            <p:ph sz="half" idx="2"/>
          </p:nvPr>
        </p:nvSpPr>
        <p:spPr>
          <a:xfrm>
            <a:off x="6305550" y="1797050"/>
            <a:ext cx="5181600" cy="4351338"/>
          </a:xfrm>
        </p:spPr>
        <p:txBody>
          <a:bodyPr/>
          <a:lstStyle/>
          <a:p>
            <a:pPr marL="0" indent="0">
              <a:buNone/>
            </a:pPr>
            <a:r>
              <a:rPr lang="en-US" sz="2800" b="1" kern="0" spc="-66" dirty="0">
                <a:solidFill>
                  <a:srgbClr val="000000"/>
                </a:solidFill>
                <a:latin typeface="Inter" pitchFamily="34" charset="0"/>
                <a:ea typeface="Inter" pitchFamily="34" charset="-122"/>
                <a:cs typeface="Inter" pitchFamily="34" charset="-120"/>
              </a:rPr>
              <a:t>Benefits of Mixed Reality:</a:t>
            </a:r>
          </a:p>
          <a:p>
            <a:endParaRPr lang="en-US" b="1" kern="0" spc="-66" dirty="0">
              <a:solidFill>
                <a:srgbClr val="000000"/>
              </a:solidFill>
              <a:latin typeface="Inter" pitchFamily="34" charset="0"/>
              <a:ea typeface="Inter" pitchFamily="34" charset="-122"/>
            </a:endParaRPr>
          </a:p>
          <a:p>
            <a:r>
              <a:rPr lang="en-US" sz="2800" kern="0" spc="-35" dirty="0">
                <a:solidFill>
                  <a:srgbClr val="272525"/>
                </a:solidFill>
                <a:latin typeface="Inter" pitchFamily="34" charset="0"/>
                <a:ea typeface="Inter" pitchFamily="34" charset="-122"/>
                <a:cs typeface="Inter" pitchFamily="34" charset="-120"/>
              </a:rPr>
              <a:t>Improved decision-making</a:t>
            </a:r>
          </a:p>
          <a:p>
            <a:r>
              <a:rPr lang="en-US" kern="0" spc="-35" dirty="0">
                <a:solidFill>
                  <a:srgbClr val="272525"/>
                </a:solidFill>
                <a:latin typeface="Inter" pitchFamily="34" charset="0"/>
                <a:ea typeface="Inter" pitchFamily="34" charset="-122"/>
                <a:cs typeface="Inter" pitchFamily="34" charset="-120"/>
              </a:rPr>
              <a:t>T</a:t>
            </a:r>
            <a:r>
              <a:rPr lang="en-US" sz="2800" kern="0" spc="-35" dirty="0">
                <a:solidFill>
                  <a:srgbClr val="272525"/>
                </a:solidFill>
                <a:latin typeface="Inter" pitchFamily="34" charset="0"/>
                <a:ea typeface="Inter" pitchFamily="34" charset="-122"/>
                <a:cs typeface="Inter" pitchFamily="34" charset="-120"/>
              </a:rPr>
              <a:t>raining effectiveness </a:t>
            </a:r>
          </a:p>
          <a:p>
            <a:r>
              <a:rPr lang="en-US" kern="0" spc="-35" dirty="0">
                <a:solidFill>
                  <a:srgbClr val="272525"/>
                </a:solidFill>
                <a:latin typeface="Inter" pitchFamily="34" charset="0"/>
                <a:ea typeface="Inter" pitchFamily="34" charset="-122"/>
                <a:cs typeface="Inter" pitchFamily="34" charset="-120"/>
              </a:rPr>
              <a:t>R</a:t>
            </a:r>
            <a:r>
              <a:rPr lang="en-US" sz="2800" kern="0" spc="-35" dirty="0">
                <a:solidFill>
                  <a:srgbClr val="272525"/>
                </a:solidFill>
                <a:latin typeface="Inter" pitchFamily="34" charset="0"/>
                <a:ea typeface="Inter" pitchFamily="34" charset="-122"/>
                <a:cs typeface="Inter" pitchFamily="34" charset="-120"/>
              </a:rPr>
              <a:t>emote collaboration</a:t>
            </a:r>
          </a:p>
          <a:p>
            <a:r>
              <a:rPr lang="en-US" sz="2800" kern="0" spc="-35" dirty="0">
                <a:solidFill>
                  <a:srgbClr val="272525"/>
                </a:solidFill>
                <a:latin typeface="Inter" pitchFamily="34" charset="0"/>
                <a:ea typeface="Inter" pitchFamily="34" charset="-122"/>
                <a:cs typeface="Inter" pitchFamily="34" charset="-120"/>
              </a:rPr>
              <a:t>Reduced errors.</a:t>
            </a:r>
            <a:endParaRPr lang="en-US" sz="2800" dirty="0"/>
          </a:p>
          <a:p>
            <a:pPr marL="0" indent="0">
              <a:buNone/>
            </a:pPr>
            <a:endParaRPr lang="en-US" sz="2800" dirty="0"/>
          </a:p>
          <a:p>
            <a:endParaRPr lang="en-IN" dirty="0"/>
          </a:p>
        </p:txBody>
      </p:sp>
    </p:spTree>
    <p:extLst>
      <p:ext uri="{BB962C8B-B14F-4D97-AF65-F5344CB8AC3E}">
        <p14:creationId xmlns="" xmlns:p14="http://schemas.microsoft.com/office/powerpoint/2010/main" val="475982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58E46D-63AF-C9AC-3341-4AFDE4DCE7FE}"/>
              </a:ext>
            </a:extLst>
          </p:cNvPr>
          <p:cNvSpPr>
            <a:spLocks noGrp="1"/>
          </p:cNvSpPr>
          <p:nvPr>
            <p:ph type="title"/>
          </p:nvPr>
        </p:nvSpPr>
        <p:spPr/>
        <p:txBody>
          <a:bodyPr/>
          <a:lstStyle/>
          <a:p>
            <a:r>
              <a:rPr lang="en-IN" b="1" dirty="0">
                <a:solidFill>
                  <a:srgbClr val="FF0000"/>
                </a:solidFill>
              </a:rPr>
              <a:t>Augmented Virtuality</a:t>
            </a:r>
          </a:p>
        </p:txBody>
      </p:sp>
      <p:sp>
        <p:nvSpPr>
          <p:cNvPr id="3" name="Content Placeholder 2">
            <a:extLst>
              <a:ext uri="{FF2B5EF4-FFF2-40B4-BE49-F238E27FC236}">
                <a16:creationId xmlns="" xmlns:a16="http://schemas.microsoft.com/office/drawing/2014/main" id="{496B1E3E-9FC0-0BC5-D803-F803ADC0C032}"/>
              </a:ext>
            </a:extLst>
          </p:cNvPr>
          <p:cNvSpPr>
            <a:spLocks noGrp="1"/>
          </p:cNvSpPr>
          <p:nvPr>
            <p:ph sz="half" idx="1"/>
          </p:nvPr>
        </p:nvSpPr>
        <p:spPr>
          <a:xfrm>
            <a:off x="5979160" y="1546542"/>
            <a:ext cx="5897880" cy="5311458"/>
          </a:xfrm>
        </p:spPr>
        <p:txBody>
          <a:bodyPr>
            <a:noAutofit/>
          </a:bodyPr>
          <a:lstStyle/>
          <a:p>
            <a:r>
              <a:rPr lang="en-US" dirty="0"/>
              <a:t>Augmented virtuality (AV) is a type of mixed reality that primarily involves the use of real-world environments as a base, to which virtual objects are added. In other words, AV is the inverse of augmented reality (AR). </a:t>
            </a:r>
          </a:p>
          <a:p>
            <a:r>
              <a:rPr lang="en-US" dirty="0"/>
              <a:t>In AR, virtual objects are overlaid onto the real world, whereas in AV, real-world objects are overlaid onto a virtual world. This technology can be used for a variety of purposes, including gaming, education, and training.</a:t>
            </a:r>
            <a:endParaRPr lang="en-IN" dirty="0"/>
          </a:p>
        </p:txBody>
      </p:sp>
      <p:pic>
        <p:nvPicPr>
          <p:cNvPr id="6" name="Content Placeholder 5">
            <a:extLst>
              <a:ext uri="{FF2B5EF4-FFF2-40B4-BE49-F238E27FC236}">
                <a16:creationId xmlns="" xmlns:a16="http://schemas.microsoft.com/office/drawing/2014/main" id="{14455166-B1B1-9F6A-209B-80E6E0EAAABE}"/>
              </a:ext>
            </a:extLst>
          </p:cNvPr>
          <p:cNvPicPr>
            <a:picLocks noGrp="1" noChangeAspect="1"/>
          </p:cNvPicPr>
          <p:nvPr>
            <p:ph sz="half" idx="2"/>
          </p:nvPr>
        </p:nvPicPr>
        <p:blipFill>
          <a:blip r:embed="rId2">
            <a:extLst>
              <a:ext uri="{28A0092B-C50C-407E-A947-70E740481C1C}">
                <a14:useLocalDpi xmlns="" xmlns:a14="http://schemas.microsoft.com/office/drawing/2010/main" val="0"/>
              </a:ext>
            </a:extLst>
          </a:blip>
          <a:stretch>
            <a:fillRect/>
          </a:stretch>
        </p:blipFill>
        <p:spPr>
          <a:xfrm>
            <a:off x="550862" y="1690688"/>
            <a:ext cx="4351338" cy="43513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2743134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E6ABB7-71B0-0A05-C262-A2BF695B9AE3}"/>
              </a:ext>
            </a:extLst>
          </p:cNvPr>
          <p:cNvSpPr>
            <a:spLocks noGrp="1"/>
          </p:cNvSpPr>
          <p:nvPr>
            <p:ph type="title"/>
          </p:nvPr>
        </p:nvSpPr>
        <p:spPr>
          <a:xfrm>
            <a:off x="657225" y="231775"/>
            <a:ext cx="10515600" cy="1325563"/>
          </a:xfrm>
        </p:spPr>
        <p:txBody>
          <a:bodyPr/>
          <a:lstStyle/>
          <a:p>
            <a:r>
              <a:rPr lang="en-IN" dirty="0">
                <a:solidFill>
                  <a:srgbClr val="FF0000"/>
                </a:solidFill>
              </a:rPr>
              <a:t>Uses of Augmented Virtuality</a:t>
            </a:r>
          </a:p>
        </p:txBody>
      </p:sp>
      <p:sp>
        <p:nvSpPr>
          <p:cNvPr id="3" name="Content Placeholder 2">
            <a:extLst>
              <a:ext uri="{FF2B5EF4-FFF2-40B4-BE49-F238E27FC236}">
                <a16:creationId xmlns="" xmlns:a16="http://schemas.microsoft.com/office/drawing/2014/main" id="{4FB48888-B155-FD18-FE46-8B75D719AAC8}"/>
              </a:ext>
            </a:extLst>
          </p:cNvPr>
          <p:cNvSpPr>
            <a:spLocks noGrp="1"/>
          </p:cNvSpPr>
          <p:nvPr>
            <p:ph sz="half" idx="1"/>
          </p:nvPr>
        </p:nvSpPr>
        <p:spPr/>
        <p:txBody>
          <a:bodyPr/>
          <a:lstStyle/>
          <a:p>
            <a:pPr marL="0" indent="0">
              <a:buNone/>
            </a:pPr>
            <a:r>
              <a:rPr lang="en-US" sz="2800" b="1" kern="0" spc="-63" dirty="0">
                <a:solidFill>
                  <a:srgbClr val="000000"/>
                </a:solidFill>
                <a:latin typeface="Inter" pitchFamily="34" charset="0"/>
                <a:ea typeface="Inter" pitchFamily="34" charset="-122"/>
                <a:cs typeface="Inter" pitchFamily="34" charset="-120"/>
              </a:rPr>
              <a:t>Use cases for AV:</a:t>
            </a:r>
            <a:br>
              <a:rPr lang="en-US" sz="2800" b="1" kern="0" spc="-63" dirty="0">
                <a:solidFill>
                  <a:srgbClr val="000000"/>
                </a:solidFill>
                <a:latin typeface="Inter" pitchFamily="34" charset="0"/>
                <a:ea typeface="Inter" pitchFamily="34" charset="-122"/>
                <a:cs typeface="Inter" pitchFamily="34" charset="-120"/>
              </a:rPr>
            </a:br>
            <a:endParaRPr lang="en-US" sz="2800" b="1" kern="0" spc="-63" dirty="0">
              <a:solidFill>
                <a:srgbClr val="000000"/>
              </a:solidFill>
              <a:latin typeface="Inter" pitchFamily="34" charset="0"/>
              <a:ea typeface="Inter" pitchFamily="34" charset="-122"/>
              <a:cs typeface="Inter" pitchFamily="34" charset="-120"/>
            </a:endParaRPr>
          </a:p>
          <a:p>
            <a:r>
              <a:rPr lang="en-US" sz="2800" kern="0" spc="-34" dirty="0">
                <a:solidFill>
                  <a:srgbClr val="272525"/>
                </a:solidFill>
                <a:latin typeface="Inter" pitchFamily="34" charset="0"/>
                <a:ea typeface="Inter" pitchFamily="34" charset="-122"/>
                <a:cs typeface="Inter" pitchFamily="34" charset="-120"/>
              </a:rPr>
              <a:t> Virtual product design</a:t>
            </a:r>
          </a:p>
          <a:p>
            <a:r>
              <a:rPr lang="en-US" kern="0" spc="-34" dirty="0">
                <a:solidFill>
                  <a:srgbClr val="272525"/>
                </a:solidFill>
                <a:latin typeface="Inter" pitchFamily="34" charset="0"/>
                <a:ea typeface="Inter" pitchFamily="34" charset="-122"/>
                <a:cs typeface="Inter" pitchFamily="34" charset="-120"/>
              </a:rPr>
              <a:t> S</a:t>
            </a:r>
            <a:r>
              <a:rPr lang="en-US" sz="2800" kern="0" spc="-34" dirty="0">
                <a:solidFill>
                  <a:srgbClr val="272525"/>
                </a:solidFill>
                <a:latin typeface="Inter" pitchFamily="34" charset="0"/>
                <a:ea typeface="Inter" pitchFamily="34" charset="-122"/>
                <a:cs typeface="Inter" pitchFamily="34" charset="-120"/>
              </a:rPr>
              <a:t>imulation</a:t>
            </a:r>
          </a:p>
          <a:p>
            <a:r>
              <a:rPr lang="en-US" kern="0" spc="-34" dirty="0">
                <a:solidFill>
                  <a:srgbClr val="272525"/>
                </a:solidFill>
                <a:latin typeface="Inter" pitchFamily="34" charset="0"/>
                <a:ea typeface="Inter" pitchFamily="34" charset="-122"/>
                <a:cs typeface="Inter" pitchFamily="34" charset="-120"/>
              </a:rPr>
              <a:t> R</a:t>
            </a:r>
            <a:r>
              <a:rPr lang="en-US" sz="2800" kern="0" spc="-34" dirty="0">
                <a:solidFill>
                  <a:srgbClr val="272525"/>
                </a:solidFill>
                <a:latin typeface="Inter" pitchFamily="34" charset="0"/>
                <a:ea typeface="Inter" pitchFamily="34" charset="-122"/>
                <a:cs typeface="Inter" pitchFamily="34" charset="-120"/>
              </a:rPr>
              <a:t>emote assistance</a:t>
            </a:r>
          </a:p>
          <a:p>
            <a:r>
              <a:rPr lang="en-US" sz="2800" kern="0" spc="-34" dirty="0">
                <a:solidFill>
                  <a:srgbClr val="272525"/>
                </a:solidFill>
                <a:latin typeface="Inter" pitchFamily="34" charset="0"/>
                <a:ea typeface="Inter" pitchFamily="34" charset="-122"/>
                <a:cs typeface="Inter" pitchFamily="34" charset="-120"/>
              </a:rPr>
              <a:t> </a:t>
            </a:r>
            <a:r>
              <a:rPr lang="en-US" kern="0" spc="-34" dirty="0">
                <a:solidFill>
                  <a:srgbClr val="272525"/>
                </a:solidFill>
                <a:latin typeface="Inter" pitchFamily="34" charset="0"/>
                <a:ea typeface="Inter" pitchFamily="34" charset="-122"/>
                <a:cs typeface="Inter" pitchFamily="34" charset="-120"/>
              </a:rPr>
              <a:t>V</a:t>
            </a:r>
            <a:r>
              <a:rPr lang="en-US" sz="2800" kern="0" spc="-34" dirty="0">
                <a:solidFill>
                  <a:srgbClr val="272525"/>
                </a:solidFill>
                <a:latin typeface="Inter" pitchFamily="34" charset="0"/>
                <a:ea typeface="Inter" pitchFamily="34" charset="-122"/>
                <a:cs typeface="Inter" pitchFamily="34" charset="-120"/>
              </a:rPr>
              <a:t>irtual desktops</a:t>
            </a:r>
          </a:p>
          <a:p>
            <a:r>
              <a:rPr lang="en-US" sz="2800" kern="0" spc="-34" dirty="0">
                <a:solidFill>
                  <a:srgbClr val="272525"/>
                </a:solidFill>
                <a:latin typeface="Inter" pitchFamily="34" charset="0"/>
                <a:ea typeface="Inter" pitchFamily="34" charset="-122"/>
                <a:cs typeface="Inter" pitchFamily="34" charset="-120"/>
              </a:rPr>
              <a:t> Entertainment.</a:t>
            </a:r>
            <a:endParaRPr lang="en-US" sz="2800" dirty="0"/>
          </a:p>
          <a:p>
            <a:pPr marL="0" indent="0">
              <a:buNone/>
            </a:pPr>
            <a:endParaRPr lang="en-US" sz="2800" dirty="0"/>
          </a:p>
          <a:p>
            <a:endParaRPr lang="en-IN" dirty="0"/>
          </a:p>
        </p:txBody>
      </p:sp>
      <p:sp>
        <p:nvSpPr>
          <p:cNvPr id="4" name="Content Placeholder 3">
            <a:extLst>
              <a:ext uri="{FF2B5EF4-FFF2-40B4-BE49-F238E27FC236}">
                <a16:creationId xmlns="" xmlns:a16="http://schemas.microsoft.com/office/drawing/2014/main" id="{74ED7F67-9958-0869-99E9-CEEED6CFF994}"/>
              </a:ext>
            </a:extLst>
          </p:cNvPr>
          <p:cNvSpPr>
            <a:spLocks noGrp="1"/>
          </p:cNvSpPr>
          <p:nvPr>
            <p:ph sz="half" idx="2"/>
          </p:nvPr>
        </p:nvSpPr>
        <p:spPr/>
        <p:txBody>
          <a:bodyPr/>
          <a:lstStyle/>
          <a:p>
            <a:pPr marL="0" indent="0">
              <a:buNone/>
            </a:pPr>
            <a:r>
              <a:rPr lang="en-US" sz="2800" b="1" kern="0" spc="-63" dirty="0">
                <a:solidFill>
                  <a:srgbClr val="000000"/>
                </a:solidFill>
                <a:latin typeface="Inter" pitchFamily="34" charset="0"/>
                <a:ea typeface="Inter" pitchFamily="34" charset="-122"/>
                <a:cs typeface="Inter" pitchFamily="34" charset="-120"/>
              </a:rPr>
              <a:t>Benefits of AV:</a:t>
            </a:r>
          </a:p>
          <a:p>
            <a:r>
              <a:rPr lang="en-US" sz="2800" kern="0" spc="-34" dirty="0">
                <a:solidFill>
                  <a:srgbClr val="272525"/>
                </a:solidFill>
                <a:latin typeface="Inter" pitchFamily="34" charset="0"/>
                <a:ea typeface="Inter" pitchFamily="34" charset="-122"/>
                <a:cs typeface="Inter" pitchFamily="34" charset="-120"/>
              </a:rPr>
              <a:t>Enhanced visualization</a:t>
            </a:r>
          </a:p>
          <a:p>
            <a:r>
              <a:rPr lang="en-US" sz="2800" kern="0" spc="-34" dirty="0">
                <a:solidFill>
                  <a:srgbClr val="272525"/>
                </a:solidFill>
                <a:latin typeface="Inter" pitchFamily="34" charset="0"/>
                <a:ea typeface="Inter" pitchFamily="34" charset="-122"/>
                <a:cs typeface="Inter" pitchFamily="34" charset="-120"/>
              </a:rPr>
              <a:t>3D modeling</a:t>
            </a:r>
          </a:p>
          <a:p>
            <a:r>
              <a:rPr lang="en-US" kern="0" spc="-34" dirty="0">
                <a:solidFill>
                  <a:srgbClr val="272525"/>
                </a:solidFill>
                <a:latin typeface="Inter" pitchFamily="34" charset="0"/>
                <a:ea typeface="Inter" pitchFamily="34" charset="-122"/>
                <a:cs typeface="Inter" pitchFamily="34" charset="-120"/>
              </a:rPr>
              <a:t>A</a:t>
            </a:r>
            <a:r>
              <a:rPr lang="en-US" sz="2800" kern="0" spc="-34" dirty="0">
                <a:solidFill>
                  <a:srgbClr val="272525"/>
                </a:solidFill>
                <a:latin typeface="Inter" pitchFamily="34" charset="0"/>
                <a:ea typeface="Inter" pitchFamily="34" charset="-122"/>
                <a:cs typeface="Inter" pitchFamily="34" charset="-120"/>
              </a:rPr>
              <a:t>ccurate product design </a:t>
            </a:r>
            <a:endParaRPr lang="en-US" kern="0" spc="-34" dirty="0">
              <a:solidFill>
                <a:srgbClr val="272525"/>
              </a:solidFill>
              <a:latin typeface="Inter" pitchFamily="34" charset="0"/>
              <a:ea typeface="Inter" pitchFamily="34" charset="-122"/>
              <a:cs typeface="Inter" pitchFamily="34" charset="-120"/>
            </a:endParaRPr>
          </a:p>
          <a:p>
            <a:r>
              <a:rPr lang="en-US" kern="0" spc="-34" dirty="0">
                <a:solidFill>
                  <a:srgbClr val="272525"/>
                </a:solidFill>
                <a:latin typeface="Inter" pitchFamily="34" charset="0"/>
                <a:ea typeface="Inter" pitchFamily="34" charset="-122"/>
                <a:cs typeface="Inter" pitchFamily="34" charset="-120"/>
              </a:rPr>
              <a:t>P</a:t>
            </a:r>
            <a:r>
              <a:rPr lang="en-US" sz="2800" kern="0" spc="-34" dirty="0">
                <a:solidFill>
                  <a:srgbClr val="272525"/>
                </a:solidFill>
                <a:latin typeface="Inter" pitchFamily="34" charset="0"/>
                <a:ea typeface="Inter" pitchFamily="34" charset="-122"/>
                <a:cs typeface="Inter" pitchFamily="34" charset="-120"/>
              </a:rPr>
              <a:t>rototype testing</a:t>
            </a:r>
          </a:p>
          <a:p>
            <a:r>
              <a:rPr lang="en-US" kern="0" spc="-34" dirty="0">
                <a:solidFill>
                  <a:srgbClr val="272525"/>
                </a:solidFill>
                <a:latin typeface="Inter" pitchFamily="34" charset="0"/>
                <a:ea typeface="Inter" pitchFamily="34" charset="-122"/>
                <a:cs typeface="Inter" pitchFamily="34" charset="-120"/>
              </a:rPr>
              <a:t>I</a:t>
            </a:r>
            <a:r>
              <a:rPr lang="en-US" sz="2800" kern="0" spc="-34" dirty="0">
                <a:solidFill>
                  <a:srgbClr val="272525"/>
                </a:solidFill>
                <a:latin typeface="Inter" pitchFamily="34" charset="0"/>
                <a:ea typeface="Inter" pitchFamily="34" charset="-122"/>
                <a:cs typeface="Inter" pitchFamily="34" charset="-120"/>
              </a:rPr>
              <a:t>mproved remote collaboration</a:t>
            </a:r>
          </a:p>
          <a:p>
            <a:r>
              <a:rPr lang="en-US" sz="2800" kern="0" spc="-34" dirty="0">
                <a:solidFill>
                  <a:srgbClr val="272525"/>
                </a:solidFill>
                <a:latin typeface="Inter" pitchFamily="34" charset="0"/>
                <a:ea typeface="Inter" pitchFamily="34" charset="-122"/>
                <a:cs typeface="Inter" pitchFamily="34" charset="-120"/>
              </a:rPr>
              <a:t>Better training outcomes.</a:t>
            </a:r>
            <a:endParaRPr lang="en-US" sz="2800" dirty="0"/>
          </a:p>
          <a:p>
            <a:pPr marL="0" indent="0">
              <a:buNone/>
            </a:pPr>
            <a:endParaRPr lang="en-US" sz="2800" dirty="0"/>
          </a:p>
          <a:p>
            <a:endParaRPr lang="en-IN" dirty="0"/>
          </a:p>
        </p:txBody>
      </p:sp>
    </p:spTree>
    <p:extLst>
      <p:ext uri="{BB962C8B-B14F-4D97-AF65-F5344CB8AC3E}">
        <p14:creationId xmlns="" xmlns:p14="http://schemas.microsoft.com/office/powerpoint/2010/main" val="695722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76CE07-98B5-F2F9-B428-425704937023}"/>
              </a:ext>
            </a:extLst>
          </p:cNvPr>
          <p:cNvSpPr>
            <a:spLocks noGrp="1"/>
          </p:cNvSpPr>
          <p:nvPr>
            <p:ph type="title"/>
          </p:nvPr>
        </p:nvSpPr>
        <p:spPr/>
        <p:txBody>
          <a:bodyPr/>
          <a:lstStyle/>
          <a:p>
            <a:r>
              <a:rPr lang="en-IN" b="1" dirty="0">
                <a:solidFill>
                  <a:srgbClr val="FF0000"/>
                </a:solidFill>
              </a:rPr>
              <a:t>Extended Virtuality</a:t>
            </a:r>
          </a:p>
        </p:txBody>
      </p:sp>
      <p:sp>
        <p:nvSpPr>
          <p:cNvPr id="3" name="Content Placeholder 2">
            <a:extLst>
              <a:ext uri="{FF2B5EF4-FFF2-40B4-BE49-F238E27FC236}">
                <a16:creationId xmlns="" xmlns:a16="http://schemas.microsoft.com/office/drawing/2014/main" id="{7CF12025-1C26-8D7B-996E-388A32364B9E}"/>
              </a:ext>
            </a:extLst>
          </p:cNvPr>
          <p:cNvSpPr>
            <a:spLocks noGrp="1"/>
          </p:cNvSpPr>
          <p:nvPr>
            <p:ph sz="half" idx="1"/>
          </p:nvPr>
        </p:nvSpPr>
        <p:spPr/>
        <p:txBody>
          <a:bodyPr>
            <a:normAutofit fontScale="85000" lnSpcReduction="20000"/>
          </a:bodyPr>
          <a:lstStyle/>
          <a:p>
            <a:pPr marL="0" indent="0" algn="just">
              <a:buNone/>
            </a:pPr>
            <a:r>
              <a:rPr lang="en-US" dirty="0"/>
              <a:t>Extended reality (XR) is an umbrella term that encompasses all forms of immersive technologies, including virtual reality (VR), augmented reality (AR), and mixed reality (MR). XR is the next step in the evolution of human-computer interaction, as it allows users to interact with digital content in a more natural and intuitive way. Unlike traditional computing interfaces, which require users to interact with screens and keyboards, XR enables users to interact with digital content in the same way they would interact with the physical world.</a:t>
            </a:r>
            <a:endParaRPr lang="en-IN" dirty="0"/>
          </a:p>
        </p:txBody>
      </p:sp>
      <p:pic>
        <p:nvPicPr>
          <p:cNvPr id="6" name="Content Placeholder 5">
            <a:extLst>
              <a:ext uri="{FF2B5EF4-FFF2-40B4-BE49-F238E27FC236}">
                <a16:creationId xmlns="" xmlns:a16="http://schemas.microsoft.com/office/drawing/2014/main" id="{EC1AB82D-3F16-23DC-6999-7D6DDB36C7D8}"/>
              </a:ext>
            </a:extLst>
          </p:cNvPr>
          <p:cNvPicPr>
            <a:picLocks noGrp="1" noChangeAspect="1"/>
          </p:cNvPicPr>
          <p:nvPr>
            <p:ph sz="half" idx="2"/>
          </p:nvPr>
        </p:nvPicPr>
        <p:blipFill>
          <a:blip r:embed="rId2">
            <a:extLst>
              <a:ext uri="{28A0092B-C50C-407E-A947-70E740481C1C}">
                <a14:useLocalDpi xmlns="" xmlns:a14="http://schemas.microsoft.com/office/drawing/2010/main" val="0"/>
              </a:ext>
            </a:extLst>
          </a:blip>
          <a:stretch>
            <a:fillRect/>
          </a:stretch>
        </p:blipFill>
        <p:spPr>
          <a:xfrm>
            <a:off x="6663531" y="1349375"/>
            <a:ext cx="4351338" cy="43513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4186741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76F819-0FCA-7B3F-649D-90B626FCCDD7}"/>
              </a:ext>
            </a:extLst>
          </p:cNvPr>
          <p:cNvSpPr>
            <a:spLocks noGrp="1"/>
          </p:cNvSpPr>
          <p:nvPr>
            <p:ph type="title"/>
          </p:nvPr>
        </p:nvSpPr>
        <p:spPr>
          <a:xfrm>
            <a:off x="0" y="1"/>
            <a:ext cx="6686550" cy="914399"/>
          </a:xfrm>
        </p:spPr>
        <p:txBody>
          <a:bodyPr/>
          <a:lstStyle/>
          <a:p>
            <a:r>
              <a:rPr lang="en-IN" b="1" dirty="0">
                <a:solidFill>
                  <a:srgbClr val="FF0000"/>
                </a:solidFill>
              </a:rPr>
              <a:t>Types of Extended Virtuality</a:t>
            </a:r>
          </a:p>
        </p:txBody>
      </p:sp>
      <p:sp>
        <p:nvSpPr>
          <p:cNvPr id="4" name="Content Placeholder 3">
            <a:extLst>
              <a:ext uri="{FF2B5EF4-FFF2-40B4-BE49-F238E27FC236}">
                <a16:creationId xmlns="" xmlns:a16="http://schemas.microsoft.com/office/drawing/2014/main" id="{42957BEF-4152-49C3-1EE7-C6A42E1A774A}"/>
              </a:ext>
            </a:extLst>
          </p:cNvPr>
          <p:cNvSpPr>
            <a:spLocks noGrp="1"/>
          </p:cNvSpPr>
          <p:nvPr>
            <p:ph sz="half" idx="2"/>
          </p:nvPr>
        </p:nvSpPr>
        <p:spPr>
          <a:xfrm>
            <a:off x="0" y="1209675"/>
            <a:ext cx="12172950" cy="5648324"/>
          </a:xfrm>
        </p:spPr>
        <p:txBody>
          <a:bodyPr>
            <a:normAutofit lnSpcReduction="10000"/>
          </a:bodyPr>
          <a:lstStyle/>
          <a:p>
            <a:pPr marL="0" indent="0" algn="just">
              <a:buNone/>
            </a:pPr>
            <a:r>
              <a:rPr lang="en-US" sz="2800" kern="0" spc="-35" dirty="0">
                <a:solidFill>
                  <a:srgbClr val="272525"/>
                </a:solidFill>
                <a:latin typeface="Inter" pitchFamily="34" charset="0"/>
                <a:ea typeface="Inter" pitchFamily="34" charset="-122"/>
                <a:cs typeface="Inter" pitchFamily="34" charset="-120"/>
              </a:rPr>
              <a:t>There are several types of XR, each with its own characteristics and applications:</a:t>
            </a:r>
          </a:p>
          <a:p>
            <a:pPr marL="0" indent="0" algn="just">
              <a:buNone/>
            </a:pPr>
            <a:endParaRPr lang="en-US" sz="1000" dirty="0"/>
          </a:p>
          <a:p>
            <a:pPr algn="just"/>
            <a:r>
              <a:rPr lang="en-US" sz="2400" b="1" kern="0" spc="-35" dirty="0">
                <a:solidFill>
                  <a:srgbClr val="272525"/>
                </a:solidFill>
                <a:latin typeface="Inter" pitchFamily="34" charset="0"/>
                <a:ea typeface="Inter" pitchFamily="34" charset="-122"/>
                <a:cs typeface="Inter" pitchFamily="34" charset="-120"/>
              </a:rPr>
              <a:t>Virtual Reality (VR):</a:t>
            </a:r>
            <a:r>
              <a:rPr lang="en-US" sz="2400" kern="0" spc="-35" dirty="0">
                <a:solidFill>
                  <a:srgbClr val="272525"/>
                </a:solidFill>
                <a:latin typeface="Inter" pitchFamily="34" charset="0"/>
                <a:ea typeface="Inter" pitchFamily="34" charset="-122"/>
                <a:cs typeface="Inter" pitchFamily="34" charset="-120"/>
              </a:rPr>
              <a:t> This type of XR involves the use of a headset or other device to immerse the user in a completely virtual environment. Users can interact with the virtual world using specialized input devices such as VR controllers.</a:t>
            </a:r>
            <a:endParaRPr lang="en-US" sz="2400" dirty="0"/>
          </a:p>
          <a:p>
            <a:pPr algn="just"/>
            <a:r>
              <a:rPr lang="en-US" sz="2400" b="1" kern="0" spc="-35" dirty="0">
                <a:solidFill>
                  <a:srgbClr val="272525"/>
                </a:solidFill>
                <a:latin typeface="Inter" pitchFamily="34" charset="0"/>
                <a:ea typeface="Inter" pitchFamily="34" charset="-122"/>
                <a:cs typeface="Inter" pitchFamily="34" charset="-120"/>
              </a:rPr>
              <a:t>Augmented Reality (AR):</a:t>
            </a:r>
            <a:r>
              <a:rPr lang="en-US" sz="2400" kern="0" spc="-35" dirty="0">
                <a:solidFill>
                  <a:srgbClr val="272525"/>
                </a:solidFill>
                <a:latin typeface="Inter" pitchFamily="34" charset="0"/>
                <a:ea typeface="Inter" pitchFamily="34" charset="-122"/>
                <a:cs typeface="Inter" pitchFamily="34" charset="-120"/>
              </a:rPr>
              <a:t> This type of XR involves overlaying digital information onto the real world, often through the use of a smartphone or tablet. AR can be used for a variety of applications, including gaming, navigation, and advertising.</a:t>
            </a:r>
            <a:endParaRPr lang="en-US" sz="2400" dirty="0"/>
          </a:p>
          <a:p>
            <a:pPr algn="just"/>
            <a:r>
              <a:rPr lang="en-US" sz="2400" b="1" kern="0" spc="-35" dirty="0">
                <a:solidFill>
                  <a:srgbClr val="272525"/>
                </a:solidFill>
                <a:latin typeface="Inter" pitchFamily="34" charset="0"/>
                <a:ea typeface="Inter" pitchFamily="34" charset="-122"/>
                <a:cs typeface="Inter" pitchFamily="34" charset="-120"/>
              </a:rPr>
              <a:t>Mixed Reality (MR):</a:t>
            </a:r>
            <a:r>
              <a:rPr lang="en-US" sz="2400" kern="0" spc="-35" dirty="0">
                <a:solidFill>
                  <a:srgbClr val="272525"/>
                </a:solidFill>
                <a:latin typeface="Inter" pitchFamily="34" charset="0"/>
                <a:ea typeface="Inter" pitchFamily="34" charset="-122"/>
                <a:cs typeface="Inter" pitchFamily="34" charset="-120"/>
              </a:rPr>
              <a:t> This type of XR involves blending virtual and real-world elements to create a seamless, interactive experience. MR is often used for applications such as training and simulation, where users need to interact with both digital and physical objects.</a:t>
            </a:r>
          </a:p>
          <a:p>
            <a:pPr algn="just"/>
            <a:r>
              <a:rPr lang="en-US" sz="2400" b="1" kern="0" spc="-35" dirty="0">
                <a:solidFill>
                  <a:srgbClr val="272525"/>
                </a:solidFill>
                <a:latin typeface="Inter" pitchFamily="34" charset="0"/>
                <a:ea typeface="Inter" pitchFamily="34" charset="-122"/>
                <a:cs typeface="Inter" pitchFamily="34" charset="-120"/>
              </a:rPr>
              <a:t>Extended Reality (XR):</a:t>
            </a:r>
            <a:r>
              <a:rPr lang="en-US" sz="2400" kern="0" spc="-35" dirty="0">
                <a:solidFill>
                  <a:srgbClr val="272525"/>
                </a:solidFill>
                <a:latin typeface="Inter" pitchFamily="34" charset="0"/>
                <a:ea typeface="Inter" pitchFamily="34" charset="-122"/>
                <a:cs typeface="Inter" pitchFamily="34" charset="-120"/>
              </a:rPr>
              <a:t> This is the broadest category of XR, encompassing all types of immersive technologies that extend beyond traditional computer interfaces. XR is often used as a catch-all term to refer to immersive technologies in general.</a:t>
            </a:r>
            <a:endParaRPr lang="en-US" sz="2400" dirty="0"/>
          </a:p>
          <a:p>
            <a:endParaRPr lang="en-US" sz="2400" dirty="0"/>
          </a:p>
          <a:p>
            <a:endParaRPr lang="en-IN" dirty="0"/>
          </a:p>
        </p:txBody>
      </p:sp>
    </p:spTree>
    <p:extLst>
      <p:ext uri="{BB962C8B-B14F-4D97-AF65-F5344CB8AC3E}">
        <p14:creationId xmlns="" xmlns:p14="http://schemas.microsoft.com/office/powerpoint/2010/main" val="1413683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3145F3B-1E2E-3CE0-45B2-BCF9EB795E8D}"/>
              </a:ext>
            </a:extLst>
          </p:cNvPr>
          <p:cNvSpPr>
            <a:spLocks noGrp="1"/>
          </p:cNvSpPr>
          <p:nvPr>
            <p:ph idx="1"/>
          </p:nvPr>
        </p:nvSpPr>
        <p:spPr>
          <a:xfrm>
            <a:off x="0" y="1325563"/>
            <a:ext cx="12192000" cy="5532437"/>
          </a:xfrm>
        </p:spPr>
        <p:txBody>
          <a:bodyPr>
            <a:normAutofit fontScale="92500" lnSpcReduction="10000"/>
          </a:bodyPr>
          <a:lstStyle/>
          <a:p>
            <a:pPr marL="0" indent="0">
              <a:buNone/>
            </a:pPr>
            <a:r>
              <a:rPr lang="en-US" sz="3600" kern="0" spc="-35" dirty="0">
                <a:solidFill>
                  <a:srgbClr val="FF0000"/>
                </a:solidFill>
                <a:latin typeface="Inter" pitchFamily="34" charset="0"/>
                <a:ea typeface="Inter" pitchFamily="34" charset="-122"/>
                <a:cs typeface="Inter" pitchFamily="34" charset="-120"/>
              </a:rPr>
              <a:t>Gaming</a:t>
            </a:r>
            <a:r>
              <a:rPr lang="en-US" sz="3600" b="1" i="1" u="sng" kern="0" spc="-35" dirty="0">
                <a:solidFill>
                  <a:srgbClr val="FF0000"/>
                </a:solidFill>
                <a:latin typeface="Inter" pitchFamily="34" charset="0"/>
                <a:ea typeface="Inter" pitchFamily="34" charset="-122"/>
                <a:cs typeface="Inter" pitchFamily="34" charset="-120"/>
              </a:rPr>
              <a:t>:</a:t>
            </a:r>
            <a:endParaRPr lang="en-US" sz="2000" b="1" kern="0" spc="-35" dirty="0">
              <a:solidFill>
                <a:srgbClr val="272525"/>
              </a:solidFill>
              <a:latin typeface="Inter" pitchFamily="34" charset="0"/>
              <a:ea typeface="Inter" pitchFamily="34" charset="-122"/>
              <a:cs typeface="Inter" pitchFamily="34" charset="-120"/>
            </a:endParaRPr>
          </a:p>
          <a:p>
            <a:pPr algn="just"/>
            <a:r>
              <a:rPr lang="en-US" b="1" kern="0" spc="-35" dirty="0">
                <a:solidFill>
                  <a:srgbClr val="272525"/>
                </a:solidFill>
                <a:latin typeface="Inter" pitchFamily="34" charset="0"/>
                <a:ea typeface="Inter" pitchFamily="34" charset="-122"/>
                <a:cs typeface="Inter" pitchFamily="34" charset="-120"/>
              </a:rPr>
              <a:t>VR Gaming:</a:t>
            </a:r>
            <a:r>
              <a:rPr lang="en-US" kern="0" spc="-35" dirty="0">
                <a:solidFill>
                  <a:srgbClr val="272525"/>
                </a:solidFill>
                <a:latin typeface="Inter" pitchFamily="34" charset="0"/>
                <a:ea typeface="Inter" pitchFamily="34" charset="-122"/>
                <a:cs typeface="Inter" pitchFamily="34" charset="-120"/>
              </a:rPr>
              <a:t> VR can be used to create immersive gaming experiences that fully transport the player into a virtual world. Games such as Beat Saber, Job Simulator, and Superhot VR have received critical acclaim for their innovative use of VR technology.</a:t>
            </a:r>
            <a:endParaRPr lang="en-US" b="1" kern="0" spc="-35" dirty="0">
              <a:solidFill>
                <a:srgbClr val="272525"/>
              </a:solidFill>
              <a:latin typeface="Inter" pitchFamily="34" charset="0"/>
              <a:ea typeface="Inter" pitchFamily="34" charset="-122"/>
              <a:cs typeface="Inter" pitchFamily="34" charset="-120"/>
            </a:endParaRPr>
          </a:p>
          <a:p>
            <a:pPr algn="just"/>
            <a:r>
              <a:rPr lang="en-US" b="1" kern="0" spc="-35" dirty="0">
                <a:solidFill>
                  <a:srgbClr val="272525"/>
                </a:solidFill>
                <a:latin typeface="Inter" pitchFamily="34" charset="0"/>
                <a:ea typeface="Inter" pitchFamily="34" charset="-122"/>
                <a:cs typeface="Inter" pitchFamily="34" charset="-120"/>
              </a:rPr>
              <a:t>Theme Parks:</a:t>
            </a:r>
            <a:r>
              <a:rPr lang="en-US" kern="0" spc="-35" dirty="0">
                <a:solidFill>
                  <a:srgbClr val="272525"/>
                </a:solidFill>
                <a:latin typeface="Inter" pitchFamily="34" charset="0"/>
                <a:ea typeface="Inter" pitchFamily="34" charset="-122"/>
                <a:cs typeface="Inter" pitchFamily="34" charset="-120"/>
              </a:rPr>
              <a:t> Theme parks such as Disney World and Universal Studios have begun incorporating XR technology into their attractions. For example, the Harry Potter and the Forbidden Journey ride at Universal Studios uses a combination of screens, animatronics, and practical effects to create an immersive experience for riders.</a:t>
            </a:r>
            <a:endParaRPr lang="en-US" dirty="0"/>
          </a:p>
          <a:p>
            <a:pPr algn="just"/>
            <a:r>
              <a:rPr lang="en-US" b="1" kern="0" spc="-35" dirty="0">
                <a:solidFill>
                  <a:srgbClr val="272525"/>
                </a:solidFill>
                <a:latin typeface="Inter" pitchFamily="34" charset="0"/>
                <a:ea typeface="Inter" pitchFamily="34" charset="-122"/>
                <a:cs typeface="Inter" pitchFamily="34" charset="-120"/>
              </a:rPr>
              <a:t>Virtual Concerts:</a:t>
            </a:r>
            <a:r>
              <a:rPr lang="en-US" kern="0" spc="-35" dirty="0">
                <a:solidFill>
                  <a:srgbClr val="272525"/>
                </a:solidFill>
                <a:latin typeface="Inter" pitchFamily="34" charset="0"/>
                <a:ea typeface="Inter" pitchFamily="34" charset="-122"/>
                <a:cs typeface="Inter" pitchFamily="34" charset="-120"/>
              </a:rPr>
              <a:t> In the wake of the COVID-19 pandemic, many musicians and performers have turned to XR technology to create virtual concerts that can be experienced from anywhere in the world. Artists such as Travis Scott, John Legend, and The </a:t>
            </a:r>
            <a:r>
              <a:rPr lang="en-US" kern="0" spc="-35" dirty="0" err="1">
                <a:solidFill>
                  <a:srgbClr val="272525"/>
                </a:solidFill>
                <a:latin typeface="Inter" pitchFamily="34" charset="0"/>
                <a:ea typeface="Inter" pitchFamily="34" charset="-122"/>
                <a:cs typeface="Inter" pitchFamily="34" charset="-120"/>
              </a:rPr>
              <a:t>Weeknd</a:t>
            </a:r>
            <a:r>
              <a:rPr lang="en-US" kern="0" spc="-35" dirty="0">
                <a:solidFill>
                  <a:srgbClr val="272525"/>
                </a:solidFill>
                <a:latin typeface="Inter" pitchFamily="34" charset="0"/>
                <a:ea typeface="Inter" pitchFamily="34" charset="-122"/>
                <a:cs typeface="Inter" pitchFamily="34" charset="-120"/>
              </a:rPr>
              <a:t> have all held virtual concerts using XR technology.</a:t>
            </a:r>
            <a:endParaRPr lang="en-US" dirty="0"/>
          </a:p>
          <a:p>
            <a:endParaRPr lang="en-IN" dirty="0"/>
          </a:p>
        </p:txBody>
      </p:sp>
      <p:sp>
        <p:nvSpPr>
          <p:cNvPr id="5" name="Title 4">
            <a:extLst>
              <a:ext uri="{FF2B5EF4-FFF2-40B4-BE49-F238E27FC236}">
                <a16:creationId xmlns="" xmlns:a16="http://schemas.microsoft.com/office/drawing/2014/main" id="{9A7E30CF-9574-4587-4C81-CC1876320AB2}"/>
              </a:ext>
            </a:extLst>
          </p:cNvPr>
          <p:cNvSpPr>
            <a:spLocks noGrp="1"/>
          </p:cNvSpPr>
          <p:nvPr>
            <p:ph type="title"/>
          </p:nvPr>
        </p:nvSpPr>
        <p:spPr>
          <a:xfrm>
            <a:off x="0" y="0"/>
            <a:ext cx="10515600" cy="1325563"/>
          </a:xfrm>
        </p:spPr>
        <p:txBody>
          <a:bodyPr/>
          <a:lstStyle/>
          <a:p>
            <a:r>
              <a:rPr lang="en-IN" sz="4400" b="1" dirty="0">
                <a:solidFill>
                  <a:srgbClr val="FF0000"/>
                </a:solidFill>
              </a:rPr>
              <a:t>Applications of Extended Reality:</a:t>
            </a:r>
            <a:endParaRPr lang="en-IN" b="1" dirty="0"/>
          </a:p>
        </p:txBody>
      </p:sp>
    </p:spTree>
    <p:extLst>
      <p:ext uri="{BB962C8B-B14F-4D97-AF65-F5344CB8AC3E}">
        <p14:creationId xmlns="" xmlns:p14="http://schemas.microsoft.com/office/powerpoint/2010/main" val="3319513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D0F4BEB-8430-979F-3E5B-0700E114B583}"/>
              </a:ext>
            </a:extLst>
          </p:cNvPr>
          <p:cNvSpPr>
            <a:spLocks noGrp="1"/>
          </p:cNvSpPr>
          <p:nvPr>
            <p:ph idx="1"/>
          </p:nvPr>
        </p:nvSpPr>
        <p:spPr>
          <a:xfrm>
            <a:off x="0" y="1"/>
            <a:ext cx="12192000" cy="6858000"/>
          </a:xfrm>
        </p:spPr>
        <p:txBody>
          <a:bodyPr>
            <a:normAutofit fontScale="77500" lnSpcReduction="20000"/>
          </a:bodyPr>
          <a:lstStyle/>
          <a:p>
            <a:pPr marL="0" indent="0">
              <a:buNone/>
            </a:pPr>
            <a:r>
              <a:rPr lang="en-IN" sz="4000" dirty="0">
                <a:solidFill>
                  <a:srgbClr val="FF0000"/>
                </a:solidFill>
                <a:latin typeface="Inter"/>
              </a:rPr>
              <a:t>Education and training:</a:t>
            </a:r>
          </a:p>
          <a:p>
            <a:r>
              <a:rPr lang="en-IN" dirty="0"/>
              <a:t>Medical Training </a:t>
            </a:r>
            <a:r>
              <a:rPr lang="en-US" b="1" kern="0" spc="-35" dirty="0">
                <a:solidFill>
                  <a:srgbClr val="272525"/>
                </a:solidFill>
                <a:latin typeface="Inter" pitchFamily="34" charset="0"/>
                <a:ea typeface="Inter" pitchFamily="34" charset="-122"/>
                <a:cs typeface="Inter" pitchFamily="34" charset="-120"/>
              </a:rPr>
              <a:t>:</a:t>
            </a:r>
            <a:r>
              <a:rPr lang="en-US" kern="0" spc="-35" dirty="0">
                <a:solidFill>
                  <a:srgbClr val="272525"/>
                </a:solidFill>
                <a:latin typeface="Inter" pitchFamily="34" charset="0"/>
                <a:ea typeface="Inter" pitchFamily="34" charset="-122"/>
                <a:cs typeface="Inter" pitchFamily="34" charset="-120"/>
              </a:rPr>
              <a:t> XR can be used to create realistic simulations of medical procedures, allowing students to practice in a safe and controlled environment</a:t>
            </a:r>
            <a:endParaRPr lang="en-IN" dirty="0"/>
          </a:p>
          <a:p>
            <a:r>
              <a:rPr lang="en-IN" dirty="0"/>
              <a:t>Flight Training:</a:t>
            </a:r>
            <a:r>
              <a:rPr lang="en-US" b="1" kern="0" spc="-35" dirty="0">
                <a:solidFill>
                  <a:srgbClr val="272525"/>
                </a:solidFill>
                <a:latin typeface="Inter" pitchFamily="34" charset="0"/>
                <a:ea typeface="Inter" pitchFamily="34" charset="-122"/>
                <a:cs typeface="Inter" pitchFamily="34" charset="-120"/>
              </a:rPr>
              <a:t> :</a:t>
            </a:r>
            <a:r>
              <a:rPr lang="en-US" kern="0" spc="-35" dirty="0">
                <a:solidFill>
                  <a:srgbClr val="272525"/>
                </a:solidFill>
                <a:latin typeface="Inter" pitchFamily="34" charset="0"/>
                <a:ea typeface="Inter" pitchFamily="34" charset="-122"/>
                <a:cs typeface="Inter" pitchFamily="34" charset="-120"/>
              </a:rPr>
              <a:t> XR can be used to create realistic simulations of medical procedures, allowing students to practice in a safe and controlled environment</a:t>
            </a:r>
            <a:endParaRPr lang="en-IN" dirty="0"/>
          </a:p>
          <a:p>
            <a:r>
              <a:rPr lang="en-IN" dirty="0"/>
              <a:t>Military Training:</a:t>
            </a:r>
            <a:r>
              <a:rPr lang="en-US" sz="2800" kern="0" spc="-35" dirty="0">
                <a:solidFill>
                  <a:srgbClr val="272525"/>
                </a:solidFill>
                <a:latin typeface="Inter" pitchFamily="34" charset="0"/>
                <a:ea typeface="Inter" pitchFamily="34" charset="-122"/>
                <a:cs typeface="Inter" pitchFamily="34" charset="-120"/>
              </a:rPr>
              <a:t> XR can be used to create realistic simulations of combat scenarios, allowing soldiers to train in a safe and controlled environment. </a:t>
            </a:r>
            <a:endParaRPr lang="en-IN" dirty="0"/>
          </a:p>
          <a:p>
            <a:pPr marL="0" indent="0">
              <a:buNone/>
            </a:pPr>
            <a:r>
              <a:rPr lang="en-IN" sz="3600" dirty="0">
                <a:solidFill>
                  <a:srgbClr val="FF0000"/>
                </a:solidFill>
                <a:latin typeface="Inter"/>
              </a:rPr>
              <a:t>Architecture and Design:</a:t>
            </a:r>
          </a:p>
          <a:p>
            <a:r>
              <a:rPr lang="en-IN" dirty="0">
                <a:latin typeface="Inter"/>
              </a:rPr>
              <a:t>Industrial design</a:t>
            </a:r>
            <a:r>
              <a:rPr lang="en-US" sz="2800" b="1" kern="0" spc="-35" dirty="0">
                <a:solidFill>
                  <a:srgbClr val="272525"/>
                </a:solidFill>
                <a:latin typeface="Inter" pitchFamily="34" charset="0"/>
                <a:ea typeface="Inter" pitchFamily="34" charset="-122"/>
                <a:cs typeface="Inter" pitchFamily="34" charset="-120"/>
              </a:rPr>
              <a:t> :</a:t>
            </a:r>
            <a:r>
              <a:rPr lang="en-US" sz="2800" kern="0" spc="-35" dirty="0">
                <a:solidFill>
                  <a:srgbClr val="272525"/>
                </a:solidFill>
                <a:latin typeface="Inter" pitchFamily="34" charset="0"/>
                <a:ea typeface="Inter" pitchFamily="34" charset="-122"/>
                <a:cs typeface="Inter" pitchFamily="34" charset="-120"/>
              </a:rPr>
              <a:t> XR can be used to create virtual prototypes of products, allowing designers to explore and refine their designs in a more immersive way. </a:t>
            </a:r>
            <a:endParaRPr lang="en-IN" dirty="0">
              <a:latin typeface="Inter"/>
            </a:endParaRPr>
          </a:p>
          <a:p>
            <a:r>
              <a:rPr lang="en-IN" dirty="0">
                <a:latin typeface="Inter"/>
              </a:rPr>
              <a:t>Real estate:</a:t>
            </a:r>
            <a:r>
              <a:rPr lang="en-US" sz="2800" kern="0" spc="-35" dirty="0">
                <a:solidFill>
                  <a:srgbClr val="272525"/>
                </a:solidFill>
                <a:latin typeface="Inter" pitchFamily="34" charset="0"/>
                <a:ea typeface="Inter" pitchFamily="34" charset="-122"/>
                <a:cs typeface="Inter" pitchFamily="34" charset="-120"/>
              </a:rPr>
              <a:t> XR can be used to create virtual tours of properties, allowing potential buyers to explore a property in a more immersive way. </a:t>
            </a:r>
            <a:endParaRPr lang="en-IN" dirty="0">
              <a:latin typeface="Inter"/>
            </a:endParaRPr>
          </a:p>
          <a:p>
            <a:r>
              <a:rPr lang="en-IN" dirty="0">
                <a:latin typeface="Inter"/>
              </a:rPr>
              <a:t>Architectural visualization:</a:t>
            </a:r>
            <a:r>
              <a:rPr lang="en-US" sz="2800" b="1" kern="0" spc="-35" dirty="0">
                <a:solidFill>
                  <a:srgbClr val="272525"/>
                </a:solidFill>
                <a:latin typeface="Inter" pitchFamily="34" charset="0"/>
                <a:ea typeface="Inter" pitchFamily="34" charset="-122"/>
                <a:cs typeface="Inter" pitchFamily="34" charset="-120"/>
              </a:rPr>
              <a:t> </a:t>
            </a:r>
            <a:r>
              <a:rPr lang="en-US" sz="2800" kern="0" spc="-35" dirty="0">
                <a:solidFill>
                  <a:srgbClr val="272525"/>
                </a:solidFill>
                <a:latin typeface="Inter" pitchFamily="34" charset="0"/>
                <a:ea typeface="Inter" pitchFamily="34" charset="-122"/>
                <a:cs typeface="Inter" pitchFamily="34" charset="-120"/>
              </a:rPr>
              <a:t> XR can be used to create virtual models of buildings and other structures, allowing architects to explore and refine their designs in a more immersive way. </a:t>
            </a:r>
            <a:endParaRPr lang="en-IN" dirty="0">
              <a:latin typeface="Inter"/>
            </a:endParaRPr>
          </a:p>
          <a:p>
            <a:pPr marL="0" indent="0">
              <a:buNone/>
            </a:pPr>
            <a:r>
              <a:rPr lang="en-IN" sz="3600" dirty="0">
                <a:solidFill>
                  <a:srgbClr val="FF0000"/>
                </a:solidFill>
                <a:latin typeface="Inter"/>
              </a:rPr>
              <a:t>Marketing and Advertising:</a:t>
            </a:r>
          </a:p>
          <a:p>
            <a:r>
              <a:rPr lang="en-IN" dirty="0">
                <a:latin typeface="Inter"/>
              </a:rPr>
              <a:t>Product Demonstrations:</a:t>
            </a:r>
            <a:r>
              <a:rPr lang="en-US" sz="2800" b="1" kern="0" spc="-35" dirty="0">
                <a:solidFill>
                  <a:srgbClr val="272525"/>
                </a:solidFill>
                <a:latin typeface="Inter" pitchFamily="34" charset="0"/>
                <a:ea typeface="Inter" pitchFamily="34" charset="-122"/>
                <a:cs typeface="Inter" pitchFamily="34" charset="-120"/>
              </a:rPr>
              <a:t> :</a:t>
            </a:r>
            <a:r>
              <a:rPr lang="en-US" sz="2800" kern="0" spc="-35" dirty="0">
                <a:solidFill>
                  <a:srgbClr val="272525"/>
                </a:solidFill>
                <a:latin typeface="Inter" pitchFamily="34" charset="0"/>
                <a:ea typeface="Inter" pitchFamily="34" charset="-122"/>
                <a:cs typeface="Inter" pitchFamily="34" charset="-120"/>
              </a:rPr>
              <a:t>XR can be used to create interactive product demonstrations that allow consumers to explore a product in a more immersive way.</a:t>
            </a:r>
            <a:endParaRPr lang="en-IN" dirty="0">
              <a:latin typeface="Inter"/>
            </a:endParaRPr>
          </a:p>
          <a:p>
            <a:r>
              <a:rPr lang="en-IN" dirty="0">
                <a:latin typeface="Inter"/>
              </a:rPr>
              <a:t>Brand activations:</a:t>
            </a:r>
            <a:r>
              <a:rPr lang="en-US" sz="2800" b="1" kern="0" spc="-35" dirty="0">
                <a:solidFill>
                  <a:srgbClr val="272525"/>
                </a:solidFill>
                <a:latin typeface="Inter" pitchFamily="34" charset="0"/>
                <a:ea typeface="Inter" pitchFamily="34" charset="-122"/>
                <a:cs typeface="Inter" pitchFamily="34" charset="-120"/>
              </a:rPr>
              <a:t> :</a:t>
            </a:r>
            <a:r>
              <a:rPr lang="en-US" sz="2800" kern="0" spc="-35" dirty="0">
                <a:solidFill>
                  <a:srgbClr val="272525"/>
                </a:solidFill>
                <a:latin typeface="Inter" pitchFamily="34" charset="0"/>
                <a:ea typeface="Inter" pitchFamily="34" charset="-122"/>
                <a:cs typeface="Inter" pitchFamily="34" charset="-120"/>
              </a:rPr>
              <a:t> XR can be used to create immersive brand activations that engage consumers in new ways</a:t>
            </a:r>
            <a:endParaRPr lang="en-IN" dirty="0">
              <a:latin typeface="Inter"/>
            </a:endParaRPr>
          </a:p>
          <a:p>
            <a:r>
              <a:rPr lang="en-IN" dirty="0">
                <a:latin typeface="Inter"/>
              </a:rPr>
              <a:t>Advertising:</a:t>
            </a:r>
            <a:r>
              <a:rPr lang="en-US" sz="2800" kern="0" spc="-35" dirty="0">
                <a:solidFill>
                  <a:srgbClr val="272525"/>
                </a:solidFill>
                <a:latin typeface="Inter" pitchFamily="34" charset="0"/>
                <a:ea typeface="Inter" pitchFamily="34" charset="-122"/>
                <a:cs typeface="Inter" pitchFamily="34" charset="-120"/>
              </a:rPr>
              <a:t> XR can be used to create immersive advertising experiences that allow consumers to interact with a brand in a more engaging way. </a:t>
            </a:r>
            <a:endParaRPr lang="en-IN" dirty="0">
              <a:latin typeface="Inter"/>
            </a:endParaRPr>
          </a:p>
          <a:p>
            <a:pPr marL="0" indent="0">
              <a:buNone/>
            </a:pPr>
            <a:endParaRPr lang="en-IN" sz="3600" dirty="0">
              <a:latin typeface="Inter"/>
            </a:endParaRPr>
          </a:p>
          <a:p>
            <a:pPr marL="0" indent="0">
              <a:buNone/>
            </a:pPr>
            <a:endParaRPr lang="en-IN" dirty="0"/>
          </a:p>
          <a:p>
            <a:pPr marL="0" indent="0">
              <a:buNone/>
            </a:pPr>
            <a:endParaRPr lang="en-IN" dirty="0"/>
          </a:p>
        </p:txBody>
      </p:sp>
    </p:spTree>
    <p:extLst>
      <p:ext uri="{BB962C8B-B14F-4D97-AF65-F5344CB8AC3E}">
        <p14:creationId xmlns="" xmlns:p14="http://schemas.microsoft.com/office/powerpoint/2010/main" val="2826062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0C3243-A82F-C5C6-3FE9-9FA30E92610B}"/>
              </a:ext>
            </a:extLst>
          </p:cNvPr>
          <p:cNvSpPr>
            <a:spLocks noGrp="1"/>
          </p:cNvSpPr>
          <p:nvPr>
            <p:ph type="title"/>
          </p:nvPr>
        </p:nvSpPr>
        <p:spPr>
          <a:xfrm>
            <a:off x="0" y="1"/>
            <a:ext cx="5354320" cy="681036"/>
          </a:xfrm>
        </p:spPr>
        <p:txBody>
          <a:bodyPr>
            <a:normAutofit fontScale="90000"/>
          </a:bodyPr>
          <a:lstStyle/>
          <a:p>
            <a:r>
              <a:rPr lang="en-IN" b="1" dirty="0">
                <a:solidFill>
                  <a:srgbClr val="FF0000"/>
                </a:solidFill>
              </a:rPr>
              <a:t>History of AR &amp; VR:</a:t>
            </a:r>
          </a:p>
        </p:txBody>
      </p:sp>
      <p:sp>
        <p:nvSpPr>
          <p:cNvPr id="3" name="Content Placeholder 2">
            <a:extLst>
              <a:ext uri="{FF2B5EF4-FFF2-40B4-BE49-F238E27FC236}">
                <a16:creationId xmlns="" xmlns:a16="http://schemas.microsoft.com/office/drawing/2014/main" id="{D6CEB37E-F48C-3A7E-4A55-5D8FE3D267F5}"/>
              </a:ext>
            </a:extLst>
          </p:cNvPr>
          <p:cNvSpPr>
            <a:spLocks noGrp="1"/>
          </p:cNvSpPr>
          <p:nvPr>
            <p:ph idx="1"/>
          </p:nvPr>
        </p:nvSpPr>
        <p:spPr>
          <a:xfrm>
            <a:off x="0" y="681037"/>
            <a:ext cx="6604000" cy="5495926"/>
          </a:xfrm>
        </p:spPr>
        <p:txBody>
          <a:bodyPr>
            <a:normAutofit/>
          </a:bodyPr>
          <a:lstStyle/>
          <a:p>
            <a:endParaRPr lang="en-US" sz="2000" kern="0" spc="-35" dirty="0">
              <a:solidFill>
                <a:srgbClr val="272525"/>
              </a:solidFill>
              <a:latin typeface="Inter" pitchFamily="34" charset="0"/>
              <a:ea typeface="Inter" pitchFamily="34" charset="-122"/>
              <a:cs typeface="Inter" pitchFamily="34" charset="-120"/>
            </a:endParaRPr>
          </a:p>
          <a:p>
            <a:r>
              <a:rPr lang="en-US" sz="2000" kern="0" spc="-35" dirty="0">
                <a:solidFill>
                  <a:srgbClr val="272525"/>
                </a:solidFill>
                <a:latin typeface="Inter" pitchFamily="34" charset="0"/>
                <a:ea typeface="Inter" pitchFamily="34" charset="-122"/>
                <a:cs typeface="Inter" pitchFamily="34" charset="-120"/>
              </a:rPr>
              <a:t>Augmented Reality (AR) and Virtual Reality (VR) have been around for decades, but it was only in recent years that they became mainstream technologies.</a:t>
            </a:r>
          </a:p>
          <a:p>
            <a:endParaRPr lang="en-US" sz="2000" dirty="0"/>
          </a:p>
          <a:p>
            <a:r>
              <a:rPr lang="en-US" sz="2000" kern="0" spc="-35" dirty="0">
                <a:solidFill>
                  <a:srgbClr val="272525"/>
                </a:solidFill>
                <a:latin typeface="Inter" pitchFamily="34" charset="0"/>
                <a:ea typeface="Inter" pitchFamily="34" charset="-122"/>
                <a:cs typeface="Inter" pitchFamily="34" charset="-120"/>
              </a:rPr>
              <a:t>The first VR headset was created in the 1960s, but it wasn't until the 1990s that the technology became more affordable and accessible to the public. In the early 2000s, the first AR applications began to emerge, allowing users to overlay information on top of the real world using their mobile devices.</a:t>
            </a:r>
          </a:p>
          <a:p>
            <a:endParaRPr lang="en-US" sz="2000" dirty="0"/>
          </a:p>
          <a:p>
            <a:r>
              <a:rPr lang="en-US" sz="2000" kern="0" spc="-35" dirty="0">
                <a:solidFill>
                  <a:srgbClr val="272525"/>
                </a:solidFill>
                <a:latin typeface="Inter" pitchFamily="34" charset="0"/>
                <a:ea typeface="Inter" pitchFamily="34" charset="-122"/>
                <a:cs typeface="Inter" pitchFamily="34" charset="-120"/>
              </a:rPr>
              <a:t>In 2012, the first modern VR headset, the Oculus Rift, was introduced, which was a major breakthrough for the technology. Since then, both AR and VR have continued to evolve and improve, with more and more applications and use cases emerging every day.</a:t>
            </a:r>
            <a:endParaRPr lang="en-US" sz="2000" dirty="0"/>
          </a:p>
          <a:p>
            <a:endParaRPr lang="en-IN" dirty="0"/>
          </a:p>
        </p:txBody>
      </p:sp>
      <p:pic>
        <p:nvPicPr>
          <p:cNvPr id="5" name="Picture 4">
            <a:extLst>
              <a:ext uri="{FF2B5EF4-FFF2-40B4-BE49-F238E27FC236}">
                <a16:creationId xmlns="" xmlns:a16="http://schemas.microsoft.com/office/drawing/2014/main" id="{DDFEF5FE-B3C7-8463-1269-63FFFC70543C}"/>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944835" y="340519"/>
            <a:ext cx="5247165" cy="52471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1675504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785C578-9DC0-0011-D6B3-75966AB3DA07}"/>
              </a:ext>
            </a:extLst>
          </p:cNvPr>
          <p:cNvSpPr>
            <a:spLocks noGrp="1"/>
          </p:cNvSpPr>
          <p:nvPr>
            <p:ph type="title"/>
          </p:nvPr>
        </p:nvSpPr>
        <p:spPr>
          <a:xfrm>
            <a:off x="15240" y="20637"/>
            <a:ext cx="10515600" cy="1325563"/>
          </a:xfrm>
        </p:spPr>
        <p:txBody>
          <a:bodyPr/>
          <a:lstStyle/>
          <a:p>
            <a:r>
              <a:rPr lang="en-IN" b="1" dirty="0">
                <a:solidFill>
                  <a:srgbClr val="FF0000"/>
                </a:solidFill>
              </a:rPr>
              <a:t>Features of VR:</a:t>
            </a:r>
          </a:p>
        </p:txBody>
      </p:sp>
      <p:sp>
        <p:nvSpPr>
          <p:cNvPr id="3" name="Content Placeholder 2">
            <a:extLst>
              <a:ext uri="{FF2B5EF4-FFF2-40B4-BE49-F238E27FC236}">
                <a16:creationId xmlns="" xmlns:a16="http://schemas.microsoft.com/office/drawing/2014/main" id="{E6123B16-0CB6-8C7C-8C7F-78A79CBB2445}"/>
              </a:ext>
            </a:extLst>
          </p:cNvPr>
          <p:cNvSpPr>
            <a:spLocks noGrp="1"/>
          </p:cNvSpPr>
          <p:nvPr>
            <p:ph idx="1"/>
          </p:nvPr>
        </p:nvSpPr>
        <p:spPr>
          <a:xfrm>
            <a:off x="5146040" y="1151573"/>
            <a:ext cx="6995160" cy="5225415"/>
          </a:xfrm>
        </p:spPr>
        <p:txBody>
          <a:bodyPr>
            <a:normAutofit fontScale="92500" lnSpcReduction="10000"/>
          </a:bodyPr>
          <a:lstStyle/>
          <a:p>
            <a:pPr algn="just"/>
            <a:r>
              <a:rPr lang="en-US" dirty="0"/>
              <a:t>The most important features of VR is its ability to track user movements and adjust the virtual environment accordingly. This allows users to move around and interact with objects in a natural and intuitive way, making the experience much more realistic.</a:t>
            </a:r>
          </a:p>
          <a:p>
            <a:pPr algn="just"/>
            <a:r>
              <a:rPr lang="en-US" dirty="0"/>
              <a:t>Another key feature of VR is its ability to create highly detailed and realistic environments. Modern VR systems use high-fidelity graphics and advanced rendering techniques to create lifelike worlds that are almost indistinguishable from reality. This level of realism allows users to fully immerse themselves in the virtual environment, making it feel like they are actually there.</a:t>
            </a:r>
          </a:p>
          <a:p>
            <a:endParaRPr lang="en-IN" dirty="0"/>
          </a:p>
        </p:txBody>
      </p:sp>
      <p:pic>
        <p:nvPicPr>
          <p:cNvPr id="5" name="Picture 4">
            <a:extLst>
              <a:ext uri="{FF2B5EF4-FFF2-40B4-BE49-F238E27FC236}">
                <a16:creationId xmlns="" xmlns:a16="http://schemas.microsoft.com/office/drawing/2014/main" id="{A2FA8FE2-31D8-D4E4-C40C-5F02D37EE84D}"/>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1051560"/>
            <a:ext cx="5130800" cy="51308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1890489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341B63-1DCD-F5EB-93A9-7DD653D3AB59}"/>
              </a:ext>
            </a:extLst>
          </p:cNvPr>
          <p:cNvSpPr>
            <a:spLocks noGrp="1"/>
          </p:cNvSpPr>
          <p:nvPr>
            <p:ph type="title"/>
          </p:nvPr>
        </p:nvSpPr>
        <p:spPr>
          <a:xfrm>
            <a:off x="45720" y="18255"/>
            <a:ext cx="10515600" cy="1325563"/>
          </a:xfrm>
        </p:spPr>
        <p:txBody>
          <a:bodyPr/>
          <a:lstStyle/>
          <a:p>
            <a:r>
              <a:rPr lang="en-IN" b="1" dirty="0">
                <a:solidFill>
                  <a:srgbClr val="FF0000"/>
                </a:solidFill>
              </a:rPr>
              <a:t>VR Controllers:</a:t>
            </a:r>
          </a:p>
        </p:txBody>
      </p:sp>
      <p:sp>
        <p:nvSpPr>
          <p:cNvPr id="3" name="Content Placeholder 2">
            <a:extLst>
              <a:ext uri="{FF2B5EF4-FFF2-40B4-BE49-F238E27FC236}">
                <a16:creationId xmlns="" xmlns:a16="http://schemas.microsoft.com/office/drawing/2014/main" id="{AA394AF8-E37C-37FC-FFDD-F7BC50E281F1}"/>
              </a:ext>
            </a:extLst>
          </p:cNvPr>
          <p:cNvSpPr>
            <a:spLocks noGrp="1"/>
          </p:cNvSpPr>
          <p:nvPr>
            <p:ph sz="half" idx="1"/>
          </p:nvPr>
        </p:nvSpPr>
        <p:spPr>
          <a:xfrm>
            <a:off x="45720" y="1168400"/>
            <a:ext cx="5410200" cy="5161280"/>
          </a:xfrm>
        </p:spPr>
        <p:txBody>
          <a:bodyPr>
            <a:normAutofit fontScale="92500" lnSpcReduction="10000"/>
          </a:bodyPr>
          <a:lstStyle/>
          <a:p>
            <a:pPr algn="just"/>
            <a:r>
              <a:rPr lang="en-US" dirty="0"/>
              <a:t>Virtual Reality (VR) controllers are an essential component of any VR system. They allow users to interact with the virtual environment in a natural and intuitive way, making the experience much more immersive and engaging. There are several types of VR controllers available on the market, each with its own unique features and capabilities. </a:t>
            </a:r>
          </a:p>
          <a:p>
            <a:pPr algn="just"/>
            <a:r>
              <a:rPr lang="en-US" dirty="0"/>
              <a:t>Some VR controllers use motion tracking technology to detect the user's movements and translate them into corresponding actions in the virtual environment</a:t>
            </a:r>
          </a:p>
          <a:p>
            <a:pPr marL="0" indent="0">
              <a:buNone/>
            </a:pPr>
            <a:endParaRPr lang="en-IN" dirty="0"/>
          </a:p>
        </p:txBody>
      </p:sp>
      <p:pic>
        <p:nvPicPr>
          <p:cNvPr id="6" name="Picture 5">
            <a:extLst>
              <a:ext uri="{FF2B5EF4-FFF2-40B4-BE49-F238E27FC236}">
                <a16:creationId xmlns="" xmlns:a16="http://schemas.microsoft.com/office/drawing/2014/main" id="{52D0B6FD-BEFF-7788-5519-8D756F15F836}"/>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192520" y="681036"/>
            <a:ext cx="5262880" cy="52628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1140455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80DBED-9890-57CB-651E-6293FC756D8B}"/>
              </a:ext>
            </a:extLst>
          </p:cNvPr>
          <p:cNvSpPr>
            <a:spLocks noGrp="1"/>
          </p:cNvSpPr>
          <p:nvPr>
            <p:ph type="title"/>
          </p:nvPr>
        </p:nvSpPr>
        <p:spPr>
          <a:xfrm>
            <a:off x="0" y="1"/>
            <a:ext cx="5598160" cy="955039"/>
          </a:xfrm>
        </p:spPr>
        <p:txBody>
          <a:bodyPr/>
          <a:lstStyle/>
          <a:p>
            <a:r>
              <a:rPr lang="en-IN" b="1" dirty="0">
                <a:solidFill>
                  <a:srgbClr val="FF0000"/>
                </a:solidFill>
              </a:rPr>
              <a:t>Types of VR Controllers:</a:t>
            </a:r>
          </a:p>
        </p:txBody>
      </p:sp>
      <p:sp>
        <p:nvSpPr>
          <p:cNvPr id="3" name="Content Placeholder 2">
            <a:extLst>
              <a:ext uri="{FF2B5EF4-FFF2-40B4-BE49-F238E27FC236}">
                <a16:creationId xmlns="" xmlns:a16="http://schemas.microsoft.com/office/drawing/2014/main" id="{17C80CF8-B1B0-68E1-E9E0-E180C01FC217}"/>
              </a:ext>
            </a:extLst>
          </p:cNvPr>
          <p:cNvSpPr>
            <a:spLocks noGrp="1"/>
          </p:cNvSpPr>
          <p:nvPr>
            <p:ph idx="1"/>
          </p:nvPr>
        </p:nvSpPr>
        <p:spPr>
          <a:xfrm>
            <a:off x="0" y="955040"/>
            <a:ext cx="12192000" cy="5902959"/>
          </a:xfrm>
        </p:spPr>
        <p:txBody>
          <a:bodyPr>
            <a:normAutofit/>
          </a:bodyPr>
          <a:lstStyle/>
          <a:p>
            <a:pPr marL="0" indent="0" algn="just">
              <a:buNone/>
            </a:pPr>
            <a:r>
              <a:rPr lang="en-US" sz="2800" kern="0" spc="-35" dirty="0">
                <a:solidFill>
                  <a:srgbClr val="272525"/>
                </a:solidFill>
                <a:latin typeface="Inter" pitchFamily="34" charset="0"/>
                <a:ea typeface="Inter" pitchFamily="34" charset="-122"/>
                <a:cs typeface="Inter" pitchFamily="34" charset="-120"/>
              </a:rPr>
              <a:t>There are several types of VR controllers available, each with their own strengths and weaknesses:</a:t>
            </a:r>
          </a:p>
          <a:p>
            <a:pPr algn="just"/>
            <a:r>
              <a:rPr lang="en-US" sz="2600" b="1" kern="0" spc="-35" dirty="0">
                <a:solidFill>
                  <a:srgbClr val="272525"/>
                </a:solidFill>
                <a:latin typeface="Inter" pitchFamily="34" charset="0"/>
                <a:ea typeface="Inter" pitchFamily="34" charset="-122"/>
                <a:cs typeface="Inter" pitchFamily="34" charset="-120"/>
              </a:rPr>
              <a:t>Wand Controllers:</a:t>
            </a:r>
            <a:r>
              <a:rPr lang="en-US" sz="2600" kern="0" spc="-35" dirty="0">
                <a:solidFill>
                  <a:srgbClr val="272525"/>
                </a:solidFill>
                <a:latin typeface="Inter" pitchFamily="34" charset="0"/>
                <a:ea typeface="Inter" pitchFamily="34" charset="-122"/>
                <a:cs typeface="Inter" pitchFamily="34" charset="-120"/>
              </a:rPr>
              <a:t> These are the most common type of VR controllers, and are typically used with systems such as the HTC </a:t>
            </a:r>
            <a:r>
              <a:rPr lang="en-US" sz="2600" kern="0" spc="-35" dirty="0" err="1">
                <a:solidFill>
                  <a:srgbClr val="272525"/>
                </a:solidFill>
                <a:latin typeface="Inter" pitchFamily="34" charset="0"/>
                <a:ea typeface="Inter" pitchFamily="34" charset="-122"/>
                <a:cs typeface="Inter" pitchFamily="34" charset="-120"/>
              </a:rPr>
              <a:t>Vive</a:t>
            </a:r>
            <a:r>
              <a:rPr lang="en-US" sz="2600" kern="0" spc="-35" dirty="0">
                <a:solidFill>
                  <a:srgbClr val="272525"/>
                </a:solidFill>
                <a:latin typeface="Inter" pitchFamily="34" charset="0"/>
                <a:ea typeface="Inter" pitchFamily="34" charset="-122"/>
                <a:cs typeface="Inter" pitchFamily="34" charset="-120"/>
              </a:rPr>
              <a:t> and Oculus Rift. They include a joystick, trigger, and several buttons, and are designed to be held like a wand.</a:t>
            </a:r>
            <a:endParaRPr lang="en-US" sz="2600" dirty="0"/>
          </a:p>
          <a:p>
            <a:pPr algn="just"/>
            <a:r>
              <a:rPr lang="en-US" sz="2600" b="1" kern="0" spc="-35" dirty="0">
                <a:solidFill>
                  <a:srgbClr val="272525"/>
                </a:solidFill>
                <a:latin typeface="Inter" pitchFamily="34" charset="0"/>
                <a:ea typeface="Inter" pitchFamily="34" charset="-122"/>
                <a:cs typeface="Inter" pitchFamily="34" charset="-120"/>
              </a:rPr>
              <a:t>Gesture-Based Controllers:</a:t>
            </a:r>
            <a:r>
              <a:rPr lang="en-US" sz="2600" kern="0" spc="-35" dirty="0">
                <a:solidFill>
                  <a:srgbClr val="272525"/>
                </a:solidFill>
                <a:latin typeface="Inter" pitchFamily="34" charset="0"/>
                <a:ea typeface="Inter" pitchFamily="34" charset="-122"/>
                <a:cs typeface="Inter" pitchFamily="34" charset="-120"/>
              </a:rPr>
              <a:t> These controllers use sensors to track the user's hand movements and translate them into virtual actions. They are typically used with systems such as the Leap Motion and Microsoft Kinect.</a:t>
            </a:r>
            <a:endParaRPr lang="en-US" sz="2600" dirty="0"/>
          </a:p>
          <a:p>
            <a:pPr algn="just"/>
            <a:r>
              <a:rPr lang="en-US" sz="2600" b="1" kern="0" spc="-35" dirty="0">
                <a:solidFill>
                  <a:srgbClr val="272525"/>
                </a:solidFill>
                <a:latin typeface="Inter" pitchFamily="34" charset="0"/>
                <a:ea typeface="Inter" pitchFamily="34" charset="-122"/>
                <a:cs typeface="Inter" pitchFamily="34" charset="-120"/>
              </a:rPr>
              <a:t>Gun Controllers:</a:t>
            </a:r>
            <a:r>
              <a:rPr lang="en-US" sz="2600" kern="0" spc="-35" dirty="0">
                <a:solidFill>
                  <a:srgbClr val="272525"/>
                </a:solidFill>
                <a:latin typeface="Inter" pitchFamily="34" charset="0"/>
                <a:ea typeface="Inter" pitchFamily="34" charset="-122"/>
                <a:cs typeface="Inter" pitchFamily="34" charset="-120"/>
              </a:rPr>
              <a:t> These controllers are designed to simulate the experience of holding a gun, and are typically used with first-person shooter games. They often include a trigger and additional buttons for reloading and switching weapons.</a:t>
            </a:r>
            <a:endParaRPr lang="en-US" sz="2600" dirty="0"/>
          </a:p>
          <a:p>
            <a:pPr algn="just"/>
            <a:r>
              <a:rPr lang="en-US" sz="2600" b="1" kern="0" spc="-35" dirty="0">
                <a:solidFill>
                  <a:srgbClr val="272525"/>
                </a:solidFill>
                <a:latin typeface="Inter" pitchFamily="34" charset="0"/>
                <a:ea typeface="Inter" pitchFamily="34" charset="-122"/>
                <a:cs typeface="Inter" pitchFamily="34" charset="-120"/>
              </a:rPr>
              <a:t>Specialty Controllers:</a:t>
            </a:r>
            <a:r>
              <a:rPr lang="en-US" sz="2600" kern="0" spc="-35" dirty="0">
                <a:solidFill>
                  <a:srgbClr val="272525"/>
                </a:solidFill>
                <a:latin typeface="Inter" pitchFamily="34" charset="0"/>
                <a:ea typeface="Inter" pitchFamily="34" charset="-122"/>
                <a:cs typeface="Inter" pitchFamily="34" charset="-120"/>
              </a:rPr>
              <a:t> These controllers are designed for specific applications, such as flight simulators or driving games. They often include specialized buttons or controls for specific actions.</a:t>
            </a:r>
            <a:endParaRPr lang="en-US" sz="2600" dirty="0"/>
          </a:p>
          <a:p>
            <a:pPr marL="0" indent="0">
              <a:buNone/>
            </a:pPr>
            <a:endParaRPr lang="en-IN" dirty="0"/>
          </a:p>
        </p:txBody>
      </p:sp>
    </p:spTree>
    <p:extLst>
      <p:ext uri="{BB962C8B-B14F-4D97-AF65-F5344CB8AC3E}">
        <p14:creationId xmlns="" xmlns:p14="http://schemas.microsoft.com/office/powerpoint/2010/main" val="3648403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38D2BA-68A5-5861-0A54-C56CA22D1FB8}"/>
              </a:ext>
            </a:extLst>
          </p:cNvPr>
          <p:cNvSpPr>
            <a:spLocks noGrp="1"/>
          </p:cNvSpPr>
          <p:nvPr>
            <p:ph type="title"/>
          </p:nvPr>
        </p:nvSpPr>
        <p:spPr>
          <a:xfrm>
            <a:off x="0" y="1"/>
            <a:ext cx="5577840" cy="1381759"/>
          </a:xfrm>
        </p:spPr>
        <p:txBody>
          <a:bodyPr/>
          <a:lstStyle/>
          <a:p>
            <a:r>
              <a:rPr lang="en-IN" b="1" dirty="0">
                <a:solidFill>
                  <a:srgbClr val="FF0000"/>
                </a:solidFill>
              </a:rPr>
              <a:t>Current issues with VR:</a:t>
            </a:r>
          </a:p>
        </p:txBody>
      </p:sp>
      <p:sp>
        <p:nvSpPr>
          <p:cNvPr id="3" name="Content Placeholder 2">
            <a:extLst>
              <a:ext uri="{FF2B5EF4-FFF2-40B4-BE49-F238E27FC236}">
                <a16:creationId xmlns="" xmlns:a16="http://schemas.microsoft.com/office/drawing/2014/main" id="{D518775A-3B81-F52F-2310-4CFB1229BEFB}"/>
              </a:ext>
            </a:extLst>
          </p:cNvPr>
          <p:cNvSpPr>
            <a:spLocks noGrp="1"/>
          </p:cNvSpPr>
          <p:nvPr>
            <p:ph idx="1"/>
          </p:nvPr>
        </p:nvSpPr>
        <p:spPr>
          <a:xfrm>
            <a:off x="0" y="1381760"/>
            <a:ext cx="12192000" cy="5476240"/>
          </a:xfrm>
        </p:spPr>
        <p:txBody>
          <a:bodyPr>
            <a:normAutofit/>
          </a:bodyPr>
          <a:lstStyle/>
          <a:p>
            <a:pPr algn="just"/>
            <a:r>
              <a:rPr lang="en-US" dirty="0"/>
              <a:t>Despite the many advancements in VR technology, there are still several issues that need to be addressed. One of the biggest challenges is motion sickness. Many users experience discomfort and nausea when using VR headsets for extended periods of time. This is due to a mismatch between the user's visual and vestibular systems, which can cause confusion and disorientation.</a:t>
            </a:r>
          </a:p>
          <a:p>
            <a:pPr algn="just"/>
            <a:r>
              <a:rPr lang="en-US" dirty="0"/>
              <a:t>Another issue with VR is the limited field of view. Most VR headsets have a relatively narrow field of view, which can detract from the overall immersion of the experience. Additionally, the resolution of VR displays is still not as high as traditional monitors, which can make text and fine details difficult to read.</a:t>
            </a:r>
          </a:p>
          <a:p>
            <a:endParaRPr lang="en-IN" dirty="0"/>
          </a:p>
        </p:txBody>
      </p:sp>
    </p:spTree>
    <p:extLst>
      <p:ext uri="{BB962C8B-B14F-4D97-AF65-F5344CB8AC3E}">
        <p14:creationId xmlns="" xmlns:p14="http://schemas.microsoft.com/office/powerpoint/2010/main" val="3612466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6E9179-86E4-6497-1CD4-C29348291D32}"/>
              </a:ext>
            </a:extLst>
          </p:cNvPr>
          <p:cNvSpPr>
            <a:spLocks noGrp="1"/>
          </p:cNvSpPr>
          <p:nvPr>
            <p:ph type="title"/>
          </p:nvPr>
        </p:nvSpPr>
        <p:spPr>
          <a:xfrm>
            <a:off x="0" y="1"/>
            <a:ext cx="4693920" cy="1381759"/>
          </a:xfrm>
        </p:spPr>
        <p:txBody>
          <a:bodyPr/>
          <a:lstStyle/>
          <a:p>
            <a:r>
              <a:rPr lang="en-IN" b="1" dirty="0">
                <a:solidFill>
                  <a:srgbClr val="FF0000"/>
                </a:solidFill>
              </a:rPr>
              <a:t>AR Mobile Devices:</a:t>
            </a:r>
          </a:p>
        </p:txBody>
      </p:sp>
      <p:sp>
        <p:nvSpPr>
          <p:cNvPr id="3" name="Content Placeholder 2">
            <a:extLst>
              <a:ext uri="{FF2B5EF4-FFF2-40B4-BE49-F238E27FC236}">
                <a16:creationId xmlns="" xmlns:a16="http://schemas.microsoft.com/office/drawing/2014/main" id="{10391EDF-882D-B7EA-0173-CA2D006C8DD0}"/>
              </a:ext>
            </a:extLst>
          </p:cNvPr>
          <p:cNvSpPr>
            <a:spLocks noGrp="1"/>
          </p:cNvSpPr>
          <p:nvPr>
            <p:ph idx="1"/>
          </p:nvPr>
        </p:nvSpPr>
        <p:spPr>
          <a:xfrm>
            <a:off x="0" y="1253330"/>
            <a:ext cx="6182360" cy="5056029"/>
          </a:xfrm>
        </p:spPr>
        <p:txBody>
          <a:bodyPr>
            <a:normAutofit fontScale="92500"/>
          </a:bodyPr>
          <a:lstStyle/>
          <a:p>
            <a:pPr algn="just"/>
            <a:r>
              <a:rPr lang="en-US" dirty="0"/>
              <a:t>AR (Augmented Reality) technology is becoming increasingly popular, and one of the main platforms for AR experiences are mobile devices. AR mobile devices use a combination of camera and software to overlay digital content onto the user's real-world environment. This allows for a wide range of applications, from gaming and entertainment to education and training.</a:t>
            </a:r>
          </a:p>
          <a:p>
            <a:pPr algn="just"/>
            <a:r>
              <a:rPr lang="en-US" dirty="0"/>
              <a:t>One of the benefits of AR mobile devices is that they do not suffer from the same motion sickness issues as VR headsets.</a:t>
            </a:r>
            <a:endParaRPr lang="en-IN" dirty="0"/>
          </a:p>
        </p:txBody>
      </p:sp>
      <p:pic>
        <p:nvPicPr>
          <p:cNvPr id="5" name="Picture 4">
            <a:extLst>
              <a:ext uri="{FF2B5EF4-FFF2-40B4-BE49-F238E27FC236}">
                <a16:creationId xmlns="" xmlns:a16="http://schemas.microsoft.com/office/drawing/2014/main" id="{CE226432-88A7-77C4-3A27-FC236A03B74C}"/>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883400" y="1071880"/>
            <a:ext cx="4714240" cy="47142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4285589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BE3BD9-4A08-3E2B-D4CD-56D9ED33EB11}"/>
              </a:ext>
            </a:extLst>
          </p:cNvPr>
          <p:cNvSpPr>
            <a:spLocks noGrp="1"/>
          </p:cNvSpPr>
          <p:nvPr>
            <p:ph type="title"/>
          </p:nvPr>
        </p:nvSpPr>
        <p:spPr>
          <a:xfrm>
            <a:off x="71120" y="81281"/>
            <a:ext cx="3992880" cy="1076959"/>
          </a:xfrm>
        </p:spPr>
        <p:txBody>
          <a:bodyPr/>
          <a:lstStyle/>
          <a:p>
            <a:r>
              <a:rPr lang="en-IN" b="1" dirty="0">
                <a:solidFill>
                  <a:srgbClr val="FF0000"/>
                </a:solidFill>
              </a:rPr>
              <a:t>AR Headsets:</a:t>
            </a:r>
          </a:p>
        </p:txBody>
      </p:sp>
      <p:sp>
        <p:nvSpPr>
          <p:cNvPr id="3" name="Content Placeholder 2">
            <a:extLst>
              <a:ext uri="{FF2B5EF4-FFF2-40B4-BE49-F238E27FC236}">
                <a16:creationId xmlns="" xmlns:a16="http://schemas.microsoft.com/office/drawing/2014/main" id="{5A78F429-B27D-B1EC-0F77-3E6A491880C5}"/>
              </a:ext>
            </a:extLst>
          </p:cNvPr>
          <p:cNvSpPr>
            <a:spLocks noGrp="1"/>
          </p:cNvSpPr>
          <p:nvPr>
            <p:ph idx="1"/>
          </p:nvPr>
        </p:nvSpPr>
        <p:spPr>
          <a:xfrm>
            <a:off x="5628640" y="1158240"/>
            <a:ext cx="6400800" cy="5699759"/>
          </a:xfrm>
        </p:spPr>
        <p:txBody>
          <a:bodyPr>
            <a:normAutofit/>
          </a:bodyPr>
          <a:lstStyle/>
          <a:p>
            <a:pPr algn="just"/>
            <a:r>
              <a:rPr lang="en-US" dirty="0"/>
              <a:t>AR headsets are wearable devices that use AR technology to overlay digital content onto the user's real-world environment. Unlike AR mobile devices, AR headsets offer a more immersive experience by providing a larger field of view and allowing users to move around in their environment without having to hold up a device.</a:t>
            </a:r>
          </a:p>
          <a:p>
            <a:pPr algn="just"/>
            <a:r>
              <a:rPr lang="en-US" dirty="0"/>
              <a:t>AR headsets come in various forms, from standalone devices like Microsoft's HoloLens to tethered devices like the Magic Leap One</a:t>
            </a:r>
          </a:p>
          <a:p>
            <a:endParaRPr lang="en-IN" dirty="0"/>
          </a:p>
        </p:txBody>
      </p:sp>
      <p:pic>
        <p:nvPicPr>
          <p:cNvPr id="5" name="Picture 4">
            <a:extLst>
              <a:ext uri="{FF2B5EF4-FFF2-40B4-BE49-F238E27FC236}">
                <a16:creationId xmlns="" xmlns:a16="http://schemas.microsoft.com/office/drawing/2014/main" id="{F9B94B1C-B9E6-9557-5C5D-2AB20A5CEFEC}"/>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62560" y="1158240"/>
            <a:ext cx="4886960" cy="48869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1889110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94F4F7-51A9-0CA9-9417-27423C86EE6E}"/>
              </a:ext>
            </a:extLst>
          </p:cNvPr>
          <p:cNvSpPr>
            <a:spLocks noGrp="1"/>
          </p:cNvSpPr>
          <p:nvPr>
            <p:ph type="title"/>
          </p:nvPr>
        </p:nvSpPr>
        <p:spPr>
          <a:xfrm>
            <a:off x="0" y="18255"/>
            <a:ext cx="10515600" cy="1325563"/>
          </a:xfrm>
        </p:spPr>
        <p:txBody>
          <a:bodyPr/>
          <a:lstStyle/>
          <a:p>
            <a:r>
              <a:rPr lang="en-IN" b="1" dirty="0">
                <a:solidFill>
                  <a:srgbClr val="FF0000"/>
                </a:solidFill>
              </a:rPr>
              <a:t>AR Glasses:</a:t>
            </a:r>
          </a:p>
        </p:txBody>
      </p:sp>
      <p:sp>
        <p:nvSpPr>
          <p:cNvPr id="3" name="Content Placeholder 2">
            <a:extLst>
              <a:ext uri="{FF2B5EF4-FFF2-40B4-BE49-F238E27FC236}">
                <a16:creationId xmlns="" xmlns:a16="http://schemas.microsoft.com/office/drawing/2014/main" id="{9999C511-B016-CE3D-C143-F49D122B8BD7}"/>
              </a:ext>
            </a:extLst>
          </p:cNvPr>
          <p:cNvSpPr>
            <a:spLocks noGrp="1"/>
          </p:cNvSpPr>
          <p:nvPr>
            <p:ph idx="1"/>
          </p:nvPr>
        </p:nvSpPr>
        <p:spPr>
          <a:xfrm>
            <a:off x="0" y="1175385"/>
            <a:ext cx="6096000" cy="4351338"/>
          </a:xfrm>
        </p:spPr>
        <p:txBody>
          <a:bodyPr/>
          <a:lstStyle/>
          <a:p>
            <a:pPr algn="just"/>
            <a:r>
              <a:rPr lang="en-US" dirty="0"/>
              <a:t>AR glasses are wearable devices that use AR technology to overlay digital content onto the user's real-world environment. These glasses offer a more seamless experience as they allow users to have their hands free while interacting with the augmented reality. AR glasses come in various forms, from standalone devices like Google Glass to add-on kits for existing glasses like North's </a:t>
            </a:r>
            <a:r>
              <a:rPr lang="en-US" dirty="0" err="1"/>
              <a:t>Focals</a:t>
            </a:r>
            <a:r>
              <a:rPr lang="en-US" dirty="0"/>
              <a:t>.</a:t>
            </a:r>
            <a:endParaRPr lang="en-IN" dirty="0"/>
          </a:p>
        </p:txBody>
      </p:sp>
      <p:pic>
        <p:nvPicPr>
          <p:cNvPr id="5" name="Picture 4">
            <a:extLst>
              <a:ext uri="{FF2B5EF4-FFF2-40B4-BE49-F238E27FC236}">
                <a16:creationId xmlns="" xmlns:a16="http://schemas.microsoft.com/office/drawing/2014/main" id="{884AD202-D790-CB96-F2E5-6B78E024FC54}"/>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532880" y="810260"/>
            <a:ext cx="5237480" cy="52374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30740470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227BD9-07C0-8D23-6E38-C86738340123}"/>
              </a:ext>
            </a:extLst>
          </p:cNvPr>
          <p:cNvSpPr>
            <a:spLocks noGrp="1"/>
          </p:cNvSpPr>
          <p:nvPr>
            <p:ph type="title"/>
          </p:nvPr>
        </p:nvSpPr>
        <p:spPr>
          <a:xfrm>
            <a:off x="0" y="0"/>
            <a:ext cx="10515600" cy="1325563"/>
          </a:xfrm>
        </p:spPr>
        <p:txBody>
          <a:bodyPr/>
          <a:lstStyle/>
          <a:p>
            <a:r>
              <a:rPr lang="en-IN" b="1" dirty="0">
                <a:solidFill>
                  <a:srgbClr val="FF0000"/>
                </a:solidFill>
              </a:rPr>
              <a:t>AR Controllers:</a:t>
            </a:r>
          </a:p>
        </p:txBody>
      </p:sp>
      <p:sp>
        <p:nvSpPr>
          <p:cNvPr id="3" name="Content Placeholder 2">
            <a:extLst>
              <a:ext uri="{FF2B5EF4-FFF2-40B4-BE49-F238E27FC236}">
                <a16:creationId xmlns="" xmlns:a16="http://schemas.microsoft.com/office/drawing/2014/main" id="{F96FA79D-7164-699B-DCB4-C27280FAE4EE}"/>
              </a:ext>
            </a:extLst>
          </p:cNvPr>
          <p:cNvSpPr>
            <a:spLocks noGrp="1"/>
          </p:cNvSpPr>
          <p:nvPr>
            <p:ph idx="1"/>
          </p:nvPr>
        </p:nvSpPr>
        <p:spPr>
          <a:xfrm>
            <a:off x="0" y="1325562"/>
            <a:ext cx="7112000" cy="5532437"/>
          </a:xfrm>
        </p:spPr>
        <p:txBody>
          <a:bodyPr/>
          <a:lstStyle/>
          <a:p>
            <a:pPr algn="just"/>
            <a:r>
              <a:rPr lang="en-US" dirty="0"/>
              <a:t>AR controllers are handheld devices that allow users to interact with the virtual objects in their augmented reality environment. These controllers can range from simple handheld devices with buttons and joysticks to more complex devices like Microsoft's HoloLens 2 hand tracking system. AR controllers provide a more tactile and immersive experience, allowing users to manipulate virtual objects as if they were real.</a:t>
            </a:r>
            <a:endParaRPr lang="en-IN" dirty="0"/>
          </a:p>
        </p:txBody>
      </p:sp>
      <p:pic>
        <p:nvPicPr>
          <p:cNvPr id="5" name="Picture 4">
            <a:extLst>
              <a:ext uri="{FF2B5EF4-FFF2-40B4-BE49-F238E27FC236}">
                <a16:creationId xmlns="" xmlns:a16="http://schemas.microsoft.com/office/drawing/2014/main" id="{593610EA-0BBA-2521-0F79-9AD28ECAD68B}"/>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7355840" y="1143000"/>
            <a:ext cx="4404360" cy="44043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146349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CD22C81-1A90-3DEF-6313-7205E83290DA}"/>
              </a:ext>
            </a:extLst>
          </p:cNvPr>
          <p:cNvSpPr>
            <a:spLocks noGrp="1"/>
          </p:cNvSpPr>
          <p:nvPr>
            <p:ph type="title"/>
          </p:nvPr>
        </p:nvSpPr>
        <p:spPr>
          <a:xfrm>
            <a:off x="5080" y="18255"/>
            <a:ext cx="10515600" cy="1325563"/>
          </a:xfrm>
        </p:spPr>
        <p:txBody>
          <a:bodyPr/>
          <a:lstStyle/>
          <a:p>
            <a:r>
              <a:rPr lang="en-IN" b="1" dirty="0">
                <a:solidFill>
                  <a:srgbClr val="FF0000"/>
                </a:solidFill>
              </a:rPr>
              <a:t>Current Issues of AR:</a:t>
            </a:r>
          </a:p>
        </p:txBody>
      </p:sp>
      <p:sp>
        <p:nvSpPr>
          <p:cNvPr id="3" name="Content Placeholder 2">
            <a:extLst>
              <a:ext uri="{FF2B5EF4-FFF2-40B4-BE49-F238E27FC236}">
                <a16:creationId xmlns="" xmlns:a16="http://schemas.microsoft.com/office/drawing/2014/main" id="{EA10D220-0C10-0E26-D100-1590D0976637}"/>
              </a:ext>
            </a:extLst>
          </p:cNvPr>
          <p:cNvSpPr>
            <a:spLocks noGrp="1"/>
          </p:cNvSpPr>
          <p:nvPr>
            <p:ph idx="1"/>
          </p:nvPr>
        </p:nvSpPr>
        <p:spPr>
          <a:xfrm>
            <a:off x="5080" y="1253330"/>
            <a:ext cx="10515600" cy="5604669"/>
          </a:xfrm>
        </p:spPr>
        <p:txBody>
          <a:bodyPr>
            <a:normAutofit fontScale="92500" lnSpcReduction="10000"/>
          </a:bodyPr>
          <a:lstStyle/>
          <a:p>
            <a:pPr marL="0" indent="0" algn="just">
              <a:buNone/>
            </a:pPr>
            <a:r>
              <a:rPr lang="en-US" sz="2800" b="1" kern="0" spc="-105" dirty="0">
                <a:solidFill>
                  <a:srgbClr val="000000"/>
                </a:solidFill>
                <a:latin typeface="Inter" pitchFamily="34" charset="0"/>
                <a:ea typeface="Inter" pitchFamily="34" charset="-122"/>
                <a:cs typeface="Inter" pitchFamily="34" charset="-120"/>
              </a:rPr>
              <a:t>Cost and Complexity:</a:t>
            </a:r>
          </a:p>
          <a:p>
            <a:pPr algn="just"/>
            <a:r>
              <a:rPr lang="en-US" sz="2800" kern="0" spc="-35" dirty="0">
                <a:solidFill>
                  <a:srgbClr val="272525"/>
                </a:solidFill>
                <a:latin typeface="Inter" pitchFamily="34" charset="0"/>
                <a:ea typeface="Inter" pitchFamily="34" charset="-122"/>
                <a:cs typeface="Inter" pitchFamily="34" charset="-120"/>
              </a:rPr>
              <a:t>AR  systems can be expensive and complex to implement, requiring specialized hardware and software. This can make it difficult for smaller businesses to adopt these technologies, limiting their potential benefits.</a:t>
            </a:r>
          </a:p>
          <a:p>
            <a:pPr marL="0" indent="0" algn="just">
              <a:buNone/>
            </a:pPr>
            <a:r>
              <a:rPr lang="en-US" sz="2800" b="1" kern="0" spc="-105" dirty="0">
                <a:solidFill>
                  <a:srgbClr val="000000"/>
                </a:solidFill>
                <a:latin typeface="Inter" pitchFamily="34" charset="0"/>
                <a:ea typeface="Inter" pitchFamily="34" charset="-122"/>
                <a:cs typeface="Inter" pitchFamily="34" charset="-120"/>
              </a:rPr>
              <a:t>Technical Limitations:</a:t>
            </a:r>
          </a:p>
          <a:p>
            <a:pPr algn="just"/>
            <a:r>
              <a:rPr lang="en-US" sz="2800" kern="0" spc="-35" dirty="0">
                <a:solidFill>
                  <a:srgbClr val="272525"/>
                </a:solidFill>
                <a:latin typeface="Inter" pitchFamily="34" charset="0"/>
                <a:ea typeface="Inter" pitchFamily="34" charset="-122"/>
                <a:cs typeface="Inter" pitchFamily="34" charset="-120"/>
              </a:rPr>
              <a:t>AR  systems can be limited by technical factors such as latency and resolution, which can affect the overall quality of the experience. This can be particularly problematic for applications such as gaming, where a high level of performance is required</a:t>
            </a:r>
          </a:p>
          <a:p>
            <a:pPr marL="0" indent="0" algn="just">
              <a:buNone/>
            </a:pPr>
            <a:r>
              <a:rPr lang="en-US" sz="2800" b="1" kern="0" spc="-105" dirty="0">
                <a:solidFill>
                  <a:srgbClr val="000000"/>
                </a:solidFill>
                <a:latin typeface="Inter" pitchFamily="34" charset="0"/>
                <a:ea typeface="Inter" pitchFamily="34" charset="-122"/>
                <a:cs typeface="Inter" pitchFamily="34" charset="-120"/>
              </a:rPr>
              <a:t>Health and Safety Concerns:</a:t>
            </a:r>
          </a:p>
          <a:p>
            <a:pPr algn="just"/>
            <a:r>
              <a:rPr lang="en-US" sz="2800" kern="0" spc="-35" dirty="0">
                <a:solidFill>
                  <a:srgbClr val="272525"/>
                </a:solidFill>
                <a:latin typeface="Inter" pitchFamily="34" charset="0"/>
                <a:ea typeface="Inter" pitchFamily="34" charset="-122"/>
                <a:cs typeface="Inter" pitchFamily="34" charset="-120"/>
              </a:rPr>
              <a:t>AR and VR can cause a range of health and safety concerns, such as motion sickness, eye strain, and disorientation. This can be particularly problematic for users who have existing medical conditions or who are prone to certain types of motion sickness.</a:t>
            </a:r>
            <a:endParaRPr lang="en-US" sz="2800" dirty="0"/>
          </a:p>
          <a:p>
            <a:pPr marL="0" indent="0">
              <a:buNone/>
            </a:pPr>
            <a:endParaRPr lang="en-US" sz="2800" dirty="0"/>
          </a:p>
          <a:p>
            <a:pPr marL="0" indent="0">
              <a:buNone/>
            </a:pPr>
            <a:endParaRPr lang="en-US" sz="2800" kern="0" spc="-35" dirty="0">
              <a:solidFill>
                <a:srgbClr val="272525"/>
              </a:solidFill>
              <a:latin typeface="Inter" pitchFamily="34" charset="0"/>
              <a:ea typeface="Inter" pitchFamily="34" charset="-122"/>
              <a:cs typeface="Inter" pitchFamily="34" charset="-120"/>
            </a:endParaRPr>
          </a:p>
          <a:p>
            <a:pPr marL="0" indent="0">
              <a:buNone/>
            </a:pPr>
            <a:endParaRPr lang="en-US" sz="2800" dirty="0"/>
          </a:p>
          <a:p>
            <a:pPr marL="0" indent="0">
              <a:buNone/>
            </a:pPr>
            <a:endParaRPr lang="en-US" sz="2800" dirty="0"/>
          </a:p>
          <a:p>
            <a:pPr marL="0" indent="0">
              <a:buNone/>
            </a:pPr>
            <a:endParaRPr lang="en-US" sz="2800" dirty="0"/>
          </a:p>
          <a:p>
            <a:endParaRPr lang="en-IN" dirty="0"/>
          </a:p>
        </p:txBody>
      </p:sp>
    </p:spTree>
    <p:extLst>
      <p:ext uri="{BB962C8B-B14F-4D97-AF65-F5344CB8AC3E}">
        <p14:creationId xmlns="" xmlns:p14="http://schemas.microsoft.com/office/powerpoint/2010/main" val="3044456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64C3449-0F63-49BF-5B2B-8308998AE0AC}"/>
              </a:ext>
            </a:extLst>
          </p:cNvPr>
          <p:cNvSpPr>
            <a:spLocks noGrp="1"/>
          </p:cNvSpPr>
          <p:nvPr>
            <p:ph idx="1"/>
          </p:nvPr>
        </p:nvSpPr>
        <p:spPr>
          <a:xfrm>
            <a:off x="0" y="92597"/>
            <a:ext cx="11353800" cy="6084366"/>
          </a:xfrm>
        </p:spPr>
        <p:txBody>
          <a:bodyPr/>
          <a:lstStyle/>
          <a:p>
            <a:pPr marL="0" indent="0">
              <a:buNone/>
            </a:pPr>
            <a:r>
              <a:rPr lang="en-US" sz="2800" b="1" kern="0" spc="-105" dirty="0">
                <a:solidFill>
                  <a:srgbClr val="000000"/>
                </a:solidFill>
                <a:latin typeface="Inter" pitchFamily="34" charset="0"/>
                <a:ea typeface="Inter" pitchFamily="34" charset="-122"/>
                <a:cs typeface="Inter" pitchFamily="34" charset="-120"/>
              </a:rPr>
              <a:t>Privacy Concerns:</a:t>
            </a:r>
          </a:p>
          <a:p>
            <a:pPr algn="just"/>
            <a:r>
              <a:rPr lang="en-US" sz="2800" kern="0" spc="-35" dirty="0">
                <a:solidFill>
                  <a:srgbClr val="272525"/>
                </a:solidFill>
                <a:latin typeface="Inter" pitchFamily="34" charset="0"/>
                <a:ea typeface="Inter" pitchFamily="34" charset="-122"/>
                <a:cs typeface="Inter" pitchFamily="34" charset="-120"/>
              </a:rPr>
              <a:t>AR and VR systems can raise privacy concerns, as they often involve the collection and processing of large amounts of data about users. This can be particularly problematic for applications such as virtual meetings and remote collaboration, where sensitive information may be shared.</a:t>
            </a:r>
            <a:endParaRPr lang="en-US" sz="2800" dirty="0"/>
          </a:p>
          <a:p>
            <a:endParaRPr lang="en-US" sz="2800" b="1" kern="0" spc="-105" dirty="0">
              <a:solidFill>
                <a:srgbClr val="000000"/>
              </a:solidFill>
              <a:latin typeface="Inter" pitchFamily="34" charset="0"/>
              <a:ea typeface="Inter" pitchFamily="34" charset="-122"/>
            </a:endParaRPr>
          </a:p>
          <a:p>
            <a:pPr marL="0" indent="0">
              <a:buNone/>
            </a:pPr>
            <a:r>
              <a:rPr lang="en-US" sz="2800" b="1" kern="0" spc="-105" dirty="0">
                <a:solidFill>
                  <a:srgbClr val="000000"/>
                </a:solidFill>
                <a:latin typeface="Inter" pitchFamily="34" charset="0"/>
                <a:ea typeface="Inter" pitchFamily="34" charset="-122"/>
                <a:cs typeface="Inter" pitchFamily="34" charset="-120"/>
              </a:rPr>
              <a:t>Social Isolation:</a:t>
            </a:r>
          </a:p>
          <a:p>
            <a:pPr algn="just"/>
            <a:r>
              <a:rPr lang="en-US" sz="2800" kern="0" spc="-35" dirty="0">
                <a:solidFill>
                  <a:srgbClr val="272525"/>
                </a:solidFill>
                <a:latin typeface="Inter" pitchFamily="34" charset="0"/>
                <a:ea typeface="Inter" pitchFamily="34" charset="-122"/>
                <a:cs typeface="Inter" pitchFamily="34" charset="-120"/>
              </a:rPr>
              <a:t>AR and VR can contribute to social isolation, as users may become more engrossed in the virtual world and less connected to the real world. This can be particularly problematic for users who spend large amounts of time in virtual environments, such as gamers or remote workers</a:t>
            </a:r>
            <a:endParaRPr lang="en-US" sz="2800" dirty="0"/>
          </a:p>
          <a:p>
            <a:pPr marL="0" indent="0">
              <a:buNone/>
            </a:pPr>
            <a:endParaRPr lang="en-US" sz="2800" dirty="0"/>
          </a:p>
          <a:p>
            <a:endParaRPr lang="en-IN" dirty="0"/>
          </a:p>
        </p:txBody>
      </p:sp>
    </p:spTree>
    <p:extLst>
      <p:ext uri="{BB962C8B-B14F-4D97-AF65-F5344CB8AC3E}">
        <p14:creationId xmlns="" xmlns:p14="http://schemas.microsoft.com/office/powerpoint/2010/main" val="18324902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846BE2-F38E-34FF-5E93-65948249DE57}"/>
              </a:ext>
            </a:extLst>
          </p:cNvPr>
          <p:cNvSpPr>
            <a:spLocks noGrp="1"/>
          </p:cNvSpPr>
          <p:nvPr>
            <p:ph type="title"/>
          </p:nvPr>
        </p:nvSpPr>
        <p:spPr>
          <a:xfrm>
            <a:off x="0" y="1"/>
            <a:ext cx="11353800" cy="1690688"/>
          </a:xfrm>
        </p:spPr>
        <p:txBody>
          <a:bodyPr>
            <a:normAutofit fontScale="90000"/>
          </a:bodyPr>
          <a:lstStyle/>
          <a:p>
            <a:r>
              <a:rPr lang="en-US" sz="4900" b="1" kern="0" spc="-131" dirty="0">
                <a:solidFill>
                  <a:srgbClr val="FF0000"/>
                </a:solidFill>
                <a:latin typeface="Inter" pitchFamily="34" charset="0"/>
                <a:ea typeface="Inter" pitchFamily="34" charset="-122"/>
                <a:cs typeface="Inter" pitchFamily="34" charset="-120"/>
              </a:rPr>
              <a:t>The Importance of AR and VR Educational and health sectors</a:t>
            </a:r>
            <a:r>
              <a:rPr lang="en-US" sz="4400" dirty="0"/>
              <a:t/>
            </a:r>
            <a:br>
              <a:rPr lang="en-US" sz="4400" dirty="0"/>
            </a:br>
            <a:endParaRPr lang="en-IN" dirty="0"/>
          </a:p>
        </p:txBody>
      </p:sp>
      <p:sp>
        <p:nvSpPr>
          <p:cNvPr id="3" name="Content Placeholder 2">
            <a:extLst>
              <a:ext uri="{FF2B5EF4-FFF2-40B4-BE49-F238E27FC236}">
                <a16:creationId xmlns="" xmlns:a16="http://schemas.microsoft.com/office/drawing/2014/main" id="{67E078B5-45BA-C205-20A7-DB8E810E5471}"/>
              </a:ext>
            </a:extLst>
          </p:cNvPr>
          <p:cNvSpPr>
            <a:spLocks noGrp="1"/>
          </p:cNvSpPr>
          <p:nvPr>
            <p:ph sz="half" idx="1"/>
          </p:nvPr>
        </p:nvSpPr>
        <p:spPr>
          <a:xfrm>
            <a:off x="0" y="1690689"/>
            <a:ext cx="6539696" cy="4351338"/>
          </a:xfrm>
        </p:spPr>
        <p:txBody>
          <a:bodyPr>
            <a:normAutofit lnSpcReduction="10000"/>
          </a:bodyPr>
          <a:lstStyle/>
          <a:p>
            <a:pPr marL="0" indent="0" algn="just">
              <a:buNone/>
            </a:pPr>
            <a:r>
              <a:rPr lang="en-US" sz="2800" kern="0" spc="-35" dirty="0">
                <a:solidFill>
                  <a:srgbClr val="272525"/>
                </a:solidFill>
                <a:latin typeface="Inter" pitchFamily="34" charset="0"/>
                <a:ea typeface="Inter" pitchFamily="34" charset="-122"/>
                <a:cs typeface="Inter" pitchFamily="34" charset="-120"/>
              </a:rPr>
              <a:t>AR and VR have become increasingly popular in a variety of industries, from gaming to healthcare. In gaming, these technologies offer immersive experiences that transport players to new worlds. In education, AR and VR can provide interactive and engaging learning experiences. In healthcare, they can be used for training and simulation purposes. And in marketing, they offer new and creative ways to engage with customers.</a:t>
            </a:r>
            <a:endParaRPr lang="en-US" sz="2800" dirty="0"/>
          </a:p>
          <a:p>
            <a:endParaRPr lang="en-IN" dirty="0"/>
          </a:p>
        </p:txBody>
      </p:sp>
      <p:pic>
        <p:nvPicPr>
          <p:cNvPr id="6" name="Content Placeholder 5">
            <a:extLst>
              <a:ext uri="{FF2B5EF4-FFF2-40B4-BE49-F238E27FC236}">
                <a16:creationId xmlns="" xmlns:a16="http://schemas.microsoft.com/office/drawing/2014/main" id="{E82F869C-AC0E-4863-4E5A-A6A5EDA18C03}"/>
              </a:ext>
            </a:extLst>
          </p:cNvPr>
          <p:cNvPicPr>
            <a:picLocks noGrp="1" noChangeAspect="1"/>
          </p:cNvPicPr>
          <p:nvPr>
            <p:ph sz="half" idx="2"/>
          </p:nvPr>
        </p:nvPicPr>
        <p:blipFill>
          <a:blip r:embed="rId2">
            <a:extLst>
              <a:ext uri="{28A0092B-C50C-407E-A947-70E740481C1C}">
                <a14:useLocalDpi xmlns="" xmlns:a14="http://schemas.microsoft.com/office/drawing/2010/main" val="0"/>
              </a:ext>
            </a:extLst>
          </a:blip>
          <a:stretch>
            <a:fillRect/>
          </a:stretch>
        </p:blipFill>
        <p:spPr>
          <a:xfrm>
            <a:off x="7010402" y="1690689"/>
            <a:ext cx="4351338" cy="43513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240681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5FC15F7-D388-1787-12DD-BFB9207E4318}"/>
              </a:ext>
            </a:extLst>
          </p:cNvPr>
          <p:cNvSpPr>
            <a:spLocks noGrp="1"/>
          </p:cNvSpPr>
          <p:nvPr>
            <p:ph type="title"/>
          </p:nvPr>
        </p:nvSpPr>
        <p:spPr>
          <a:xfrm>
            <a:off x="0" y="18255"/>
            <a:ext cx="10515600" cy="1325563"/>
          </a:xfrm>
        </p:spPr>
        <p:txBody>
          <a:bodyPr>
            <a:normAutofit fontScale="90000"/>
          </a:bodyPr>
          <a:lstStyle/>
          <a:p>
            <a:r>
              <a:rPr lang="en-US" sz="4400" b="1" kern="0" spc="-131" dirty="0">
                <a:solidFill>
                  <a:srgbClr val="FF0000"/>
                </a:solidFill>
                <a:latin typeface="Inter" pitchFamily="34" charset="0"/>
                <a:ea typeface="Inter" pitchFamily="34" charset="-122"/>
                <a:cs typeface="Inter" pitchFamily="34" charset="-120"/>
              </a:rPr>
              <a:t>The Importance of AR and VR in the IT Sector</a:t>
            </a:r>
            <a:r>
              <a:rPr lang="en-US" sz="4400" dirty="0"/>
              <a:t/>
            </a:r>
            <a:br>
              <a:rPr lang="en-US" sz="4400" dirty="0"/>
            </a:br>
            <a:endParaRPr lang="en-IN" dirty="0"/>
          </a:p>
        </p:txBody>
      </p:sp>
      <p:sp>
        <p:nvSpPr>
          <p:cNvPr id="3" name="Content Placeholder 2">
            <a:extLst>
              <a:ext uri="{FF2B5EF4-FFF2-40B4-BE49-F238E27FC236}">
                <a16:creationId xmlns="" xmlns:a16="http://schemas.microsoft.com/office/drawing/2014/main" id="{ACB94A69-B242-3CAF-9298-6908B6A02FE0}"/>
              </a:ext>
            </a:extLst>
          </p:cNvPr>
          <p:cNvSpPr>
            <a:spLocks noGrp="1"/>
          </p:cNvSpPr>
          <p:nvPr>
            <p:ph sz="half" idx="1"/>
          </p:nvPr>
        </p:nvSpPr>
        <p:spPr>
          <a:xfrm>
            <a:off x="4647566" y="1461383"/>
            <a:ext cx="7191737" cy="4351338"/>
          </a:xfrm>
        </p:spPr>
        <p:txBody>
          <a:bodyPr>
            <a:normAutofit/>
          </a:bodyPr>
          <a:lstStyle/>
          <a:p>
            <a:pPr marL="0" indent="0" algn="just">
              <a:buNone/>
            </a:pPr>
            <a:r>
              <a:rPr lang="en-US" sz="2800" kern="0" spc="-35" dirty="0">
                <a:solidFill>
                  <a:srgbClr val="272525"/>
                </a:solidFill>
                <a:latin typeface="Inter" pitchFamily="34" charset="0"/>
                <a:ea typeface="Inter" pitchFamily="34" charset="-122"/>
                <a:cs typeface="Inter" pitchFamily="34" charset="-120"/>
              </a:rPr>
              <a:t>AR and VR have numerous applications in the IT sector. For example, they can be used for virtual meetings and remote collaboration, allowing teams to work together from different locations. They can also be used for product design and prototyping, providing a more immersive and interactive experience. In addition, they can be used for training purposes, allowing employees to learn new skills in a more engaging and interactive way.</a:t>
            </a:r>
            <a:endParaRPr lang="en-US" sz="2800" dirty="0"/>
          </a:p>
          <a:p>
            <a:endParaRPr lang="en-IN" dirty="0"/>
          </a:p>
        </p:txBody>
      </p:sp>
      <p:pic>
        <p:nvPicPr>
          <p:cNvPr id="6" name="Content Placeholder 5">
            <a:extLst>
              <a:ext uri="{FF2B5EF4-FFF2-40B4-BE49-F238E27FC236}">
                <a16:creationId xmlns="" xmlns:a16="http://schemas.microsoft.com/office/drawing/2014/main" id="{4209DDDC-369D-0E3B-A50A-3BCC21004E77}"/>
              </a:ext>
            </a:extLst>
          </p:cNvPr>
          <p:cNvPicPr>
            <a:picLocks noGrp="1" noChangeAspect="1"/>
          </p:cNvPicPr>
          <p:nvPr>
            <p:ph sz="half" idx="2"/>
          </p:nvPr>
        </p:nvPicPr>
        <p:blipFill>
          <a:blip r:embed="rId2">
            <a:extLst>
              <a:ext uri="{28A0092B-C50C-407E-A947-70E740481C1C}">
                <a14:useLocalDpi xmlns="" xmlns:a14="http://schemas.microsoft.com/office/drawing/2010/main" val="0"/>
              </a:ext>
            </a:extLst>
          </a:blip>
          <a:stretch>
            <a:fillRect/>
          </a:stretch>
        </p:blipFill>
        <p:spPr>
          <a:xfrm>
            <a:off x="272748" y="1253331"/>
            <a:ext cx="4351338" cy="43513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2323673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sp>
      <p:sp>
        <p:nvSpPr>
          <p:cNvPr id="3" name="Shape 1"/>
          <p:cNvSpPr/>
          <p:nvPr/>
        </p:nvSpPr>
        <p:spPr>
          <a:xfrm>
            <a:off x="0" y="0"/>
            <a:ext cx="12192000" cy="6858000"/>
          </a:xfrm>
          <a:prstGeom prst="rect">
            <a:avLst/>
          </a:prstGeom>
          <a:solidFill>
            <a:srgbClr val="FFFFFF"/>
          </a:solidFill>
          <a:ln w="7620">
            <a:solidFill>
              <a:srgbClr val="E5E0DF"/>
            </a:solidFill>
            <a:prstDash val="solid"/>
          </a:ln>
        </p:spPr>
      </p:sp>
      <p:sp>
        <p:nvSpPr>
          <p:cNvPr id="4" name="Text 2"/>
          <p:cNvSpPr/>
          <p:nvPr/>
        </p:nvSpPr>
        <p:spPr>
          <a:xfrm>
            <a:off x="694333" y="950317"/>
            <a:ext cx="6978848" cy="601762"/>
          </a:xfrm>
          <a:prstGeom prst="rect">
            <a:avLst/>
          </a:prstGeom>
          <a:noFill/>
          <a:ln/>
        </p:spPr>
        <p:txBody>
          <a:bodyPr wrap="none" rtlCol="0" anchor="t"/>
          <a:lstStyle/>
          <a:p>
            <a:pPr>
              <a:lnSpc>
                <a:spcPts val="4738"/>
              </a:lnSpc>
            </a:pPr>
            <a:r>
              <a:rPr lang="en-US" sz="4400" b="1" kern="0" spc="-109" dirty="0">
                <a:solidFill>
                  <a:srgbClr val="FF0000"/>
                </a:solidFill>
                <a:latin typeface="Inter" pitchFamily="34" charset="0"/>
                <a:ea typeface="Inter" pitchFamily="34" charset="-122"/>
                <a:cs typeface="Inter" pitchFamily="34" charset="-120"/>
              </a:rPr>
              <a:t>Future of A.R and V.R technology</a:t>
            </a:r>
            <a:endParaRPr lang="en-US" sz="4400" dirty="0">
              <a:solidFill>
                <a:srgbClr val="FF0000"/>
              </a:solidFill>
            </a:endParaRPr>
          </a:p>
        </p:txBody>
      </p:sp>
      <p:pic>
        <p:nvPicPr>
          <p:cNvPr id="5" name="Image 0" descr="preencoded.png"/>
          <p:cNvPicPr>
            <a:picLocks noChangeAspect="1"/>
          </p:cNvPicPr>
          <p:nvPr/>
        </p:nvPicPr>
        <p:blipFill>
          <a:blip r:embed="rId3"/>
          <a:stretch>
            <a:fillRect/>
          </a:stretch>
        </p:blipFill>
        <p:spPr>
          <a:xfrm>
            <a:off x="1229619" y="1829793"/>
            <a:ext cx="2407146" cy="2407146"/>
          </a:xfrm>
          <a:prstGeom prst="rect">
            <a:avLst/>
          </a:prstGeom>
        </p:spPr>
      </p:pic>
      <p:sp>
        <p:nvSpPr>
          <p:cNvPr id="6" name="Text 3"/>
          <p:cNvSpPr/>
          <p:nvPr/>
        </p:nvSpPr>
        <p:spPr>
          <a:xfrm>
            <a:off x="1507332" y="4422081"/>
            <a:ext cx="1851620" cy="300832"/>
          </a:xfrm>
          <a:prstGeom prst="rect">
            <a:avLst/>
          </a:prstGeom>
          <a:noFill/>
          <a:ln/>
        </p:spPr>
        <p:txBody>
          <a:bodyPr wrap="none" rtlCol="0" anchor="t"/>
          <a:lstStyle/>
          <a:p>
            <a:pPr algn="ctr">
              <a:lnSpc>
                <a:spcPts val="2369"/>
              </a:lnSpc>
            </a:pPr>
            <a:r>
              <a:rPr lang="en-US" sz="1822" b="1" kern="0" spc="-55" dirty="0">
                <a:solidFill>
                  <a:srgbClr val="000000"/>
                </a:solidFill>
                <a:latin typeface="Inter" pitchFamily="34" charset="0"/>
                <a:ea typeface="Inter" pitchFamily="34" charset="-122"/>
                <a:cs typeface="Inter" pitchFamily="34" charset="-120"/>
              </a:rPr>
              <a:t>The Future of AR</a:t>
            </a:r>
            <a:endParaRPr lang="en-US" sz="1822" dirty="0"/>
          </a:p>
        </p:txBody>
      </p:sp>
      <p:sp>
        <p:nvSpPr>
          <p:cNvPr id="7" name="Text 4"/>
          <p:cNvSpPr/>
          <p:nvPr/>
        </p:nvSpPr>
        <p:spPr>
          <a:xfrm>
            <a:off x="694332" y="4908054"/>
            <a:ext cx="3477717" cy="666353"/>
          </a:xfrm>
          <a:prstGeom prst="rect">
            <a:avLst/>
          </a:prstGeom>
          <a:noFill/>
          <a:ln/>
        </p:spPr>
        <p:txBody>
          <a:bodyPr wrap="square" rtlCol="0" anchor="t"/>
          <a:lstStyle/>
          <a:p>
            <a:pPr algn="ctr">
              <a:lnSpc>
                <a:spcPts val="2624"/>
              </a:lnSpc>
            </a:pPr>
            <a:r>
              <a:rPr lang="en-US" sz="1458" kern="0" spc="-29" dirty="0">
                <a:solidFill>
                  <a:srgbClr val="272525"/>
                </a:solidFill>
                <a:latin typeface="Inter" pitchFamily="34" charset="0"/>
                <a:ea typeface="Inter" pitchFamily="34" charset="-122"/>
                <a:cs typeface="Inter" pitchFamily="34" charset="-120"/>
              </a:rPr>
              <a:t>Applications for AR in smart cities, navigation, telemedicine, and more.</a:t>
            </a:r>
            <a:endParaRPr lang="en-US" sz="1458" dirty="0"/>
          </a:p>
        </p:txBody>
      </p:sp>
      <p:pic>
        <p:nvPicPr>
          <p:cNvPr id="8" name="Image 1" descr="preencoded.png"/>
          <p:cNvPicPr>
            <a:picLocks noChangeAspect="1"/>
          </p:cNvPicPr>
          <p:nvPr/>
        </p:nvPicPr>
        <p:blipFill>
          <a:blip r:embed="rId4"/>
          <a:stretch>
            <a:fillRect/>
          </a:stretch>
        </p:blipFill>
        <p:spPr>
          <a:xfrm>
            <a:off x="4892477" y="1829793"/>
            <a:ext cx="2407146" cy="2407146"/>
          </a:xfrm>
          <a:prstGeom prst="rect">
            <a:avLst/>
          </a:prstGeom>
        </p:spPr>
      </p:pic>
      <p:sp>
        <p:nvSpPr>
          <p:cNvPr id="9" name="Text 5"/>
          <p:cNvSpPr/>
          <p:nvPr/>
        </p:nvSpPr>
        <p:spPr>
          <a:xfrm>
            <a:off x="5170190" y="4422081"/>
            <a:ext cx="1851620" cy="300832"/>
          </a:xfrm>
          <a:prstGeom prst="rect">
            <a:avLst/>
          </a:prstGeom>
          <a:noFill/>
          <a:ln/>
        </p:spPr>
        <p:txBody>
          <a:bodyPr wrap="none" rtlCol="0" anchor="t"/>
          <a:lstStyle/>
          <a:p>
            <a:pPr algn="ctr">
              <a:lnSpc>
                <a:spcPts val="2369"/>
              </a:lnSpc>
            </a:pPr>
            <a:r>
              <a:rPr lang="en-US" sz="1822" b="1" kern="0" spc="-55" dirty="0">
                <a:solidFill>
                  <a:srgbClr val="000000"/>
                </a:solidFill>
                <a:latin typeface="Inter" pitchFamily="34" charset="0"/>
                <a:ea typeface="Inter" pitchFamily="34" charset="-122"/>
                <a:cs typeface="Inter" pitchFamily="34" charset="-120"/>
              </a:rPr>
              <a:t>The Future of VR</a:t>
            </a:r>
            <a:endParaRPr lang="en-US" sz="1822" dirty="0"/>
          </a:p>
        </p:txBody>
      </p:sp>
      <p:sp>
        <p:nvSpPr>
          <p:cNvPr id="10" name="Text 6"/>
          <p:cNvSpPr/>
          <p:nvPr/>
        </p:nvSpPr>
        <p:spPr>
          <a:xfrm>
            <a:off x="4357192" y="4908054"/>
            <a:ext cx="3477717" cy="666353"/>
          </a:xfrm>
          <a:prstGeom prst="rect">
            <a:avLst/>
          </a:prstGeom>
          <a:noFill/>
          <a:ln/>
        </p:spPr>
        <p:txBody>
          <a:bodyPr wrap="square" rtlCol="0" anchor="t"/>
          <a:lstStyle/>
          <a:p>
            <a:pPr algn="ctr">
              <a:lnSpc>
                <a:spcPts val="2624"/>
              </a:lnSpc>
            </a:pPr>
            <a:r>
              <a:rPr lang="en-US" sz="1458" kern="0" spc="-29" dirty="0">
                <a:solidFill>
                  <a:srgbClr val="272525"/>
                </a:solidFill>
                <a:latin typeface="Inter" pitchFamily="34" charset="0"/>
                <a:ea typeface="Inter" pitchFamily="34" charset="-122"/>
                <a:cs typeface="Inter" pitchFamily="34" charset="-120"/>
              </a:rPr>
              <a:t>Uses for VR in manufacturing, training, sports, and travel.</a:t>
            </a:r>
            <a:endParaRPr lang="en-US" sz="1458" dirty="0"/>
          </a:p>
        </p:txBody>
      </p:sp>
      <p:pic>
        <p:nvPicPr>
          <p:cNvPr id="11" name="Image 2" descr="preencoded.png"/>
          <p:cNvPicPr>
            <a:picLocks noChangeAspect="1"/>
          </p:cNvPicPr>
          <p:nvPr/>
        </p:nvPicPr>
        <p:blipFill>
          <a:blip r:embed="rId5"/>
          <a:stretch>
            <a:fillRect/>
          </a:stretch>
        </p:blipFill>
        <p:spPr>
          <a:xfrm>
            <a:off x="8555335" y="1829793"/>
            <a:ext cx="2407146" cy="2407146"/>
          </a:xfrm>
          <a:prstGeom prst="rect">
            <a:avLst/>
          </a:prstGeom>
        </p:spPr>
      </p:pic>
      <p:sp>
        <p:nvSpPr>
          <p:cNvPr id="12" name="Text 7"/>
          <p:cNvSpPr/>
          <p:nvPr/>
        </p:nvSpPr>
        <p:spPr>
          <a:xfrm>
            <a:off x="8467130" y="4422081"/>
            <a:ext cx="2583557" cy="300832"/>
          </a:xfrm>
          <a:prstGeom prst="rect">
            <a:avLst/>
          </a:prstGeom>
          <a:noFill/>
          <a:ln/>
        </p:spPr>
        <p:txBody>
          <a:bodyPr wrap="none" rtlCol="0" anchor="t"/>
          <a:lstStyle/>
          <a:p>
            <a:pPr algn="ctr">
              <a:lnSpc>
                <a:spcPts val="2369"/>
              </a:lnSpc>
            </a:pPr>
            <a:r>
              <a:rPr lang="en-US" sz="1822" b="1" kern="0" spc="-55" dirty="0">
                <a:solidFill>
                  <a:srgbClr val="000000"/>
                </a:solidFill>
                <a:latin typeface="Inter" pitchFamily="34" charset="0"/>
                <a:ea typeface="Inter" pitchFamily="34" charset="-122"/>
                <a:cs typeface="Inter" pitchFamily="34" charset="-120"/>
              </a:rPr>
              <a:t>The Future of MR and XR</a:t>
            </a:r>
            <a:endParaRPr lang="en-US" sz="1822" dirty="0"/>
          </a:p>
        </p:txBody>
      </p:sp>
      <p:sp>
        <p:nvSpPr>
          <p:cNvPr id="13" name="Text 8"/>
          <p:cNvSpPr/>
          <p:nvPr/>
        </p:nvSpPr>
        <p:spPr>
          <a:xfrm>
            <a:off x="8020050" y="4908054"/>
            <a:ext cx="3477717" cy="999530"/>
          </a:xfrm>
          <a:prstGeom prst="rect">
            <a:avLst/>
          </a:prstGeom>
          <a:noFill/>
          <a:ln/>
        </p:spPr>
        <p:txBody>
          <a:bodyPr wrap="square" rtlCol="0" anchor="t"/>
          <a:lstStyle/>
          <a:p>
            <a:pPr algn="ctr">
              <a:lnSpc>
                <a:spcPts val="2624"/>
              </a:lnSpc>
            </a:pPr>
            <a:r>
              <a:rPr lang="en-US" sz="1458" kern="0" spc="-29" dirty="0">
                <a:solidFill>
                  <a:srgbClr val="272525"/>
                </a:solidFill>
                <a:latin typeface="Inter" pitchFamily="34" charset="0"/>
                <a:ea typeface="Inter" pitchFamily="34" charset="-122"/>
                <a:cs typeface="Inter" pitchFamily="34" charset="-120"/>
              </a:rPr>
              <a:t>Applications for MR and XR in scientific research, education, entertainment, and product design.</a:t>
            </a:r>
            <a:endParaRPr lang="en-US" sz="1458"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F2204B4A-BC5A-4C76-A44D-583B0706789C}"/>
              </a:ext>
            </a:extLst>
          </p:cNvPr>
          <p:cNvSpPr txBox="1"/>
          <p:nvPr/>
        </p:nvSpPr>
        <p:spPr>
          <a:xfrm>
            <a:off x="3631077" y="2256231"/>
            <a:ext cx="4929846" cy="2554545"/>
          </a:xfrm>
          <a:prstGeom prst="rect">
            <a:avLst/>
          </a:prstGeom>
          <a:noFill/>
        </p:spPr>
        <p:txBody>
          <a:bodyPr wrap="square" rtlCol="0">
            <a:spAutoFit/>
          </a:bodyPr>
          <a:lstStyle/>
          <a:p>
            <a:pPr algn="ctr"/>
            <a:r>
              <a:rPr lang="en-IN" sz="8000" dirty="0">
                <a:solidFill>
                  <a:srgbClr val="6FB9B2"/>
                </a:solidFill>
                <a:latin typeface="Bauhaus 93" panose="04030905020B02020C02" pitchFamily="82" charset="0"/>
                <a:ea typeface="HGMaruGothicMPRO" panose="020F0400000000000000" pitchFamily="34" charset="-128"/>
              </a:rPr>
              <a:t>THANK YOU</a:t>
            </a:r>
          </a:p>
        </p:txBody>
      </p:sp>
    </p:spTree>
    <p:extLst>
      <p:ext uri="{BB962C8B-B14F-4D97-AF65-F5344CB8AC3E}">
        <p14:creationId xmlns="" xmlns:p14="http://schemas.microsoft.com/office/powerpoint/2010/main" val="804504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TotalTime>
  <Words>2579</Words>
  <Application>Microsoft Office PowerPoint</Application>
  <PresentationFormat>Custom</PresentationFormat>
  <Paragraphs>172</Paragraphs>
  <Slides>28</Slides>
  <Notes>3</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  Department of Computer Science and Engineering   </vt:lpstr>
      <vt:lpstr>UNIT-4 Augmented Reality and Virtual Reality</vt:lpstr>
      <vt:lpstr>Slide 3</vt:lpstr>
      <vt:lpstr>Virtual Reality</vt:lpstr>
      <vt:lpstr>Augmented Reality</vt:lpstr>
      <vt:lpstr>Mixed Reality</vt:lpstr>
      <vt:lpstr>Uses of Mixed Reality</vt:lpstr>
      <vt:lpstr>Augmented Virtuality</vt:lpstr>
      <vt:lpstr>Uses of Augmented Virtuality</vt:lpstr>
      <vt:lpstr>Extended Virtuality</vt:lpstr>
      <vt:lpstr>Types of Extended Virtuality</vt:lpstr>
      <vt:lpstr>Applications of Extended Reality:</vt:lpstr>
      <vt:lpstr>Slide 13</vt:lpstr>
      <vt:lpstr>History of AR &amp; VR:</vt:lpstr>
      <vt:lpstr>Features of VR:</vt:lpstr>
      <vt:lpstr>VR Controllers:</vt:lpstr>
      <vt:lpstr>Types of VR Controllers:</vt:lpstr>
      <vt:lpstr>Current issues with VR:</vt:lpstr>
      <vt:lpstr>AR Mobile Devices:</vt:lpstr>
      <vt:lpstr>AR Headsets:</vt:lpstr>
      <vt:lpstr>AR Glasses:</vt:lpstr>
      <vt:lpstr>AR Controllers:</vt:lpstr>
      <vt:lpstr>Current Issues of AR:</vt:lpstr>
      <vt:lpstr>Slide 24</vt:lpstr>
      <vt:lpstr>The Importance of AR and VR Educational and health sectors </vt:lpstr>
      <vt:lpstr>The Importance of AR and VR in the IT Sector </vt:lpstr>
      <vt:lpstr>Slide 27</vt:lpstr>
      <vt:lpstr>Slide 28</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Swapnik Latupally</dc:creator>
  <cp:lastModifiedBy>Vikram Kalvala</cp:lastModifiedBy>
  <cp:revision>9</cp:revision>
  <dcterms:created xsi:type="dcterms:W3CDTF">2023-06-16T11:12:44Z</dcterms:created>
  <dcterms:modified xsi:type="dcterms:W3CDTF">2023-06-27T05:48:43Z</dcterms:modified>
</cp:coreProperties>
</file>