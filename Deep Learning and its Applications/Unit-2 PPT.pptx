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93" r:id="rId10"/>
    <p:sldId id="266" r:id="rId11"/>
    <p:sldId id="264" r:id="rId12"/>
    <p:sldId id="294" r:id="rId13"/>
    <p:sldId id="295" r:id="rId14"/>
    <p:sldId id="296" r:id="rId15"/>
    <p:sldId id="297" r:id="rId16"/>
    <p:sldId id="305" r:id="rId17"/>
    <p:sldId id="298" r:id="rId18"/>
    <p:sldId id="299" r:id="rId19"/>
    <p:sldId id="300" r:id="rId20"/>
    <p:sldId id="301" r:id="rId21"/>
    <p:sldId id="302" r:id="rId22"/>
    <p:sldId id="303" r:id="rId23"/>
    <p:sldId id="304" r:id="rId24"/>
    <p:sldId id="306" r:id="rId25"/>
    <p:sldId id="307" r:id="rId26"/>
    <p:sldId id="308" r:id="rId27"/>
    <p:sldId id="309" r:id="rId28"/>
    <p:sldId id="312" r:id="rId29"/>
    <p:sldId id="310" r:id="rId30"/>
    <p:sldId id="315" r:id="rId31"/>
    <p:sldId id="314" r:id="rId32"/>
    <p:sldId id="317" r:id="rId33"/>
    <p:sldId id="313" r:id="rId34"/>
    <p:sldId id="316" r:id="rId35"/>
    <p:sldId id="318" r:id="rId36"/>
    <p:sldId id="358" r:id="rId37"/>
    <p:sldId id="350" r:id="rId38"/>
    <p:sldId id="359" r:id="rId39"/>
    <p:sldId id="351" r:id="rId40"/>
    <p:sldId id="352" r:id="rId41"/>
    <p:sldId id="372" r:id="rId42"/>
    <p:sldId id="353" r:id="rId43"/>
    <p:sldId id="360" r:id="rId44"/>
    <p:sldId id="361" r:id="rId45"/>
    <p:sldId id="362" r:id="rId46"/>
    <p:sldId id="363" r:id="rId47"/>
    <p:sldId id="364" r:id="rId48"/>
    <p:sldId id="365" r:id="rId49"/>
    <p:sldId id="367" r:id="rId50"/>
    <p:sldId id="373" r:id="rId51"/>
    <p:sldId id="369" r:id="rId52"/>
    <p:sldId id="356" r:id="rId53"/>
    <p:sldId id="357" r:id="rId54"/>
    <p:sldId id="320" r:id="rId55"/>
    <p:sldId id="321" r:id="rId56"/>
    <p:sldId id="319" r:id="rId57"/>
    <p:sldId id="322" r:id="rId58"/>
    <p:sldId id="374" r:id="rId59"/>
    <p:sldId id="327" r:id="rId60"/>
    <p:sldId id="328" r:id="rId6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95" autoAdjust="0"/>
  </p:normalViewPr>
  <p:slideViewPr>
    <p:cSldViewPr>
      <p:cViewPr varScale="1">
        <p:scale>
          <a:sx n="83" d="100"/>
          <a:sy n="83" d="100"/>
        </p:scale>
        <p:origin x="658"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20761BC-1DFB-4DC3-8EA3-F6444560AF7A}" type="datetimeFigureOut">
              <a:rPr lang="en-IN" smtClean="0"/>
              <a:t>28-07-2025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25028E6-0E93-4ABE-8A6A-5F066614F407}" type="slidenum">
              <a:rPr lang="en-IN" smtClean="0"/>
              <a:t>‹#›</a:t>
            </a:fld>
            <a:endParaRPr lang="en-IN"/>
          </a:p>
        </p:txBody>
      </p:sp>
    </p:spTree>
    <p:extLst>
      <p:ext uri="{BB962C8B-B14F-4D97-AF65-F5344CB8AC3E}">
        <p14:creationId xmlns:p14="http://schemas.microsoft.com/office/powerpoint/2010/main" val="4080420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25028E6-0E93-4ABE-8A6A-5F066614F407}" type="slidenum">
              <a:rPr lang="en-IN" smtClean="0"/>
              <a:t>54</a:t>
            </a:fld>
            <a:endParaRPr lang="en-IN"/>
          </a:p>
        </p:txBody>
      </p:sp>
    </p:spTree>
    <p:extLst>
      <p:ext uri="{BB962C8B-B14F-4D97-AF65-F5344CB8AC3E}">
        <p14:creationId xmlns:p14="http://schemas.microsoft.com/office/powerpoint/2010/main" val="3955404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25028E6-0E93-4ABE-8A6A-5F066614F407}" type="slidenum">
              <a:rPr lang="en-IN" smtClean="0"/>
              <a:t>58</a:t>
            </a:fld>
            <a:endParaRPr lang="en-IN"/>
          </a:p>
        </p:txBody>
      </p:sp>
    </p:spTree>
    <p:extLst>
      <p:ext uri="{BB962C8B-B14F-4D97-AF65-F5344CB8AC3E}">
        <p14:creationId xmlns:p14="http://schemas.microsoft.com/office/powerpoint/2010/main" val="111345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rgbClr val="FF0000"/>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0931" y="331724"/>
            <a:ext cx="8371840" cy="1002030"/>
          </a:xfrm>
          <a:prstGeom prst="rect">
            <a:avLst/>
          </a:prstGeom>
        </p:spPr>
        <p:txBody>
          <a:bodyPr wrap="square" lIns="0" tIns="0" rIns="0" bIns="0">
            <a:spAutoFit/>
          </a:bodyPr>
          <a:lstStyle>
            <a:lvl1pPr>
              <a:defRPr sz="3200" b="1" i="0">
                <a:solidFill>
                  <a:srgbClr val="FF0000"/>
                </a:solidFill>
                <a:latin typeface="Times New Roman"/>
                <a:cs typeface="Times New Roman"/>
              </a:defRPr>
            </a:lvl1pPr>
          </a:lstStyle>
          <a:p>
            <a:endParaRPr/>
          </a:p>
        </p:txBody>
      </p:sp>
      <p:sp>
        <p:nvSpPr>
          <p:cNvPr id="3" name="Holder 3"/>
          <p:cNvSpPr>
            <a:spLocks noGrp="1"/>
          </p:cNvSpPr>
          <p:nvPr>
            <p:ph type="body" idx="1"/>
          </p:nvPr>
        </p:nvSpPr>
        <p:spPr>
          <a:xfrm>
            <a:off x="589584" y="1443990"/>
            <a:ext cx="10202545" cy="441579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7/28/2025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 Id="rId5" Type="http://schemas.openxmlformats.org/officeDocument/2006/relationships/image" Target="../media/image50.png"/><Relationship Id="rId4" Type="http://schemas.openxmlformats.org/officeDocument/2006/relationships/image" Target="../media/image49.png"/></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5.xml"/><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 Id="rId4" Type="http://schemas.openxmlformats.org/officeDocument/2006/relationships/image" Target="../media/image58.png"/></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5.xml"/><Relationship Id="rId4" Type="http://schemas.openxmlformats.org/officeDocument/2006/relationships/image" Target="../media/image65.png"/></Relationships>
</file>

<file path=ppt/slides/_rels/slide5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5.xml"/><Relationship Id="rId4" Type="http://schemas.openxmlformats.org/officeDocument/2006/relationships/image" Target="../media/image68.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71.png"/><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image" Target="../media/image69.wmf"/><Relationship Id="rId5" Type="http://schemas.openxmlformats.org/officeDocument/2006/relationships/oleObject" Target="../embeddings/oleObject1.bin"/><Relationship Id="rId4" Type="http://schemas.openxmlformats.org/officeDocument/2006/relationships/image" Target="../media/image70.png"/></Relationships>
</file>

<file path=ppt/slides/_rels/slide5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1658" y="-76431"/>
            <a:ext cx="12018645" cy="4499610"/>
          </a:xfrm>
          <a:prstGeom prst="rect">
            <a:avLst/>
          </a:prstGeom>
        </p:spPr>
        <p:txBody>
          <a:bodyPr vert="horz" wrap="square" lIns="0" tIns="12065" rIns="0" bIns="0" rtlCol="0">
            <a:spAutoFit/>
          </a:bodyPr>
          <a:lstStyle/>
          <a:p>
            <a:pPr marL="3156585" marR="3154045" algn="ctr">
              <a:lnSpc>
                <a:spcPct val="120100"/>
              </a:lnSpc>
              <a:spcBef>
                <a:spcPts val="95"/>
              </a:spcBef>
            </a:pPr>
            <a:r>
              <a:rPr sz="2500" b="1" spc="-20" dirty="0">
                <a:solidFill>
                  <a:srgbClr val="C00000"/>
                </a:solidFill>
                <a:latin typeface="Times New Roman"/>
                <a:cs typeface="Times New Roman"/>
              </a:rPr>
              <a:t>DEEP</a:t>
            </a:r>
            <a:r>
              <a:rPr sz="2500" b="1" spc="-245" dirty="0">
                <a:solidFill>
                  <a:srgbClr val="C00000"/>
                </a:solidFill>
                <a:latin typeface="Times New Roman"/>
                <a:cs typeface="Times New Roman"/>
              </a:rPr>
              <a:t> </a:t>
            </a:r>
            <a:r>
              <a:rPr sz="2500" b="1" spc="-20" dirty="0">
                <a:solidFill>
                  <a:srgbClr val="C00000"/>
                </a:solidFill>
                <a:latin typeface="Times New Roman"/>
                <a:cs typeface="Times New Roman"/>
              </a:rPr>
              <a:t>LEARNING</a:t>
            </a:r>
            <a:r>
              <a:rPr sz="2500" b="1" spc="-225" dirty="0">
                <a:solidFill>
                  <a:srgbClr val="C00000"/>
                </a:solidFill>
                <a:latin typeface="Times New Roman"/>
                <a:cs typeface="Times New Roman"/>
              </a:rPr>
              <a:t> </a:t>
            </a:r>
            <a:r>
              <a:rPr sz="2500" b="1" spc="-10" dirty="0">
                <a:solidFill>
                  <a:srgbClr val="C00000"/>
                </a:solidFill>
                <a:latin typeface="Times New Roman"/>
                <a:cs typeface="Times New Roman"/>
              </a:rPr>
              <a:t>AND</a:t>
            </a:r>
            <a:r>
              <a:rPr sz="2500" b="1" spc="-254" dirty="0">
                <a:solidFill>
                  <a:srgbClr val="C00000"/>
                </a:solidFill>
                <a:latin typeface="Times New Roman"/>
                <a:cs typeface="Times New Roman"/>
              </a:rPr>
              <a:t> </a:t>
            </a:r>
            <a:r>
              <a:rPr sz="2500" b="1" spc="-40" dirty="0">
                <a:solidFill>
                  <a:srgbClr val="C00000"/>
                </a:solidFill>
                <a:latin typeface="Times New Roman"/>
                <a:cs typeface="Times New Roman"/>
              </a:rPr>
              <a:t>APPLICATIONS </a:t>
            </a:r>
            <a:r>
              <a:rPr sz="2500" b="1" spc="-25" dirty="0">
                <a:solidFill>
                  <a:srgbClr val="C00000"/>
                </a:solidFill>
                <a:latin typeface="Times New Roman"/>
                <a:cs typeface="Times New Roman"/>
              </a:rPr>
              <a:t>MR20-</a:t>
            </a:r>
            <a:r>
              <a:rPr sz="2500" b="1" spc="-10" dirty="0">
                <a:solidFill>
                  <a:srgbClr val="C00000"/>
                </a:solidFill>
                <a:latin typeface="Times New Roman"/>
                <a:cs typeface="Times New Roman"/>
              </a:rPr>
              <a:t>1CS0158</a:t>
            </a:r>
            <a:endParaRPr sz="2500">
              <a:latin typeface="Times New Roman"/>
              <a:cs typeface="Times New Roman"/>
            </a:endParaRPr>
          </a:p>
          <a:p>
            <a:pPr marR="6350" algn="ctr">
              <a:lnSpc>
                <a:spcPct val="100000"/>
              </a:lnSpc>
              <a:spcBef>
                <a:spcPts val="915"/>
              </a:spcBef>
            </a:pPr>
            <a:r>
              <a:rPr sz="2500" b="1" dirty="0">
                <a:solidFill>
                  <a:srgbClr val="C00000"/>
                </a:solidFill>
                <a:latin typeface="Times New Roman"/>
                <a:cs typeface="Times New Roman"/>
              </a:rPr>
              <a:t>UNIT</a:t>
            </a:r>
            <a:r>
              <a:rPr sz="2500" b="1" spc="-114" dirty="0">
                <a:solidFill>
                  <a:srgbClr val="C00000"/>
                </a:solidFill>
                <a:latin typeface="Times New Roman"/>
                <a:cs typeface="Times New Roman"/>
              </a:rPr>
              <a:t> </a:t>
            </a:r>
            <a:r>
              <a:rPr sz="2500" b="1" spc="-25" dirty="0">
                <a:solidFill>
                  <a:srgbClr val="C00000"/>
                </a:solidFill>
                <a:latin typeface="Times New Roman"/>
                <a:cs typeface="Times New Roman"/>
              </a:rPr>
              <a:t>II</a:t>
            </a:r>
            <a:endParaRPr sz="2500">
              <a:latin typeface="Times New Roman"/>
              <a:cs typeface="Times New Roman"/>
            </a:endParaRPr>
          </a:p>
          <a:p>
            <a:pPr marL="12700" marR="5080" algn="just">
              <a:lnSpc>
                <a:spcPct val="100000"/>
              </a:lnSpc>
              <a:spcBef>
                <a:spcPts val="600"/>
              </a:spcBef>
            </a:pPr>
            <a:r>
              <a:rPr sz="2500" b="1" spc="-20" dirty="0">
                <a:latin typeface="Times New Roman"/>
                <a:cs typeface="Times New Roman"/>
              </a:rPr>
              <a:t>Tensor</a:t>
            </a:r>
            <a:r>
              <a:rPr sz="2500" b="1" spc="20" dirty="0">
                <a:latin typeface="Times New Roman"/>
                <a:cs typeface="Times New Roman"/>
              </a:rPr>
              <a:t> </a:t>
            </a:r>
            <a:r>
              <a:rPr sz="2500" b="1" dirty="0">
                <a:latin typeface="Times New Roman"/>
                <a:cs typeface="Times New Roman"/>
              </a:rPr>
              <a:t>Flow:</a:t>
            </a:r>
            <a:r>
              <a:rPr sz="2500" b="1" spc="85" dirty="0">
                <a:latin typeface="Times New Roman"/>
                <a:cs typeface="Times New Roman"/>
              </a:rPr>
              <a:t> </a:t>
            </a:r>
            <a:r>
              <a:rPr sz="2500" dirty="0">
                <a:latin typeface="Times New Roman"/>
                <a:cs typeface="Times New Roman"/>
              </a:rPr>
              <a:t>Computational</a:t>
            </a:r>
            <a:r>
              <a:rPr sz="2500" spc="85" dirty="0">
                <a:latin typeface="Times New Roman"/>
                <a:cs typeface="Times New Roman"/>
              </a:rPr>
              <a:t> </a:t>
            </a:r>
            <a:r>
              <a:rPr sz="2500" dirty="0">
                <a:latin typeface="Times New Roman"/>
                <a:cs typeface="Times New Roman"/>
              </a:rPr>
              <a:t>Graph,</a:t>
            </a:r>
            <a:r>
              <a:rPr sz="2500" spc="80" dirty="0">
                <a:latin typeface="Times New Roman"/>
                <a:cs typeface="Times New Roman"/>
              </a:rPr>
              <a:t> </a:t>
            </a:r>
            <a:r>
              <a:rPr sz="2500" dirty="0">
                <a:latin typeface="Times New Roman"/>
                <a:cs typeface="Times New Roman"/>
              </a:rPr>
              <a:t>Key</a:t>
            </a:r>
            <a:r>
              <a:rPr sz="2500" spc="85" dirty="0">
                <a:latin typeface="Times New Roman"/>
                <a:cs typeface="Times New Roman"/>
              </a:rPr>
              <a:t> </a:t>
            </a:r>
            <a:r>
              <a:rPr sz="2500" dirty="0">
                <a:latin typeface="Times New Roman"/>
                <a:cs typeface="Times New Roman"/>
              </a:rPr>
              <a:t>highlights,</a:t>
            </a:r>
            <a:r>
              <a:rPr sz="2500" spc="80" dirty="0">
                <a:latin typeface="Times New Roman"/>
                <a:cs typeface="Times New Roman"/>
              </a:rPr>
              <a:t> </a:t>
            </a:r>
            <a:r>
              <a:rPr sz="2500" dirty="0">
                <a:latin typeface="Times New Roman"/>
                <a:cs typeface="Times New Roman"/>
              </a:rPr>
              <a:t>Creating</a:t>
            </a:r>
            <a:r>
              <a:rPr sz="2500" spc="90" dirty="0">
                <a:latin typeface="Times New Roman"/>
                <a:cs typeface="Times New Roman"/>
              </a:rPr>
              <a:t> </a:t>
            </a:r>
            <a:r>
              <a:rPr sz="2500" dirty="0">
                <a:latin typeface="Times New Roman"/>
                <a:cs typeface="Times New Roman"/>
              </a:rPr>
              <a:t>a</a:t>
            </a:r>
            <a:r>
              <a:rPr sz="2500" spc="85" dirty="0">
                <a:latin typeface="Times New Roman"/>
                <a:cs typeface="Times New Roman"/>
              </a:rPr>
              <a:t> </a:t>
            </a:r>
            <a:r>
              <a:rPr sz="2500" dirty="0">
                <a:latin typeface="Times New Roman"/>
                <a:cs typeface="Times New Roman"/>
              </a:rPr>
              <a:t>Graph,</a:t>
            </a:r>
            <a:r>
              <a:rPr sz="2500" spc="75" dirty="0">
                <a:latin typeface="Times New Roman"/>
                <a:cs typeface="Times New Roman"/>
              </a:rPr>
              <a:t> </a:t>
            </a:r>
            <a:r>
              <a:rPr sz="2500" dirty="0">
                <a:latin typeface="Times New Roman"/>
                <a:cs typeface="Times New Roman"/>
              </a:rPr>
              <a:t>Regression</a:t>
            </a:r>
            <a:r>
              <a:rPr sz="2500" spc="95" dirty="0">
                <a:latin typeface="Times New Roman"/>
                <a:cs typeface="Times New Roman"/>
              </a:rPr>
              <a:t> </a:t>
            </a:r>
            <a:r>
              <a:rPr sz="2500" spc="-10" dirty="0">
                <a:latin typeface="Times New Roman"/>
                <a:cs typeface="Times New Roman"/>
              </a:rPr>
              <a:t>example, </a:t>
            </a:r>
            <a:r>
              <a:rPr sz="2500" dirty="0">
                <a:latin typeface="Times New Roman"/>
                <a:cs typeface="Times New Roman"/>
              </a:rPr>
              <a:t>Gradient</a:t>
            </a:r>
            <a:r>
              <a:rPr sz="2500" spc="-5" dirty="0">
                <a:latin typeface="Times New Roman"/>
                <a:cs typeface="Times New Roman"/>
              </a:rPr>
              <a:t> </a:t>
            </a:r>
            <a:r>
              <a:rPr sz="2500" dirty="0">
                <a:latin typeface="Times New Roman"/>
                <a:cs typeface="Times New Roman"/>
              </a:rPr>
              <a:t>Descent,</a:t>
            </a:r>
            <a:r>
              <a:rPr sz="2500" spc="5" dirty="0">
                <a:latin typeface="Times New Roman"/>
                <a:cs typeface="Times New Roman"/>
              </a:rPr>
              <a:t> </a:t>
            </a:r>
            <a:r>
              <a:rPr sz="2500" dirty="0">
                <a:latin typeface="Times New Roman"/>
                <a:cs typeface="Times New Roman"/>
              </a:rPr>
              <a:t>Tensor</a:t>
            </a:r>
            <a:r>
              <a:rPr sz="2500" spc="-5" dirty="0">
                <a:latin typeface="Times New Roman"/>
                <a:cs typeface="Times New Roman"/>
              </a:rPr>
              <a:t> </a:t>
            </a:r>
            <a:r>
              <a:rPr sz="2500" dirty="0">
                <a:latin typeface="Times New Roman"/>
                <a:cs typeface="Times New Roman"/>
              </a:rPr>
              <a:t>Board,</a:t>
            </a:r>
            <a:r>
              <a:rPr sz="2500" spc="10" dirty="0">
                <a:latin typeface="Times New Roman"/>
                <a:cs typeface="Times New Roman"/>
              </a:rPr>
              <a:t> </a:t>
            </a:r>
            <a:r>
              <a:rPr sz="2500" spc="-20" dirty="0">
                <a:latin typeface="Times New Roman"/>
                <a:cs typeface="Times New Roman"/>
              </a:rPr>
              <a:t>Modularity,</a:t>
            </a:r>
            <a:r>
              <a:rPr sz="2500" spc="-5" dirty="0">
                <a:latin typeface="Times New Roman"/>
                <a:cs typeface="Times New Roman"/>
              </a:rPr>
              <a:t> </a:t>
            </a:r>
            <a:r>
              <a:rPr sz="2500" dirty="0">
                <a:latin typeface="Times New Roman"/>
                <a:cs typeface="Times New Roman"/>
              </a:rPr>
              <a:t>Sharing </a:t>
            </a:r>
            <a:r>
              <a:rPr sz="2500" spc="-45" dirty="0">
                <a:latin typeface="Times New Roman"/>
                <a:cs typeface="Times New Roman"/>
              </a:rPr>
              <a:t>Variables,</a:t>
            </a:r>
            <a:r>
              <a:rPr sz="2500" spc="-30" dirty="0">
                <a:latin typeface="Times New Roman"/>
                <a:cs typeface="Times New Roman"/>
              </a:rPr>
              <a:t> </a:t>
            </a:r>
            <a:r>
              <a:rPr sz="2500" dirty="0">
                <a:latin typeface="Times New Roman"/>
                <a:cs typeface="Times New Roman"/>
              </a:rPr>
              <a:t>Keras</a:t>
            </a:r>
            <a:r>
              <a:rPr sz="2500" spc="-5" dirty="0">
                <a:latin typeface="Times New Roman"/>
                <a:cs typeface="Times New Roman"/>
              </a:rPr>
              <a:t> </a:t>
            </a:r>
            <a:r>
              <a:rPr sz="2500" dirty="0">
                <a:latin typeface="Times New Roman"/>
                <a:cs typeface="Times New Roman"/>
              </a:rPr>
              <a:t>Perceptrons:</a:t>
            </a:r>
            <a:r>
              <a:rPr sz="2500" spc="10" dirty="0">
                <a:latin typeface="Times New Roman"/>
                <a:cs typeface="Times New Roman"/>
              </a:rPr>
              <a:t> </a:t>
            </a:r>
            <a:r>
              <a:rPr sz="2500" dirty="0">
                <a:latin typeface="Times New Roman"/>
                <a:cs typeface="Times New Roman"/>
              </a:rPr>
              <a:t>What is</a:t>
            </a:r>
            <a:r>
              <a:rPr sz="2500" spc="10" dirty="0">
                <a:latin typeface="Times New Roman"/>
                <a:cs typeface="Times New Roman"/>
              </a:rPr>
              <a:t> </a:t>
            </a:r>
            <a:r>
              <a:rPr sz="2500" spc="-50" dirty="0">
                <a:latin typeface="Times New Roman"/>
                <a:cs typeface="Times New Roman"/>
              </a:rPr>
              <a:t>a </a:t>
            </a:r>
            <a:r>
              <a:rPr sz="2500" dirty="0">
                <a:latin typeface="Times New Roman"/>
                <a:cs typeface="Times New Roman"/>
              </a:rPr>
              <a:t>Perceptron,</a:t>
            </a:r>
            <a:r>
              <a:rPr sz="2500" spc="-55" dirty="0">
                <a:latin typeface="Times New Roman"/>
                <a:cs typeface="Times New Roman"/>
              </a:rPr>
              <a:t> </a:t>
            </a:r>
            <a:r>
              <a:rPr sz="2500" dirty="0">
                <a:latin typeface="Times New Roman"/>
                <a:cs typeface="Times New Roman"/>
              </a:rPr>
              <a:t>XOR</a:t>
            </a:r>
            <a:r>
              <a:rPr sz="2500" spc="-110" dirty="0">
                <a:latin typeface="Times New Roman"/>
                <a:cs typeface="Times New Roman"/>
              </a:rPr>
              <a:t> </a:t>
            </a:r>
            <a:r>
              <a:rPr sz="2500" spc="-20" dirty="0">
                <a:latin typeface="Times New Roman"/>
                <a:cs typeface="Times New Roman"/>
              </a:rPr>
              <a:t>Gate.</a:t>
            </a:r>
            <a:endParaRPr sz="2500">
              <a:latin typeface="Times New Roman"/>
              <a:cs typeface="Times New Roman"/>
            </a:endParaRPr>
          </a:p>
          <a:p>
            <a:pPr marL="12700" algn="just">
              <a:lnSpc>
                <a:spcPct val="100000"/>
              </a:lnSpc>
              <a:spcBef>
                <a:spcPts val="600"/>
              </a:spcBef>
            </a:pPr>
            <a:r>
              <a:rPr sz="2500" b="1" dirty="0">
                <a:latin typeface="Times New Roman"/>
                <a:cs typeface="Times New Roman"/>
              </a:rPr>
              <a:t>Activation</a:t>
            </a:r>
            <a:r>
              <a:rPr sz="2500" b="1" spc="-70" dirty="0">
                <a:latin typeface="Times New Roman"/>
                <a:cs typeface="Times New Roman"/>
              </a:rPr>
              <a:t> </a:t>
            </a:r>
            <a:r>
              <a:rPr sz="2500" b="1" spc="-10" dirty="0">
                <a:latin typeface="Times New Roman"/>
                <a:cs typeface="Times New Roman"/>
              </a:rPr>
              <a:t>Functions:</a:t>
            </a:r>
            <a:r>
              <a:rPr sz="2500" b="1" spc="-125" dirty="0">
                <a:latin typeface="Times New Roman"/>
                <a:cs typeface="Times New Roman"/>
              </a:rPr>
              <a:t> </a:t>
            </a:r>
            <a:r>
              <a:rPr sz="2500" dirty="0">
                <a:latin typeface="Times New Roman"/>
                <a:cs typeface="Times New Roman"/>
              </a:rPr>
              <a:t>Sigmoid,</a:t>
            </a:r>
            <a:r>
              <a:rPr sz="2500" spc="-65" dirty="0">
                <a:latin typeface="Times New Roman"/>
                <a:cs typeface="Times New Roman"/>
              </a:rPr>
              <a:t> </a:t>
            </a:r>
            <a:r>
              <a:rPr sz="2500" dirty="0">
                <a:latin typeface="Times New Roman"/>
                <a:cs typeface="Times New Roman"/>
              </a:rPr>
              <a:t>ReLU,</a:t>
            </a:r>
            <a:r>
              <a:rPr sz="2500" spc="-100" dirty="0">
                <a:latin typeface="Times New Roman"/>
                <a:cs typeface="Times New Roman"/>
              </a:rPr>
              <a:t> </a:t>
            </a:r>
            <a:r>
              <a:rPr sz="2500" dirty="0">
                <a:latin typeface="Times New Roman"/>
                <a:cs typeface="Times New Roman"/>
              </a:rPr>
              <a:t>Hyperbolic</a:t>
            </a:r>
            <a:r>
              <a:rPr sz="2500" spc="-70" dirty="0">
                <a:latin typeface="Times New Roman"/>
                <a:cs typeface="Times New Roman"/>
              </a:rPr>
              <a:t> </a:t>
            </a:r>
            <a:r>
              <a:rPr sz="2500" dirty="0">
                <a:latin typeface="Times New Roman"/>
                <a:cs typeface="Times New Roman"/>
              </a:rPr>
              <a:t>Fns,</a:t>
            </a:r>
            <a:r>
              <a:rPr sz="2500" spc="-130" dirty="0">
                <a:latin typeface="Times New Roman"/>
                <a:cs typeface="Times New Roman"/>
              </a:rPr>
              <a:t> </a:t>
            </a:r>
            <a:r>
              <a:rPr sz="2500" spc="-10" dirty="0">
                <a:latin typeface="Times New Roman"/>
                <a:cs typeface="Times New Roman"/>
              </a:rPr>
              <a:t>Softmax</a:t>
            </a:r>
            <a:endParaRPr sz="2500">
              <a:latin typeface="Times New Roman"/>
              <a:cs typeface="Times New Roman"/>
            </a:endParaRPr>
          </a:p>
          <a:p>
            <a:pPr>
              <a:lnSpc>
                <a:spcPct val="100000"/>
              </a:lnSpc>
              <a:spcBef>
                <a:spcPts val="1435"/>
              </a:spcBef>
            </a:pPr>
            <a:endParaRPr sz="2500">
              <a:latin typeface="Times New Roman"/>
              <a:cs typeface="Times New Roman"/>
            </a:endParaRPr>
          </a:p>
          <a:p>
            <a:pPr marL="12700" algn="just">
              <a:lnSpc>
                <a:spcPct val="100000"/>
              </a:lnSpc>
            </a:pPr>
            <a:r>
              <a:rPr sz="2500" b="1" spc="-100" dirty="0">
                <a:latin typeface="Times New Roman"/>
                <a:cs typeface="Times New Roman"/>
              </a:rPr>
              <a:t>Text</a:t>
            </a:r>
            <a:r>
              <a:rPr sz="2500" b="1" spc="-125" dirty="0">
                <a:latin typeface="Times New Roman"/>
                <a:cs typeface="Times New Roman"/>
              </a:rPr>
              <a:t> </a:t>
            </a:r>
            <a:r>
              <a:rPr sz="2500" b="1" spc="-20" dirty="0">
                <a:latin typeface="Times New Roman"/>
                <a:cs typeface="Times New Roman"/>
              </a:rPr>
              <a:t>Book</a:t>
            </a:r>
            <a:endParaRPr sz="2500">
              <a:latin typeface="Times New Roman"/>
              <a:cs typeface="Times New Roman"/>
            </a:endParaRPr>
          </a:p>
          <a:p>
            <a:pPr marL="12700">
              <a:lnSpc>
                <a:spcPct val="100000"/>
              </a:lnSpc>
              <a:spcBef>
                <a:spcPts val="600"/>
              </a:spcBef>
              <a:tabLst>
                <a:tab pos="469265" algn="l"/>
              </a:tabLst>
            </a:pPr>
            <a:r>
              <a:rPr sz="2500" spc="-25" dirty="0">
                <a:latin typeface="Times New Roman"/>
                <a:cs typeface="Times New Roman"/>
              </a:rPr>
              <a:t>1.</a:t>
            </a:r>
            <a:r>
              <a:rPr sz="2500" dirty="0">
                <a:latin typeface="Times New Roman"/>
                <a:cs typeface="Times New Roman"/>
              </a:rPr>
              <a:t>	</a:t>
            </a:r>
            <a:r>
              <a:rPr sz="2500" spc="-30" dirty="0">
                <a:latin typeface="Times New Roman"/>
                <a:cs typeface="Times New Roman"/>
              </a:rPr>
              <a:t>Goodfellow,</a:t>
            </a:r>
            <a:r>
              <a:rPr sz="2500" spc="-114" dirty="0">
                <a:latin typeface="Times New Roman"/>
                <a:cs typeface="Times New Roman"/>
              </a:rPr>
              <a:t> </a:t>
            </a:r>
            <a:r>
              <a:rPr sz="2500" dirty="0">
                <a:latin typeface="Times New Roman"/>
                <a:cs typeface="Times New Roman"/>
              </a:rPr>
              <a:t>I.,</a:t>
            </a:r>
            <a:r>
              <a:rPr sz="2500" spc="-20" dirty="0">
                <a:latin typeface="Times New Roman"/>
                <a:cs typeface="Times New Roman"/>
              </a:rPr>
              <a:t> Bengio,</a:t>
            </a:r>
            <a:r>
              <a:rPr sz="2500" spc="-220" dirty="0">
                <a:latin typeface="Times New Roman"/>
                <a:cs typeface="Times New Roman"/>
              </a:rPr>
              <a:t> </a:t>
            </a:r>
            <a:r>
              <a:rPr sz="2500" spc="-180" dirty="0">
                <a:latin typeface="Times New Roman"/>
                <a:cs typeface="Times New Roman"/>
              </a:rPr>
              <a:t>Y.,</a:t>
            </a:r>
            <a:r>
              <a:rPr sz="2500" spc="-135" dirty="0">
                <a:latin typeface="Times New Roman"/>
                <a:cs typeface="Times New Roman"/>
              </a:rPr>
              <a:t> </a:t>
            </a:r>
            <a:r>
              <a:rPr sz="2500" dirty="0">
                <a:latin typeface="Times New Roman"/>
                <a:cs typeface="Times New Roman"/>
              </a:rPr>
              <a:t>and</a:t>
            </a:r>
            <a:r>
              <a:rPr sz="2500" spc="-35" dirty="0">
                <a:latin typeface="Times New Roman"/>
                <a:cs typeface="Times New Roman"/>
              </a:rPr>
              <a:t> </a:t>
            </a:r>
            <a:r>
              <a:rPr sz="2500" spc="-25" dirty="0">
                <a:latin typeface="Times New Roman"/>
                <a:cs typeface="Times New Roman"/>
              </a:rPr>
              <a:t>Courville,</a:t>
            </a:r>
            <a:r>
              <a:rPr sz="2500" spc="-250" dirty="0">
                <a:latin typeface="Times New Roman"/>
                <a:cs typeface="Times New Roman"/>
              </a:rPr>
              <a:t> </a:t>
            </a:r>
            <a:r>
              <a:rPr sz="2500" dirty="0">
                <a:latin typeface="Times New Roman"/>
                <a:cs typeface="Times New Roman"/>
              </a:rPr>
              <a:t>A.,</a:t>
            </a:r>
            <a:r>
              <a:rPr sz="2500" spc="-50" dirty="0">
                <a:latin typeface="Times New Roman"/>
                <a:cs typeface="Times New Roman"/>
              </a:rPr>
              <a:t> </a:t>
            </a:r>
            <a:r>
              <a:rPr sz="2500" dirty="0">
                <a:latin typeface="Times New Roman"/>
                <a:cs typeface="Times New Roman"/>
              </a:rPr>
              <a:t>Deep</a:t>
            </a:r>
            <a:r>
              <a:rPr sz="2500" spc="-10" dirty="0">
                <a:latin typeface="Times New Roman"/>
                <a:cs typeface="Times New Roman"/>
              </a:rPr>
              <a:t> </a:t>
            </a:r>
            <a:r>
              <a:rPr sz="2500" dirty="0">
                <a:latin typeface="Times New Roman"/>
                <a:cs typeface="Times New Roman"/>
              </a:rPr>
              <a:t>Learning,</a:t>
            </a:r>
            <a:r>
              <a:rPr sz="2500" spc="-15" dirty="0">
                <a:latin typeface="Times New Roman"/>
                <a:cs typeface="Times New Roman"/>
              </a:rPr>
              <a:t> </a:t>
            </a:r>
            <a:r>
              <a:rPr sz="2500" dirty="0">
                <a:latin typeface="Times New Roman"/>
                <a:cs typeface="Times New Roman"/>
              </a:rPr>
              <a:t>MIT</a:t>
            </a:r>
            <a:r>
              <a:rPr sz="2500" spc="-125" dirty="0">
                <a:latin typeface="Times New Roman"/>
                <a:cs typeface="Times New Roman"/>
              </a:rPr>
              <a:t> </a:t>
            </a:r>
            <a:r>
              <a:rPr sz="2500" dirty="0">
                <a:latin typeface="Times New Roman"/>
                <a:cs typeface="Times New Roman"/>
              </a:rPr>
              <a:t>Press,</a:t>
            </a:r>
            <a:r>
              <a:rPr sz="2500" spc="-45" dirty="0">
                <a:latin typeface="Times New Roman"/>
                <a:cs typeface="Times New Roman"/>
              </a:rPr>
              <a:t> </a:t>
            </a:r>
            <a:r>
              <a:rPr sz="2500" spc="-20" dirty="0">
                <a:latin typeface="Times New Roman"/>
                <a:cs typeface="Times New Roman"/>
              </a:rPr>
              <a:t>2016</a:t>
            </a:r>
            <a:endParaRPr sz="25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24306" y="374345"/>
            <a:ext cx="9740900" cy="5818505"/>
          </a:xfrm>
          <a:prstGeom prst="rect">
            <a:avLst/>
          </a:prstGeom>
        </p:spPr>
        <p:txBody>
          <a:bodyPr vert="horz" wrap="square" lIns="0" tIns="13335" rIns="0" bIns="0" rtlCol="0">
            <a:spAutoFit/>
          </a:bodyPr>
          <a:lstStyle/>
          <a:p>
            <a:pPr marL="12700">
              <a:lnSpc>
                <a:spcPct val="100000"/>
              </a:lnSpc>
              <a:spcBef>
                <a:spcPts val="105"/>
              </a:spcBef>
            </a:pPr>
            <a:r>
              <a:rPr sz="2000" b="1" spc="-20" dirty="0">
                <a:solidFill>
                  <a:srgbClr val="FF0000"/>
                </a:solidFill>
                <a:latin typeface="Times New Roman"/>
                <a:cs typeface="Times New Roman"/>
              </a:rPr>
              <a:t>TensorFlow</a:t>
            </a:r>
            <a:r>
              <a:rPr sz="2000" b="1" spc="-25" dirty="0">
                <a:solidFill>
                  <a:srgbClr val="FF0000"/>
                </a:solidFill>
                <a:latin typeface="Times New Roman"/>
                <a:cs typeface="Times New Roman"/>
              </a:rPr>
              <a:t> </a:t>
            </a:r>
            <a:r>
              <a:rPr sz="2000" spc="-50" dirty="0">
                <a:solidFill>
                  <a:srgbClr val="FF0000"/>
                </a:solidFill>
                <a:latin typeface="Times New Roman"/>
                <a:cs typeface="Times New Roman"/>
              </a:rPr>
              <a:t>:</a:t>
            </a:r>
            <a:endParaRPr sz="2000">
              <a:latin typeface="Times New Roman"/>
              <a:cs typeface="Times New Roman"/>
            </a:endParaRPr>
          </a:p>
          <a:p>
            <a:pPr marL="12700" marR="909319">
              <a:lnSpc>
                <a:spcPct val="100000"/>
              </a:lnSpc>
            </a:pPr>
            <a:r>
              <a:rPr sz="2000" b="1" spc="-20" dirty="0">
                <a:solidFill>
                  <a:srgbClr val="FF0000"/>
                </a:solidFill>
                <a:latin typeface="Times New Roman"/>
                <a:cs typeface="Times New Roman"/>
              </a:rPr>
              <a:t>TensorFlow</a:t>
            </a:r>
            <a:r>
              <a:rPr sz="2000" b="1" spc="-25" dirty="0">
                <a:solidFill>
                  <a:srgbClr val="FF0000"/>
                </a:solidFill>
                <a:latin typeface="Times New Roman"/>
                <a:cs typeface="Times New Roman"/>
              </a:rPr>
              <a:t> </a:t>
            </a:r>
            <a:r>
              <a:rPr sz="2000" dirty="0">
                <a:solidFill>
                  <a:srgbClr val="273139"/>
                </a:solidFill>
                <a:latin typeface="Times New Roman"/>
                <a:cs typeface="Times New Roman"/>
              </a:rPr>
              <a:t>is</a:t>
            </a:r>
            <a:r>
              <a:rPr sz="2000" spc="-10" dirty="0">
                <a:solidFill>
                  <a:srgbClr val="273139"/>
                </a:solidFill>
                <a:latin typeface="Times New Roman"/>
                <a:cs typeface="Times New Roman"/>
              </a:rPr>
              <a:t> </a:t>
            </a:r>
            <a:r>
              <a:rPr sz="2000" dirty="0">
                <a:solidFill>
                  <a:srgbClr val="273139"/>
                </a:solidFill>
                <a:latin typeface="Times New Roman"/>
                <a:cs typeface="Times New Roman"/>
              </a:rPr>
              <a:t>an</a:t>
            </a:r>
            <a:r>
              <a:rPr sz="2000" spc="-10" dirty="0">
                <a:solidFill>
                  <a:srgbClr val="273139"/>
                </a:solidFill>
                <a:latin typeface="Times New Roman"/>
                <a:cs typeface="Times New Roman"/>
              </a:rPr>
              <a:t> </a:t>
            </a:r>
            <a:r>
              <a:rPr sz="2000" dirty="0">
                <a:solidFill>
                  <a:srgbClr val="273139"/>
                </a:solidFill>
                <a:latin typeface="Times New Roman"/>
                <a:cs typeface="Times New Roman"/>
              </a:rPr>
              <a:t>open-source</a:t>
            </a:r>
            <a:r>
              <a:rPr sz="2000" spc="-40" dirty="0">
                <a:solidFill>
                  <a:srgbClr val="273139"/>
                </a:solidFill>
                <a:latin typeface="Times New Roman"/>
                <a:cs typeface="Times New Roman"/>
              </a:rPr>
              <a:t> </a:t>
            </a:r>
            <a:r>
              <a:rPr sz="2000" b="1" dirty="0">
                <a:solidFill>
                  <a:srgbClr val="FF0000"/>
                </a:solidFill>
                <a:latin typeface="Times New Roman"/>
                <a:cs typeface="Times New Roman"/>
              </a:rPr>
              <a:t>machine</a:t>
            </a:r>
            <a:r>
              <a:rPr sz="2000" b="1" spc="-45" dirty="0">
                <a:solidFill>
                  <a:srgbClr val="FF0000"/>
                </a:solidFill>
                <a:latin typeface="Times New Roman"/>
                <a:cs typeface="Times New Roman"/>
              </a:rPr>
              <a:t> </a:t>
            </a:r>
            <a:r>
              <a:rPr sz="2000" b="1" dirty="0">
                <a:solidFill>
                  <a:srgbClr val="FF0000"/>
                </a:solidFill>
                <a:latin typeface="Times New Roman"/>
                <a:cs typeface="Times New Roman"/>
              </a:rPr>
              <a:t>learning</a:t>
            </a:r>
            <a:r>
              <a:rPr sz="2000" b="1" spc="-15" dirty="0">
                <a:solidFill>
                  <a:srgbClr val="FF0000"/>
                </a:solidFill>
                <a:latin typeface="Times New Roman"/>
                <a:cs typeface="Times New Roman"/>
              </a:rPr>
              <a:t> </a:t>
            </a:r>
            <a:r>
              <a:rPr sz="2000" dirty="0">
                <a:solidFill>
                  <a:srgbClr val="273139"/>
                </a:solidFill>
                <a:latin typeface="Times New Roman"/>
                <a:cs typeface="Times New Roman"/>
              </a:rPr>
              <a:t>and</a:t>
            </a:r>
            <a:r>
              <a:rPr sz="2000" spc="-20" dirty="0">
                <a:solidFill>
                  <a:srgbClr val="273139"/>
                </a:solidFill>
                <a:latin typeface="Times New Roman"/>
                <a:cs typeface="Times New Roman"/>
              </a:rPr>
              <a:t> </a:t>
            </a:r>
            <a:r>
              <a:rPr sz="2000" b="1" dirty="0">
                <a:solidFill>
                  <a:srgbClr val="FF0000"/>
                </a:solidFill>
                <a:latin typeface="Times New Roman"/>
                <a:cs typeface="Times New Roman"/>
              </a:rPr>
              <a:t>deep</a:t>
            </a:r>
            <a:r>
              <a:rPr sz="2000" b="1" spc="-15" dirty="0">
                <a:solidFill>
                  <a:srgbClr val="FF0000"/>
                </a:solidFill>
                <a:latin typeface="Times New Roman"/>
                <a:cs typeface="Times New Roman"/>
              </a:rPr>
              <a:t> </a:t>
            </a:r>
            <a:r>
              <a:rPr sz="2000" b="1" dirty="0">
                <a:solidFill>
                  <a:srgbClr val="FF0000"/>
                </a:solidFill>
                <a:latin typeface="Times New Roman"/>
                <a:cs typeface="Times New Roman"/>
              </a:rPr>
              <a:t>learning</a:t>
            </a:r>
            <a:r>
              <a:rPr sz="2000" dirty="0">
                <a:solidFill>
                  <a:srgbClr val="273139"/>
                </a:solidFill>
                <a:latin typeface="Times New Roman"/>
                <a:cs typeface="Times New Roman"/>
              </a:rPr>
              <a:t>library</a:t>
            </a:r>
            <a:r>
              <a:rPr sz="2000" spc="-50" dirty="0">
                <a:solidFill>
                  <a:srgbClr val="273139"/>
                </a:solidFill>
                <a:latin typeface="Times New Roman"/>
                <a:cs typeface="Times New Roman"/>
              </a:rPr>
              <a:t> </a:t>
            </a:r>
            <a:r>
              <a:rPr sz="2000" spc="-10" dirty="0">
                <a:solidFill>
                  <a:srgbClr val="273139"/>
                </a:solidFill>
                <a:latin typeface="Times New Roman"/>
                <a:cs typeface="Times New Roman"/>
              </a:rPr>
              <a:t>developed </a:t>
            </a:r>
            <a:r>
              <a:rPr sz="2000" dirty="0">
                <a:solidFill>
                  <a:srgbClr val="273139"/>
                </a:solidFill>
                <a:latin typeface="Times New Roman"/>
                <a:cs typeface="Times New Roman"/>
              </a:rPr>
              <a:t>by</a:t>
            </a:r>
            <a:r>
              <a:rPr sz="2000" spc="-10" dirty="0">
                <a:solidFill>
                  <a:srgbClr val="273139"/>
                </a:solidFill>
                <a:latin typeface="Times New Roman"/>
                <a:cs typeface="Times New Roman"/>
              </a:rPr>
              <a:t> </a:t>
            </a:r>
            <a:r>
              <a:rPr sz="2000" spc="-10" dirty="0">
                <a:solidFill>
                  <a:srgbClr val="FF0000"/>
                </a:solidFill>
                <a:latin typeface="Times New Roman"/>
                <a:cs typeface="Times New Roman"/>
              </a:rPr>
              <a:t>Google.</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2700">
              <a:lnSpc>
                <a:spcPct val="100000"/>
              </a:lnSpc>
            </a:pPr>
            <a:r>
              <a:rPr sz="2000" spc="-10" dirty="0">
                <a:solidFill>
                  <a:srgbClr val="273139"/>
                </a:solidFill>
                <a:latin typeface="Times New Roman"/>
                <a:cs typeface="Times New Roman"/>
              </a:rPr>
              <a:t>TensorFlow</a:t>
            </a:r>
            <a:r>
              <a:rPr sz="2000" spc="-50" dirty="0">
                <a:solidFill>
                  <a:srgbClr val="273139"/>
                </a:solidFill>
                <a:latin typeface="Times New Roman"/>
                <a:cs typeface="Times New Roman"/>
              </a:rPr>
              <a:t> </a:t>
            </a:r>
            <a:r>
              <a:rPr sz="2000" dirty="0">
                <a:solidFill>
                  <a:srgbClr val="273139"/>
                </a:solidFill>
                <a:latin typeface="Times New Roman"/>
                <a:cs typeface="Times New Roman"/>
              </a:rPr>
              <a:t>is</a:t>
            </a:r>
            <a:r>
              <a:rPr sz="2000" spc="-20" dirty="0">
                <a:solidFill>
                  <a:srgbClr val="273139"/>
                </a:solidFill>
                <a:latin typeface="Times New Roman"/>
                <a:cs typeface="Times New Roman"/>
              </a:rPr>
              <a:t> </a:t>
            </a:r>
            <a:r>
              <a:rPr sz="2000" dirty="0">
                <a:solidFill>
                  <a:srgbClr val="273139"/>
                </a:solidFill>
                <a:latin typeface="Times New Roman"/>
                <a:cs typeface="Times New Roman"/>
              </a:rPr>
              <a:t>used</a:t>
            </a:r>
            <a:r>
              <a:rPr sz="2000" spc="-25" dirty="0">
                <a:solidFill>
                  <a:srgbClr val="273139"/>
                </a:solidFill>
                <a:latin typeface="Times New Roman"/>
                <a:cs typeface="Times New Roman"/>
              </a:rPr>
              <a:t> </a:t>
            </a:r>
            <a:r>
              <a:rPr sz="2000" dirty="0">
                <a:solidFill>
                  <a:srgbClr val="273139"/>
                </a:solidFill>
                <a:latin typeface="Times New Roman"/>
                <a:cs typeface="Times New Roman"/>
              </a:rPr>
              <a:t>to</a:t>
            </a:r>
            <a:r>
              <a:rPr sz="2000" spc="-15" dirty="0">
                <a:solidFill>
                  <a:srgbClr val="273139"/>
                </a:solidFill>
                <a:latin typeface="Times New Roman"/>
                <a:cs typeface="Times New Roman"/>
              </a:rPr>
              <a:t> </a:t>
            </a:r>
            <a:r>
              <a:rPr sz="2000" dirty="0">
                <a:solidFill>
                  <a:srgbClr val="273139"/>
                </a:solidFill>
                <a:latin typeface="Times New Roman"/>
                <a:cs typeface="Times New Roman"/>
              </a:rPr>
              <a:t>build</a:t>
            </a:r>
            <a:r>
              <a:rPr sz="2000" spc="-35" dirty="0">
                <a:solidFill>
                  <a:srgbClr val="273139"/>
                </a:solidFill>
                <a:latin typeface="Times New Roman"/>
                <a:cs typeface="Times New Roman"/>
              </a:rPr>
              <a:t> </a:t>
            </a:r>
            <a:r>
              <a:rPr sz="2000" dirty="0">
                <a:solidFill>
                  <a:srgbClr val="273139"/>
                </a:solidFill>
                <a:latin typeface="Times New Roman"/>
                <a:cs typeface="Times New Roman"/>
              </a:rPr>
              <a:t>and</a:t>
            </a:r>
            <a:r>
              <a:rPr sz="2000" spc="-10" dirty="0">
                <a:solidFill>
                  <a:srgbClr val="273139"/>
                </a:solidFill>
                <a:latin typeface="Times New Roman"/>
                <a:cs typeface="Times New Roman"/>
              </a:rPr>
              <a:t> </a:t>
            </a:r>
            <a:r>
              <a:rPr sz="2000" dirty="0">
                <a:solidFill>
                  <a:srgbClr val="273139"/>
                </a:solidFill>
                <a:latin typeface="Times New Roman"/>
                <a:cs typeface="Times New Roman"/>
              </a:rPr>
              <a:t>train</a:t>
            </a:r>
            <a:r>
              <a:rPr sz="2000" spc="-20" dirty="0">
                <a:solidFill>
                  <a:srgbClr val="273139"/>
                </a:solidFill>
                <a:latin typeface="Times New Roman"/>
                <a:cs typeface="Times New Roman"/>
              </a:rPr>
              <a:t> </a:t>
            </a:r>
            <a:r>
              <a:rPr sz="2000" dirty="0">
                <a:solidFill>
                  <a:srgbClr val="273139"/>
                </a:solidFill>
                <a:latin typeface="Times New Roman"/>
                <a:cs typeface="Times New Roman"/>
              </a:rPr>
              <a:t>deep</a:t>
            </a:r>
            <a:r>
              <a:rPr sz="2000" spc="-25" dirty="0">
                <a:solidFill>
                  <a:srgbClr val="273139"/>
                </a:solidFill>
                <a:latin typeface="Times New Roman"/>
                <a:cs typeface="Times New Roman"/>
              </a:rPr>
              <a:t> </a:t>
            </a:r>
            <a:r>
              <a:rPr sz="2000" dirty="0">
                <a:solidFill>
                  <a:srgbClr val="273139"/>
                </a:solidFill>
                <a:latin typeface="Times New Roman"/>
                <a:cs typeface="Times New Roman"/>
              </a:rPr>
              <a:t>learning</a:t>
            </a:r>
            <a:r>
              <a:rPr sz="2000" spc="-45" dirty="0">
                <a:solidFill>
                  <a:srgbClr val="273139"/>
                </a:solidFill>
                <a:latin typeface="Times New Roman"/>
                <a:cs typeface="Times New Roman"/>
              </a:rPr>
              <a:t> </a:t>
            </a:r>
            <a:r>
              <a:rPr sz="2000" dirty="0">
                <a:solidFill>
                  <a:srgbClr val="273139"/>
                </a:solidFill>
                <a:latin typeface="Times New Roman"/>
                <a:cs typeface="Times New Roman"/>
              </a:rPr>
              <a:t>models</a:t>
            </a:r>
            <a:r>
              <a:rPr sz="2000" spc="-15" dirty="0">
                <a:solidFill>
                  <a:srgbClr val="273139"/>
                </a:solidFill>
                <a:latin typeface="Times New Roman"/>
                <a:cs typeface="Times New Roman"/>
              </a:rPr>
              <a:t> </a:t>
            </a:r>
            <a:r>
              <a:rPr sz="2000" dirty="0">
                <a:solidFill>
                  <a:srgbClr val="273139"/>
                </a:solidFill>
                <a:latin typeface="Times New Roman"/>
                <a:cs typeface="Times New Roman"/>
              </a:rPr>
              <a:t>as</a:t>
            </a:r>
            <a:r>
              <a:rPr sz="2000" spc="-20" dirty="0">
                <a:solidFill>
                  <a:srgbClr val="273139"/>
                </a:solidFill>
                <a:latin typeface="Times New Roman"/>
                <a:cs typeface="Times New Roman"/>
              </a:rPr>
              <a:t> </a:t>
            </a:r>
            <a:r>
              <a:rPr sz="2000" dirty="0">
                <a:solidFill>
                  <a:srgbClr val="273139"/>
                </a:solidFill>
                <a:latin typeface="Times New Roman"/>
                <a:cs typeface="Times New Roman"/>
              </a:rPr>
              <a:t>it</a:t>
            </a:r>
            <a:r>
              <a:rPr sz="2000" spc="-15" dirty="0">
                <a:solidFill>
                  <a:srgbClr val="273139"/>
                </a:solidFill>
                <a:latin typeface="Times New Roman"/>
                <a:cs typeface="Times New Roman"/>
              </a:rPr>
              <a:t> </a:t>
            </a:r>
            <a:r>
              <a:rPr sz="2000" dirty="0">
                <a:solidFill>
                  <a:srgbClr val="273139"/>
                </a:solidFill>
                <a:latin typeface="Times New Roman"/>
                <a:cs typeface="Times New Roman"/>
              </a:rPr>
              <a:t>facilitates</a:t>
            </a:r>
            <a:r>
              <a:rPr sz="2000" spc="-45" dirty="0">
                <a:solidFill>
                  <a:srgbClr val="273139"/>
                </a:solidFill>
                <a:latin typeface="Times New Roman"/>
                <a:cs typeface="Times New Roman"/>
              </a:rPr>
              <a:t> </a:t>
            </a:r>
            <a:r>
              <a:rPr sz="2000" dirty="0">
                <a:solidFill>
                  <a:srgbClr val="273139"/>
                </a:solidFill>
                <a:latin typeface="Times New Roman"/>
                <a:cs typeface="Times New Roman"/>
              </a:rPr>
              <a:t>the</a:t>
            </a:r>
            <a:r>
              <a:rPr sz="2000" spc="-15" dirty="0">
                <a:solidFill>
                  <a:srgbClr val="273139"/>
                </a:solidFill>
                <a:latin typeface="Times New Roman"/>
                <a:cs typeface="Times New Roman"/>
              </a:rPr>
              <a:t> </a:t>
            </a:r>
            <a:r>
              <a:rPr sz="2000" dirty="0">
                <a:solidFill>
                  <a:srgbClr val="273139"/>
                </a:solidFill>
                <a:latin typeface="Times New Roman"/>
                <a:cs typeface="Times New Roman"/>
              </a:rPr>
              <a:t>creation</a:t>
            </a:r>
            <a:r>
              <a:rPr sz="2000" spc="-30" dirty="0">
                <a:solidFill>
                  <a:srgbClr val="273139"/>
                </a:solidFill>
                <a:latin typeface="Times New Roman"/>
                <a:cs typeface="Times New Roman"/>
              </a:rPr>
              <a:t> </a:t>
            </a:r>
            <a:r>
              <a:rPr sz="2000" spc="-25" dirty="0">
                <a:solidFill>
                  <a:srgbClr val="273139"/>
                </a:solidFill>
                <a:latin typeface="Times New Roman"/>
                <a:cs typeface="Times New Roman"/>
              </a:rPr>
              <a:t>of</a:t>
            </a:r>
            <a:endParaRPr sz="2000">
              <a:latin typeface="Times New Roman"/>
              <a:cs typeface="Times New Roman"/>
            </a:endParaRPr>
          </a:p>
          <a:p>
            <a:pPr marL="12700">
              <a:lnSpc>
                <a:spcPct val="100000"/>
              </a:lnSpc>
              <a:spcBef>
                <a:spcPts val="5"/>
              </a:spcBef>
            </a:pPr>
            <a:r>
              <a:rPr sz="2000" dirty="0">
                <a:solidFill>
                  <a:srgbClr val="273139"/>
                </a:solidFill>
                <a:latin typeface="Times New Roman"/>
                <a:cs typeface="Times New Roman"/>
              </a:rPr>
              <a:t>computational</a:t>
            </a:r>
            <a:r>
              <a:rPr sz="2000" spc="-55" dirty="0">
                <a:solidFill>
                  <a:srgbClr val="273139"/>
                </a:solidFill>
                <a:latin typeface="Times New Roman"/>
                <a:cs typeface="Times New Roman"/>
              </a:rPr>
              <a:t> </a:t>
            </a:r>
            <a:r>
              <a:rPr sz="2000" dirty="0">
                <a:solidFill>
                  <a:srgbClr val="273139"/>
                </a:solidFill>
                <a:latin typeface="Times New Roman"/>
                <a:cs typeface="Times New Roman"/>
              </a:rPr>
              <a:t>graphs</a:t>
            </a:r>
            <a:r>
              <a:rPr sz="2000" spc="-55" dirty="0">
                <a:solidFill>
                  <a:srgbClr val="273139"/>
                </a:solidFill>
                <a:latin typeface="Times New Roman"/>
                <a:cs typeface="Times New Roman"/>
              </a:rPr>
              <a:t> </a:t>
            </a:r>
            <a:r>
              <a:rPr sz="2000" dirty="0">
                <a:solidFill>
                  <a:srgbClr val="273139"/>
                </a:solidFill>
                <a:latin typeface="Times New Roman"/>
                <a:cs typeface="Times New Roman"/>
              </a:rPr>
              <a:t>and</a:t>
            </a:r>
            <a:r>
              <a:rPr sz="2000" spc="-30" dirty="0">
                <a:solidFill>
                  <a:srgbClr val="273139"/>
                </a:solidFill>
                <a:latin typeface="Times New Roman"/>
                <a:cs typeface="Times New Roman"/>
              </a:rPr>
              <a:t> </a:t>
            </a:r>
            <a:r>
              <a:rPr sz="2000" dirty="0">
                <a:solidFill>
                  <a:srgbClr val="273139"/>
                </a:solidFill>
                <a:latin typeface="Times New Roman"/>
                <a:cs typeface="Times New Roman"/>
              </a:rPr>
              <a:t>efficient</a:t>
            </a:r>
            <a:r>
              <a:rPr sz="2000" spc="-45" dirty="0">
                <a:solidFill>
                  <a:srgbClr val="273139"/>
                </a:solidFill>
                <a:latin typeface="Times New Roman"/>
                <a:cs typeface="Times New Roman"/>
              </a:rPr>
              <a:t> </a:t>
            </a:r>
            <a:r>
              <a:rPr sz="2000" dirty="0">
                <a:solidFill>
                  <a:srgbClr val="273139"/>
                </a:solidFill>
                <a:latin typeface="Times New Roman"/>
                <a:cs typeface="Times New Roman"/>
              </a:rPr>
              <a:t>execution</a:t>
            </a:r>
            <a:r>
              <a:rPr sz="2000" spc="-35" dirty="0">
                <a:solidFill>
                  <a:srgbClr val="273139"/>
                </a:solidFill>
                <a:latin typeface="Times New Roman"/>
                <a:cs typeface="Times New Roman"/>
              </a:rPr>
              <a:t> </a:t>
            </a:r>
            <a:r>
              <a:rPr sz="2000" dirty="0">
                <a:solidFill>
                  <a:srgbClr val="273139"/>
                </a:solidFill>
                <a:latin typeface="Times New Roman"/>
                <a:cs typeface="Times New Roman"/>
              </a:rPr>
              <a:t>on</a:t>
            </a:r>
            <a:r>
              <a:rPr sz="2000" spc="-25" dirty="0">
                <a:solidFill>
                  <a:srgbClr val="273139"/>
                </a:solidFill>
                <a:latin typeface="Times New Roman"/>
                <a:cs typeface="Times New Roman"/>
              </a:rPr>
              <a:t> </a:t>
            </a:r>
            <a:r>
              <a:rPr sz="2000" dirty="0">
                <a:solidFill>
                  <a:srgbClr val="273139"/>
                </a:solidFill>
                <a:latin typeface="Times New Roman"/>
                <a:cs typeface="Times New Roman"/>
              </a:rPr>
              <a:t>various</a:t>
            </a:r>
            <a:r>
              <a:rPr sz="2000" spc="-55" dirty="0">
                <a:solidFill>
                  <a:srgbClr val="273139"/>
                </a:solidFill>
                <a:latin typeface="Times New Roman"/>
                <a:cs typeface="Times New Roman"/>
              </a:rPr>
              <a:t> </a:t>
            </a:r>
            <a:r>
              <a:rPr sz="2000" dirty="0">
                <a:solidFill>
                  <a:srgbClr val="273139"/>
                </a:solidFill>
                <a:latin typeface="Times New Roman"/>
                <a:cs typeface="Times New Roman"/>
              </a:rPr>
              <a:t>hardware</a:t>
            </a:r>
            <a:r>
              <a:rPr sz="2000" spc="-40" dirty="0">
                <a:solidFill>
                  <a:srgbClr val="273139"/>
                </a:solidFill>
                <a:latin typeface="Times New Roman"/>
                <a:cs typeface="Times New Roman"/>
              </a:rPr>
              <a:t> </a:t>
            </a:r>
            <a:r>
              <a:rPr sz="2000" spc="-10" dirty="0">
                <a:solidFill>
                  <a:srgbClr val="273139"/>
                </a:solidFill>
                <a:latin typeface="Times New Roman"/>
                <a:cs typeface="Times New Roman"/>
              </a:rPr>
              <a:t>platforms.</a:t>
            </a:r>
            <a:endParaRPr sz="2000">
              <a:latin typeface="Times New Roman"/>
              <a:cs typeface="Times New Roman"/>
            </a:endParaRPr>
          </a:p>
          <a:p>
            <a:pPr>
              <a:lnSpc>
                <a:spcPct val="100000"/>
              </a:lnSpc>
              <a:spcBef>
                <a:spcPts val="95"/>
              </a:spcBef>
            </a:pPr>
            <a:endParaRPr sz="2000">
              <a:latin typeface="Times New Roman"/>
              <a:cs typeface="Times New Roman"/>
            </a:endParaRPr>
          </a:p>
          <a:p>
            <a:pPr marL="12700" marR="5080">
              <a:lnSpc>
                <a:spcPct val="100000"/>
              </a:lnSpc>
              <a:spcBef>
                <a:spcPts val="5"/>
              </a:spcBef>
            </a:pPr>
            <a:r>
              <a:rPr sz="2000" spc="-10" dirty="0">
                <a:solidFill>
                  <a:srgbClr val="273139"/>
                </a:solidFill>
                <a:latin typeface="Times New Roman"/>
                <a:cs typeface="Times New Roman"/>
              </a:rPr>
              <a:t>TensorFlow</a:t>
            </a:r>
            <a:r>
              <a:rPr sz="2000" spc="-50" dirty="0">
                <a:solidFill>
                  <a:srgbClr val="273139"/>
                </a:solidFill>
                <a:latin typeface="Times New Roman"/>
                <a:cs typeface="Times New Roman"/>
              </a:rPr>
              <a:t> </a:t>
            </a:r>
            <a:r>
              <a:rPr sz="2000" dirty="0">
                <a:solidFill>
                  <a:srgbClr val="273139"/>
                </a:solidFill>
                <a:latin typeface="Times New Roman"/>
                <a:cs typeface="Times New Roman"/>
              </a:rPr>
              <a:t>can</a:t>
            </a:r>
            <a:r>
              <a:rPr sz="2000" spc="-10" dirty="0">
                <a:solidFill>
                  <a:srgbClr val="273139"/>
                </a:solidFill>
                <a:latin typeface="Times New Roman"/>
                <a:cs typeface="Times New Roman"/>
              </a:rPr>
              <a:t> </a:t>
            </a:r>
            <a:r>
              <a:rPr sz="2000" dirty="0">
                <a:solidFill>
                  <a:srgbClr val="273139"/>
                </a:solidFill>
                <a:latin typeface="Times New Roman"/>
                <a:cs typeface="Times New Roman"/>
              </a:rPr>
              <a:t>train</a:t>
            </a:r>
            <a:r>
              <a:rPr sz="2000" spc="-20" dirty="0">
                <a:solidFill>
                  <a:srgbClr val="273139"/>
                </a:solidFill>
                <a:latin typeface="Times New Roman"/>
                <a:cs typeface="Times New Roman"/>
              </a:rPr>
              <a:t> </a:t>
            </a:r>
            <a:r>
              <a:rPr sz="2000" dirty="0">
                <a:solidFill>
                  <a:srgbClr val="273139"/>
                </a:solidFill>
                <a:latin typeface="Times New Roman"/>
                <a:cs typeface="Times New Roman"/>
              </a:rPr>
              <a:t>and</a:t>
            </a:r>
            <a:r>
              <a:rPr sz="2000" spc="-20" dirty="0">
                <a:solidFill>
                  <a:srgbClr val="273139"/>
                </a:solidFill>
                <a:latin typeface="Times New Roman"/>
                <a:cs typeface="Times New Roman"/>
              </a:rPr>
              <a:t> </a:t>
            </a:r>
            <a:r>
              <a:rPr sz="2000" dirty="0">
                <a:solidFill>
                  <a:srgbClr val="273139"/>
                </a:solidFill>
                <a:latin typeface="Times New Roman"/>
                <a:cs typeface="Times New Roman"/>
              </a:rPr>
              <a:t>run</a:t>
            </a:r>
            <a:r>
              <a:rPr sz="2000" spc="-20" dirty="0">
                <a:solidFill>
                  <a:srgbClr val="273139"/>
                </a:solidFill>
                <a:latin typeface="Times New Roman"/>
                <a:cs typeface="Times New Roman"/>
              </a:rPr>
              <a:t> </a:t>
            </a:r>
            <a:r>
              <a:rPr sz="2000" dirty="0">
                <a:solidFill>
                  <a:srgbClr val="273139"/>
                </a:solidFill>
                <a:latin typeface="Times New Roman"/>
                <a:cs typeface="Times New Roman"/>
              </a:rPr>
              <a:t>the</a:t>
            </a:r>
            <a:r>
              <a:rPr sz="2000" spc="-15" dirty="0">
                <a:solidFill>
                  <a:srgbClr val="273139"/>
                </a:solidFill>
                <a:latin typeface="Times New Roman"/>
                <a:cs typeface="Times New Roman"/>
              </a:rPr>
              <a:t> </a:t>
            </a:r>
            <a:r>
              <a:rPr sz="2000" dirty="0">
                <a:solidFill>
                  <a:srgbClr val="273139"/>
                </a:solidFill>
                <a:latin typeface="Times New Roman"/>
                <a:cs typeface="Times New Roman"/>
              </a:rPr>
              <a:t>deep</a:t>
            </a:r>
            <a:r>
              <a:rPr sz="2000" spc="-25" dirty="0">
                <a:solidFill>
                  <a:srgbClr val="273139"/>
                </a:solidFill>
                <a:latin typeface="Times New Roman"/>
                <a:cs typeface="Times New Roman"/>
              </a:rPr>
              <a:t> </a:t>
            </a:r>
            <a:r>
              <a:rPr sz="2000" dirty="0">
                <a:solidFill>
                  <a:srgbClr val="273139"/>
                </a:solidFill>
                <a:latin typeface="Times New Roman"/>
                <a:cs typeface="Times New Roman"/>
              </a:rPr>
              <a:t>neural</a:t>
            </a:r>
            <a:r>
              <a:rPr sz="2000" spc="-45" dirty="0">
                <a:solidFill>
                  <a:srgbClr val="273139"/>
                </a:solidFill>
                <a:latin typeface="Times New Roman"/>
                <a:cs typeface="Times New Roman"/>
              </a:rPr>
              <a:t> </a:t>
            </a:r>
            <a:r>
              <a:rPr sz="2000" dirty="0">
                <a:solidFill>
                  <a:srgbClr val="273139"/>
                </a:solidFill>
                <a:latin typeface="Times New Roman"/>
                <a:cs typeface="Times New Roman"/>
              </a:rPr>
              <a:t>networks</a:t>
            </a:r>
            <a:r>
              <a:rPr sz="2000" spc="-50" dirty="0">
                <a:solidFill>
                  <a:srgbClr val="273139"/>
                </a:solidFill>
                <a:latin typeface="Times New Roman"/>
                <a:cs typeface="Times New Roman"/>
              </a:rPr>
              <a:t> </a:t>
            </a:r>
            <a:r>
              <a:rPr sz="2000" dirty="0">
                <a:solidFill>
                  <a:srgbClr val="273139"/>
                </a:solidFill>
                <a:latin typeface="Times New Roman"/>
                <a:cs typeface="Times New Roman"/>
              </a:rPr>
              <a:t>for</a:t>
            </a:r>
            <a:r>
              <a:rPr sz="2000" spc="-20" dirty="0">
                <a:solidFill>
                  <a:srgbClr val="273139"/>
                </a:solidFill>
                <a:latin typeface="Times New Roman"/>
                <a:cs typeface="Times New Roman"/>
              </a:rPr>
              <a:t> </a:t>
            </a:r>
            <a:r>
              <a:rPr sz="2000" dirty="0">
                <a:solidFill>
                  <a:srgbClr val="273139"/>
                </a:solidFill>
                <a:latin typeface="Times New Roman"/>
                <a:cs typeface="Times New Roman"/>
              </a:rPr>
              <a:t>image</a:t>
            </a:r>
            <a:r>
              <a:rPr sz="2000" spc="-5" dirty="0">
                <a:solidFill>
                  <a:srgbClr val="273139"/>
                </a:solidFill>
                <a:latin typeface="Times New Roman"/>
                <a:cs typeface="Times New Roman"/>
              </a:rPr>
              <a:t> </a:t>
            </a:r>
            <a:r>
              <a:rPr sz="2000" dirty="0">
                <a:solidFill>
                  <a:srgbClr val="273139"/>
                </a:solidFill>
                <a:latin typeface="Times New Roman"/>
                <a:cs typeface="Times New Roman"/>
              </a:rPr>
              <a:t>recognition,</a:t>
            </a:r>
            <a:r>
              <a:rPr sz="2000" spc="-55" dirty="0">
                <a:solidFill>
                  <a:srgbClr val="273139"/>
                </a:solidFill>
                <a:latin typeface="Times New Roman"/>
                <a:cs typeface="Times New Roman"/>
              </a:rPr>
              <a:t> </a:t>
            </a:r>
            <a:r>
              <a:rPr sz="2000" dirty="0">
                <a:solidFill>
                  <a:srgbClr val="273139"/>
                </a:solidFill>
                <a:latin typeface="Times New Roman"/>
                <a:cs typeface="Times New Roman"/>
              </a:rPr>
              <a:t>handwritten</a:t>
            </a:r>
            <a:r>
              <a:rPr sz="2000" spc="-45" dirty="0">
                <a:solidFill>
                  <a:srgbClr val="273139"/>
                </a:solidFill>
                <a:latin typeface="Times New Roman"/>
                <a:cs typeface="Times New Roman"/>
              </a:rPr>
              <a:t> </a:t>
            </a:r>
            <a:r>
              <a:rPr sz="2000" spc="-10" dirty="0">
                <a:solidFill>
                  <a:srgbClr val="273139"/>
                </a:solidFill>
                <a:latin typeface="Times New Roman"/>
                <a:cs typeface="Times New Roman"/>
              </a:rPr>
              <a:t>digit </a:t>
            </a:r>
            <a:r>
              <a:rPr sz="2000" dirty="0">
                <a:solidFill>
                  <a:srgbClr val="273139"/>
                </a:solidFill>
                <a:latin typeface="Times New Roman"/>
                <a:cs typeface="Times New Roman"/>
              </a:rPr>
              <a:t>classification,</a:t>
            </a:r>
            <a:r>
              <a:rPr sz="2000" spc="-55" dirty="0">
                <a:solidFill>
                  <a:srgbClr val="273139"/>
                </a:solidFill>
                <a:latin typeface="Times New Roman"/>
                <a:cs typeface="Times New Roman"/>
              </a:rPr>
              <a:t> </a:t>
            </a:r>
            <a:r>
              <a:rPr sz="2000" dirty="0">
                <a:solidFill>
                  <a:srgbClr val="273139"/>
                </a:solidFill>
                <a:latin typeface="Times New Roman"/>
                <a:cs typeface="Times New Roman"/>
              </a:rPr>
              <a:t>recurrent</a:t>
            </a:r>
            <a:r>
              <a:rPr sz="2000" spc="-50" dirty="0">
                <a:solidFill>
                  <a:srgbClr val="273139"/>
                </a:solidFill>
                <a:latin typeface="Times New Roman"/>
                <a:cs typeface="Times New Roman"/>
              </a:rPr>
              <a:t> </a:t>
            </a:r>
            <a:r>
              <a:rPr sz="2000" dirty="0">
                <a:solidFill>
                  <a:srgbClr val="273139"/>
                </a:solidFill>
                <a:latin typeface="Times New Roman"/>
                <a:cs typeface="Times New Roman"/>
              </a:rPr>
              <a:t>neural</a:t>
            </a:r>
            <a:r>
              <a:rPr sz="2000" spc="-45" dirty="0">
                <a:solidFill>
                  <a:srgbClr val="273139"/>
                </a:solidFill>
                <a:latin typeface="Times New Roman"/>
                <a:cs typeface="Times New Roman"/>
              </a:rPr>
              <a:t> </a:t>
            </a:r>
            <a:r>
              <a:rPr sz="2000" dirty="0">
                <a:solidFill>
                  <a:srgbClr val="273139"/>
                </a:solidFill>
                <a:latin typeface="Times New Roman"/>
                <a:cs typeface="Times New Roman"/>
              </a:rPr>
              <a:t>network,</a:t>
            </a:r>
            <a:r>
              <a:rPr sz="2000" spc="-35" dirty="0">
                <a:solidFill>
                  <a:srgbClr val="273139"/>
                </a:solidFill>
                <a:latin typeface="Times New Roman"/>
                <a:cs typeface="Times New Roman"/>
              </a:rPr>
              <a:t> </a:t>
            </a:r>
            <a:r>
              <a:rPr sz="2000" dirty="0">
                <a:solidFill>
                  <a:srgbClr val="273139"/>
                </a:solidFill>
                <a:latin typeface="Times New Roman"/>
                <a:cs typeface="Times New Roman"/>
              </a:rPr>
              <a:t>word</a:t>
            </a:r>
            <a:r>
              <a:rPr sz="2000" spc="-30" dirty="0">
                <a:solidFill>
                  <a:srgbClr val="273139"/>
                </a:solidFill>
                <a:latin typeface="Times New Roman"/>
                <a:cs typeface="Times New Roman"/>
              </a:rPr>
              <a:t> </a:t>
            </a:r>
            <a:r>
              <a:rPr sz="2000" dirty="0">
                <a:solidFill>
                  <a:srgbClr val="273139"/>
                </a:solidFill>
                <a:latin typeface="Times New Roman"/>
                <a:cs typeface="Times New Roman"/>
              </a:rPr>
              <a:t>embedding,</a:t>
            </a:r>
            <a:r>
              <a:rPr sz="2000" spc="-35" dirty="0">
                <a:solidFill>
                  <a:srgbClr val="273139"/>
                </a:solidFill>
                <a:latin typeface="Times New Roman"/>
                <a:cs typeface="Times New Roman"/>
              </a:rPr>
              <a:t> </a:t>
            </a:r>
            <a:r>
              <a:rPr sz="2000" dirty="0">
                <a:solidFill>
                  <a:srgbClr val="273139"/>
                </a:solidFill>
                <a:latin typeface="Times New Roman"/>
                <a:cs typeface="Times New Roman"/>
              </a:rPr>
              <a:t>natural</a:t>
            </a:r>
            <a:r>
              <a:rPr sz="2000" spc="-45" dirty="0">
                <a:solidFill>
                  <a:srgbClr val="273139"/>
                </a:solidFill>
                <a:latin typeface="Times New Roman"/>
                <a:cs typeface="Times New Roman"/>
              </a:rPr>
              <a:t> </a:t>
            </a:r>
            <a:r>
              <a:rPr sz="2000" dirty="0">
                <a:solidFill>
                  <a:srgbClr val="273139"/>
                </a:solidFill>
                <a:latin typeface="Times New Roman"/>
                <a:cs typeface="Times New Roman"/>
              </a:rPr>
              <a:t>language</a:t>
            </a:r>
            <a:r>
              <a:rPr sz="2000" spc="-40" dirty="0">
                <a:solidFill>
                  <a:srgbClr val="273139"/>
                </a:solidFill>
                <a:latin typeface="Times New Roman"/>
                <a:cs typeface="Times New Roman"/>
              </a:rPr>
              <a:t> </a:t>
            </a:r>
            <a:r>
              <a:rPr sz="2000" dirty="0">
                <a:solidFill>
                  <a:srgbClr val="273139"/>
                </a:solidFill>
                <a:latin typeface="Times New Roman"/>
                <a:cs typeface="Times New Roman"/>
              </a:rPr>
              <a:t>processing,</a:t>
            </a:r>
            <a:r>
              <a:rPr sz="2000" spc="-45" dirty="0">
                <a:solidFill>
                  <a:srgbClr val="273139"/>
                </a:solidFill>
                <a:latin typeface="Times New Roman"/>
                <a:cs typeface="Times New Roman"/>
              </a:rPr>
              <a:t> </a:t>
            </a:r>
            <a:r>
              <a:rPr sz="2000" spc="-10" dirty="0">
                <a:solidFill>
                  <a:srgbClr val="273139"/>
                </a:solidFill>
                <a:latin typeface="Times New Roman"/>
                <a:cs typeface="Times New Roman"/>
              </a:rPr>
              <a:t>video </a:t>
            </a:r>
            <a:r>
              <a:rPr sz="2000" dirty="0">
                <a:solidFill>
                  <a:srgbClr val="273139"/>
                </a:solidFill>
                <a:latin typeface="Times New Roman"/>
                <a:cs typeface="Times New Roman"/>
              </a:rPr>
              <a:t>detection,</a:t>
            </a:r>
            <a:r>
              <a:rPr sz="2000" spc="-45" dirty="0">
                <a:solidFill>
                  <a:srgbClr val="273139"/>
                </a:solidFill>
                <a:latin typeface="Times New Roman"/>
                <a:cs typeface="Times New Roman"/>
              </a:rPr>
              <a:t> </a:t>
            </a:r>
            <a:r>
              <a:rPr sz="2000" dirty="0">
                <a:solidFill>
                  <a:srgbClr val="273139"/>
                </a:solidFill>
                <a:latin typeface="Times New Roman"/>
                <a:cs typeface="Times New Roman"/>
              </a:rPr>
              <a:t>and</a:t>
            </a:r>
            <a:r>
              <a:rPr sz="2000" spc="-25" dirty="0">
                <a:solidFill>
                  <a:srgbClr val="273139"/>
                </a:solidFill>
                <a:latin typeface="Times New Roman"/>
                <a:cs typeface="Times New Roman"/>
              </a:rPr>
              <a:t> </a:t>
            </a:r>
            <a:r>
              <a:rPr sz="2000" dirty="0">
                <a:solidFill>
                  <a:srgbClr val="273139"/>
                </a:solidFill>
                <a:latin typeface="Times New Roman"/>
                <a:cs typeface="Times New Roman"/>
              </a:rPr>
              <a:t>many</a:t>
            </a:r>
            <a:r>
              <a:rPr sz="2000" spc="-10" dirty="0">
                <a:solidFill>
                  <a:srgbClr val="273139"/>
                </a:solidFill>
                <a:latin typeface="Times New Roman"/>
                <a:cs typeface="Times New Roman"/>
              </a:rPr>
              <a:t> </a:t>
            </a:r>
            <a:r>
              <a:rPr sz="2000" spc="-20" dirty="0">
                <a:solidFill>
                  <a:srgbClr val="273139"/>
                </a:solidFill>
                <a:latin typeface="Times New Roman"/>
                <a:cs typeface="Times New Roman"/>
              </a:rPr>
              <a:t>more.</a:t>
            </a:r>
            <a:endParaRPr sz="2000">
              <a:latin typeface="Times New Roman"/>
              <a:cs typeface="Times New Roman"/>
            </a:endParaRPr>
          </a:p>
          <a:p>
            <a:pPr marL="12700" marR="1433830">
              <a:lnSpc>
                <a:spcPct val="200000"/>
              </a:lnSpc>
            </a:pPr>
            <a:r>
              <a:rPr sz="2000" spc="-10" dirty="0">
                <a:solidFill>
                  <a:srgbClr val="273139"/>
                </a:solidFill>
                <a:latin typeface="Times New Roman"/>
                <a:cs typeface="Times New Roman"/>
              </a:rPr>
              <a:t>TensorFlow</a:t>
            </a:r>
            <a:r>
              <a:rPr sz="2000" spc="-55" dirty="0">
                <a:solidFill>
                  <a:srgbClr val="273139"/>
                </a:solidFill>
                <a:latin typeface="Times New Roman"/>
                <a:cs typeface="Times New Roman"/>
              </a:rPr>
              <a:t> </a:t>
            </a:r>
            <a:r>
              <a:rPr sz="2000" dirty="0">
                <a:solidFill>
                  <a:srgbClr val="273139"/>
                </a:solidFill>
                <a:latin typeface="Times New Roman"/>
                <a:cs typeface="Times New Roman"/>
              </a:rPr>
              <a:t>is</a:t>
            </a:r>
            <a:r>
              <a:rPr sz="2000" spc="-25" dirty="0">
                <a:solidFill>
                  <a:srgbClr val="273139"/>
                </a:solidFill>
                <a:latin typeface="Times New Roman"/>
                <a:cs typeface="Times New Roman"/>
              </a:rPr>
              <a:t> </a:t>
            </a:r>
            <a:r>
              <a:rPr sz="2000" dirty="0">
                <a:solidFill>
                  <a:srgbClr val="273139"/>
                </a:solidFill>
                <a:latin typeface="Times New Roman"/>
                <a:cs typeface="Times New Roman"/>
              </a:rPr>
              <a:t>run</a:t>
            </a:r>
            <a:r>
              <a:rPr sz="2000" spc="-25" dirty="0">
                <a:solidFill>
                  <a:srgbClr val="273139"/>
                </a:solidFill>
                <a:latin typeface="Times New Roman"/>
                <a:cs typeface="Times New Roman"/>
              </a:rPr>
              <a:t> </a:t>
            </a:r>
            <a:r>
              <a:rPr sz="2000" dirty="0">
                <a:solidFill>
                  <a:srgbClr val="273139"/>
                </a:solidFill>
                <a:latin typeface="Times New Roman"/>
                <a:cs typeface="Times New Roman"/>
              </a:rPr>
              <a:t>on</a:t>
            </a:r>
            <a:r>
              <a:rPr sz="2000" spc="-20" dirty="0">
                <a:solidFill>
                  <a:srgbClr val="273139"/>
                </a:solidFill>
                <a:latin typeface="Times New Roman"/>
                <a:cs typeface="Times New Roman"/>
              </a:rPr>
              <a:t> </a:t>
            </a:r>
            <a:r>
              <a:rPr sz="2000" dirty="0">
                <a:solidFill>
                  <a:srgbClr val="273139"/>
                </a:solidFill>
                <a:latin typeface="Times New Roman"/>
                <a:cs typeface="Times New Roman"/>
              </a:rPr>
              <a:t>multiple</a:t>
            </a:r>
            <a:r>
              <a:rPr sz="2000" spc="-20" dirty="0">
                <a:solidFill>
                  <a:srgbClr val="273139"/>
                </a:solidFill>
                <a:latin typeface="Times New Roman"/>
                <a:cs typeface="Times New Roman"/>
              </a:rPr>
              <a:t> </a:t>
            </a:r>
            <a:r>
              <a:rPr sz="2000" dirty="0">
                <a:solidFill>
                  <a:srgbClr val="273139"/>
                </a:solidFill>
                <a:latin typeface="Times New Roman"/>
                <a:cs typeface="Times New Roman"/>
              </a:rPr>
              <a:t>CPUs</a:t>
            </a:r>
            <a:r>
              <a:rPr sz="2000" spc="-20" dirty="0">
                <a:solidFill>
                  <a:srgbClr val="273139"/>
                </a:solidFill>
                <a:latin typeface="Times New Roman"/>
                <a:cs typeface="Times New Roman"/>
              </a:rPr>
              <a:t> </a:t>
            </a:r>
            <a:r>
              <a:rPr sz="2000" dirty="0">
                <a:solidFill>
                  <a:srgbClr val="273139"/>
                </a:solidFill>
                <a:latin typeface="Times New Roman"/>
                <a:cs typeface="Times New Roman"/>
              </a:rPr>
              <a:t>or</a:t>
            </a:r>
            <a:r>
              <a:rPr sz="2000" spc="-25" dirty="0">
                <a:solidFill>
                  <a:srgbClr val="273139"/>
                </a:solidFill>
                <a:latin typeface="Times New Roman"/>
                <a:cs typeface="Times New Roman"/>
              </a:rPr>
              <a:t> </a:t>
            </a:r>
            <a:r>
              <a:rPr sz="2000" dirty="0">
                <a:solidFill>
                  <a:srgbClr val="273139"/>
                </a:solidFill>
                <a:latin typeface="Times New Roman"/>
                <a:cs typeface="Times New Roman"/>
              </a:rPr>
              <a:t>GPUs</a:t>
            </a:r>
            <a:r>
              <a:rPr sz="2000" spc="-10" dirty="0">
                <a:solidFill>
                  <a:srgbClr val="273139"/>
                </a:solidFill>
                <a:latin typeface="Times New Roman"/>
                <a:cs typeface="Times New Roman"/>
              </a:rPr>
              <a:t> </a:t>
            </a:r>
            <a:r>
              <a:rPr sz="2000" dirty="0">
                <a:solidFill>
                  <a:srgbClr val="273139"/>
                </a:solidFill>
                <a:latin typeface="Times New Roman"/>
                <a:cs typeface="Times New Roman"/>
              </a:rPr>
              <a:t>and</a:t>
            </a:r>
            <a:r>
              <a:rPr sz="2000" spc="-25" dirty="0">
                <a:solidFill>
                  <a:srgbClr val="273139"/>
                </a:solidFill>
                <a:latin typeface="Times New Roman"/>
                <a:cs typeface="Times New Roman"/>
              </a:rPr>
              <a:t> </a:t>
            </a:r>
            <a:r>
              <a:rPr sz="2000" dirty="0">
                <a:solidFill>
                  <a:srgbClr val="273139"/>
                </a:solidFill>
                <a:latin typeface="Times New Roman"/>
                <a:cs typeface="Times New Roman"/>
              </a:rPr>
              <a:t>also</a:t>
            </a:r>
            <a:r>
              <a:rPr sz="2000" spc="-20" dirty="0">
                <a:solidFill>
                  <a:srgbClr val="273139"/>
                </a:solidFill>
                <a:latin typeface="Times New Roman"/>
                <a:cs typeface="Times New Roman"/>
              </a:rPr>
              <a:t> </a:t>
            </a:r>
            <a:r>
              <a:rPr sz="2000" dirty="0">
                <a:solidFill>
                  <a:srgbClr val="273139"/>
                </a:solidFill>
                <a:latin typeface="Times New Roman"/>
                <a:cs typeface="Times New Roman"/>
              </a:rPr>
              <a:t>mobile</a:t>
            </a:r>
            <a:r>
              <a:rPr sz="2000" spc="-20" dirty="0">
                <a:solidFill>
                  <a:srgbClr val="273139"/>
                </a:solidFill>
                <a:latin typeface="Times New Roman"/>
                <a:cs typeface="Times New Roman"/>
              </a:rPr>
              <a:t> </a:t>
            </a:r>
            <a:r>
              <a:rPr sz="2000" dirty="0">
                <a:solidFill>
                  <a:srgbClr val="273139"/>
                </a:solidFill>
                <a:latin typeface="Times New Roman"/>
                <a:cs typeface="Times New Roman"/>
              </a:rPr>
              <a:t>operating</a:t>
            </a:r>
            <a:r>
              <a:rPr sz="2000" spc="-45" dirty="0">
                <a:solidFill>
                  <a:srgbClr val="273139"/>
                </a:solidFill>
                <a:latin typeface="Times New Roman"/>
                <a:cs typeface="Times New Roman"/>
              </a:rPr>
              <a:t> </a:t>
            </a:r>
            <a:r>
              <a:rPr sz="2000" spc="-10" dirty="0">
                <a:solidFill>
                  <a:srgbClr val="273139"/>
                </a:solidFill>
                <a:latin typeface="Times New Roman"/>
                <a:cs typeface="Times New Roman"/>
              </a:rPr>
              <a:t>systems. </a:t>
            </a:r>
            <a:r>
              <a:rPr sz="2000" dirty="0">
                <a:solidFill>
                  <a:srgbClr val="273139"/>
                </a:solidFill>
                <a:latin typeface="Times New Roman"/>
                <a:cs typeface="Times New Roman"/>
              </a:rPr>
              <a:t>The</a:t>
            </a:r>
            <a:r>
              <a:rPr sz="2000" spc="-15" dirty="0">
                <a:solidFill>
                  <a:srgbClr val="273139"/>
                </a:solidFill>
                <a:latin typeface="Times New Roman"/>
                <a:cs typeface="Times New Roman"/>
              </a:rPr>
              <a:t> </a:t>
            </a:r>
            <a:r>
              <a:rPr sz="2000" dirty="0">
                <a:solidFill>
                  <a:srgbClr val="273139"/>
                </a:solidFill>
                <a:latin typeface="Times New Roman"/>
                <a:cs typeface="Times New Roman"/>
              </a:rPr>
              <a:t>word</a:t>
            </a:r>
            <a:r>
              <a:rPr sz="2000" spc="-70" dirty="0">
                <a:solidFill>
                  <a:srgbClr val="273139"/>
                </a:solidFill>
                <a:latin typeface="Times New Roman"/>
                <a:cs typeface="Times New Roman"/>
              </a:rPr>
              <a:t> </a:t>
            </a:r>
            <a:r>
              <a:rPr sz="2000" spc="-10" dirty="0">
                <a:solidFill>
                  <a:srgbClr val="273139"/>
                </a:solidFill>
                <a:latin typeface="Times New Roman"/>
                <a:cs typeface="Times New Roman"/>
              </a:rPr>
              <a:t>TensorFlow</a:t>
            </a:r>
            <a:r>
              <a:rPr sz="2000" spc="-40" dirty="0">
                <a:solidFill>
                  <a:srgbClr val="273139"/>
                </a:solidFill>
                <a:latin typeface="Times New Roman"/>
                <a:cs typeface="Times New Roman"/>
              </a:rPr>
              <a:t> </a:t>
            </a:r>
            <a:r>
              <a:rPr sz="2000" dirty="0">
                <a:solidFill>
                  <a:srgbClr val="273139"/>
                </a:solidFill>
                <a:latin typeface="Times New Roman"/>
                <a:cs typeface="Times New Roman"/>
              </a:rPr>
              <a:t>is</a:t>
            </a:r>
            <a:r>
              <a:rPr sz="2000" spc="-25" dirty="0">
                <a:solidFill>
                  <a:srgbClr val="273139"/>
                </a:solidFill>
                <a:latin typeface="Times New Roman"/>
                <a:cs typeface="Times New Roman"/>
              </a:rPr>
              <a:t> </a:t>
            </a:r>
            <a:r>
              <a:rPr sz="2000" dirty="0">
                <a:solidFill>
                  <a:srgbClr val="273139"/>
                </a:solidFill>
                <a:latin typeface="Times New Roman"/>
                <a:cs typeface="Times New Roman"/>
              </a:rPr>
              <a:t>made</a:t>
            </a:r>
            <a:r>
              <a:rPr sz="2000" spc="-10" dirty="0">
                <a:solidFill>
                  <a:srgbClr val="273139"/>
                </a:solidFill>
                <a:latin typeface="Times New Roman"/>
                <a:cs typeface="Times New Roman"/>
              </a:rPr>
              <a:t> </a:t>
            </a:r>
            <a:r>
              <a:rPr sz="2000" dirty="0">
                <a:solidFill>
                  <a:srgbClr val="273139"/>
                </a:solidFill>
                <a:latin typeface="Times New Roman"/>
                <a:cs typeface="Times New Roman"/>
              </a:rPr>
              <a:t>by</a:t>
            </a:r>
            <a:r>
              <a:rPr sz="2000" spc="-25" dirty="0">
                <a:solidFill>
                  <a:srgbClr val="273139"/>
                </a:solidFill>
                <a:latin typeface="Times New Roman"/>
                <a:cs typeface="Times New Roman"/>
              </a:rPr>
              <a:t> </a:t>
            </a:r>
            <a:r>
              <a:rPr sz="2000" dirty="0">
                <a:solidFill>
                  <a:srgbClr val="273139"/>
                </a:solidFill>
                <a:latin typeface="Times New Roman"/>
                <a:cs typeface="Times New Roman"/>
              </a:rPr>
              <a:t>two</a:t>
            </a:r>
            <a:r>
              <a:rPr sz="2000" spc="-10" dirty="0">
                <a:solidFill>
                  <a:srgbClr val="273139"/>
                </a:solidFill>
                <a:latin typeface="Times New Roman"/>
                <a:cs typeface="Times New Roman"/>
              </a:rPr>
              <a:t> </a:t>
            </a:r>
            <a:r>
              <a:rPr sz="2000" dirty="0">
                <a:solidFill>
                  <a:srgbClr val="273139"/>
                </a:solidFill>
                <a:latin typeface="Times New Roman"/>
                <a:cs typeface="Times New Roman"/>
              </a:rPr>
              <a:t>words,</a:t>
            </a:r>
            <a:r>
              <a:rPr sz="2000" spc="-55" dirty="0">
                <a:solidFill>
                  <a:srgbClr val="273139"/>
                </a:solidFill>
                <a:latin typeface="Times New Roman"/>
                <a:cs typeface="Times New Roman"/>
              </a:rPr>
              <a:t> </a:t>
            </a:r>
            <a:r>
              <a:rPr sz="2000" dirty="0">
                <a:solidFill>
                  <a:srgbClr val="273139"/>
                </a:solidFill>
                <a:latin typeface="Times New Roman"/>
                <a:cs typeface="Times New Roman"/>
              </a:rPr>
              <a:t>i.e.,</a:t>
            </a:r>
            <a:r>
              <a:rPr sz="2000" spc="-55" dirty="0">
                <a:solidFill>
                  <a:srgbClr val="273139"/>
                </a:solidFill>
                <a:latin typeface="Times New Roman"/>
                <a:cs typeface="Times New Roman"/>
              </a:rPr>
              <a:t> </a:t>
            </a:r>
            <a:r>
              <a:rPr sz="2000" spc="-20" dirty="0">
                <a:solidFill>
                  <a:srgbClr val="273139"/>
                </a:solidFill>
                <a:latin typeface="Times New Roman"/>
                <a:cs typeface="Times New Roman"/>
              </a:rPr>
              <a:t>Tensor</a:t>
            </a:r>
            <a:r>
              <a:rPr sz="2000" spc="-40" dirty="0">
                <a:solidFill>
                  <a:srgbClr val="273139"/>
                </a:solidFill>
                <a:latin typeface="Times New Roman"/>
                <a:cs typeface="Times New Roman"/>
              </a:rPr>
              <a:t> </a:t>
            </a:r>
            <a:r>
              <a:rPr sz="2000" dirty="0">
                <a:solidFill>
                  <a:srgbClr val="273139"/>
                </a:solidFill>
                <a:latin typeface="Times New Roman"/>
                <a:cs typeface="Times New Roman"/>
              </a:rPr>
              <a:t>and</a:t>
            </a:r>
            <a:r>
              <a:rPr sz="2000" spc="-10" dirty="0">
                <a:solidFill>
                  <a:srgbClr val="273139"/>
                </a:solidFill>
                <a:latin typeface="Times New Roman"/>
                <a:cs typeface="Times New Roman"/>
              </a:rPr>
              <a:t> </a:t>
            </a:r>
            <a:r>
              <a:rPr sz="2000" spc="-20" dirty="0">
                <a:solidFill>
                  <a:srgbClr val="273139"/>
                </a:solidFill>
                <a:latin typeface="Times New Roman"/>
                <a:cs typeface="Times New Roman"/>
              </a:rPr>
              <a:t>Flow</a:t>
            </a:r>
            <a:endParaRPr sz="2000">
              <a:latin typeface="Times New Roman"/>
              <a:cs typeface="Times New Roman"/>
            </a:endParaRPr>
          </a:p>
          <a:p>
            <a:pPr>
              <a:lnSpc>
                <a:spcPct val="100000"/>
              </a:lnSpc>
              <a:spcBef>
                <a:spcPts val="105"/>
              </a:spcBef>
            </a:pPr>
            <a:endParaRPr sz="2000">
              <a:latin typeface="Times New Roman"/>
              <a:cs typeface="Times New Roman"/>
            </a:endParaRPr>
          </a:p>
          <a:p>
            <a:pPr marL="12700">
              <a:lnSpc>
                <a:spcPct val="100000"/>
              </a:lnSpc>
            </a:pPr>
            <a:r>
              <a:rPr sz="2000" dirty="0">
                <a:latin typeface="Times New Roman"/>
                <a:cs typeface="Times New Roman"/>
              </a:rPr>
              <a:t>Components</a:t>
            </a:r>
            <a:r>
              <a:rPr sz="2000" spc="-50" dirty="0">
                <a:latin typeface="Times New Roman"/>
                <a:cs typeface="Times New Roman"/>
              </a:rPr>
              <a:t> </a:t>
            </a:r>
            <a:r>
              <a:rPr sz="2000" dirty="0">
                <a:latin typeface="Times New Roman"/>
                <a:cs typeface="Times New Roman"/>
              </a:rPr>
              <a:t>of</a:t>
            </a:r>
            <a:r>
              <a:rPr sz="2000" spc="-50" dirty="0">
                <a:latin typeface="Times New Roman"/>
                <a:cs typeface="Times New Roman"/>
              </a:rPr>
              <a:t> </a:t>
            </a:r>
            <a:r>
              <a:rPr sz="2000" spc="-10" dirty="0">
                <a:latin typeface="Times New Roman"/>
                <a:cs typeface="Times New Roman"/>
              </a:rPr>
              <a:t>TensorFlow</a:t>
            </a:r>
            <a:endParaRPr sz="2000">
              <a:latin typeface="Times New Roman"/>
              <a:cs typeface="Times New Roman"/>
            </a:endParaRPr>
          </a:p>
          <a:p>
            <a:pPr>
              <a:lnSpc>
                <a:spcPct val="100000"/>
              </a:lnSpc>
              <a:spcBef>
                <a:spcPts val="95"/>
              </a:spcBef>
            </a:pPr>
            <a:endParaRPr sz="2000">
              <a:latin typeface="Times New Roman"/>
              <a:cs typeface="Times New Roman"/>
            </a:endParaRPr>
          </a:p>
          <a:p>
            <a:pPr marL="203835" indent="-193675">
              <a:lnSpc>
                <a:spcPct val="100000"/>
              </a:lnSpc>
              <a:spcBef>
                <a:spcPts val="5"/>
              </a:spcBef>
              <a:buSzPct val="95000"/>
              <a:buAutoNum type="arabicPeriod"/>
              <a:tabLst>
                <a:tab pos="203835" algn="l"/>
              </a:tabLst>
            </a:pPr>
            <a:r>
              <a:rPr sz="2000" b="1" spc="-25" dirty="0">
                <a:solidFill>
                  <a:srgbClr val="FF0000"/>
                </a:solidFill>
                <a:latin typeface="Times New Roman"/>
                <a:cs typeface="Times New Roman"/>
              </a:rPr>
              <a:t>Tensor</a:t>
            </a:r>
            <a:r>
              <a:rPr sz="2000" b="1" spc="-55" dirty="0">
                <a:solidFill>
                  <a:srgbClr val="FF0000"/>
                </a:solidFill>
                <a:latin typeface="Times New Roman"/>
                <a:cs typeface="Times New Roman"/>
              </a:rPr>
              <a:t> </a:t>
            </a:r>
            <a:r>
              <a:rPr sz="2000" dirty="0">
                <a:solidFill>
                  <a:srgbClr val="273139"/>
                </a:solidFill>
                <a:latin typeface="Times New Roman"/>
                <a:cs typeface="Times New Roman"/>
              </a:rPr>
              <a:t>is</a:t>
            </a:r>
            <a:r>
              <a:rPr sz="2000" spc="-40" dirty="0">
                <a:solidFill>
                  <a:srgbClr val="273139"/>
                </a:solidFill>
                <a:latin typeface="Times New Roman"/>
                <a:cs typeface="Times New Roman"/>
              </a:rPr>
              <a:t> </a:t>
            </a:r>
            <a:r>
              <a:rPr sz="2000" dirty="0">
                <a:solidFill>
                  <a:srgbClr val="273139"/>
                </a:solidFill>
                <a:latin typeface="Times New Roman"/>
                <a:cs typeface="Times New Roman"/>
              </a:rPr>
              <a:t>a</a:t>
            </a:r>
            <a:r>
              <a:rPr sz="2000" spc="-25" dirty="0">
                <a:solidFill>
                  <a:srgbClr val="273139"/>
                </a:solidFill>
                <a:latin typeface="Times New Roman"/>
                <a:cs typeface="Times New Roman"/>
              </a:rPr>
              <a:t> </a:t>
            </a:r>
            <a:r>
              <a:rPr sz="2000" dirty="0">
                <a:solidFill>
                  <a:srgbClr val="273139"/>
                </a:solidFill>
                <a:latin typeface="Times New Roman"/>
                <a:cs typeface="Times New Roman"/>
              </a:rPr>
              <a:t>multidimensional</a:t>
            </a:r>
            <a:r>
              <a:rPr sz="2000" spc="-65" dirty="0">
                <a:solidFill>
                  <a:srgbClr val="273139"/>
                </a:solidFill>
                <a:latin typeface="Times New Roman"/>
                <a:cs typeface="Times New Roman"/>
              </a:rPr>
              <a:t> </a:t>
            </a:r>
            <a:r>
              <a:rPr sz="2000" spc="-10" dirty="0">
                <a:solidFill>
                  <a:srgbClr val="273139"/>
                </a:solidFill>
                <a:latin typeface="Times New Roman"/>
                <a:cs typeface="Times New Roman"/>
              </a:rPr>
              <a:t>array</a:t>
            </a:r>
            <a:endParaRPr sz="2000">
              <a:latin typeface="Times New Roman"/>
              <a:cs typeface="Times New Roman"/>
            </a:endParaRPr>
          </a:p>
          <a:p>
            <a:pPr marL="203835" indent="-193675">
              <a:lnSpc>
                <a:spcPct val="100000"/>
              </a:lnSpc>
              <a:buSzPct val="95000"/>
              <a:buAutoNum type="arabicPeriod"/>
              <a:tabLst>
                <a:tab pos="203835" algn="l"/>
              </a:tabLst>
            </a:pPr>
            <a:r>
              <a:rPr sz="2000" b="1" dirty="0">
                <a:solidFill>
                  <a:srgbClr val="FF0000"/>
                </a:solidFill>
                <a:latin typeface="Times New Roman"/>
                <a:cs typeface="Times New Roman"/>
              </a:rPr>
              <a:t>Flow</a:t>
            </a:r>
            <a:r>
              <a:rPr sz="2000" b="1" spc="-25" dirty="0">
                <a:solidFill>
                  <a:srgbClr val="FF0000"/>
                </a:solidFill>
                <a:latin typeface="Times New Roman"/>
                <a:cs typeface="Times New Roman"/>
              </a:rPr>
              <a:t> </a:t>
            </a:r>
            <a:r>
              <a:rPr sz="2000" dirty="0">
                <a:solidFill>
                  <a:srgbClr val="273139"/>
                </a:solidFill>
                <a:latin typeface="Times New Roman"/>
                <a:cs typeface="Times New Roman"/>
              </a:rPr>
              <a:t>is</a:t>
            </a:r>
            <a:r>
              <a:rPr sz="2000" spc="-15" dirty="0">
                <a:solidFill>
                  <a:srgbClr val="273139"/>
                </a:solidFill>
                <a:latin typeface="Times New Roman"/>
                <a:cs typeface="Times New Roman"/>
              </a:rPr>
              <a:t> </a:t>
            </a:r>
            <a:r>
              <a:rPr sz="2000" dirty="0">
                <a:solidFill>
                  <a:srgbClr val="273139"/>
                </a:solidFill>
                <a:latin typeface="Times New Roman"/>
                <a:cs typeface="Times New Roman"/>
              </a:rPr>
              <a:t>used</a:t>
            </a:r>
            <a:r>
              <a:rPr sz="2000" spc="-15" dirty="0">
                <a:solidFill>
                  <a:srgbClr val="273139"/>
                </a:solidFill>
                <a:latin typeface="Times New Roman"/>
                <a:cs typeface="Times New Roman"/>
              </a:rPr>
              <a:t> </a:t>
            </a:r>
            <a:r>
              <a:rPr sz="2000" dirty="0">
                <a:solidFill>
                  <a:srgbClr val="273139"/>
                </a:solidFill>
                <a:latin typeface="Times New Roman"/>
                <a:cs typeface="Times New Roman"/>
              </a:rPr>
              <a:t>to</a:t>
            </a:r>
            <a:r>
              <a:rPr sz="2000" spc="-10" dirty="0">
                <a:solidFill>
                  <a:srgbClr val="273139"/>
                </a:solidFill>
                <a:latin typeface="Times New Roman"/>
                <a:cs typeface="Times New Roman"/>
              </a:rPr>
              <a:t> </a:t>
            </a:r>
            <a:r>
              <a:rPr sz="2000" dirty="0">
                <a:solidFill>
                  <a:srgbClr val="273139"/>
                </a:solidFill>
                <a:latin typeface="Times New Roman"/>
                <a:cs typeface="Times New Roman"/>
              </a:rPr>
              <a:t>define</a:t>
            </a:r>
            <a:r>
              <a:rPr sz="2000" spc="-35" dirty="0">
                <a:solidFill>
                  <a:srgbClr val="273139"/>
                </a:solidFill>
                <a:latin typeface="Times New Roman"/>
                <a:cs typeface="Times New Roman"/>
              </a:rPr>
              <a:t> </a:t>
            </a:r>
            <a:r>
              <a:rPr sz="2000" dirty="0">
                <a:solidFill>
                  <a:srgbClr val="273139"/>
                </a:solidFill>
                <a:latin typeface="Times New Roman"/>
                <a:cs typeface="Times New Roman"/>
              </a:rPr>
              <a:t>the</a:t>
            </a:r>
            <a:r>
              <a:rPr sz="2000" spc="-10" dirty="0">
                <a:solidFill>
                  <a:srgbClr val="273139"/>
                </a:solidFill>
                <a:latin typeface="Times New Roman"/>
                <a:cs typeface="Times New Roman"/>
              </a:rPr>
              <a:t> </a:t>
            </a:r>
            <a:r>
              <a:rPr sz="2000" dirty="0">
                <a:solidFill>
                  <a:srgbClr val="273139"/>
                </a:solidFill>
                <a:latin typeface="Times New Roman"/>
                <a:cs typeface="Times New Roman"/>
              </a:rPr>
              <a:t>flow</a:t>
            </a:r>
            <a:r>
              <a:rPr sz="2000" spc="-15" dirty="0">
                <a:solidFill>
                  <a:srgbClr val="273139"/>
                </a:solidFill>
                <a:latin typeface="Times New Roman"/>
                <a:cs typeface="Times New Roman"/>
              </a:rPr>
              <a:t> </a:t>
            </a:r>
            <a:r>
              <a:rPr sz="2000" dirty="0">
                <a:solidFill>
                  <a:srgbClr val="273139"/>
                </a:solidFill>
                <a:latin typeface="Times New Roman"/>
                <a:cs typeface="Times New Roman"/>
              </a:rPr>
              <a:t>of</a:t>
            </a:r>
            <a:r>
              <a:rPr sz="2000" spc="-15" dirty="0">
                <a:solidFill>
                  <a:srgbClr val="273139"/>
                </a:solidFill>
                <a:latin typeface="Times New Roman"/>
                <a:cs typeface="Times New Roman"/>
              </a:rPr>
              <a:t> </a:t>
            </a:r>
            <a:r>
              <a:rPr sz="2000" dirty="0">
                <a:solidFill>
                  <a:srgbClr val="273139"/>
                </a:solidFill>
                <a:latin typeface="Times New Roman"/>
                <a:cs typeface="Times New Roman"/>
              </a:rPr>
              <a:t>data</a:t>
            </a:r>
            <a:r>
              <a:rPr sz="2000" spc="-25" dirty="0">
                <a:solidFill>
                  <a:srgbClr val="273139"/>
                </a:solidFill>
                <a:latin typeface="Times New Roman"/>
                <a:cs typeface="Times New Roman"/>
              </a:rPr>
              <a:t> </a:t>
            </a:r>
            <a:r>
              <a:rPr sz="2000" dirty="0">
                <a:solidFill>
                  <a:srgbClr val="273139"/>
                </a:solidFill>
                <a:latin typeface="Times New Roman"/>
                <a:cs typeface="Times New Roman"/>
              </a:rPr>
              <a:t>in</a:t>
            </a:r>
            <a:r>
              <a:rPr sz="2000" spc="-5" dirty="0">
                <a:solidFill>
                  <a:srgbClr val="273139"/>
                </a:solidFill>
                <a:latin typeface="Times New Roman"/>
                <a:cs typeface="Times New Roman"/>
              </a:rPr>
              <a:t> </a:t>
            </a:r>
            <a:r>
              <a:rPr sz="2000" spc="-10" dirty="0">
                <a:solidFill>
                  <a:srgbClr val="273139"/>
                </a:solidFill>
                <a:latin typeface="Times New Roman"/>
                <a:cs typeface="Times New Roman"/>
              </a:rPr>
              <a:t>operation.</a:t>
            </a:r>
            <a:endParaRPr sz="2000">
              <a:latin typeface="Times New Roman"/>
              <a:cs typeface="Times New Roman"/>
            </a:endParaRPr>
          </a:p>
        </p:txBody>
      </p:sp>
      <p:sp>
        <p:nvSpPr>
          <p:cNvPr id="3" name="object 3"/>
          <p:cNvSpPr/>
          <p:nvPr/>
        </p:nvSpPr>
        <p:spPr>
          <a:xfrm>
            <a:off x="0" y="90157"/>
            <a:ext cx="0" cy="277495"/>
          </a:xfrm>
          <a:custGeom>
            <a:avLst/>
            <a:gdLst/>
            <a:ahLst/>
            <a:cxnLst/>
            <a:rect l="l" t="t" r="r" b="b"/>
            <a:pathLst>
              <a:path h="277495">
                <a:moveTo>
                  <a:pt x="0" y="0"/>
                </a:moveTo>
                <a:lnTo>
                  <a:pt x="0" y="276999"/>
                </a:lnTo>
                <a:lnTo>
                  <a:pt x="0" y="0"/>
                </a:lnTo>
                <a:close/>
              </a:path>
            </a:pathLst>
          </a:custGeom>
          <a:solidFill>
            <a:srgbClr val="DFDFDF"/>
          </a:solidFill>
        </p:spPr>
        <p:txBody>
          <a:bodyPr wrap="square" lIns="0" tIns="0" rIns="0" bIns="0" rtlCol="0"/>
          <a:lstStyle/>
          <a:p>
            <a:endParaRPr/>
          </a:p>
        </p:txBody>
      </p:sp>
      <p:pic>
        <p:nvPicPr>
          <p:cNvPr id="4" name="object 4"/>
          <p:cNvPicPr/>
          <p:nvPr/>
        </p:nvPicPr>
        <p:blipFill>
          <a:blip r:embed="rId2" cstate="print"/>
          <a:stretch>
            <a:fillRect/>
          </a:stretch>
        </p:blipFill>
        <p:spPr>
          <a:xfrm>
            <a:off x="7940167" y="4660519"/>
            <a:ext cx="2066925" cy="11144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0278" y="590803"/>
            <a:ext cx="10172700" cy="330835"/>
          </a:xfrm>
          <a:prstGeom prst="rect">
            <a:avLst/>
          </a:prstGeom>
        </p:spPr>
        <p:txBody>
          <a:bodyPr vert="horz" wrap="square" lIns="0" tIns="13335" rIns="0" bIns="0" rtlCol="0">
            <a:spAutoFit/>
          </a:bodyPr>
          <a:lstStyle/>
          <a:p>
            <a:pPr marL="12700">
              <a:lnSpc>
                <a:spcPct val="100000"/>
              </a:lnSpc>
              <a:spcBef>
                <a:spcPts val="105"/>
              </a:spcBef>
            </a:pPr>
            <a:r>
              <a:rPr sz="2000" b="0" spc="-10" dirty="0">
                <a:latin typeface="Times New Roman"/>
                <a:cs typeface="Times New Roman"/>
              </a:rPr>
              <a:t>TensorFlow</a:t>
            </a:r>
            <a:r>
              <a:rPr sz="2000" b="0" spc="-45" dirty="0">
                <a:latin typeface="Times New Roman"/>
                <a:cs typeface="Times New Roman"/>
              </a:rPr>
              <a:t> </a:t>
            </a:r>
            <a:r>
              <a:rPr sz="2000" b="0" dirty="0">
                <a:solidFill>
                  <a:srgbClr val="000000"/>
                </a:solidFill>
                <a:latin typeface="Times New Roman"/>
                <a:cs typeface="Times New Roman"/>
              </a:rPr>
              <a:t>is</a:t>
            </a:r>
            <a:r>
              <a:rPr sz="2000" b="0" spc="-20" dirty="0">
                <a:solidFill>
                  <a:srgbClr val="000000"/>
                </a:solidFill>
                <a:latin typeface="Times New Roman"/>
                <a:cs typeface="Times New Roman"/>
              </a:rPr>
              <a:t> </a:t>
            </a:r>
            <a:r>
              <a:rPr sz="2000" b="0" dirty="0">
                <a:solidFill>
                  <a:srgbClr val="000000"/>
                </a:solidFill>
                <a:latin typeface="Times New Roman"/>
                <a:cs typeface="Times New Roman"/>
              </a:rPr>
              <a:t>basically</a:t>
            </a:r>
            <a:r>
              <a:rPr sz="2000" b="0" spc="-25" dirty="0">
                <a:solidFill>
                  <a:srgbClr val="000000"/>
                </a:solidFill>
                <a:latin typeface="Times New Roman"/>
                <a:cs typeface="Times New Roman"/>
              </a:rPr>
              <a:t> </a:t>
            </a:r>
            <a:r>
              <a:rPr sz="2000" b="0" dirty="0">
                <a:solidFill>
                  <a:srgbClr val="000000"/>
                </a:solidFill>
                <a:latin typeface="Times New Roman"/>
                <a:cs typeface="Times New Roman"/>
              </a:rPr>
              <a:t>a</a:t>
            </a:r>
            <a:r>
              <a:rPr sz="2000" b="0" spc="-15" dirty="0">
                <a:solidFill>
                  <a:srgbClr val="000000"/>
                </a:solidFill>
                <a:latin typeface="Times New Roman"/>
                <a:cs typeface="Times New Roman"/>
              </a:rPr>
              <a:t> </a:t>
            </a:r>
            <a:r>
              <a:rPr sz="2000" b="0" dirty="0">
                <a:solidFill>
                  <a:srgbClr val="000000"/>
                </a:solidFill>
                <a:latin typeface="Times New Roman"/>
                <a:cs typeface="Times New Roman"/>
              </a:rPr>
              <a:t>software</a:t>
            </a:r>
            <a:r>
              <a:rPr sz="2000" b="0" spc="-40" dirty="0">
                <a:solidFill>
                  <a:srgbClr val="000000"/>
                </a:solidFill>
                <a:latin typeface="Times New Roman"/>
                <a:cs typeface="Times New Roman"/>
              </a:rPr>
              <a:t> </a:t>
            </a:r>
            <a:r>
              <a:rPr sz="2000" b="0" dirty="0">
                <a:solidFill>
                  <a:srgbClr val="000000"/>
                </a:solidFill>
                <a:latin typeface="Times New Roman"/>
                <a:cs typeface="Times New Roman"/>
              </a:rPr>
              <a:t>library</a:t>
            </a:r>
            <a:r>
              <a:rPr sz="2000" b="0" spc="-45" dirty="0">
                <a:solidFill>
                  <a:srgbClr val="000000"/>
                </a:solidFill>
                <a:latin typeface="Times New Roman"/>
                <a:cs typeface="Times New Roman"/>
              </a:rPr>
              <a:t> </a:t>
            </a:r>
            <a:r>
              <a:rPr sz="2000" b="0" dirty="0">
                <a:solidFill>
                  <a:srgbClr val="000000"/>
                </a:solidFill>
                <a:latin typeface="Times New Roman"/>
                <a:cs typeface="Times New Roman"/>
              </a:rPr>
              <a:t>for</a:t>
            </a:r>
            <a:r>
              <a:rPr sz="2000" b="0" spc="-20" dirty="0">
                <a:solidFill>
                  <a:srgbClr val="000000"/>
                </a:solidFill>
                <a:latin typeface="Times New Roman"/>
                <a:cs typeface="Times New Roman"/>
              </a:rPr>
              <a:t> </a:t>
            </a:r>
            <a:r>
              <a:rPr sz="2000" b="0" dirty="0">
                <a:solidFill>
                  <a:srgbClr val="000000"/>
                </a:solidFill>
                <a:latin typeface="Times New Roman"/>
                <a:cs typeface="Times New Roman"/>
              </a:rPr>
              <a:t>numerical</a:t>
            </a:r>
            <a:r>
              <a:rPr sz="2000" b="0" spc="-35" dirty="0">
                <a:solidFill>
                  <a:srgbClr val="000000"/>
                </a:solidFill>
                <a:latin typeface="Times New Roman"/>
                <a:cs typeface="Times New Roman"/>
              </a:rPr>
              <a:t> </a:t>
            </a:r>
            <a:r>
              <a:rPr sz="2000" b="0" dirty="0">
                <a:solidFill>
                  <a:srgbClr val="000000"/>
                </a:solidFill>
                <a:latin typeface="Times New Roman"/>
                <a:cs typeface="Times New Roman"/>
              </a:rPr>
              <a:t>computation</a:t>
            </a:r>
            <a:r>
              <a:rPr sz="2000" b="0" spc="-30" dirty="0">
                <a:solidFill>
                  <a:srgbClr val="000000"/>
                </a:solidFill>
                <a:latin typeface="Times New Roman"/>
                <a:cs typeface="Times New Roman"/>
              </a:rPr>
              <a:t> </a:t>
            </a:r>
            <a:r>
              <a:rPr sz="2000" b="0" dirty="0">
                <a:solidFill>
                  <a:srgbClr val="000000"/>
                </a:solidFill>
                <a:latin typeface="Times New Roman"/>
                <a:cs typeface="Times New Roman"/>
              </a:rPr>
              <a:t>using</a:t>
            </a:r>
            <a:r>
              <a:rPr sz="2000" b="0" spc="-5" dirty="0">
                <a:solidFill>
                  <a:srgbClr val="000000"/>
                </a:solidFill>
                <a:latin typeface="Times New Roman"/>
                <a:cs typeface="Times New Roman"/>
              </a:rPr>
              <a:t> </a:t>
            </a:r>
            <a:r>
              <a:rPr sz="2000" b="0" dirty="0">
                <a:latin typeface="Times New Roman"/>
                <a:cs typeface="Times New Roman"/>
              </a:rPr>
              <a:t>data</a:t>
            </a:r>
            <a:r>
              <a:rPr sz="2000" b="0" spc="-20" dirty="0">
                <a:latin typeface="Times New Roman"/>
                <a:cs typeface="Times New Roman"/>
              </a:rPr>
              <a:t> </a:t>
            </a:r>
            <a:r>
              <a:rPr sz="2000" b="0" dirty="0">
                <a:latin typeface="Times New Roman"/>
                <a:cs typeface="Times New Roman"/>
              </a:rPr>
              <a:t>flow</a:t>
            </a:r>
            <a:r>
              <a:rPr sz="2000" b="0" spc="-20" dirty="0">
                <a:latin typeface="Times New Roman"/>
                <a:cs typeface="Times New Roman"/>
              </a:rPr>
              <a:t> </a:t>
            </a:r>
            <a:r>
              <a:rPr sz="2000" b="0" dirty="0">
                <a:latin typeface="Times New Roman"/>
                <a:cs typeface="Times New Roman"/>
              </a:rPr>
              <a:t>graphs</a:t>
            </a:r>
            <a:r>
              <a:rPr sz="2000" b="0" spc="-45" dirty="0">
                <a:latin typeface="Times New Roman"/>
                <a:cs typeface="Times New Roman"/>
              </a:rPr>
              <a:t> </a:t>
            </a:r>
            <a:r>
              <a:rPr sz="2000" b="0" spc="-10" dirty="0">
                <a:solidFill>
                  <a:srgbClr val="000000"/>
                </a:solidFill>
                <a:latin typeface="Times New Roman"/>
                <a:cs typeface="Times New Roman"/>
              </a:rPr>
              <a:t>where:</a:t>
            </a:r>
            <a:endParaRPr sz="2000">
              <a:latin typeface="Times New Roman"/>
              <a:cs typeface="Times New Roman"/>
            </a:endParaRPr>
          </a:p>
        </p:txBody>
      </p:sp>
      <p:sp>
        <p:nvSpPr>
          <p:cNvPr id="3" name="object 3"/>
          <p:cNvSpPr txBox="1"/>
          <p:nvPr/>
        </p:nvSpPr>
        <p:spPr>
          <a:xfrm>
            <a:off x="401523" y="1200403"/>
            <a:ext cx="11210290" cy="4891405"/>
          </a:xfrm>
          <a:prstGeom prst="rect">
            <a:avLst/>
          </a:prstGeom>
        </p:spPr>
        <p:txBody>
          <a:bodyPr vert="horz" wrap="square" lIns="0" tIns="13335" rIns="0" bIns="0" rtlCol="0">
            <a:spAutoFit/>
          </a:bodyPr>
          <a:lstStyle/>
          <a:p>
            <a:pPr marL="170815">
              <a:lnSpc>
                <a:spcPct val="100000"/>
              </a:lnSpc>
              <a:spcBef>
                <a:spcPts val="105"/>
              </a:spcBef>
            </a:pPr>
            <a:r>
              <a:rPr sz="2000" dirty="0">
                <a:latin typeface="Times New Roman"/>
                <a:cs typeface="Times New Roman"/>
              </a:rPr>
              <a:t>The chart</a:t>
            </a:r>
            <a:r>
              <a:rPr sz="2000" spc="-30" dirty="0">
                <a:latin typeface="Times New Roman"/>
                <a:cs typeface="Times New Roman"/>
              </a:rPr>
              <a:t> </a:t>
            </a:r>
            <a:r>
              <a:rPr sz="2000" dirty="0">
                <a:latin typeface="Times New Roman"/>
                <a:cs typeface="Times New Roman"/>
              </a:rPr>
              <a:t>gathers</a:t>
            </a:r>
            <a:r>
              <a:rPr sz="2000" spc="-3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describes</a:t>
            </a:r>
            <a:r>
              <a:rPr sz="2000" spc="-45" dirty="0">
                <a:latin typeface="Times New Roman"/>
                <a:cs typeface="Times New Roman"/>
              </a:rPr>
              <a:t> </a:t>
            </a:r>
            <a:r>
              <a:rPr sz="2000" dirty="0">
                <a:latin typeface="Times New Roman"/>
                <a:cs typeface="Times New Roman"/>
              </a:rPr>
              <a:t>all the</a:t>
            </a:r>
            <a:r>
              <a:rPr sz="2000" spc="-15" dirty="0">
                <a:latin typeface="Times New Roman"/>
                <a:cs typeface="Times New Roman"/>
              </a:rPr>
              <a:t> </a:t>
            </a:r>
            <a:r>
              <a:rPr sz="2000" dirty="0">
                <a:latin typeface="Times New Roman"/>
                <a:cs typeface="Times New Roman"/>
              </a:rPr>
              <a:t>computations</a:t>
            </a:r>
            <a:r>
              <a:rPr sz="2000" spc="-35" dirty="0">
                <a:latin typeface="Times New Roman"/>
                <a:cs typeface="Times New Roman"/>
              </a:rPr>
              <a:t> </a:t>
            </a:r>
            <a:r>
              <a:rPr sz="2000" dirty="0">
                <a:latin typeface="Times New Roman"/>
                <a:cs typeface="Times New Roman"/>
              </a:rPr>
              <a:t>done</a:t>
            </a:r>
            <a:r>
              <a:rPr sz="2000" spc="-25" dirty="0">
                <a:latin typeface="Times New Roman"/>
                <a:cs typeface="Times New Roman"/>
              </a:rPr>
              <a:t> </a:t>
            </a:r>
            <a:r>
              <a:rPr sz="2000" dirty="0">
                <a:latin typeface="Times New Roman"/>
                <a:cs typeface="Times New Roman"/>
              </a:rPr>
              <a:t>during</a:t>
            </a:r>
            <a:r>
              <a:rPr sz="2000" spc="-2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spc="-10" dirty="0">
                <a:latin typeface="Times New Roman"/>
                <a:cs typeface="Times New Roman"/>
              </a:rPr>
              <a:t>training.</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11125">
              <a:lnSpc>
                <a:spcPct val="100000"/>
              </a:lnSpc>
            </a:pPr>
            <a:r>
              <a:rPr sz="2000" dirty="0">
                <a:solidFill>
                  <a:srgbClr val="FF0000"/>
                </a:solidFill>
                <a:latin typeface="Times New Roman"/>
                <a:cs typeface="Times New Roman"/>
              </a:rPr>
              <a:t>nodes</a:t>
            </a:r>
            <a:r>
              <a:rPr sz="2000" spc="-45" dirty="0">
                <a:solidFill>
                  <a:srgbClr val="FF0000"/>
                </a:solidFill>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dirty="0">
                <a:latin typeface="Times New Roman"/>
                <a:cs typeface="Times New Roman"/>
              </a:rPr>
              <a:t>graph</a:t>
            </a:r>
            <a:r>
              <a:rPr sz="2000" spc="-40" dirty="0">
                <a:latin typeface="Times New Roman"/>
                <a:cs typeface="Times New Roman"/>
              </a:rPr>
              <a:t> </a:t>
            </a:r>
            <a:r>
              <a:rPr sz="2000" dirty="0">
                <a:latin typeface="Times New Roman"/>
                <a:cs typeface="Times New Roman"/>
              </a:rPr>
              <a:t>represent</a:t>
            </a:r>
            <a:r>
              <a:rPr sz="2000" spc="-55" dirty="0">
                <a:latin typeface="Times New Roman"/>
                <a:cs typeface="Times New Roman"/>
              </a:rPr>
              <a:t> </a:t>
            </a:r>
            <a:r>
              <a:rPr sz="2000" dirty="0">
                <a:latin typeface="Times New Roman"/>
                <a:cs typeface="Times New Roman"/>
              </a:rPr>
              <a:t>mathematical</a:t>
            </a:r>
            <a:r>
              <a:rPr sz="2000" spc="-20" dirty="0">
                <a:latin typeface="Times New Roman"/>
                <a:cs typeface="Times New Roman"/>
              </a:rPr>
              <a:t> </a:t>
            </a:r>
            <a:r>
              <a:rPr sz="2000" spc="-10" dirty="0">
                <a:latin typeface="Times New Roman"/>
                <a:cs typeface="Times New Roman"/>
              </a:rPr>
              <a:t>operations.</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11125" marR="783590">
              <a:lnSpc>
                <a:spcPct val="100000"/>
              </a:lnSpc>
            </a:pPr>
            <a:r>
              <a:rPr sz="2000" dirty="0">
                <a:solidFill>
                  <a:srgbClr val="FF0000"/>
                </a:solidFill>
                <a:latin typeface="Times New Roman"/>
                <a:cs typeface="Times New Roman"/>
              </a:rPr>
              <a:t>edges</a:t>
            </a:r>
            <a:r>
              <a:rPr sz="2000" spc="-30" dirty="0">
                <a:solidFill>
                  <a:srgbClr val="FF0000"/>
                </a:solidFill>
                <a:latin typeface="Times New Roman"/>
                <a:cs typeface="Times New Roman"/>
              </a:rPr>
              <a:t> </a:t>
            </a:r>
            <a:r>
              <a:rPr sz="2000" dirty="0">
                <a:latin typeface="Times New Roman"/>
                <a:cs typeface="Times New Roman"/>
              </a:rPr>
              <a:t>in</a:t>
            </a:r>
            <a:r>
              <a:rPr sz="2000" spc="-20" dirty="0">
                <a:latin typeface="Times New Roman"/>
                <a:cs typeface="Times New Roman"/>
              </a:rPr>
              <a:t> </a:t>
            </a:r>
            <a:r>
              <a:rPr sz="2000" dirty="0">
                <a:latin typeface="Times New Roman"/>
                <a:cs typeface="Times New Roman"/>
              </a:rPr>
              <a:t>the</a:t>
            </a:r>
            <a:r>
              <a:rPr sz="2000" spc="-35" dirty="0">
                <a:latin typeface="Times New Roman"/>
                <a:cs typeface="Times New Roman"/>
              </a:rPr>
              <a:t> </a:t>
            </a:r>
            <a:r>
              <a:rPr sz="2000" dirty="0">
                <a:latin typeface="Times New Roman"/>
                <a:cs typeface="Times New Roman"/>
              </a:rPr>
              <a:t>graph</a:t>
            </a:r>
            <a:r>
              <a:rPr sz="2000" spc="-30" dirty="0">
                <a:latin typeface="Times New Roman"/>
                <a:cs typeface="Times New Roman"/>
              </a:rPr>
              <a:t> </a:t>
            </a:r>
            <a:r>
              <a:rPr sz="2000" dirty="0">
                <a:latin typeface="Times New Roman"/>
                <a:cs typeface="Times New Roman"/>
              </a:rPr>
              <a:t>represent</a:t>
            </a:r>
            <a:r>
              <a:rPr sz="2000" spc="-6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multidimensional</a:t>
            </a:r>
            <a:r>
              <a:rPr sz="2000" spc="-30" dirty="0">
                <a:latin typeface="Times New Roman"/>
                <a:cs typeface="Times New Roman"/>
              </a:rPr>
              <a:t> </a:t>
            </a:r>
            <a:r>
              <a:rPr sz="2000" dirty="0">
                <a:solidFill>
                  <a:srgbClr val="FF0000"/>
                </a:solidFill>
                <a:latin typeface="Times New Roman"/>
                <a:cs typeface="Times New Roman"/>
              </a:rPr>
              <a:t>data</a:t>
            </a:r>
            <a:r>
              <a:rPr sz="2000" spc="-25" dirty="0">
                <a:solidFill>
                  <a:srgbClr val="FF0000"/>
                </a:solidFill>
                <a:latin typeface="Times New Roman"/>
                <a:cs typeface="Times New Roman"/>
              </a:rPr>
              <a:t> </a:t>
            </a:r>
            <a:r>
              <a:rPr sz="2000" dirty="0">
                <a:solidFill>
                  <a:srgbClr val="FF0000"/>
                </a:solidFill>
                <a:latin typeface="Times New Roman"/>
                <a:cs typeface="Times New Roman"/>
              </a:rPr>
              <a:t>arrays</a:t>
            </a:r>
            <a:r>
              <a:rPr sz="2000" spc="-25" dirty="0">
                <a:solidFill>
                  <a:srgbClr val="FF0000"/>
                </a:solidFill>
                <a:latin typeface="Times New Roman"/>
                <a:cs typeface="Times New Roman"/>
              </a:rPr>
              <a:t> </a:t>
            </a:r>
            <a:r>
              <a:rPr sz="2000" dirty="0">
                <a:latin typeface="Times New Roman"/>
                <a:cs typeface="Times New Roman"/>
              </a:rPr>
              <a:t>(called</a:t>
            </a:r>
            <a:r>
              <a:rPr sz="2000" spc="-25" dirty="0">
                <a:latin typeface="Times New Roman"/>
                <a:cs typeface="Times New Roman"/>
              </a:rPr>
              <a:t> </a:t>
            </a:r>
            <a:r>
              <a:rPr sz="2000" dirty="0">
                <a:solidFill>
                  <a:srgbClr val="FF0000"/>
                </a:solidFill>
                <a:latin typeface="Times New Roman"/>
                <a:cs typeface="Times New Roman"/>
              </a:rPr>
              <a:t>tensors</a:t>
            </a:r>
            <a:r>
              <a:rPr sz="2000" dirty="0">
                <a:latin typeface="Times New Roman"/>
                <a:cs typeface="Times New Roman"/>
              </a:rPr>
              <a:t>)</a:t>
            </a:r>
            <a:r>
              <a:rPr sz="2000" spc="-65" dirty="0">
                <a:latin typeface="Times New Roman"/>
                <a:cs typeface="Times New Roman"/>
              </a:rPr>
              <a:t> </a:t>
            </a:r>
            <a:r>
              <a:rPr sz="2000" dirty="0">
                <a:latin typeface="Times New Roman"/>
                <a:cs typeface="Times New Roman"/>
              </a:rPr>
              <a:t>communicated</a:t>
            </a:r>
            <a:r>
              <a:rPr sz="2000" spc="-5" dirty="0">
                <a:latin typeface="Times New Roman"/>
                <a:cs typeface="Times New Roman"/>
              </a:rPr>
              <a:t> </a:t>
            </a:r>
            <a:r>
              <a:rPr sz="2000" spc="-10" dirty="0">
                <a:latin typeface="Times New Roman"/>
                <a:cs typeface="Times New Roman"/>
              </a:rPr>
              <a:t>between </a:t>
            </a:r>
            <a:r>
              <a:rPr sz="2000" dirty="0">
                <a:latin typeface="Times New Roman"/>
                <a:cs typeface="Times New Roman"/>
              </a:rPr>
              <a:t>them.</a:t>
            </a:r>
            <a:r>
              <a:rPr sz="2000" spc="-5" dirty="0">
                <a:latin typeface="Times New Roman"/>
                <a:cs typeface="Times New Roman"/>
              </a:rPr>
              <a:t> </a:t>
            </a:r>
            <a:r>
              <a:rPr sz="2000" dirty="0">
                <a:latin typeface="Times New Roman"/>
                <a:cs typeface="Times New Roman"/>
              </a:rPr>
              <a:t>(Please</a:t>
            </a:r>
            <a:r>
              <a:rPr sz="2000" spc="-35" dirty="0">
                <a:latin typeface="Times New Roman"/>
                <a:cs typeface="Times New Roman"/>
              </a:rPr>
              <a:t> </a:t>
            </a:r>
            <a:r>
              <a:rPr sz="2000" dirty="0">
                <a:latin typeface="Times New Roman"/>
                <a:cs typeface="Times New Roman"/>
              </a:rPr>
              <a:t>note</a:t>
            </a:r>
            <a:r>
              <a:rPr sz="2000" spc="-15" dirty="0">
                <a:latin typeface="Times New Roman"/>
                <a:cs typeface="Times New Roman"/>
              </a:rPr>
              <a:t> </a:t>
            </a:r>
            <a:r>
              <a:rPr sz="2000" dirty="0">
                <a:latin typeface="Times New Roman"/>
                <a:cs typeface="Times New Roman"/>
              </a:rPr>
              <a:t>that</a:t>
            </a:r>
            <a:r>
              <a:rPr sz="2000" spc="-20" dirty="0">
                <a:latin typeface="Times New Roman"/>
                <a:cs typeface="Times New Roman"/>
              </a:rPr>
              <a:t> </a:t>
            </a:r>
            <a:r>
              <a:rPr sz="2000" dirty="0">
                <a:latin typeface="Times New Roman"/>
                <a:cs typeface="Times New Roman"/>
              </a:rPr>
              <a:t>tensor</a:t>
            </a:r>
            <a:r>
              <a:rPr sz="2000" spc="-20" dirty="0">
                <a:latin typeface="Times New Roman"/>
                <a:cs typeface="Times New Roman"/>
              </a:rPr>
              <a:t> </a:t>
            </a:r>
            <a:r>
              <a:rPr sz="2000" dirty="0">
                <a:latin typeface="Times New Roman"/>
                <a:cs typeface="Times New Roman"/>
              </a:rPr>
              <a:t>is</a:t>
            </a:r>
            <a:r>
              <a:rPr sz="2000" spc="-15"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dirty="0">
                <a:latin typeface="Times New Roman"/>
                <a:cs typeface="Times New Roman"/>
              </a:rPr>
              <a:t>central</a:t>
            </a:r>
            <a:r>
              <a:rPr sz="2000" spc="-30" dirty="0">
                <a:latin typeface="Times New Roman"/>
                <a:cs typeface="Times New Roman"/>
              </a:rPr>
              <a:t> </a:t>
            </a:r>
            <a:r>
              <a:rPr sz="2000" dirty="0">
                <a:latin typeface="Times New Roman"/>
                <a:cs typeface="Times New Roman"/>
              </a:rPr>
              <a:t>unit</a:t>
            </a:r>
            <a:r>
              <a:rPr sz="2000" spc="-30" dirty="0">
                <a:latin typeface="Times New Roman"/>
                <a:cs typeface="Times New Roman"/>
              </a:rPr>
              <a:t> </a:t>
            </a:r>
            <a:r>
              <a:rPr sz="2000" dirty="0">
                <a:latin typeface="Times New Roman"/>
                <a:cs typeface="Times New Roman"/>
              </a:rPr>
              <a:t>of</a:t>
            </a:r>
            <a:r>
              <a:rPr sz="2000" spc="-15" dirty="0">
                <a:latin typeface="Times New Roman"/>
                <a:cs typeface="Times New Roman"/>
              </a:rPr>
              <a:t> </a:t>
            </a:r>
            <a:r>
              <a:rPr sz="2000" dirty="0">
                <a:latin typeface="Times New Roman"/>
                <a:cs typeface="Times New Roman"/>
              </a:rPr>
              <a:t>data</a:t>
            </a:r>
            <a:r>
              <a:rPr sz="2000" spc="-15" dirty="0">
                <a:latin typeface="Times New Roman"/>
                <a:cs typeface="Times New Roman"/>
              </a:rPr>
              <a:t> </a:t>
            </a:r>
            <a:r>
              <a:rPr sz="2000" dirty="0">
                <a:latin typeface="Times New Roman"/>
                <a:cs typeface="Times New Roman"/>
              </a:rPr>
              <a:t>in</a:t>
            </a:r>
            <a:r>
              <a:rPr sz="2000" spc="-45" dirty="0">
                <a:latin typeface="Times New Roman"/>
                <a:cs typeface="Times New Roman"/>
              </a:rPr>
              <a:t> </a:t>
            </a:r>
            <a:r>
              <a:rPr sz="2000" spc="-10" dirty="0">
                <a:latin typeface="Times New Roman"/>
                <a:cs typeface="Times New Roman"/>
              </a:rPr>
              <a:t>TensorFlow)</a:t>
            </a:r>
            <a:endParaRPr sz="2000">
              <a:latin typeface="Times New Roman"/>
              <a:cs typeface="Times New Roman"/>
            </a:endParaRPr>
          </a:p>
          <a:p>
            <a:pPr>
              <a:lnSpc>
                <a:spcPct val="100000"/>
              </a:lnSpc>
              <a:spcBef>
                <a:spcPts val="100"/>
              </a:spcBef>
            </a:pPr>
            <a:endParaRPr sz="2000">
              <a:latin typeface="Times New Roman"/>
              <a:cs typeface="Times New Roman"/>
            </a:endParaRPr>
          </a:p>
          <a:p>
            <a:pPr marL="111125">
              <a:lnSpc>
                <a:spcPct val="100000"/>
              </a:lnSpc>
              <a:spcBef>
                <a:spcPts val="5"/>
              </a:spcBef>
            </a:pPr>
            <a:r>
              <a:rPr sz="2000" dirty="0">
                <a:solidFill>
                  <a:srgbClr val="FF0000"/>
                </a:solidFill>
                <a:latin typeface="Times New Roman"/>
                <a:cs typeface="Times New Roman"/>
              </a:rPr>
              <a:t>Installation</a:t>
            </a:r>
            <a:r>
              <a:rPr sz="2000" spc="-55" dirty="0">
                <a:solidFill>
                  <a:srgbClr val="FF0000"/>
                </a:solidFill>
                <a:latin typeface="Times New Roman"/>
                <a:cs typeface="Times New Roman"/>
              </a:rPr>
              <a:t> </a:t>
            </a:r>
            <a:r>
              <a:rPr sz="2000" spc="-10" dirty="0">
                <a:solidFill>
                  <a:srgbClr val="FF0000"/>
                </a:solidFill>
                <a:latin typeface="Times New Roman"/>
                <a:cs typeface="Times New Roman"/>
              </a:rPr>
              <a:t>Command:</a:t>
            </a:r>
            <a:endParaRPr sz="2000">
              <a:latin typeface="Times New Roman"/>
              <a:cs typeface="Times New Roman"/>
            </a:endParaRPr>
          </a:p>
          <a:p>
            <a:pPr marL="111125">
              <a:lnSpc>
                <a:spcPct val="100000"/>
              </a:lnSpc>
            </a:pPr>
            <a:r>
              <a:rPr sz="2000" b="1" dirty="0">
                <a:latin typeface="Times New Roman"/>
                <a:cs typeface="Times New Roman"/>
              </a:rPr>
              <a:t>pip</a:t>
            </a:r>
            <a:r>
              <a:rPr sz="2000" b="1" spc="-5" dirty="0">
                <a:latin typeface="Times New Roman"/>
                <a:cs typeface="Times New Roman"/>
              </a:rPr>
              <a:t> </a:t>
            </a:r>
            <a:r>
              <a:rPr sz="2000" b="1" dirty="0">
                <a:latin typeface="Times New Roman"/>
                <a:cs typeface="Times New Roman"/>
              </a:rPr>
              <a:t>install</a:t>
            </a:r>
            <a:r>
              <a:rPr sz="2000" b="1" spc="-35" dirty="0">
                <a:latin typeface="Times New Roman"/>
                <a:cs typeface="Times New Roman"/>
              </a:rPr>
              <a:t> </a:t>
            </a:r>
            <a:r>
              <a:rPr sz="2000" b="1" spc="-10" dirty="0">
                <a:latin typeface="Times New Roman"/>
                <a:cs typeface="Times New Roman"/>
              </a:rPr>
              <a:t>tensorflow</a:t>
            </a:r>
            <a:endParaRPr sz="2000">
              <a:latin typeface="Times New Roman"/>
              <a:cs typeface="Times New Roman"/>
            </a:endParaRPr>
          </a:p>
          <a:p>
            <a:pPr marL="12700">
              <a:lnSpc>
                <a:spcPct val="100000"/>
              </a:lnSpc>
              <a:spcBef>
                <a:spcPts val="1580"/>
              </a:spcBef>
            </a:pPr>
            <a:r>
              <a:rPr sz="1800" b="1" dirty="0">
                <a:solidFill>
                  <a:srgbClr val="600A4A"/>
                </a:solidFill>
                <a:latin typeface="Arial"/>
                <a:cs typeface="Arial"/>
              </a:rPr>
              <a:t>Advantages</a:t>
            </a:r>
            <a:r>
              <a:rPr sz="1800" b="1" spc="-5" dirty="0">
                <a:solidFill>
                  <a:srgbClr val="600A4A"/>
                </a:solidFill>
                <a:latin typeface="Arial"/>
                <a:cs typeface="Arial"/>
              </a:rPr>
              <a:t> </a:t>
            </a:r>
            <a:r>
              <a:rPr sz="1800" b="1" dirty="0">
                <a:solidFill>
                  <a:srgbClr val="600A4A"/>
                </a:solidFill>
                <a:latin typeface="Arial"/>
                <a:cs typeface="Arial"/>
              </a:rPr>
              <a:t>of</a:t>
            </a:r>
            <a:r>
              <a:rPr sz="1800" b="1" spc="-60" dirty="0">
                <a:solidFill>
                  <a:srgbClr val="600A4A"/>
                </a:solidFill>
                <a:latin typeface="Arial"/>
                <a:cs typeface="Arial"/>
              </a:rPr>
              <a:t> </a:t>
            </a:r>
            <a:r>
              <a:rPr sz="1800" b="1" spc="-10" dirty="0">
                <a:solidFill>
                  <a:srgbClr val="600A4A"/>
                </a:solidFill>
                <a:latin typeface="Arial"/>
                <a:cs typeface="Arial"/>
              </a:rPr>
              <a:t>Tensorflow:</a:t>
            </a:r>
            <a:endParaRPr sz="1800">
              <a:latin typeface="Arial"/>
              <a:cs typeface="Arial"/>
            </a:endParaRPr>
          </a:p>
          <a:p>
            <a:pPr marL="91440" indent="-88900">
              <a:lnSpc>
                <a:spcPct val="100000"/>
              </a:lnSpc>
              <a:buSzPct val="94444"/>
              <a:buChar char="•"/>
              <a:tabLst>
                <a:tab pos="91440" algn="l"/>
              </a:tabLst>
            </a:pPr>
            <a:r>
              <a:rPr sz="1800" dirty="0">
                <a:latin typeface="Arial MT"/>
                <a:cs typeface="Arial MT"/>
              </a:rPr>
              <a:t>It</a:t>
            </a:r>
            <a:r>
              <a:rPr sz="1800" spc="-25" dirty="0">
                <a:latin typeface="Arial MT"/>
                <a:cs typeface="Arial MT"/>
              </a:rPr>
              <a:t> </a:t>
            </a:r>
            <a:r>
              <a:rPr sz="1800" dirty="0">
                <a:latin typeface="Arial MT"/>
                <a:cs typeface="Arial MT"/>
              </a:rPr>
              <a:t>was</a:t>
            </a:r>
            <a:r>
              <a:rPr sz="1800" spc="10" dirty="0">
                <a:latin typeface="Arial MT"/>
                <a:cs typeface="Arial MT"/>
              </a:rPr>
              <a:t> </a:t>
            </a:r>
            <a:r>
              <a:rPr sz="1800" dirty="0">
                <a:latin typeface="Arial MT"/>
                <a:cs typeface="Arial MT"/>
              </a:rPr>
              <a:t>fixed to</a:t>
            </a:r>
            <a:r>
              <a:rPr sz="1800" spc="-35" dirty="0">
                <a:latin typeface="Arial MT"/>
                <a:cs typeface="Arial MT"/>
              </a:rPr>
              <a:t> </a:t>
            </a:r>
            <a:r>
              <a:rPr sz="1800" dirty="0">
                <a:latin typeface="Arial MT"/>
                <a:cs typeface="Arial MT"/>
              </a:rPr>
              <a:t>run</a:t>
            </a:r>
            <a:r>
              <a:rPr sz="1800" spc="-15" dirty="0">
                <a:latin typeface="Arial MT"/>
                <a:cs typeface="Arial MT"/>
              </a:rPr>
              <a:t> </a:t>
            </a:r>
            <a:r>
              <a:rPr sz="1800" dirty="0">
                <a:latin typeface="Arial MT"/>
                <a:cs typeface="Arial MT"/>
              </a:rPr>
              <a:t>on</a:t>
            </a:r>
            <a:r>
              <a:rPr sz="1800" spc="-25" dirty="0">
                <a:latin typeface="Arial MT"/>
                <a:cs typeface="Arial MT"/>
              </a:rPr>
              <a:t> </a:t>
            </a:r>
            <a:r>
              <a:rPr sz="1800" dirty="0">
                <a:latin typeface="Arial MT"/>
                <a:cs typeface="Arial MT"/>
              </a:rPr>
              <a:t>multiple</a:t>
            </a:r>
            <a:r>
              <a:rPr sz="1800" spc="-10" dirty="0">
                <a:latin typeface="Arial MT"/>
                <a:cs typeface="Arial MT"/>
              </a:rPr>
              <a:t> </a:t>
            </a:r>
            <a:r>
              <a:rPr sz="1800" dirty="0">
                <a:latin typeface="Arial MT"/>
                <a:cs typeface="Arial MT"/>
              </a:rPr>
              <a:t>CPUs</a:t>
            </a:r>
            <a:r>
              <a:rPr sz="1800" spc="-5" dirty="0">
                <a:latin typeface="Arial MT"/>
                <a:cs typeface="Arial MT"/>
              </a:rPr>
              <a:t> </a:t>
            </a:r>
            <a:r>
              <a:rPr sz="1800" dirty="0">
                <a:latin typeface="Arial MT"/>
                <a:cs typeface="Arial MT"/>
              </a:rPr>
              <a:t>or</a:t>
            </a:r>
            <a:r>
              <a:rPr sz="1800" spc="-20" dirty="0">
                <a:latin typeface="Arial MT"/>
                <a:cs typeface="Arial MT"/>
              </a:rPr>
              <a:t> </a:t>
            </a:r>
            <a:r>
              <a:rPr sz="1800" dirty="0">
                <a:latin typeface="Arial MT"/>
                <a:cs typeface="Arial MT"/>
              </a:rPr>
              <a:t>GPUs</a:t>
            </a:r>
            <a:r>
              <a:rPr sz="1800" spc="-25" dirty="0">
                <a:latin typeface="Arial MT"/>
                <a:cs typeface="Arial MT"/>
              </a:rPr>
              <a:t> </a:t>
            </a:r>
            <a:r>
              <a:rPr sz="1800" dirty="0">
                <a:latin typeface="Arial MT"/>
                <a:cs typeface="Arial MT"/>
              </a:rPr>
              <a:t>and</a:t>
            </a:r>
            <a:r>
              <a:rPr sz="1800" spc="-10" dirty="0">
                <a:latin typeface="Arial MT"/>
                <a:cs typeface="Arial MT"/>
              </a:rPr>
              <a:t> </a:t>
            </a:r>
            <a:r>
              <a:rPr sz="1800" dirty="0">
                <a:latin typeface="Arial MT"/>
                <a:cs typeface="Arial MT"/>
              </a:rPr>
              <a:t>mobile</a:t>
            </a:r>
            <a:r>
              <a:rPr sz="1800" spc="-10" dirty="0">
                <a:latin typeface="Arial MT"/>
                <a:cs typeface="Arial MT"/>
              </a:rPr>
              <a:t> </a:t>
            </a:r>
            <a:r>
              <a:rPr sz="1800" dirty="0">
                <a:latin typeface="Arial MT"/>
                <a:cs typeface="Arial MT"/>
              </a:rPr>
              <a:t>operating</a:t>
            </a:r>
            <a:r>
              <a:rPr sz="1800" spc="-5" dirty="0">
                <a:latin typeface="Arial MT"/>
                <a:cs typeface="Arial MT"/>
              </a:rPr>
              <a:t> </a:t>
            </a:r>
            <a:r>
              <a:rPr sz="1800" spc="-10" dirty="0">
                <a:latin typeface="Arial MT"/>
                <a:cs typeface="Arial MT"/>
              </a:rPr>
              <a:t>systems.</a:t>
            </a:r>
            <a:endParaRPr sz="1800">
              <a:latin typeface="Arial MT"/>
              <a:cs typeface="Arial MT"/>
            </a:endParaRPr>
          </a:p>
          <a:p>
            <a:pPr>
              <a:lnSpc>
                <a:spcPct val="100000"/>
              </a:lnSpc>
              <a:spcBef>
                <a:spcPts val="90"/>
              </a:spcBef>
              <a:buFont typeface="Arial MT"/>
              <a:buChar char="•"/>
            </a:pPr>
            <a:endParaRPr sz="1800">
              <a:latin typeface="Arial MT"/>
              <a:cs typeface="Arial MT"/>
            </a:endParaRPr>
          </a:p>
          <a:p>
            <a:pPr marL="12700" marR="5080" indent="-10160">
              <a:lnSpc>
                <a:spcPct val="100000"/>
              </a:lnSpc>
              <a:spcBef>
                <a:spcPts val="5"/>
              </a:spcBef>
              <a:buSzPct val="94444"/>
              <a:buChar char="•"/>
              <a:tabLst>
                <a:tab pos="91440" algn="l"/>
              </a:tabLst>
            </a:pPr>
            <a:r>
              <a:rPr sz="1800" dirty="0">
                <a:latin typeface="Arial MT"/>
                <a:cs typeface="Arial MT"/>
              </a:rPr>
              <a:t>	The</a:t>
            </a:r>
            <a:r>
              <a:rPr sz="1800" spc="155" dirty="0">
                <a:latin typeface="Arial MT"/>
                <a:cs typeface="Arial MT"/>
              </a:rPr>
              <a:t> </a:t>
            </a:r>
            <a:r>
              <a:rPr sz="1800" dirty="0">
                <a:latin typeface="Arial MT"/>
                <a:cs typeface="Arial MT"/>
              </a:rPr>
              <a:t>portability</a:t>
            </a:r>
            <a:r>
              <a:rPr sz="1800" spc="160" dirty="0">
                <a:latin typeface="Arial MT"/>
                <a:cs typeface="Arial MT"/>
              </a:rPr>
              <a:t> </a:t>
            </a:r>
            <a:r>
              <a:rPr sz="1800" dirty="0">
                <a:latin typeface="Arial MT"/>
                <a:cs typeface="Arial MT"/>
              </a:rPr>
              <a:t>of</a:t>
            </a:r>
            <a:r>
              <a:rPr sz="1800" spc="170" dirty="0">
                <a:latin typeface="Arial MT"/>
                <a:cs typeface="Arial MT"/>
              </a:rPr>
              <a:t> </a:t>
            </a:r>
            <a:r>
              <a:rPr sz="1800" dirty="0">
                <a:latin typeface="Arial MT"/>
                <a:cs typeface="Arial MT"/>
              </a:rPr>
              <a:t>the</a:t>
            </a:r>
            <a:r>
              <a:rPr sz="1800" spc="160" dirty="0">
                <a:latin typeface="Arial MT"/>
                <a:cs typeface="Arial MT"/>
              </a:rPr>
              <a:t> </a:t>
            </a:r>
            <a:r>
              <a:rPr sz="1800" dirty="0">
                <a:latin typeface="Arial MT"/>
                <a:cs typeface="Arial MT"/>
              </a:rPr>
              <a:t>graph</a:t>
            </a:r>
            <a:r>
              <a:rPr sz="1800" spc="155" dirty="0">
                <a:latin typeface="Arial MT"/>
                <a:cs typeface="Arial MT"/>
              </a:rPr>
              <a:t> </a:t>
            </a:r>
            <a:r>
              <a:rPr sz="1800" dirty="0">
                <a:latin typeface="Arial MT"/>
                <a:cs typeface="Arial MT"/>
              </a:rPr>
              <a:t>allows</a:t>
            </a:r>
            <a:r>
              <a:rPr sz="1800" spc="165" dirty="0">
                <a:latin typeface="Arial MT"/>
                <a:cs typeface="Arial MT"/>
              </a:rPr>
              <a:t> </a:t>
            </a:r>
            <a:r>
              <a:rPr sz="1800" dirty="0">
                <a:latin typeface="Arial MT"/>
                <a:cs typeface="Arial MT"/>
              </a:rPr>
              <a:t>to</a:t>
            </a:r>
            <a:r>
              <a:rPr sz="1800" spc="160" dirty="0">
                <a:latin typeface="Arial MT"/>
                <a:cs typeface="Arial MT"/>
              </a:rPr>
              <a:t> </a:t>
            </a:r>
            <a:r>
              <a:rPr sz="1800" dirty="0">
                <a:latin typeface="Arial MT"/>
                <a:cs typeface="Arial MT"/>
              </a:rPr>
              <a:t>conserve</a:t>
            </a:r>
            <a:r>
              <a:rPr sz="1800" spc="160" dirty="0">
                <a:latin typeface="Arial MT"/>
                <a:cs typeface="Arial MT"/>
              </a:rPr>
              <a:t> </a:t>
            </a:r>
            <a:r>
              <a:rPr sz="1800" dirty="0">
                <a:latin typeface="Arial MT"/>
                <a:cs typeface="Arial MT"/>
              </a:rPr>
              <a:t>the</a:t>
            </a:r>
            <a:r>
              <a:rPr sz="1800" spc="160" dirty="0">
                <a:latin typeface="Arial MT"/>
                <a:cs typeface="Arial MT"/>
              </a:rPr>
              <a:t> </a:t>
            </a:r>
            <a:r>
              <a:rPr sz="1800" dirty="0">
                <a:latin typeface="Arial MT"/>
                <a:cs typeface="Arial MT"/>
              </a:rPr>
              <a:t>computations</a:t>
            </a:r>
            <a:r>
              <a:rPr sz="1800" spc="165" dirty="0">
                <a:latin typeface="Arial MT"/>
                <a:cs typeface="Arial MT"/>
              </a:rPr>
              <a:t> </a:t>
            </a:r>
            <a:r>
              <a:rPr sz="1800" dirty="0">
                <a:latin typeface="Arial MT"/>
                <a:cs typeface="Arial MT"/>
              </a:rPr>
              <a:t>for</a:t>
            </a:r>
            <a:r>
              <a:rPr sz="1800" spc="165" dirty="0">
                <a:latin typeface="Arial MT"/>
                <a:cs typeface="Arial MT"/>
              </a:rPr>
              <a:t> </a:t>
            </a:r>
            <a:r>
              <a:rPr sz="1800" dirty="0">
                <a:latin typeface="Arial MT"/>
                <a:cs typeface="Arial MT"/>
              </a:rPr>
              <a:t>current</a:t>
            </a:r>
            <a:r>
              <a:rPr sz="1800" spc="170" dirty="0">
                <a:latin typeface="Arial MT"/>
                <a:cs typeface="Arial MT"/>
              </a:rPr>
              <a:t> </a:t>
            </a:r>
            <a:r>
              <a:rPr sz="1800" dirty="0">
                <a:latin typeface="Arial MT"/>
                <a:cs typeface="Arial MT"/>
              </a:rPr>
              <a:t>or</a:t>
            </a:r>
            <a:r>
              <a:rPr sz="1800" spc="170" dirty="0">
                <a:latin typeface="Arial MT"/>
                <a:cs typeface="Arial MT"/>
              </a:rPr>
              <a:t> </a:t>
            </a:r>
            <a:r>
              <a:rPr sz="1800" dirty="0">
                <a:latin typeface="Arial MT"/>
                <a:cs typeface="Arial MT"/>
              </a:rPr>
              <a:t>later</a:t>
            </a:r>
            <a:r>
              <a:rPr sz="1800" spc="165" dirty="0">
                <a:latin typeface="Arial MT"/>
                <a:cs typeface="Arial MT"/>
              </a:rPr>
              <a:t> </a:t>
            </a:r>
            <a:r>
              <a:rPr sz="1800" dirty="0">
                <a:latin typeface="Arial MT"/>
                <a:cs typeface="Arial MT"/>
              </a:rPr>
              <a:t>use.</a:t>
            </a:r>
            <a:r>
              <a:rPr sz="1800" spc="155" dirty="0">
                <a:latin typeface="Arial MT"/>
                <a:cs typeface="Arial MT"/>
              </a:rPr>
              <a:t> </a:t>
            </a:r>
            <a:r>
              <a:rPr sz="1800" dirty="0">
                <a:latin typeface="Arial MT"/>
                <a:cs typeface="Arial MT"/>
              </a:rPr>
              <a:t>The</a:t>
            </a:r>
            <a:r>
              <a:rPr sz="1800" spc="160" dirty="0">
                <a:latin typeface="Arial MT"/>
                <a:cs typeface="Arial MT"/>
              </a:rPr>
              <a:t> </a:t>
            </a:r>
            <a:r>
              <a:rPr sz="1800" dirty="0">
                <a:latin typeface="Arial MT"/>
                <a:cs typeface="Arial MT"/>
              </a:rPr>
              <a:t>graph</a:t>
            </a:r>
            <a:r>
              <a:rPr sz="1800" spc="155" dirty="0">
                <a:latin typeface="Arial MT"/>
                <a:cs typeface="Arial MT"/>
              </a:rPr>
              <a:t> </a:t>
            </a:r>
            <a:r>
              <a:rPr sz="1800" dirty="0">
                <a:latin typeface="Arial MT"/>
                <a:cs typeface="Arial MT"/>
              </a:rPr>
              <a:t>can</a:t>
            </a:r>
            <a:r>
              <a:rPr sz="1800" spc="160" dirty="0">
                <a:latin typeface="Arial MT"/>
                <a:cs typeface="Arial MT"/>
              </a:rPr>
              <a:t> </a:t>
            </a:r>
            <a:r>
              <a:rPr sz="1800" spc="-25" dirty="0">
                <a:latin typeface="Arial MT"/>
                <a:cs typeface="Arial MT"/>
              </a:rPr>
              <a:t>be </a:t>
            </a:r>
            <a:r>
              <a:rPr sz="1800" dirty="0">
                <a:latin typeface="Arial MT"/>
                <a:cs typeface="Arial MT"/>
              </a:rPr>
              <a:t>saved</a:t>
            </a:r>
            <a:r>
              <a:rPr sz="1800" spc="-20" dirty="0">
                <a:latin typeface="Arial MT"/>
                <a:cs typeface="Arial MT"/>
              </a:rPr>
              <a:t> </a:t>
            </a:r>
            <a:r>
              <a:rPr sz="1800" dirty="0">
                <a:latin typeface="Arial MT"/>
                <a:cs typeface="Arial MT"/>
              </a:rPr>
              <a:t>because</a:t>
            </a:r>
            <a:r>
              <a:rPr sz="1800" spc="-10" dirty="0">
                <a:latin typeface="Arial MT"/>
                <a:cs typeface="Arial MT"/>
              </a:rPr>
              <a:t> </a:t>
            </a:r>
            <a:r>
              <a:rPr sz="1800" dirty="0">
                <a:latin typeface="Arial MT"/>
                <a:cs typeface="Arial MT"/>
              </a:rPr>
              <a:t>it</a:t>
            </a:r>
            <a:r>
              <a:rPr sz="1800" spc="-15" dirty="0">
                <a:latin typeface="Arial MT"/>
                <a:cs typeface="Arial MT"/>
              </a:rPr>
              <a:t> </a:t>
            </a:r>
            <a:r>
              <a:rPr sz="1800" dirty="0">
                <a:latin typeface="Arial MT"/>
                <a:cs typeface="Arial MT"/>
              </a:rPr>
              <a:t>can</a:t>
            </a:r>
            <a:r>
              <a:rPr sz="1800" spc="-30" dirty="0">
                <a:latin typeface="Arial MT"/>
                <a:cs typeface="Arial MT"/>
              </a:rPr>
              <a:t> </a:t>
            </a:r>
            <a:r>
              <a:rPr sz="1800" dirty="0">
                <a:latin typeface="Arial MT"/>
                <a:cs typeface="Arial MT"/>
              </a:rPr>
              <a:t>be</a:t>
            </a:r>
            <a:r>
              <a:rPr sz="1800" spc="-25" dirty="0">
                <a:latin typeface="Arial MT"/>
                <a:cs typeface="Arial MT"/>
              </a:rPr>
              <a:t> </a:t>
            </a:r>
            <a:r>
              <a:rPr sz="1800" dirty="0">
                <a:latin typeface="Arial MT"/>
                <a:cs typeface="Arial MT"/>
              </a:rPr>
              <a:t>executed in</a:t>
            </a:r>
            <a:r>
              <a:rPr sz="1800" spc="-10" dirty="0">
                <a:latin typeface="Arial MT"/>
                <a:cs typeface="Arial MT"/>
              </a:rPr>
              <a:t> </a:t>
            </a:r>
            <a:r>
              <a:rPr sz="1800" dirty="0">
                <a:latin typeface="Arial MT"/>
                <a:cs typeface="Arial MT"/>
              </a:rPr>
              <a:t>the</a:t>
            </a:r>
            <a:r>
              <a:rPr sz="1800" spc="-20" dirty="0">
                <a:latin typeface="Arial MT"/>
                <a:cs typeface="Arial MT"/>
              </a:rPr>
              <a:t> </a:t>
            </a:r>
            <a:r>
              <a:rPr sz="1800" spc="-10" dirty="0">
                <a:latin typeface="Arial MT"/>
                <a:cs typeface="Arial MT"/>
              </a:rPr>
              <a:t>future.</a:t>
            </a:r>
            <a:endParaRPr sz="1800">
              <a:latin typeface="Arial MT"/>
              <a:cs typeface="Arial MT"/>
            </a:endParaRPr>
          </a:p>
          <a:p>
            <a:pPr>
              <a:lnSpc>
                <a:spcPct val="100000"/>
              </a:lnSpc>
              <a:spcBef>
                <a:spcPts val="85"/>
              </a:spcBef>
              <a:buFont typeface="Arial MT"/>
              <a:buChar char="•"/>
            </a:pPr>
            <a:endParaRPr sz="1800">
              <a:latin typeface="Arial MT"/>
              <a:cs typeface="Arial MT"/>
            </a:endParaRPr>
          </a:p>
          <a:p>
            <a:pPr marL="91440" indent="-88900">
              <a:lnSpc>
                <a:spcPct val="100000"/>
              </a:lnSpc>
              <a:spcBef>
                <a:spcPts val="5"/>
              </a:spcBef>
              <a:buSzPct val="94444"/>
              <a:buChar char="•"/>
              <a:tabLst>
                <a:tab pos="91440" algn="l"/>
              </a:tabLst>
            </a:pPr>
            <a:r>
              <a:rPr sz="1800" dirty="0">
                <a:latin typeface="Arial MT"/>
                <a:cs typeface="Arial MT"/>
              </a:rPr>
              <a:t>All</a:t>
            </a:r>
            <a:r>
              <a:rPr sz="1800" spc="-40" dirty="0">
                <a:latin typeface="Arial MT"/>
                <a:cs typeface="Arial MT"/>
              </a:rPr>
              <a:t> </a:t>
            </a:r>
            <a:r>
              <a:rPr sz="1800" dirty="0">
                <a:latin typeface="Arial MT"/>
                <a:cs typeface="Arial MT"/>
              </a:rPr>
              <a:t>the</a:t>
            </a:r>
            <a:r>
              <a:rPr sz="1800" spc="-25" dirty="0">
                <a:latin typeface="Arial MT"/>
                <a:cs typeface="Arial MT"/>
              </a:rPr>
              <a:t> </a:t>
            </a:r>
            <a:r>
              <a:rPr sz="1800" dirty="0">
                <a:latin typeface="Arial MT"/>
                <a:cs typeface="Arial MT"/>
              </a:rPr>
              <a:t>computation in</a:t>
            </a:r>
            <a:r>
              <a:rPr sz="1800" spc="-30" dirty="0">
                <a:latin typeface="Arial MT"/>
                <a:cs typeface="Arial MT"/>
              </a:rPr>
              <a:t> </a:t>
            </a:r>
            <a:r>
              <a:rPr sz="1800" dirty="0">
                <a:latin typeface="Arial MT"/>
                <a:cs typeface="Arial MT"/>
              </a:rPr>
              <a:t>the</a:t>
            </a:r>
            <a:r>
              <a:rPr sz="1800" spc="-25" dirty="0">
                <a:latin typeface="Arial MT"/>
                <a:cs typeface="Arial MT"/>
              </a:rPr>
              <a:t> </a:t>
            </a:r>
            <a:r>
              <a:rPr sz="1800" dirty="0">
                <a:latin typeface="Arial MT"/>
                <a:cs typeface="Arial MT"/>
              </a:rPr>
              <a:t>graph</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done</a:t>
            </a:r>
            <a:r>
              <a:rPr sz="1800" spc="-15" dirty="0">
                <a:latin typeface="Arial MT"/>
                <a:cs typeface="Arial MT"/>
              </a:rPr>
              <a:t> </a:t>
            </a:r>
            <a:r>
              <a:rPr sz="1800" dirty="0">
                <a:latin typeface="Arial MT"/>
                <a:cs typeface="Arial MT"/>
              </a:rPr>
              <a:t>by</a:t>
            </a:r>
            <a:r>
              <a:rPr sz="1800" spc="-20" dirty="0">
                <a:latin typeface="Arial MT"/>
                <a:cs typeface="Arial MT"/>
              </a:rPr>
              <a:t> </a:t>
            </a:r>
            <a:r>
              <a:rPr sz="1800" dirty="0">
                <a:latin typeface="Arial MT"/>
                <a:cs typeface="Arial MT"/>
              </a:rPr>
              <a:t>connecting</a:t>
            </a:r>
            <a:r>
              <a:rPr sz="1800" spc="-5" dirty="0">
                <a:latin typeface="Arial MT"/>
                <a:cs typeface="Arial MT"/>
              </a:rPr>
              <a:t> </a:t>
            </a:r>
            <a:r>
              <a:rPr sz="1800" dirty="0">
                <a:latin typeface="Arial MT"/>
                <a:cs typeface="Arial MT"/>
              </a:rPr>
              <a:t>tensors</a:t>
            </a:r>
            <a:r>
              <a:rPr sz="1800" spc="-20" dirty="0">
                <a:latin typeface="Arial MT"/>
                <a:cs typeface="Arial MT"/>
              </a:rPr>
              <a:t> </a:t>
            </a:r>
            <a:r>
              <a:rPr sz="1800" spc="-10" dirty="0">
                <a:latin typeface="Arial MT"/>
                <a:cs typeface="Arial MT"/>
              </a:rPr>
              <a:t>together.</a:t>
            </a:r>
            <a:endParaRPr sz="18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4012" y="237363"/>
            <a:ext cx="4640956" cy="4206615"/>
          </a:xfrm>
          <a:prstGeom prst="rect">
            <a:avLst/>
          </a:prstGeom>
        </p:spPr>
      </p:pic>
      <p:sp>
        <p:nvSpPr>
          <p:cNvPr id="3" name="object 3"/>
          <p:cNvSpPr txBox="1"/>
          <p:nvPr/>
        </p:nvSpPr>
        <p:spPr>
          <a:xfrm>
            <a:off x="571906" y="5107051"/>
            <a:ext cx="9044305" cy="568325"/>
          </a:xfrm>
          <a:prstGeom prst="rect">
            <a:avLst/>
          </a:prstGeom>
        </p:spPr>
        <p:txBody>
          <a:bodyPr vert="horz" wrap="square" lIns="0" tIns="12700" rIns="0" bIns="0" rtlCol="0">
            <a:spAutoFit/>
          </a:bodyPr>
          <a:lstStyle/>
          <a:p>
            <a:pPr marL="12700">
              <a:lnSpc>
                <a:spcPts val="2135"/>
              </a:lnSpc>
              <a:spcBef>
                <a:spcPts val="100"/>
              </a:spcBef>
            </a:pPr>
            <a:r>
              <a:rPr sz="1800" dirty="0">
                <a:latin typeface="Arial MT"/>
                <a:cs typeface="Arial MT"/>
              </a:rPr>
              <a:t>It</a:t>
            </a:r>
            <a:r>
              <a:rPr sz="1800" spc="-40"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mainly</a:t>
            </a:r>
            <a:r>
              <a:rPr sz="1800" spc="-15" dirty="0">
                <a:latin typeface="Arial MT"/>
                <a:cs typeface="Arial MT"/>
              </a:rPr>
              <a:t> </a:t>
            </a:r>
            <a:r>
              <a:rPr sz="1800" dirty="0">
                <a:latin typeface="Arial MT"/>
                <a:cs typeface="Arial MT"/>
              </a:rPr>
              <a:t>used</a:t>
            </a:r>
            <a:r>
              <a:rPr sz="1800" spc="-20" dirty="0">
                <a:latin typeface="Arial MT"/>
                <a:cs typeface="Arial MT"/>
              </a:rPr>
              <a:t> </a:t>
            </a:r>
            <a:r>
              <a:rPr sz="1800" dirty="0">
                <a:latin typeface="Arial MT"/>
                <a:cs typeface="Arial MT"/>
              </a:rPr>
              <a:t>for</a:t>
            </a:r>
            <a:r>
              <a:rPr sz="1800" spc="-30" dirty="0">
                <a:latin typeface="Arial MT"/>
                <a:cs typeface="Arial MT"/>
              </a:rPr>
              <a:t> </a:t>
            </a:r>
            <a:r>
              <a:rPr sz="1800" dirty="0">
                <a:latin typeface="Arial MT"/>
                <a:cs typeface="Arial MT"/>
              </a:rPr>
              <a:t>deep</a:t>
            </a:r>
            <a:r>
              <a:rPr sz="1800" spc="-15" dirty="0">
                <a:latin typeface="Arial MT"/>
                <a:cs typeface="Arial MT"/>
              </a:rPr>
              <a:t> </a:t>
            </a:r>
            <a:r>
              <a:rPr sz="1800" dirty="0">
                <a:latin typeface="Arial MT"/>
                <a:cs typeface="Arial MT"/>
              </a:rPr>
              <a:t>learning</a:t>
            </a:r>
            <a:r>
              <a:rPr sz="1800" spc="-5" dirty="0">
                <a:latin typeface="Arial MT"/>
                <a:cs typeface="Arial MT"/>
              </a:rPr>
              <a:t> </a:t>
            </a:r>
            <a:r>
              <a:rPr sz="1800" dirty="0">
                <a:latin typeface="Arial MT"/>
                <a:cs typeface="Arial MT"/>
              </a:rPr>
              <a:t>or</a:t>
            </a:r>
            <a:r>
              <a:rPr sz="1800" spc="-25" dirty="0">
                <a:latin typeface="Arial MT"/>
                <a:cs typeface="Arial MT"/>
              </a:rPr>
              <a:t> </a:t>
            </a:r>
            <a:r>
              <a:rPr sz="1800" dirty="0">
                <a:latin typeface="Arial MT"/>
                <a:cs typeface="Arial MT"/>
              </a:rPr>
              <a:t>machine learning</a:t>
            </a:r>
            <a:r>
              <a:rPr sz="1800" spc="-5" dirty="0">
                <a:latin typeface="Arial MT"/>
                <a:cs typeface="Arial MT"/>
              </a:rPr>
              <a:t> </a:t>
            </a:r>
            <a:r>
              <a:rPr sz="1800" dirty="0">
                <a:latin typeface="Arial MT"/>
                <a:cs typeface="Arial MT"/>
              </a:rPr>
              <a:t>problems</a:t>
            </a:r>
            <a:r>
              <a:rPr sz="1800" spc="-15" dirty="0">
                <a:latin typeface="Arial MT"/>
                <a:cs typeface="Arial MT"/>
              </a:rPr>
              <a:t> </a:t>
            </a:r>
            <a:r>
              <a:rPr sz="1800" spc="-20" dirty="0">
                <a:latin typeface="Arial MT"/>
                <a:cs typeface="Arial MT"/>
              </a:rPr>
              <a:t>such</a:t>
            </a:r>
            <a:endParaRPr sz="1800">
              <a:latin typeface="Arial MT"/>
              <a:cs typeface="Arial MT"/>
            </a:endParaRPr>
          </a:p>
          <a:p>
            <a:pPr marL="12700">
              <a:lnSpc>
                <a:spcPts val="2135"/>
              </a:lnSpc>
            </a:pPr>
            <a:r>
              <a:rPr sz="1800" dirty="0">
                <a:latin typeface="Arial MT"/>
                <a:cs typeface="Arial MT"/>
              </a:rPr>
              <a:t>as</a:t>
            </a:r>
            <a:r>
              <a:rPr sz="1800" spc="-50" dirty="0">
                <a:latin typeface="Arial MT"/>
                <a:cs typeface="Arial MT"/>
              </a:rPr>
              <a:t> </a:t>
            </a:r>
            <a:r>
              <a:rPr sz="1800" b="1" dirty="0">
                <a:latin typeface="Arial"/>
                <a:cs typeface="Arial"/>
              </a:rPr>
              <a:t>Classification</a:t>
            </a:r>
            <a:r>
              <a:rPr sz="1800" dirty="0">
                <a:latin typeface="Arial MT"/>
                <a:cs typeface="Arial MT"/>
              </a:rPr>
              <a:t>,</a:t>
            </a:r>
            <a:r>
              <a:rPr sz="1800" spc="-45" dirty="0">
                <a:latin typeface="Arial MT"/>
                <a:cs typeface="Arial MT"/>
              </a:rPr>
              <a:t> </a:t>
            </a:r>
            <a:r>
              <a:rPr sz="1800" b="1" dirty="0">
                <a:latin typeface="Arial"/>
                <a:cs typeface="Arial"/>
              </a:rPr>
              <a:t>Perception</a:t>
            </a:r>
            <a:r>
              <a:rPr sz="1800" dirty="0">
                <a:latin typeface="Arial MT"/>
                <a:cs typeface="Arial MT"/>
              </a:rPr>
              <a:t>,</a:t>
            </a:r>
            <a:r>
              <a:rPr sz="1800" spc="-45" dirty="0">
                <a:latin typeface="Arial MT"/>
                <a:cs typeface="Arial MT"/>
              </a:rPr>
              <a:t> </a:t>
            </a:r>
            <a:r>
              <a:rPr sz="1800" b="1" dirty="0">
                <a:latin typeface="Arial"/>
                <a:cs typeface="Arial"/>
              </a:rPr>
              <a:t>Understanding</a:t>
            </a:r>
            <a:r>
              <a:rPr sz="1800" dirty="0">
                <a:latin typeface="Arial MT"/>
                <a:cs typeface="Arial MT"/>
              </a:rPr>
              <a:t>,</a:t>
            </a:r>
            <a:r>
              <a:rPr sz="1800" spc="-60" dirty="0">
                <a:latin typeface="Arial MT"/>
                <a:cs typeface="Arial MT"/>
              </a:rPr>
              <a:t> </a:t>
            </a:r>
            <a:r>
              <a:rPr sz="1800" b="1" dirty="0">
                <a:latin typeface="Arial"/>
                <a:cs typeface="Arial"/>
              </a:rPr>
              <a:t>Discovering</a:t>
            </a:r>
            <a:r>
              <a:rPr sz="1800" b="1" spc="-10" dirty="0">
                <a:latin typeface="Arial"/>
                <a:cs typeface="Arial"/>
              </a:rPr>
              <a:t> </a:t>
            </a:r>
            <a:r>
              <a:rPr sz="1800" b="1" dirty="0">
                <a:latin typeface="Arial"/>
                <a:cs typeface="Arial"/>
              </a:rPr>
              <a:t>Prediction</a:t>
            </a:r>
            <a:r>
              <a:rPr sz="1800" dirty="0">
                <a:latin typeface="Arial MT"/>
                <a:cs typeface="Arial MT"/>
              </a:rPr>
              <a:t>,</a:t>
            </a:r>
            <a:r>
              <a:rPr sz="1800" spc="-45" dirty="0">
                <a:latin typeface="Arial MT"/>
                <a:cs typeface="Arial MT"/>
              </a:rPr>
              <a:t> </a:t>
            </a:r>
            <a:r>
              <a:rPr sz="1800" dirty="0">
                <a:latin typeface="Arial MT"/>
                <a:cs typeface="Arial MT"/>
              </a:rPr>
              <a:t>and</a:t>
            </a:r>
            <a:r>
              <a:rPr sz="1800" spc="-40" dirty="0">
                <a:latin typeface="Arial MT"/>
                <a:cs typeface="Arial MT"/>
              </a:rPr>
              <a:t> </a:t>
            </a:r>
            <a:r>
              <a:rPr sz="1800" b="1" spc="-10" dirty="0">
                <a:latin typeface="Arial"/>
                <a:cs typeface="Arial"/>
              </a:rPr>
              <a:t>Creation</a:t>
            </a:r>
            <a:r>
              <a:rPr sz="1800" spc="-10" dirty="0">
                <a:latin typeface="Arial MT"/>
                <a:cs typeface="Arial MT"/>
              </a:rPr>
              <a:t>.</a:t>
            </a:r>
            <a:endParaRPr sz="18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41829" y="2002300"/>
            <a:ext cx="6767197" cy="4320915"/>
          </a:xfrm>
          <a:prstGeom prst="rect">
            <a:avLst/>
          </a:prstGeom>
        </p:spPr>
      </p:pic>
      <p:sp>
        <p:nvSpPr>
          <p:cNvPr id="3" name="object 3"/>
          <p:cNvSpPr txBox="1">
            <a:spLocks noGrp="1"/>
          </p:cNvSpPr>
          <p:nvPr>
            <p:ph type="title"/>
          </p:nvPr>
        </p:nvSpPr>
        <p:spPr>
          <a:xfrm>
            <a:off x="563067" y="282321"/>
            <a:ext cx="343852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600A38"/>
                </a:solidFill>
                <a:latin typeface="Arial"/>
                <a:cs typeface="Arial"/>
              </a:rPr>
              <a:t>Features</a:t>
            </a:r>
            <a:r>
              <a:rPr sz="2400" spc="-45" dirty="0">
                <a:solidFill>
                  <a:srgbClr val="600A38"/>
                </a:solidFill>
                <a:latin typeface="Arial"/>
                <a:cs typeface="Arial"/>
              </a:rPr>
              <a:t> </a:t>
            </a:r>
            <a:r>
              <a:rPr sz="2400" dirty="0">
                <a:solidFill>
                  <a:srgbClr val="600A38"/>
                </a:solidFill>
                <a:latin typeface="Arial"/>
                <a:cs typeface="Arial"/>
              </a:rPr>
              <a:t>of</a:t>
            </a:r>
            <a:r>
              <a:rPr sz="2400" spc="-75" dirty="0">
                <a:solidFill>
                  <a:srgbClr val="600A38"/>
                </a:solidFill>
                <a:latin typeface="Arial"/>
                <a:cs typeface="Arial"/>
              </a:rPr>
              <a:t> </a:t>
            </a:r>
            <a:r>
              <a:rPr sz="2400" spc="-10" dirty="0">
                <a:solidFill>
                  <a:srgbClr val="600A38"/>
                </a:solidFill>
                <a:latin typeface="Arial"/>
                <a:cs typeface="Arial"/>
              </a:rPr>
              <a:t>TensorFlow</a:t>
            </a:r>
            <a:endParaRPr sz="2400">
              <a:latin typeface="Arial"/>
              <a:cs typeface="Arial"/>
            </a:endParaRPr>
          </a:p>
        </p:txBody>
      </p:sp>
      <p:sp>
        <p:nvSpPr>
          <p:cNvPr id="4" name="object 4"/>
          <p:cNvSpPr txBox="1"/>
          <p:nvPr/>
        </p:nvSpPr>
        <p:spPr>
          <a:xfrm>
            <a:off x="563067" y="649604"/>
            <a:ext cx="10530205" cy="848994"/>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333333"/>
                </a:solidFill>
                <a:latin typeface="Arial MT"/>
                <a:cs typeface="Arial MT"/>
              </a:rPr>
              <a:t>TensorFlow</a:t>
            </a:r>
            <a:r>
              <a:rPr sz="1800" spc="335" dirty="0">
                <a:solidFill>
                  <a:srgbClr val="333333"/>
                </a:solidFill>
                <a:latin typeface="Arial MT"/>
                <a:cs typeface="Arial MT"/>
              </a:rPr>
              <a:t> </a:t>
            </a:r>
            <a:r>
              <a:rPr sz="1800" dirty="0">
                <a:solidFill>
                  <a:srgbClr val="333333"/>
                </a:solidFill>
                <a:latin typeface="Arial MT"/>
                <a:cs typeface="Arial MT"/>
              </a:rPr>
              <a:t>has</a:t>
            </a:r>
            <a:r>
              <a:rPr sz="1800" spc="380" dirty="0">
                <a:solidFill>
                  <a:srgbClr val="333333"/>
                </a:solidFill>
                <a:latin typeface="Arial MT"/>
                <a:cs typeface="Arial MT"/>
              </a:rPr>
              <a:t> </a:t>
            </a:r>
            <a:r>
              <a:rPr sz="1800" dirty="0">
                <a:solidFill>
                  <a:srgbClr val="333333"/>
                </a:solidFill>
                <a:latin typeface="Arial MT"/>
                <a:cs typeface="Arial MT"/>
              </a:rPr>
              <a:t>an</a:t>
            </a:r>
            <a:r>
              <a:rPr sz="1800" spc="370" dirty="0">
                <a:solidFill>
                  <a:srgbClr val="333333"/>
                </a:solidFill>
                <a:latin typeface="Arial MT"/>
                <a:cs typeface="Arial MT"/>
              </a:rPr>
              <a:t> </a:t>
            </a:r>
            <a:r>
              <a:rPr sz="1800" dirty="0">
                <a:solidFill>
                  <a:srgbClr val="333333"/>
                </a:solidFill>
                <a:latin typeface="Arial MT"/>
                <a:cs typeface="Arial MT"/>
              </a:rPr>
              <a:t>interactive</a:t>
            </a:r>
            <a:r>
              <a:rPr sz="1800" spc="370" dirty="0">
                <a:solidFill>
                  <a:srgbClr val="333333"/>
                </a:solidFill>
                <a:latin typeface="Arial MT"/>
                <a:cs typeface="Arial MT"/>
              </a:rPr>
              <a:t> </a:t>
            </a:r>
            <a:r>
              <a:rPr sz="1800" b="1" dirty="0">
                <a:solidFill>
                  <a:srgbClr val="333333"/>
                </a:solidFill>
                <a:latin typeface="Arial"/>
                <a:cs typeface="Arial"/>
              </a:rPr>
              <a:t>multiplatform</a:t>
            </a:r>
            <a:r>
              <a:rPr sz="1800" b="1" spc="375" dirty="0">
                <a:solidFill>
                  <a:srgbClr val="333333"/>
                </a:solidFill>
                <a:latin typeface="Arial"/>
                <a:cs typeface="Arial"/>
              </a:rPr>
              <a:t> </a:t>
            </a:r>
            <a:r>
              <a:rPr sz="1800" dirty="0">
                <a:solidFill>
                  <a:srgbClr val="333333"/>
                </a:solidFill>
                <a:latin typeface="Arial MT"/>
                <a:cs typeface="Arial MT"/>
              </a:rPr>
              <a:t>programming</a:t>
            </a:r>
            <a:r>
              <a:rPr sz="1800" spc="370" dirty="0">
                <a:solidFill>
                  <a:srgbClr val="333333"/>
                </a:solidFill>
                <a:latin typeface="Arial MT"/>
                <a:cs typeface="Arial MT"/>
              </a:rPr>
              <a:t> </a:t>
            </a:r>
            <a:r>
              <a:rPr sz="1800" dirty="0">
                <a:solidFill>
                  <a:srgbClr val="333333"/>
                </a:solidFill>
                <a:latin typeface="Arial MT"/>
                <a:cs typeface="Arial MT"/>
              </a:rPr>
              <a:t>interface</a:t>
            </a:r>
            <a:r>
              <a:rPr sz="1800" spc="400" dirty="0">
                <a:solidFill>
                  <a:srgbClr val="333333"/>
                </a:solidFill>
                <a:latin typeface="Arial MT"/>
                <a:cs typeface="Arial MT"/>
              </a:rPr>
              <a:t> </a:t>
            </a:r>
            <a:r>
              <a:rPr sz="1800" dirty="0">
                <a:solidFill>
                  <a:srgbClr val="333333"/>
                </a:solidFill>
                <a:latin typeface="Arial MT"/>
                <a:cs typeface="Arial MT"/>
              </a:rPr>
              <a:t>which</a:t>
            </a:r>
            <a:r>
              <a:rPr sz="1800" spc="365" dirty="0">
                <a:solidFill>
                  <a:srgbClr val="333333"/>
                </a:solidFill>
                <a:latin typeface="Arial MT"/>
                <a:cs typeface="Arial MT"/>
              </a:rPr>
              <a:t> </a:t>
            </a:r>
            <a:r>
              <a:rPr sz="1800" dirty="0">
                <a:solidFill>
                  <a:srgbClr val="333333"/>
                </a:solidFill>
                <a:latin typeface="Arial MT"/>
                <a:cs typeface="Arial MT"/>
              </a:rPr>
              <a:t>is</a:t>
            </a:r>
            <a:r>
              <a:rPr sz="1800" spc="375" dirty="0">
                <a:solidFill>
                  <a:srgbClr val="333333"/>
                </a:solidFill>
                <a:latin typeface="Arial MT"/>
                <a:cs typeface="Arial MT"/>
              </a:rPr>
              <a:t> </a:t>
            </a:r>
            <a:r>
              <a:rPr sz="1800" dirty="0">
                <a:solidFill>
                  <a:srgbClr val="333333"/>
                </a:solidFill>
                <a:latin typeface="Arial MT"/>
                <a:cs typeface="Arial MT"/>
              </a:rPr>
              <a:t>scalable</a:t>
            </a:r>
            <a:r>
              <a:rPr sz="1800" spc="380" dirty="0">
                <a:solidFill>
                  <a:srgbClr val="333333"/>
                </a:solidFill>
                <a:latin typeface="Arial MT"/>
                <a:cs typeface="Arial MT"/>
              </a:rPr>
              <a:t> </a:t>
            </a:r>
            <a:r>
              <a:rPr sz="1800" dirty="0">
                <a:solidFill>
                  <a:srgbClr val="333333"/>
                </a:solidFill>
                <a:latin typeface="Arial MT"/>
                <a:cs typeface="Arial MT"/>
              </a:rPr>
              <a:t>and</a:t>
            </a:r>
            <a:r>
              <a:rPr sz="1800" spc="375" dirty="0">
                <a:solidFill>
                  <a:srgbClr val="333333"/>
                </a:solidFill>
                <a:latin typeface="Arial MT"/>
                <a:cs typeface="Arial MT"/>
              </a:rPr>
              <a:t> </a:t>
            </a:r>
            <a:r>
              <a:rPr sz="1800" spc="-10" dirty="0">
                <a:solidFill>
                  <a:srgbClr val="333333"/>
                </a:solidFill>
                <a:latin typeface="Arial MT"/>
                <a:cs typeface="Arial MT"/>
              </a:rPr>
              <a:t>reliable</a:t>
            </a:r>
            <a:endParaRPr sz="1800">
              <a:latin typeface="Arial MT"/>
              <a:cs typeface="Arial MT"/>
            </a:endParaRPr>
          </a:p>
          <a:p>
            <a:pPr marL="12700">
              <a:lnSpc>
                <a:spcPct val="100000"/>
              </a:lnSpc>
            </a:pPr>
            <a:r>
              <a:rPr sz="1800" dirty="0">
                <a:solidFill>
                  <a:srgbClr val="333333"/>
                </a:solidFill>
                <a:latin typeface="Arial MT"/>
                <a:cs typeface="Arial MT"/>
              </a:rPr>
              <a:t>compared</a:t>
            </a:r>
            <a:r>
              <a:rPr sz="1800" spc="-45" dirty="0">
                <a:solidFill>
                  <a:srgbClr val="333333"/>
                </a:solidFill>
                <a:latin typeface="Arial MT"/>
                <a:cs typeface="Arial MT"/>
              </a:rPr>
              <a:t> </a:t>
            </a:r>
            <a:r>
              <a:rPr sz="1800" dirty="0">
                <a:solidFill>
                  <a:srgbClr val="333333"/>
                </a:solidFill>
                <a:latin typeface="Arial MT"/>
                <a:cs typeface="Arial MT"/>
              </a:rPr>
              <a:t>to</a:t>
            </a:r>
            <a:r>
              <a:rPr sz="1800" spc="-40" dirty="0">
                <a:solidFill>
                  <a:srgbClr val="333333"/>
                </a:solidFill>
                <a:latin typeface="Arial MT"/>
                <a:cs typeface="Arial MT"/>
              </a:rPr>
              <a:t> </a:t>
            </a:r>
            <a:r>
              <a:rPr sz="1800" dirty="0">
                <a:solidFill>
                  <a:srgbClr val="333333"/>
                </a:solidFill>
                <a:latin typeface="Arial MT"/>
                <a:cs typeface="Arial MT"/>
              </a:rPr>
              <a:t>other</a:t>
            </a:r>
            <a:r>
              <a:rPr sz="1800" spc="-40" dirty="0">
                <a:solidFill>
                  <a:srgbClr val="333333"/>
                </a:solidFill>
                <a:latin typeface="Arial MT"/>
                <a:cs typeface="Arial MT"/>
              </a:rPr>
              <a:t> </a:t>
            </a:r>
            <a:r>
              <a:rPr sz="1800" dirty="0">
                <a:solidFill>
                  <a:srgbClr val="333333"/>
                </a:solidFill>
                <a:latin typeface="Arial MT"/>
                <a:cs typeface="Arial MT"/>
              </a:rPr>
              <a:t>deep</a:t>
            </a:r>
            <a:r>
              <a:rPr sz="1800" spc="-30" dirty="0">
                <a:solidFill>
                  <a:srgbClr val="333333"/>
                </a:solidFill>
                <a:latin typeface="Arial MT"/>
                <a:cs typeface="Arial MT"/>
              </a:rPr>
              <a:t> </a:t>
            </a:r>
            <a:r>
              <a:rPr sz="1800" dirty="0">
                <a:solidFill>
                  <a:srgbClr val="333333"/>
                </a:solidFill>
                <a:latin typeface="Arial MT"/>
                <a:cs typeface="Arial MT"/>
              </a:rPr>
              <a:t>learning</a:t>
            </a:r>
            <a:r>
              <a:rPr sz="1800" spc="-25" dirty="0">
                <a:solidFill>
                  <a:srgbClr val="333333"/>
                </a:solidFill>
                <a:latin typeface="Arial MT"/>
                <a:cs typeface="Arial MT"/>
              </a:rPr>
              <a:t> </a:t>
            </a:r>
            <a:r>
              <a:rPr sz="1800" dirty="0">
                <a:solidFill>
                  <a:srgbClr val="333333"/>
                </a:solidFill>
                <a:latin typeface="Arial MT"/>
                <a:cs typeface="Arial MT"/>
              </a:rPr>
              <a:t>libraries</a:t>
            </a:r>
            <a:r>
              <a:rPr sz="1800" spc="-15" dirty="0">
                <a:solidFill>
                  <a:srgbClr val="333333"/>
                </a:solidFill>
                <a:latin typeface="Arial MT"/>
                <a:cs typeface="Arial MT"/>
              </a:rPr>
              <a:t> </a:t>
            </a:r>
            <a:r>
              <a:rPr sz="1800" dirty="0">
                <a:solidFill>
                  <a:srgbClr val="333333"/>
                </a:solidFill>
                <a:latin typeface="Arial MT"/>
                <a:cs typeface="Arial MT"/>
              </a:rPr>
              <a:t>which</a:t>
            </a:r>
            <a:r>
              <a:rPr sz="1800" spc="-5" dirty="0">
                <a:solidFill>
                  <a:srgbClr val="333333"/>
                </a:solidFill>
                <a:latin typeface="Arial MT"/>
                <a:cs typeface="Arial MT"/>
              </a:rPr>
              <a:t> </a:t>
            </a:r>
            <a:r>
              <a:rPr sz="1800" dirty="0">
                <a:solidFill>
                  <a:srgbClr val="333333"/>
                </a:solidFill>
                <a:latin typeface="Arial MT"/>
                <a:cs typeface="Arial MT"/>
              </a:rPr>
              <a:t>are</a:t>
            </a:r>
            <a:r>
              <a:rPr sz="1800" spc="-40" dirty="0">
                <a:solidFill>
                  <a:srgbClr val="333333"/>
                </a:solidFill>
                <a:latin typeface="Arial MT"/>
                <a:cs typeface="Arial MT"/>
              </a:rPr>
              <a:t> </a:t>
            </a:r>
            <a:r>
              <a:rPr sz="1800" spc="-10" dirty="0">
                <a:solidFill>
                  <a:srgbClr val="333333"/>
                </a:solidFill>
                <a:latin typeface="Arial MT"/>
                <a:cs typeface="Arial MT"/>
              </a:rPr>
              <a:t>available.</a:t>
            </a:r>
            <a:endParaRPr sz="1800">
              <a:latin typeface="Arial MT"/>
              <a:cs typeface="Arial MT"/>
            </a:endParaRPr>
          </a:p>
          <a:p>
            <a:pPr marL="12700">
              <a:lnSpc>
                <a:spcPct val="100000"/>
              </a:lnSpc>
            </a:pPr>
            <a:r>
              <a:rPr sz="1800" dirty="0">
                <a:solidFill>
                  <a:srgbClr val="333333"/>
                </a:solidFill>
                <a:latin typeface="Arial MT"/>
                <a:cs typeface="Arial MT"/>
              </a:rPr>
              <a:t>These</a:t>
            </a:r>
            <a:r>
              <a:rPr sz="1800" spc="-45" dirty="0">
                <a:solidFill>
                  <a:srgbClr val="333333"/>
                </a:solidFill>
                <a:latin typeface="Arial MT"/>
                <a:cs typeface="Arial MT"/>
              </a:rPr>
              <a:t> </a:t>
            </a:r>
            <a:r>
              <a:rPr sz="1800" dirty="0">
                <a:solidFill>
                  <a:srgbClr val="333333"/>
                </a:solidFill>
                <a:latin typeface="Arial MT"/>
                <a:cs typeface="Arial MT"/>
              </a:rPr>
              <a:t>features</a:t>
            </a:r>
            <a:r>
              <a:rPr sz="1800" spc="-20" dirty="0">
                <a:solidFill>
                  <a:srgbClr val="333333"/>
                </a:solidFill>
                <a:latin typeface="Arial MT"/>
                <a:cs typeface="Arial MT"/>
              </a:rPr>
              <a:t> </a:t>
            </a:r>
            <a:r>
              <a:rPr sz="1800" dirty="0">
                <a:solidFill>
                  <a:srgbClr val="333333"/>
                </a:solidFill>
                <a:latin typeface="Arial MT"/>
                <a:cs typeface="Arial MT"/>
              </a:rPr>
              <a:t>of</a:t>
            </a:r>
            <a:r>
              <a:rPr sz="1800" spc="-60" dirty="0">
                <a:solidFill>
                  <a:srgbClr val="333333"/>
                </a:solidFill>
                <a:latin typeface="Arial MT"/>
                <a:cs typeface="Arial MT"/>
              </a:rPr>
              <a:t> </a:t>
            </a:r>
            <a:r>
              <a:rPr sz="1800" spc="-20" dirty="0">
                <a:solidFill>
                  <a:srgbClr val="333333"/>
                </a:solidFill>
                <a:latin typeface="Arial MT"/>
                <a:cs typeface="Arial MT"/>
              </a:rPr>
              <a:t>TensorFlow</a:t>
            </a:r>
            <a:r>
              <a:rPr sz="1800" spc="-35" dirty="0">
                <a:solidFill>
                  <a:srgbClr val="333333"/>
                </a:solidFill>
                <a:latin typeface="Arial MT"/>
                <a:cs typeface="Arial MT"/>
              </a:rPr>
              <a:t> </a:t>
            </a:r>
            <a:r>
              <a:rPr sz="1800" dirty="0">
                <a:solidFill>
                  <a:srgbClr val="333333"/>
                </a:solidFill>
                <a:latin typeface="Arial MT"/>
                <a:cs typeface="Arial MT"/>
              </a:rPr>
              <a:t>will</a:t>
            </a:r>
            <a:r>
              <a:rPr sz="1800" spc="15" dirty="0">
                <a:solidFill>
                  <a:srgbClr val="333333"/>
                </a:solidFill>
                <a:latin typeface="Arial MT"/>
                <a:cs typeface="Arial MT"/>
              </a:rPr>
              <a:t> </a:t>
            </a:r>
            <a:r>
              <a:rPr sz="1800" dirty="0">
                <a:solidFill>
                  <a:srgbClr val="333333"/>
                </a:solidFill>
                <a:latin typeface="Arial MT"/>
                <a:cs typeface="Arial MT"/>
              </a:rPr>
              <a:t>tell</a:t>
            </a:r>
            <a:r>
              <a:rPr sz="1800" spc="-35" dirty="0">
                <a:solidFill>
                  <a:srgbClr val="333333"/>
                </a:solidFill>
                <a:latin typeface="Arial MT"/>
                <a:cs typeface="Arial MT"/>
              </a:rPr>
              <a:t> </a:t>
            </a:r>
            <a:r>
              <a:rPr sz="1800" dirty="0">
                <a:solidFill>
                  <a:srgbClr val="333333"/>
                </a:solidFill>
                <a:latin typeface="Arial MT"/>
                <a:cs typeface="Arial MT"/>
              </a:rPr>
              <a:t>us</a:t>
            </a:r>
            <a:r>
              <a:rPr sz="1800" spc="-35" dirty="0">
                <a:solidFill>
                  <a:srgbClr val="333333"/>
                </a:solidFill>
                <a:latin typeface="Arial MT"/>
                <a:cs typeface="Arial MT"/>
              </a:rPr>
              <a:t> </a:t>
            </a:r>
            <a:r>
              <a:rPr sz="1800" dirty="0">
                <a:solidFill>
                  <a:srgbClr val="333333"/>
                </a:solidFill>
                <a:latin typeface="Arial MT"/>
                <a:cs typeface="Arial MT"/>
              </a:rPr>
              <a:t>about</a:t>
            </a:r>
            <a:r>
              <a:rPr sz="1800" spc="-15" dirty="0">
                <a:solidFill>
                  <a:srgbClr val="333333"/>
                </a:solidFill>
                <a:latin typeface="Arial MT"/>
                <a:cs typeface="Arial MT"/>
              </a:rPr>
              <a:t> </a:t>
            </a:r>
            <a:r>
              <a:rPr sz="1800" dirty="0">
                <a:solidFill>
                  <a:srgbClr val="333333"/>
                </a:solidFill>
                <a:latin typeface="Arial MT"/>
                <a:cs typeface="Arial MT"/>
              </a:rPr>
              <a:t>the</a:t>
            </a:r>
            <a:r>
              <a:rPr sz="1800" spc="-35" dirty="0">
                <a:solidFill>
                  <a:srgbClr val="333333"/>
                </a:solidFill>
                <a:latin typeface="Arial MT"/>
                <a:cs typeface="Arial MT"/>
              </a:rPr>
              <a:t> </a:t>
            </a:r>
            <a:r>
              <a:rPr sz="1800" dirty="0">
                <a:solidFill>
                  <a:srgbClr val="333333"/>
                </a:solidFill>
                <a:latin typeface="Arial MT"/>
                <a:cs typeface="Arial MT"/>
              </a:rPr>
              <a:t>popularity</a:t>
            </a:r>
            <a:r>
              <a:rPr sz="1800" spc="-10" dirty="0">
                <a:solidFill>
                  <a:srgbClr val="333333"/>
                </a:solidFill>
                <a:latin typeface="Arial MT"/>
                <a:cs typeface="Arial MT"/>
              </a:rPr>
              <a:t> </a:t>
            </a:r>
            <a:r>
              <a:rPr sz="1800" dirty="0">
                <a:solidFill>
                  <a:srgbClr val="333333"/>
                </a:solidFill>
                <a:latin typeface="Arial MT"/>
                <a:cs typeface="Arial MT"/>
              </a:rPr>
              <a:t>of</a:t>
            </a:r>
            <a:r>
              <a:rPr sz="1800" spc="-55" dirty="0">
                <a:solidFill>
                  <a:srgbClr val="333333"/>
                </a:solidFill>
                <a:latin typeface="Arial MT"/>
                <a:cs typeface="Arial MT"/>
              </a:rPr>
              <a:t> </a:t>
            </a:r>
            <a:r>
              <a:rPr sz="1800" spc="-10" dirty="0">
                <a:solidFill>
                  <a:srgbClr val="333333"/>
                </a:solidFill>
                <a:latin typeface="Arial MT"/>
                <a:cs typeface="Arial MT"/>
              </a:rPr>
              <a:t>TensorFlow.</a:t>
            </a:r>
            <a:endParaRPr sz="180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3540" y="730758"/>
            <a:ext cx="11060430" cy="3317875"/>
          </a:xfrm>
          <a:prstGeom prst="rect">
            <a:avLst/>
          </a:prstGeom>
        </p:spPr>
        <p:txBody>
          <a:bodyPr vert="horz" wrap="square" lIns="0" tIns="12700" rIns="0" bIns="0" rtlCol="0">
            <a:spAutoFit/>
          </a:bodyPr>
          <a:lstStyle/>
          <a:p>
            <a:pPr marL="241300" indent="-228600" algn="just">
              <a:lnSpc>
                <a:spcPct val="100000"/>
              </a:lnSpc>
              <a:spcBef>
                <a:spcPts val="100"/>
              </a:spcBef>
              <a:buAutoNum type="arabicPeriod"/>
              <a:tabLst>
                <a:tab pos="241300" algn="l"/>
              </a:tabLst>
            </a:pPr>
            <a:r>
              <a:rPr sz="1800" b="1" dirty="0">
                <a:solidFill>
                  <a:srgbClr val="600A4A"/>
                </a:solidFill>
                <a:latin typeface="Times New Roman"/>
                <a:cs typeface="Times New Roman"/>
              </a:rPr>
              <a:t>Responsive</a:t>
            </a:r>
            <a:r>
              <a:rPr sz="1800" b="1" spc="-30" dirty="0">
                <a:solidFill>
                  <a:srgbClr val="600A4A"/>
                </a:solidFill>
                <a:latin typeface="Times New Roman"/>
                <a:cs typeface="Times New Roman"/>
              </a:rPr>
              <a:t> </a:t>
            </a:r>
            <a:r>
              <a:rPr sz="1800" b="1" spc="-10" dirty="0">
                <a:solidFill>
                  <a:srgbClr val="600A4A"/>
                </a:solidFill>
                <a:latin typeface="Times New Roman"/>
                <a:cs typeface="Times New Roman"/>
              </a:rPr>
              <a:t>Construct</a:t>
            </a:r>
            <a:endParaRPr sz="1800">
              <a:latin typeface="Times New Roman"/>
              <a:cs typeface="Times New Roman"/>
            </a:endParaRPr>
          </a:p>
          <a:p>
            <a:pPr marL="12700" marR="5080" algn="just">
              <a:lnSpc>
                <a:spcPct val="100000"/>
              </a:lnSpc>
            </a:pPr>
            <a:r>
              <a:rPr sz="1800" dirty="0">
                <a:solidFill>
                  <a:srgbClr val="333333"/>
                </a:solidFill>
                <a:latin typeface="Times New Roman"/>
                <a:cs typeface="Times New Roman"/>
              </a:rPr>
              <a:t>We</a:t>
            </a:r>
            <a:r>
              <a:rPr sz="1800" spc="235" dirty="0">
                <a:solidFill>
                  <a:srgbClr val="333333"/>
                </a:solidFill>
                <a:latin typeface="Times New Roman"/>
                <a:cs typeface="Times New Roman"/>
              </a:rPr>
              <a:t> </a:t>
            </a:r>
            <a:r>
              <a:rPr sz="1800" dirty="0">
                <a:solidFill>
                  <a:srgbClr val="333333"/>
                </a:solidFill>
                <a:latin typeface="Times New Roman"/>
                <a:cs typeface="Times New Roman"/>
              </a:rPr>
              <a:t>can</a:t>
            </a:r>
            <a:r>
              <a:rPr sz="1800" spc="220" dirty="0">
                <a:solidFill>
                  <a:srgbClr val="333333"/>
                </a:solidFill>
                <a:latin typeface="Times New Roman"/>
                <a:cs typeface="Times New Roman"/>
              </a:rPr>
              <a:t> </a:t>
            </a:r>
            <a:r>
              <a:rPr sz="1800" dirty="0">
                <a:solidFill>
                  <a:srgbClr val="333333"/>
                </a:solidFill>
                <a:latin typeface="Times New Roman"/>
                <a:cs typeface="Times New Roman"/>
              </a:rPr>
              <a:t>visualize</a:t>
            </a:r>
            <a:r>
              <a:rPr sz="1800" spc="240" dirty="0">
                <a:solidFill>
                  <a:srgbClr val="333333"/>
                </a:solidFill>
                <a:latin typeface="Times New Roman"/>
                <a:cs typeface="Times New Roman"/>
              </a:rPr>
              <a:t> </a:t>
            </a:r>
            <a:r>
              <a:rPr sz="1800" dirty="0">
                <a:solidFill>
                  <a:srgbClr val="333333"/>
                </a:solidFill>
                <a:latin typeface="Times New Roman"/>
                <a:cs typeface="Times New Roman"/>
              </a:rPr>
              <a:t>each</a:t>
            </a:r>
            <a:r>
              <a:rPr sz="1800" spc="220" dirty="0">
                <a:solidFill>
                  <a:srgbClr val="333333"/>
                </a:solidFill>
                <a:latin typeface="Times New Roman"/>
                <a:cs typeface="Times New Roman"/>
              </a:rPr>
              <a:t> </a:t>
            </a:r>
            <a:r>
              <a:rPr sz="1800" dirty="0">
                <a:solidFill>
                  <a:srgbClr val="333333"/>
                </a:solidFill>
                <a:latin typeface="Times New Roman"/>
                <a:cs typeface="Times New Roman"/>
              </a:rPr>
              <a:t>part</a:t>
            </a:r>
            <a:r>
              <a:rPr sz="1800" spc="235" dirty="0">
                <a:solidFill>
                  <a:srgbClr val="333333"/>
                </a:solidFill>
                <a:latin typeface="Times New Roman"/>
                <a:cs typeface="Times New Roman"/>
              </a:rPr>
              <a:t> </a:t>
            </a:r>
            <a:r>
              <a:rPr sz="1800" dirty="0">
                <a:solidFill>
                  <a:srgbClr val="333333"/>
                </a:solidFill>
                <a:latin typeface="Times New Roman"/>
                <a:cs typeface="Times New Roman"/>
              </a:rPr>
              <a:t>of</a:t>
            </a:r>
            <a:r>
              <a:rPr sz="1800" spc="215" dirty="0">
                <a:solidFill>
                  <a:srgbClr val="333333"/>
                </a:solidFill>
                <a:latin typeface="Times New Roman"/>
                <a:cs typeface="Times New Roman"/>
              </a:rPr>
              <a:t> </a:t>
            </a:r>
            <a:r>
              <a:rPr sz="1800" dirty="0">
                <a:solidFill>
                  <a:srgbClr val="333333"/>
                </a:solidFill>
                <a:latin typeface="Times New Roman"/>
                <a:cs typeface="Times New Roman"/>
              </a:rPr>
              <a:t>the</a:t>
            </a:r>
            <a:r>
              <a:rPr sz="1800" spc="235" dirty="0">
                <a:solidFill>
                  <a:srgbClr val="333333"/>
                </a:solidFill>
                <a:latin typeface="Times New Roman"/>
                <a:cs typeface="Times New Roman"/>
              </a:rPr>
              <a:t> </a:t>
            </a:r>
            <a:r>
              <a:rPr sz="1800" dirty="0">
                <a:solidFill>
                  <a:srgbClr val="333333"/>
                </a:solidFill>
                <a:latin typeface="Times New Roman"/>
                <a:cs typeface="Times New Roman"/>
              </a:rPr>
              <a:t>graph,</a:t>
            </a:r>
            <a:r>
              <a:rPr sz="1800" spc="229" dirty="0">
                <a:solidFill>
                  <a:srgbClr val="333333"/>
                </a:solidFill>
                <a:latin typeface="Times New Roman"/>
                <a:cs typeface="Times New Roman"/>
              </a:rPr>
              <a:t> </a:t>
            </a:r>
            <a:r>
              <a:rPr sz="1800" dirty="0">
                <a:solidFill>
                  <a:srgbClr val="333333"/>
                </a:solidFill>
                <a:latin typeface="Times New Roman"/>
                <a:cs typeface="Times New Roman"/>
              </a:rPr>
              <a:t>which</a:t>
            </a:r>
            <a:r>
              <a:rPr sz="1800" spc="220" dirty="0">
                <a:solidFill>
                  <a:srgbClr val="333333"/>
                </a:solidFill>
                <a:latin typeface="Times New Roman"/>
                <a:cs typeface="Times New Roman"/>
              </a:rPr>
              <a:t> </a:t>
            </a:r>
            <a:r>
              <a:rPr sz="1800" dirty="0">
                <a:solidFill>
                  <a:srgbClr val="333333"/>
                </a:solidFill>
                <a:latin typeface="Times New Roman"/>
                <a:cs typeface="Times New Roman"/>
              </a:rPr>
              <a:t>is</a:t>
            </a:r>
            <a:r>
              <a:rPr sz="1800" spc="215" dirty="0">
                <a:solidFill>
                  <a:srgbClr val="333333"/>
                </a:solidFill>
                <a:latin typeface="Times New Roman"/>
                <a:cs typeface="Times New Roman"/>
              </a:rPr>
              <a:t> </a:t>
            </a:r>
            <a:r>
              <a:rPr sz="1800" dirty="0">
                <a:solidFill>
                  <a:srgbClr val="333333"/>
                </a:solidFill>
                <a:latin typeface="Times New Roman"/>
                <a:cs typeface="Times New Roman"/>
              </a:rPr>
              <a:t>not</a:t>
            </a:r>
            <a:r>
              <a:rPr sz="1800" spc="220" dirty="0">
                <a:solidFill>
                  <a:srgbClr val="333333"/>
                </a:solidFill>
                <a:latin typeface="Times New Roman"/>
                <a:cs typeface="Times New Roman"/>
              </a:rPr>
              <a:t> </a:t>
            </a:r>
            <a:r>
              <a:rPr sz="1800" dirty="0">
                <a:solidFill>
                  <a:srgbClr val="333333"/>
                </a:solidFill>
                <a:latin typeface="Times New Roman"/>
                <a:cs typeface="Times New Roman"/>
              </a:rPr>
              <a:t>an</a:t>
            </a:r>
            <a:r>
              <a:rPr sz="1800" spc="225" dirty="0">
                <a:solidFill>
                  <a:srgbClr val="333333"/>
                </a:solidFill>
                <a:latin typeface="Times New Roman"/>
                <a:cs typeface="Times New Roman"/>
              </a:rPr>
              <a:t> </a:t>
            </a:r>
            <a:r>
              <a:rPr sz="1800" dirty="0">
                <a:solidFill>
                  <a:srgbClr val="333333"/>
                </a:solidFill>
                <a:latin typeface="Times New Roman"/>
                <a:cs typeface="Times New Roman"/>
              </a:rPr>
              <a:t>option</a:t>
            </a:r>
            <a:r>
              <a:rPr sz="1800" spc="229" dirty="0">
                <a:solidFill>
                  <a:srgbClr val="333333"/>
                </a:solidFill>
                <a:latin typeface="Times New Roman"/>
                <a:cs typeface="Times New Roman"/>
              </a:rPr>
              <a:t> </a:t>
            </a:r>
            <a:r>
              <a:rPr sz="1800" dirty="0">
                <a:solidFill>
                  <a:srgbClr val="333333"/>
                </a:solidFill>
                <a:latin typeface="Times New Roman"/>
                <a:cs typeface="Times New Roman"/>
              </a:rPr>
              <a:t>while</a:t>
            </a:r>
            <a:r>
              <a:rPr sz="1800" spc="229" dirty="0">
                <a:solidFill>
                  <a:srgbClr val="333333"/>
                </a:solidFill>
                <a:latin typeface="Times New Roman"/>
                <a:cs typeface="Times New Roman"/>
              </a:rPr>
              <a:t> </a:t>
            </a:r>
            <a:r>
              <a:rPr sz="1800" dirty="0">
                <a:solidFill>
                  <a:srgbClr val="333333"/>
                </a:solidFill>
                <a:latin typeface="Times New Roman"/>
                <a:cs typeface="Times New Roman"/>
              </a:rPr>
              <a:t>using</a:t>
            </a:r>
            <a:r>
              <a:rPr sz="1800" spc="215" dirty="0">
                <a:solidFill>
                  <a:srgbClr val="333333"/>
                </a:solidFill>
                <a:latin typeface="Times New Roman"/>
                <a:cs typeface="Times New Roman"/>
              </a:rPr>
              <a:t> </a:t>
            </a:r>
            <a:r>
              <a:rPr sz="1800" b="1" dirty="0">
                <a:solidFill>
                  <a:srgbClr val="333333"/>
                </a:solidFill>
                <a:latin typeface="Times New Roman"/>
                <a:cs typeface="Times New Roman"/>
              </a:rPr>
              <a:t>Numpy</a:t>
            </a:r>
            <a:r>
              <a:rPr sz="1800" b="1" spc="245" dirty="0">
                <a:solidFill>
                  <a:srgbClr val="333333"/>
                </a:solidFill>
                <a:latin typeface="Times New Roman"/>
                <a:cs typeface="Times New Roman"/>
              </a:rPr>
              <a:t> </a:t>
            </a:r>
            <a:r>
              <a:rPr sz="1800" dirty="0">
                <a:solidFill>
                  <a:srgbClr val="333333"/>
                </a:solidFill>
                <a:latin typeface="Times New Roman"/>
                <a:cs typeface="Times New Roman"/>
              </a:rPr>
              <a:t>or</a:t>
            </a:r>
            <a:r>
              <a:rPr sz="1800" spc="215" dirty="0">
                <a:solidFill>
                  <a:srgbClr val="333333"/>
                </a:solidFill>
                <a:latin typeface="Times New Roman"/>
                <a:cs typeface="Times New Roman"/>
              </a:rPr>
              <a:t> </a:t>
            </a:r>
            <a:r>
              <a:rPr sz="1800" b="1" dirty="0">
                <a:solidFill>
                  <a:srgbClr val="333333"/>
                </a:solidFill>
                <a:latin typeface="Times New Roman"/>
                <a:cs typeface="Times New Roman"/>
              </a:rPr>
              <a:t>SciKit</a:t>
            </a:r>
            <a:r>
              <a:rPr sz="1800" dirty="0">
                <a:solidFill>
                  <a:srgbClr val="333333"/>
                </a:solidFill>
                <a:latin typeface="Times New Roman"/>
                <a:cs typeface="Times New Roman"/>
              </a:rPr>
              <a:t>.</a:t>
            </a:r>
            <a:r>
              <a:rPr sz="1800" spc="225" dirty="0">
                <a:solidFill>
                  <a:srgbClr val="333333"/>
                </a:solidFill>
                <a:latin typeface="Times New Roman"/>
                <a:cs typeface="Times New Roman"/>
              </a:rPr>
              <a:t> </a:t>
            </a:r>
            <a:r>
              <a:rPr sz="1800" dirty="0">
                <a:solidFill>
                  <a:srgbClr val="333333"/>
                </a:solidFill>
                <a:latin typeface="Times New Roman"/>
                <a:cs typeface="Times New Roman"/>
              </a:rPr>
              <a:t>To</a:t>
            </a:r>
            <a:r>
              <a:rPr sz="1800" spc="215" dirty="0">
                <a:solidFill>
                  <a:srgbClr val="333333"/>
                </a:solidFill>
                <a:latin typeface="Times New Roman"/>
                <a:cs typeface="Times New Roman"/>
              </a:rPr>
              <a:t> </a:t>
            </a:r>
            <a:r>
              <a:rPr sz="1800" dirty="0">
                <a:solidFill>
                  <a:srgbClr val="333333"/>
                </a:solidFill>
                <a:latin typeface="Times New Roman"/>
                <a:cs typeface="Times New Roman"/>
              </a:rPr>
              <a:t>develop</a:t>
            </a:r>
            <a:r>
              <a:rPr sz="1800" spc="225" dirty="0">
                <a:solidFill>
                  <a:srgbClr val="333333"/>
                </a:solidFill>
                <a:latin typeface="Times New Roman"/>
                <a:cs typeface="Times New Roman"/>
              </a:rPr>
              <a:t> </a:t>
            </a:r>
            <a:r>
              <a:rPr sz="1800" dirty="0">
                <a:solidFill>
                  <a:srgbClr val="333333"/>
                </a:solidFill>
                <a:latin typeface="Times New Roman"/>
                <a:cs typeface="Times New Roman"/>
              </a:rPr>
              <a:t>a</a:t>
            </a:r>
            <a:r>
              <a:rPr sz="1800" spc="220" dirty="0">
                <a:solidFill>
                  <a:srgbClr val="333333"/>
                </a:solidFill>
                <a:latin typeface="Times New Roman"/>
                <a:cs typeface="Times New Roman"/>
              </a:rPr>
              <a:t> </a:t>
            </a:r>
            <a:r>
              <a:rPr sz="1800" spc="-20" dirty="0">
                <a:solidFill>
                  <a:srgbClr val="333333"/>
                </a:solidFill>
                <a:latin typeface="Times New Roman"/>
                <a:cs typeface="Times New Roman"/>
              </a:rPr>
              <a:t>deep </a:t>
            </a:r>
            <a:r>
              <a:rPr sz="1800" dirty="0">
                <a:solidFill>
                  <a:srgbClr val="333333"/>
                </a:solidFill>
                <a:latin typeface="Times New Roman"/>
                <a:cs typeface="Times New Roman"/>
              </a:rPr>
              <a:t>learning</a:t>
            </a:r>
            <a:r>
              <a:rPr sz="1800" spc="-25" dirty="0">
                <a:solidFill>
                  <a:srgbClr val="333333"/>
                </a:solidFill>
                <a:latin typeface="Times New Roman"/>
                <a:cs typeface="Times New Roman"/>
              </a:rPr>
              <a:t> </a:t>
            </a:r>
            <a:r>
              <a:rPr sz="1800" dirty="0">
                <a:solidFill>
                  <a:srgbClr val="333333"/>
                </a:solidFill>
                <a:latin typeface="Times New Roman"/>
                <a:cs typeface="Times New Roman"/>
              </a:rPr>
              <a:t>application,</a:t>
            </a:r>
            <a:r>
              <a:rPr sz="1800" spc="-25" dirty="0">
                <a:solidFill>
                  <a:srgbClr val="333333"/>
                </a:solidFill>
                <a:latin typeface="Times New Roman"/>
                <a:cs typeface="Times New Roman"/>
              </a:rPr>
              <a:t> </a:t>
            </a:r>
            <a:r>
              <a:rPr sz="1800" spc="-10" dirty="0">
                <a:solidFill>
                  <a:srgbClr val="333333"/>
                </a:solidFill>
                <a:latin typeface="Times New Roman"/>
                <a:cs typeface="Times New Roman"/>
              </a:rPr>
              <a:t>firstly,</a:t>
            </a:r>
            <a:r>
              <a:rPr sz="1800" spc="-30" dirty="0">
                <a:solidFill>
                  <a:srgbClr val="333333"/>
                </a:solidFill>
                <a:latin typeface="Times New Roman"/>
                <a:cs typeface="Times New Roman"/>
              </a:rPr>
              <a:t> </a:t>
            </a:r>
            <a:r>
              <a:rPr sz="1800" dirty="0">
                <a:solidFill>
                  <a:srgbClr val="333333"/>
                </a:solidFill>
                <a:latin typeface="Times New Roman"/>
                <a:cs typeface="Times New Roman"/>
              </a:rPr>
              <a:t>there</a:t>
            </a:r>
            <a:r>
              <a:rPr sz="1800" spc="-20" dirty="0">
                <a:solidFill>
                  <a:srgbClr val="333333"/>
                </a:solidFill>
                <a:latin typeface="Times New Roman"/>
                <a:cs typeface="Times New Roman"/>
              </a:rPr>
              <a:t> </a:t>
            </a:r>
            <a:r>
              <a:rPr sz="1800" dirty="0">
                <a:solidFill>
                  <a:srgbClr val="333333"/>
                </a:solidFill>
                <a:latin typeface="Times New Roman"/>
                <a:cs typeface="Times New Roman"/>
              </a:rPr>
              <a:t>are</a:t>
            </a:r>
            <a:r>
              <a:rPr sz="1800" spc="-25" dirty="0">
                <a:solidFill>
                  <a:srgbClr val="333333"/>
                </a:solidFill>
                <a:latin typeface="Times New Roman"/>
                <a:cs typeface="Times New Roman"/>
              </a:rPr>
              <a:t> </a:t>
            </a:r>
            <a:r>
              <a:rPr sz="1800" dirty="0">
                <a:solidFill>
                  <a:srgbClr val="333333"/>
                </a:solidFill>
                <a:latin typeface="Times New Roman"/>
                <a:cs typeface="Times New Roman"/>
              </a:rPr>
              <a:t>two</a:t>
            </a:r>
            <a:r>
              <a:rPr sz="1800" spc="-35" dirty="0">
                <a:solidFill>
                  <a:srgbClr val="333333"/>
                </a:solidFill>
                <a:latin typeface="Times New Roman"/>
                <a:cs typeface="Times New Roman"/>
              </a:rPr>
              <a:t> </a:t>
            </a:r>
            <a:r>
              <a:rPr sz="1800" dirty="0">
                <a:solidFill>
                  <a:srgbClr val="333333"/>
                </a:solidFill>
                <a:latin typeface="Times New Roman"/>
                <a:cs typeface="Times New Roman"/>
              </a:rPr>
              <a:t>or</a:t>
            </a:r>
            <a:r>
              <a:rPr sz="1800" spc="-35" dirty="0">
                <a:solidFill>
                  <a:srgbClr val="333333"/>
                </a:solidFill>
                <a:latin typeface="Times New Roman"/>
                <a:cs typeface="Times New Roman"/>
              </a:rPr>
              <a:t> </a:t>
            </a:r>
            <a:r>
              <a:rPr sz="1800" dirty="0">
                <a:solidFill>
                  <a:srgbClr val="333333"/>
                </a:solidFill>
                <a:latin typeface="Times New Roman"/>
                <a:cs typeface="Times New Roman"/>
              </a:rPr>
              <a:t>three</a:t>
            </a:r>
            <a:r>
              <a:rPr sz="1800" spc="-30" dirty="0">
                <a:solidFill>
                  <a:srgbClr val="333333"/>
                </a:solidFill>
                <a:latin typeface="Times New Roman"/>
                <a:cs typeface="Times New Roman"/>
              </a:rPr>
              <a:t> </a:t>
            </a:r>
            <a:r>
              <a:rPr sz="1800" dirty="0">
                <a:solidFill>
                  <a:srgbClr val="333333"/>
                </a:solidFill>
                <a:latin typeface="Times New Roman"/>
                <a:cs typeface="Times New Roman"/>
              </a:rPr>
              <a:t>components</a:t>
            </a:r>
            <a:r>
              <a:rPr sz="1800" spc="-30" dirty="0">
                <a:solidFill>
                  <a:srgbClr val="333333"/>
                </a:solidFill>
                <a:latin typeface="Times New Roman"/>
                <a:cs typeface="Times New Roman"/>
              </a:rPr>
              <a:t> </a:t>
            </a:r>
            <a:r>
              <a:rPr sz="1800" dirty="0">
                <a:solidFill>
                  <a:srgbClr val="333333"/>
                </a:solidFill>
                <a:latin typeface="Times New Roman"/>
                <a:cs typeface="Times New Roman"/>
              </a:rPr>
              <a:t>that</a:t>
            </a:r>
            <a:r>
              <a:rPr sz="1800" spc="-25" dirty="0">
                <a:solidFill>
                  <a:srgbClr val="333333"/>
                </a:solidFill>
                <a:latin typeface="Times New Roman"/>
                <a:cs typeface="Times New Roman"/>
              </a:rPr>
              <a:t> </a:t>
            </a:r>
            <a:r>
              <a:rPr sz="1800" dirty="0">
                <a:solidFill>
                  <a:srgbClr val="333333"/>
                </a:solidFill>
                <a:latin typeface="Times New Roman"/>
                <a:cs typeface="Times New Roman"/>
              </a:rPr>
              <a:t>are</a:t>
            </a:r>
            <a:r>
              <a:rPr sz="1800" spc="-20" dirty="0">
                <a:solidFill>
                  <a:srgbClr val="333333"/>
                </a:solidFill>
                <a:latin typeface="Times New Roman"/>
                <a:cs typeface="Times New Roman"/>
              </a:rPr>
              <a:t> </a:t>
            </a:r>
            <a:r>
              <a:rPr sz="1800" dirty="0">
                <a:solidFill>
                  <a:srgbClr val="333333"/>
                </a:solidFill>
                <a:latin typeface="Times New Roman"/>
                <a:cs typeface="Times New Roman"/>
              </a:rPr>
              <a:t>required</a:t>
            </a:r>
            <a:r>
              <a:rPr sz="1800" spc="-30" dirty="0">
                <a:solidFill>
                  <a:srgbClr val="333333"/>
                </a:solidFill>
                <a:latin typeface="Times New Roman"/>
                <a:cs typeface="Times New Roman"/>
              </a:rPr>
              <a:t> </a:t>
            </a:r>
            <a:r>
              <a:rPr sz="1800" dirty="0">
                <a:solidFill>
                  <a:srgbClr val="333333"/>
                </a:solidFill>
                <a:latin typeface="Times New Roman"/>
                <a:cs typeface="Times New Roman"/>
              </a:rPr>
              <a:t>to</a:t>
            </a:r>
            <a:r>
              <a:rPr sz="1800" spc="-50" dirty="0">
                <a:solidFill>
                  <a:srgbClr val="333333"/>
                </a:solidFill>
                <a:latin typeface="Times New Roman"/>
                <a:cs typeface="Times New Roman"/>
              </a:rPr>
              <a:t> </a:t>
            </a:r>
            <a:r>
              <a:rPr sz="1800" dirty="0">
                <a:solidFill>
                  <a:srgbClr val="333333"/>
                </a:solidFill>
                <a:latin typeface="Times New Roman"/>
                <a:cs typeface="Times New Roman"/>
              </a:rPr>
              <a:t>create</a:t>
            </a:r>
            <a:r>
              <a:rPr sz="1800" spc="-25" dirty="0">
                <a:solidFill>
                  <a:srgbClr val="333333"/>
                </a:solidFill>
                <a:latin typeface="Times New Roman"/>
                <a:cs typeface="Times New Roman"/>
              </a:rPr>
              <a:t> </a:t>
            </a:r>
            <a:r>
              <a:rPr sz="1800" dirty="0">
                <a:solidFill>
                  <a:srgbClr val="333333"/>
                </a:solidFill>
                <a:latin typeface="Times New Roman"/>
                <a:cs typeface="Times New Roman"/>
              </a:rPr>
              <a:t>a</a:t>
            </a:r>
            <a:r>
              <a:rPr sz="1800" spc="-20" dirty="0">
                <a:solidFill>
                  <a:srgbClr val="333333"/>
                </a:solidFill>
                <a:latin typeface="Times New Roman"/>
                <a:cs typeface="Times New Roman"/>
              </a:rPr>
              <a:t> </a:t>
            </a:r>
            <a:r>
              <a:rPr sz="1800" dirty="0">
                <a:solidFill>
                  <a:srgbClr val="333333"/>
                </a:solidFill>
                <a:latin typeface="Times New Roman"/>
                <a:cs typeface="Times New Roman"/>
              </a:rPr>
              <a:t>deep</a:t>
            </a:r>
            <a:r>
              <a:rPr sz="1800" spc="-35" dirty="0">
                <a:solidFill>
                  <a:srgbClr val="333333"/>
                </a:solidFill>
                <a:latin typeface="Times New Roman"/>
                <a:cs typeface="Times New Roman"/>
              </a:rPr>
              <a:t> </a:t>
            </a:r>
            <a:r>
              <a:rPr sz="1800" dirty="0">
                <a:solidFill>
                  <a:srgbClr val="333333"/>
                </a:solidFill>
                <a:latin typeface="Times New Roman"/>
                <a:cs typeface="Times New Roman"/>
              </a:rPr>
              <a:t>learning</a:t>
            </a:r>
            <a:r>
              <a:rPr sz="1800" spc="-20" dirty="0">
                <a:solidFill>
                  <a:srgbClr val="333333"/>
                </a:solidFill>
                <a:latin typeface="Times New Roman"/>
                <a:cs typeface="Times New Roman"/>
              </a:rPr>
              <a:t> </a:t>
            </a:r>
            <a:r>
              <a:rPr sz="1800" dirty="0">
                <a:solidFill>
                  <a:srgbClr val="333333"/>
                </a:solidFill>
                <a:latin typeface="Times New Roman"/>
                <a:cs typeface="Times New Roman"/>
              </a:rPr>
              <a:t>application</a:t>
            </a:r>
            <a:r>
              <a:rPr sz="1800" spc="-25" dirty="0">
                <a:solidFill>
                  <a:srgbClr val="333333"/>
                </a:solidFill>
                <a:latin typeface="Times New Roman"/>
                <a:cs typeface="Times New Roman"/>
              </a:rPr>
              <a:t> and </a:t>
            </a:r>
            <a:r>
              <a:rPr sz="1800" dirty="0">
                <a:solidFill>
                  <a:srgbClr val="333333"/>
                </a:solidFill>
                <a:latin typeface="Times New Roman"/>
                <a:cs typeface="Times New Roman"/>
              </a:rPr>
              <a:t>need</a:t>
            </a:r>
            <a:r>
              <a:rPr sz="1800" spc="-15" dirty="0">
                <a:solidFill>
                  <a:srgbClr val="333333"/>
                </a:solidFill>
                <a:latin typeface="Times New Roman"/>
                <a:cs typeface="Times New Roman"/>
              </a:rPr>
              <a:t> </a:t>
            </a:r>
            <a:r>
              <a:rPr sz="1800" dirty="0">
                <a:solidFill>
                  <a:srgbClr val="333333"/>
                </a:solidFill>
                <a:latin typeface="Times New Roman"/>
                <a:cs typeface="Times New Roman"/>
              </a:rPr>
              <a:t>a</a:t>
            </a:r>
            <a:r>
              <a:rPr sz="1800" spc="-15" dirty="0">
                <a:solidFill>
                  <a:srgbClr val="333333"/>
                </a:solidFill>
                <a:latin typeface="Times New Roman"/>
                <a:cs typeface="Times New Roman"/>
              </a:rPr>
              <a:t> </a:t>
            </a:r>
            <a:r>
              <a:rPr sz="1800" dirty="0">
                <a:solidFill>
                  <a:srgbClr val="333333"/>
                </a:solidFill>
                <a:latin typeface="Times New Roman"/>
                <a:cs typeface="Times New Roman"/>
              </a:rPr>
              <a:t>programming </a:t>
            </a:r>
            <a:r>
              <a:rPr sz="1800" spc="-10" dirty="0">
                <a:solidFill>
                  <a:srgbClr val="333333"/>
                </a:solidFill>
                <a:latin typeface="Times New Roman"/>
                <a:cs typeface="Times New Roman"/>
              </a:rPr>
              <a:t>language.</a:t>
            </a:r>
            <a:endParaRPr sz="1800">
              <a:latin typeface="Times New Roman"/>
              <a:cs typeface="Times New Roman"/>
            </a:endParaRPr>
          </a:p>
          <a:p>
            <a:pPr marL="241300" indent="-228600" algn="just">
              <a:lnSpc>
                <a:spcPct val="100000"/>
              </a:lnSpc>
              <a:buAutoNum type="arabicPeriod" startAt="2"/>
              <a:tabLst>
                <a:tab pos="241300" algn="l"/>
              </a:tabLst>
            </a:pPr>
            <a:r>
              <a:rPr sz="1800" b="1" spc="-10" dirty="0">
                <a:solidFill>
                  <a:srgbClr val="600A4A"/>
                </a:solidFill>
                <a:latin typeface="Times New Roman"/>
                <a:cs typeface="Times New Roman"/>
              </a:rPr>
              <a:t>Flexible</a:t>
            </a:r>
            <a:endParaRPr sz="1800">
              <a:latin typeface="Times New Roman"/>
              <a:cs typeface="Times New Roman"/>
            </a:endParaRPr>
          </a:p>
          <a:p>
            <a:pPr marL="12700" marR="467995">
              <a:lnSpc>
                <a:spcPct val="100000"/>
              </a:lnSpc>
            </a:pPr>
            <a:r>
              <a:rPr sz="1800" dirty="0">
                <a:latin typeface="Times New Roman"/>
                <a:cs typeface="Times New Roman"/>
              </a:rPr>
              <a:t>It</a:t>
            </a:r>
            <a:r>
              <a:rPr sz="1800" spc="-25" dirty="0">
                <a:latin typeface="Times New Roman"/>
                <a:cs typeface="Times New Roman"/>
              </a:rPr>
              <a:t> </a:t>
            </a:r>
            <a:r>
              <a:rPr sz="1800" dirty="0">
                <a:latin typeface="Times New Roman"/>
                <a:cs typeface="Times New Roman"/>
              </a:rPr>
              <a:t>is</a:t>
            </a:r>
            <a:r>
              <a:rPr sz="1800" spc="-25" dirty="0">
                <a:latin typeface="Times New Roman"/>
                <a:cs typeface="Times New Roman"/>
              </a:rPr>
              <a:t> </a:t>
            </a:r>
            <a:r>
              <a:rPr sz="1800" dirty="0">
                <a:latin typeface="Times New Roman"/>
                <a:cs typeface="Times New Roman"/>
              </a:rPr>
              <a:t>one</a:t>
            </a:r>
            <a:r>
              <a:rPr sz="1800" spc="-25" dirty="0">
                <a:latin typeface="Times New Roman"/>
                <a:cs typeface="Times New Roman"/>
              </a:rPr>
              <a:t> </a:t>
            </a:r>
            <a:r>
              <a:rPr sz="1800" dirty="0">
                <a:latin typeface="Times New Roman"/>
                <a:cs typeface="Times New Roman"/>
              </a:rPr>
              <a:t>of</a:t>
            </a:r>
            <a:r>
              <a:rPr sz="1800" spc="-20"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dirty="0">
                <a:latin typeface="Times New Roman"/>
                <a:cs typeface="Times New Roman"/>
              </a:rPr>
              <a:t>essential</a:t>
            </a:r>
            <a:r>
              <a:rPr sz="1800" spc="-60" dirty="0">
                <a:latin typeface="Times New Roman"/>
                <a:cs typeface="Times New Roman"/>
              </a:rPr>
              <a:t> </a:t>
            </a:r>
            <a:r>
              <a:rPr sz="1800" spc="-10" dirty="0">
                <a:latin typeface="Times New Roman"/>
                <a:cs typeface="Times New Roman"/>
              </a:rPr>
              <a:t>TensorFlow</a:t>
            </a:r>
            <a:r>
              <a:rPr sz="1800" spc="-35" dirty="0">
                <a:latin typeface="Times New Roman"/>
                <a:cs typeface="Times New Roman"/>
              </a:rPr>
              <a:t> </a:t>
            </a:r>
            <a:r>
              <a:rPr sz="1800" dirty="0">
                <a:latin typeface="Times New Roman"/>
                <a:cs typeface="Times New Roman"/>
              </a:rPr>
              <a:t>Features</a:t>
            </a:r>
            <a:r>
              <a:rPr sz="1800" spc="-40" dirty="0">
                <a:latin typeface="Times New Roman"/>
                <a:cs typeface="Times New Roman"/>
              </a:rPr>
              <a:t> </a:t>
            </a:r>
            <a:r>
              <a:rPr sz="1800" dirty="0">
                <a:latin typeface="Times New Roman"/>
                <a:cs typeface="Times New Roman"/>
              </a:rPr>
              <a:t>according</a:t>
            </a:r>
            <a:r>
              <a:rPr sz="1800" spc="-35" dirty="0">
                <a:latin typeface="Times New Roman"/>
                <a:cs typeface="Times New Roman"/>
              </a:rPr>
              <a:t> </a:t>
            </a:r>
            <a:r>
              <a:rPr sz="1800" dirty="0">
                <a:latin typeface="Times New Roman"/>
                <a:cs typeface="Times New Roman"/>
              </a:rPr>
              <a:t>to</a:t>
            </a:r>
            <a:r>
              <a:rPr sz="1800" spc="-25" dirty="0">
                <a:latin typeface="Times New Roman"/>
                <a:cs typeface="Times New Roman"/>
              </a:rPr>
              <a:t> </a:t>
            </a:r>
            <a:r>
              <a:rPr sz="1800" dirty="0">
                <a:latin typeface="Times New Roman"/>
                <a:cs typeface="Times New Roman"/>
              </a:rPr>
              <a:t>its</a:t>
            </a:r>
            <a:r>
              <a:rPr sz="1800" spc="-30" dirty="0">
                <a:latin typeface="Times New Roman"/>
                <a:cs typeface="Times New Roman"/>
              </a:rPr>
              <a:t> </a:t>
            </a:r>
            <a:r>
              <a:rPr sz="1800" spc="-10" dirty="0">
                <a:latin typeface="Times New Roman"/>
                <a:cs typeface="Times New Roman"/>
              </a:rPr>
              <a:t>operability.</a:t>
            </a:r>
            <a:r>
              <a:rPr sz="1800" spc="-65" dirty="0">
                <a:latin typeface="Times New Roman"/>
                <a:cs typeface="Times New Roman"/>
              </a:rPr>
              <a:t> </a:t>
            </a:r>
            <a:r>
              <a:rPr sz="1800" dirty="0">
                <a:latin typeface="Times New Roman"/>
                <a:cs typeface="Times New Roman"/>
              </a:rPr>
              <a:t>It</a:t>
            </a:r>
            <a:r>
              <a:rPr sz="1800" spc="-20" dirty="0">
                <a:latin typeface="Times New Roman"/>
                <a:cs typeface="Times New Roman"/>
              </a:rPr>
              <a:t> </a:t>
            </a:r>
            <a:r>
              <a:rPr sz="1800" dirty="0">
                <a:latin typeface="Times New Roman"/>
                <a:cs typeface="Times New Roman"/>
              </a:rPr>
              <a:t>has</a:t>
            </a:r>
            <a:r>
              <a:rPr sz="1800" spc="-25" dirty="0">
                <a:latin typeface="Times New Roman"/>
                <a:cs typeface="Times New Roman"/>
              </a:rPr>
              <a:t> </a:t>
            </a:r>
            <a:r>
              <a:rPr sz="1800" dirty="0">
                <a:latin typeface="Times New Roman"/>
                <a:cs typeface="Times New Roman"/>
              </a:rPr>
              <a:t>modularity</a:t>
            </a:r>
            <a:r>
              <a:rPr sz="1800" spc="-35" dirty="0">
                <a:latin typeface="Times New Roman"/>
                <a:cs typeface="Times New Roman"/>
              </a:rPr>
              <a:t> </a:t>
            </a:r>
            <a:r>
              <a:rPr sz="1800" dirty="0">
                <a:latin typeface="Times New Roman"/>
                <a:cs typeface="Times New Roman"/>
              </a:rPr>
              <a:t>and</a:t>
            </a:r>
            <a:r>
              <a:rPr sz="1800" spc="-20" dirty="0">
                <a:latin typeface="Times New Roman"/>
                <a:cs typeface="Times New Roman"/>
              </a:rPr>
              <a:t> </a:t>
            </a:r>
            <a:r>
              <a:rPr sz="1800" dirty="0">
                <a:latin typeface="Times New Roman"/>
                <a:cs typeface="Times New Roman"/>
              </a:rPr>
              <a:t>parts</a:t>
            </a:r>
            <a:r>
              <a:rPr sz="1800" spc="-40" dirty="0">
                <a:latin typeface="Times New Roman"/>
                <a:cs typeface="Times New Roman"/>
              </a:rPr>
              <a:t> </a:t>
            </a:r>
            <a:r>
              <a:rPr sz="1800" dirty="0">
                <a:latin typeface="Times New Roman"/>
                <a:cs typeface="Times New Roman"/>
              </a:rPr>
              <a:t>of</a:t>
            </a:r>
            <a:r>
              <a:rPr sz="1800" spc="-20" dirty="0">
                <a:latin typeface="Times New Roman"/>
                <a:cs typeface="Times New Roman"/>
              </a:rPr>
              <a:t> </a:t>
            </a:r>
            <a:r>
              <a:rPr sz="1800" dirty="0">
                <a:latin typeface="Times New Roman"/>
                <a:cs typeface="Times New Roman"/>
              </a:rPr>
              <a:t>it</a:t>
            </a:r>
            <a:r>
              <a:rPr sz="1800" spc="-35" dirty="0">
                <a:latin typeface="Times New Roman"/>
                <a:cs typeface="Times New Roman"/>
              </a:rPr>
              <a:t> </a:t>
            </a:r>
            <a:r>
              <a:rPr sz="1800" dirty="0">
                <a:latin typeface="Times New Roman"/>
                <a:cs typeface="Times New Roman"/>
              </a:rPr>
              <a:t>which</a:t>
            </a:r>
            <a:r>
              <a:rPr sz="1800" spc="-20" dirty="0">
                <a:latin typeface="Times New Roman"/>
                <a:cs typeface="Times New Roman"/>
              </a:rPr>
              <a:t> </a:t>
            </a:r>
            <a:r>
              <a:rPr sz="1800" spc="-25" dirty="0">
                <a:latin typeface="Times New Roman"/>
                <a:cs typeface="Times New Roman"/>
              </a:rPr>
              <a:t>we </a:t>
            </a:r>
            <a:r>
              <a:rPr sz="1800" dirty="0">
                <a:latin typeface="Times New Roman"/>
                <a:cs typeface="Times New Roman"/>
              </a:rPr>
              <a:t>want</a:t>
            </a:r>
            <a:r>
              <a:rPr sz="1800" spc="-25" dirty="0">
                <a:latin typeface="Times New Roman"/>
                <a:cs typeface="Times New Roman"/>
              </a:rPr>
              <a:t> </a:t>
            </a:r>
            <a:r>
              <a:rPr sz="1800" dirty="0">
                <a:latin typeface="Times New Roman"/>
                <a:cs typeface="Times New Roman"/>
              </a:rPr>
              <a:t>to</a:t>
            </a:r>
            <a:r>
              <a:rPr sz="1800" spc="-25" dirty="0">
                <a:latin typeface="Times New Roman"/>
                <a:cs typeface="Times New Roman"/>
              </a:rPr>
              <a:t> </a:t>
            </a:r>
            <a:r>
              <a:rPr sz="1800" dirty="0">
                <a:latin typeface="Times New Roman"/>
                <a:cs typeface="Times New Roman"/>
              </a:rPr>
              <a:t>make</a:t>
            </a:r>
            <a:r>
              <a:rPr sz="1800" spc="-15" dirty="0">
                <a:latin typeface="Times New Roman"/>
                <a:cs typeface="Times New Roman"/>
              </a:rPr>
              <a:t> </a:t>
            </a:r>
            <a:r>
              <a:rPr sz="1800" spc="-10" dirty="0">
                <a:latin typeface="Times New Roman"/>
                <a:cs typeface="Times New Roman"/>
              </a:rPr>
              <a:t>standalone.</a:t>
            </a:r>
            <a:endParaRPr sz="1800">
              <a:latin typeface="Times New Roman"/>
              <a:cs typeface="Times New Roman"/>
            </a:endParaRPr>
          </a:p>
          <a:p>
            <a:pPr marL="241300" indent="-228600">
              <a:lnSpc>
                <a:spcPct val="100000"/>
              </a:lnSpc>
              <a:buAutoNum type="arabicPeriod" startAt="3"/>
              <a:tabLst>
                <a:tab pos="241300" algn="l"/>
              </a:tabLst>
            </a:pPr>
            <a:r>
              <a:rPr sz="1800" b="1" dirty="0">
                <a:solidFill>
                  <a:srgbClr val="600A4A"/>
                </a:solidFill>
                <a:latin typeface="Times New Roman"/>
                <a:cs typeface="Times New Roman"/>
              </a:rPr>
              <a:t>Easily</a:t>
            </a:r>
            <a:r>
              <a:rPr sz="1800" b="1" spc="-40" dirty="0">
                <a:solidFill>
                  <a:srgbClr val="600A4A"/>
                </a:solidFill>
                <a:latin typeface="Times New Roman"/>
                <a:cs typeface="Times New Roman"/>
              </a:rPr>
              <a:t> </a:t>
            </a:r>
            <a:r>
              <a:rPr sz="1800" b="1" spc="-10" dirty="0">
                <a:solidFill>
                  <a:srgbClr val="600A4A"/>
                </a:solidFill>
                <a:latin typeface="Times New Roman"/>
                <a:cs typeface="Times New Roman"/>
              </a:rPr>
              <a:t>Trainable</a:t>
            </a:r>
            <a:endParaRPr sz="1800">
              <a:latin typeface="Times New Roman"/>
              <a:cs typeface="Times New Roman"/>
            </a:endParaRPr>
          </a:p>
          <a:p>
            <a:pPr marL="12700">
              <a:lnSpc>
                <a:spcPct val="100000"/>
              </a:lnSpc>
            </a:pPr>
            <a:r>
              <a:rPr sz="1800" dirty="0">
                <a:latin typeface="Times New Roman"/>
                <a:cs typeface="Times New Roman"/>
              </a:rPr>
              <a:t>It</a:t>
            </a:r>
            <a:r>
              <a:rPr sz="1800" spc="-15" dirty="0">
                <a:latin typeface="Times New Roman"/>
                <a:cs typeface="Times New Roman"/>
              </a:rPr>
              <a:t> </a:t>
            </a:r>
            <a:r>
              <a:rPr sz="1800" dirty="0">
                <a:latin typeface="Times New Roman"/>
                <a:cs typeface="Times New Roman"/>
              </a:rPr>
              <a:t>is</a:t>
            </a:r>
            <a:r>
              <a:rPr sz="1800" spc="-15" dirty="0">
                <a:latin typeface="Times New Roman"/>
                <a:cs typeface="Times New Roman"/>
              </a:rPr>
              <a:t> </a:t>
            </a:r>
            <a:r>
              <a:rPr sz="1800" dirty="0">
                <a:latin typeface="Times New Roman"/>
                <a:cs typeface="Times New Roman"/>
              </a:rPr>
              <a:t>easily</a:t>
            </a:r>
            <a:r>
              <a:rPr sz="1800" spc="-35" dirty="0">
                <a:latin typeface="Times New Roman"/>
                <a:cs typeface="Times New Roman"/>
              </a:rPr>
              <a:t> </a:t>
            </a:r>
            <a:r>
              <a:rPr sz="1800" dirty="0">
                <a:latin typeface="Times New Roman"/>
                <a:cs typeface="Times New Roman"/>
              </a:rPr>
              <a:t>trainable</a:t>
            </a:r>
            <a:r>
              <a:rPr sz="1800" spc="-30" dirty="0">
                <a:latin typeface="Times New Roman"/>
                <a:cs typeface="Times New Roman"/>
              </a:rPr>
              <a:t> </a:t>
            </a:r>
            <a:r>
              <a:rPr sz="1800" dirty="0">
                <a:latin typeface="Times New Roman"/>
                <a:cs typeface="Times New Roman"/>
              </a:rPr>
              <a:t>on</a:t>
            </a:r>
            <a:r>
              <a:rPr sz="1800" spc="-25" dirty="0">
                <a:latin typeface="Times New Roman"/>
                <a:cs typeface="Times New Roman"/>
              </a:rPr>
              <a:t> </a:t>
            </a:r>
            <a:r>
              <a:rPr sz="1800" dirty="0">
                <a:latin typeface="Times New Roman"/>
                <a:cs typeface="Times New Roman"/>
              </a:rPr>
              <a:t>CPU</a:t>
            </a:r>
            <a:r>
              <a:rPr sz="1800" spc="-15"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dirty="0">
                <a:latin typeface="Times New Roman"/>
                <a:cs typeface="Times New Roman"/>
              </a:rPr>
              <a:t>for</a:t>
            </a:r>
            <a:r>
              <a:rPr sz="1800" spc="-15" dirty="0">
                <a:latin typeface="Times New Roman"/>
                <a:cs typeface="Times New Roman"/>
              </a:rPr>
              <a:t> </a:t>
            </a:r>
            <a:r>
              <a:rPr sz="1800" dirty="0">
                <a:latin typeface="Times New Roman"/>
                <a:cs typeface="Times New Roman"/>
              </a:rPr>
              <a:t>GPU</a:t>
            </a:r>
            <a:r>
              <a:rPr sz="1800" spc="-10" dirty="0">
                <a:latin typeface="Times New Roman"/>
                <a:cs typeface="Times New Roman"/>
              </a:rPr>
              <a:t> </a:t>
            </a:r>
            <a:r>
              <a:rPr sz="1800" dirty="0">
                <a:latin typeface="Times New Roman"/>
                <a:cs typeface="Times New Roman"/>
              </a:rPr>
              <a:t>in</a:t>
            </a:r>
            <a:r>
              <a:rPr sz="1800" spc="-15" dirty="0">
                <a:latin typeface="Times New Roman"/>
                <a:cs typeface="Times New Roman"/>
              </a:rPr>
              <a:t> </a:t>
            </a:r>
            <a:r>
              <a:rPr sz="1800" dirty="0">
                <a:latin typeface="Times New Roman"/>
                <a:cs typeface="Times New Roman"/>
              </a:rPr>
              <a:t>distributed</a:t>
            </a:r>
            <a:r>
              <a:rPr sz="1800" spc="-30" dirty="0">
                <a:latin typeface="Times New Roman"/>
                <a:cs typeface="Times New Roman"/>
              </a:rPr>
              <a:t> </a:t>
            </a:r>
            <a:r>
              <a:rPr sz="1800" spc="-10" dirty="0">
                <a:latin typeface="Times New Roman"/>
                <a:cs typeface="Times New Roman"/>
              </a:rPr>
              <a:t>computing.</a:t>
            </a:r>
            <a:endParaRPr sz="1800">
              <a:latin typeface="Times New Roman"/>
              <a:cs typeface="Times New Roman"/>
            </a:endParaRPr>
          </a:p>
          <a:p>
            <a:pPr marL="240029" indent="-227329">
              <a:lnSpc>
                <a:spcPct val="100000"/>
              </a:lnSpc>
              <a:spcBef>
                <a:spcPts val="5"/>
              </a:spcBef>
              <a:buAutoNum type="arabicPeriod" startAt="4"/>
              <a:tabLst>
                <a:tab pos="240029" algn="l"/>
              </a:tabLst>
            </a:pPr>
            <a:r>
              <a:rPr sz="1800" b="1" dirty="0">
                <a:solidFill>
                  <a:srgbClr val="600A4A"/>
                </a:solidFill>
                <a:latin typeface="Times New Roman"/>
                <a:cs typeface="Times New Roman"/>
              </a:rPr>
              <a:t>Parallel</a:t>
            </a:r>
            <a:r>
              <a:rPr sz="1800" b="1" spc="-25" dirty="0">
                <a:solidFill>
                  <a:srgbClr val="600A4A"/>
                </a:solidFill>
                <a:latin typeface="Times New Roman"/>
                <a:cs typeface="Times New Roman"/>
              </a:rPr>
              <a:t> </a:t>
            </a:r>
            <a:r>
              <a:rPr sz="1800" b="1" dirty="0">
                <a:solidFill>
                  <a:srgbClr val="600A4A"/>
                </a:solidFill>
                <a:latin typeface="Times New Roman"/>
                <a:cs typeface="Times New Roman"/>
              </a:rPr>
              <a:t>Neural</a:t>
            </a:r>
            <a:r>
              <a:rPr sz="1800" b="1" spc="15" dirty="0">
                <a:solidFill>
                  <a:srgbClr val="600A4A"/>
                </a:solidFill>
                <a:latin typeface="Times New Roman"/>
                <a:cs typeface="Times New Roman"/>
              </a:rPr>
              <a:t> </a:t>
            </a:r>
            <a:r>
              <a:rPr sz="1800" b="1" dirty="0">
                <a:solidFill>
                  <a:srgbClr val="600A4A"/>
                </a:solidFill>
                <a:latin typeface="Times New Roman"/>
                <a:cs typeface="Times New Roman"/>
              </a:rPr>
              <a:t>Network</a:t>
            </a:r>
            <a:r>
              <a:rPr sz="1800" b="1" spc="-55" dirty="0">
                <a:solidFill>
                  <a:srgbClr val="600A4A"/>
                </a:solidFill>
                <a:latin typeface="Times New Roman"/>
                <a:cs typeface="Times New Roman"/>
              </a:rPr>
              <a:t> </a:t>
            </a:r>
            <a:r>
              <a:rPr sz="1800" b="1" spc="-10" dirty="0">
                <a:solidFill>
                  <a:srgbClr val="600A4A"/>
                </a:solidFill>
                <a:latin typeface="Times New Roman"/>
                <a:cs typeface="Times New Roman"/>
              </a:rPr>
              <a:t>Training</a:t>
            </a:r>
            <a:endParaRPr sz="1800">
              <a:latin typeface="Times New Roman"/>
              <a:cs typeface="Times New Roman"/>
            </a:endParaRPr>
          </a:p>
          <a:p>
            <a:pPr marL="12700" marR="537210">
              <a:lnSpc>
                <a:spcPct val="100000"/>
              </a:lnSpc>
            </a:pPr>
            <a:r>
              <a:rPr sz="1800" spc="-10" dirty="0">
                <a:latin typeface="Times New Roman"/>
                <a:cs typeface="Times New Roman"/>
              </a:rPr>
              <a:t>TensorFlow</a:t>
            </a:r>
            <a:r>
              <a:rPr sz="1800" spc="-40" dirty="0">
                <a:latin typeface="Times New Roman"/>
                <a:cs typeface="Times New Roman"/>
              </a:rPr>
              <a:t> </a:t>
            </a:r>
            <a:r>
              <a:rPr sz="1800" dirty="0">
                <a:latin typeface="Times New Roman"/>
                <a:cs typeface="Times New Roman"/>
              </a:rPr>
              <a:t>offers</a:t>
            </a:r>
            <a:r>
              <a:rPr sz="1800" spc="-30" dirty="0">
                <a:latin typeface="Times New Roman"/>
                <a:cs typeface="Times New Roman"/>
              </a:rPr>
              <a:t> </a:t>
            </a:r>
            <a:r>
              <a:rPr sz="1800" dirty="0">
                <a:latin typeface="Times New Roman"/>
                <a:cs typeface="Times New Roman"/>
              </a:rPr>
              <a:t>to</a:t>
            </a:r>
            <a:r>
              <a:rPr sz="1800" spc="-30"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pipeline</a:t>
            </a:r>
            <a:r>
              <a:rPr sz="1800" spc="-40" dirty="0">
                <a:latin typeface="Times New Roman"/>
                <a:cs typeface="Times New Roman"/>
              </a:rPr>
              <a:t> </a:t>
            </a:r>
            <a:r>
              <a:rPr sz="1800" dirty="0">
                <a:latin typeface="Times New Roman"/>
                <a:cs typeface="Times New Roman"/>
              </a:rPr>
              <a:t>in</a:t>
            </a:r>
            <a:r>
              <a:rPr sz="1800" spc="-30" dirty="0">
                <a:latin typeface="Times New Roman"/>
                <a:cs typeface="Times New Roman"/>
              </a:rPr>
              <a:t> </a:t>
            </a:r>
            <a:r>
              <a:rPr sz="1800" dirty="0">
                <a:latin typeface="Times New Roman"/>
                <a:cs typeface="Times New Roman"/>
              </a:rPr>
              <a:t>the</a:t>
            </a:r>
            <a:r>
              <a:rPr sz="1800" spc="-35" dirty="0">
                <a:latin typeface="Times New Roman"/>
                <a:cs typeface="Times New Roman"/>
              </a:rPr>
              <a:t> </a:t>
            </a:r>
            <a:r>
              <a:rPr sz="1800" dirty="0">
                <a:latin typeface="Times New Roman"/>
                <a:cs typeface="Times New Roman"/>
              </a:rPr>
              <a:t>sense</a:t>
            </a:r>
            <a:r>
              <a:rPr sz="1800" spc="-30" dirty="0">
                <a:latin typeface="Times New Roman"/>
                <a:cs typeface="Times New Roman"/>
              </a:rPr>
              <a:t> </a:t>
            </a:r>
            <a:r>
              <a:rPr sz="1800" dirty="0">
                <a:latin typeface="Times New Roman"/>
                <a:cs typeface="Times New Roman"/>
              </a:rPr>
              <a:t>that</a:t>
            </a:r>
            <a:r>
              <a:rPr sz="1800" spc="-25" dirty="0">
                <a:latin typeface="Times New Roman"/>
                <a:cs typeface="Times New Roman"/>
              </a:rPr>
              <a:t> </a:t>
            </a:r>
            <a:r>
              <a:rPr sz="1800" dirty="0">
                <a:latin typeface="Times New Roman"/>
                <a:cs typeface="Times New Roman"/>
              </a:rPr>
              <a:t>we</a:t>
            </a:r>
            <a:r>
              <a:rPr sz="1800" spc="-30" dirty="0">
                <a:latin typeface="Times New Roman"/>
                <a:cs typeface="Times New Roman"/>
              </a:rPr>
              <a:t> </a:t>
            </a:r>
            <a:r>
              <a:rPr sz="1800" dirty="0">
                <a:latin typeface="Times New Roman"/>
                <a:cs typeface="Times New Roman"/>
              </a:rPr>
              <a:t>can</a:t>
            </a:r>
            <a:r>
              <a:rPr sz="1800" spc="-30" dirty="0">
                <a:latin typeface="Times New Roman"/>
                <a:cs typeface="Times New Roman"/>
              </a:rPr>
              <a:t> </a:t>
            </a:r>
            <a:r>
              <a:rPr sz="1800" dirty="0">
                <a:latin typeface="Times New Roman"/>
                <a:cs typeface="Times New Roman"/>
              </a:rPr>
              <a:t>train</a:t>
            </a:r>
            <a:r>
              <a:rPr sz="1800" spc="-30" dirty="0">
                <a:latin typeface="Times New Roman"/>
                <a:cs typeface="Times New Roman"/>
              </a:rPr>
              <a:t> </a:t>
            </a:r>
            <a:r>
              <a:rPr sz="1800" dirty="0">
                <a:latin typeface="Times New Roman"/>
                <a:cs typeface="Times New Roman"/>
              </a:rPr>
              <a:t>multiple</a:t>
            </a:r>
            <a:r>
              <a:rPr sz="1800" spc="-40" dirty="0">
                <a:latin typeface="Times New Roman"/>
                <a:cs typeface="Times New Roman"/>
              </a:rPr>
              <a:t> </a:t>
            </a:r>
            <a:r>
              <a:rPr sz="1800" dirty="0">
                <a:latin typeface="Times New Roman"/>
                <a:cs typeface="Times New Roman"/>
              </a:rPr>
              <a:t>neural</a:t>
            </a:r>
            <a:r>
              <a:rPr sz="1800" spc="-30" dirty="0">
                <a:latin typeface="Times New Roman"/>
                <a:cs typeface="Times New Roman"/>
              </a:rPr>
              <a:t> </a:t>
            </a:r>
            <a:r>
              <a:rPr sz="1800" dirty="0">
                <a:latin typeface="Times New Roman"/>
                <a:cs typeface="Times New Roman"/>
              </a:rPr>
              <a:t>networks</a:t>
            </a:r>
            <a:r>
              <a:rPr sz="1800" spc="-50"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latin typeface="Times New Roman"/>
                <a:cs typeface="Times New Roman"/>
              </a:rPr>
              <a:t>various</a:t>
            </a:r>
            <a:r>
              <a:rPr sz="1800" spc="-5" dirty="0">
                <a:latin typeface="Times New Roman"/>
                <a:cs typeface="Times New Roman"/>
              </a:rPr>
              <a:t> </a:t>
            </a:r>
            <a:r>
              <a:rPr sz="1800" b="1" dirty="0">
                <a:latin typeface="Times New Roman"/>
                <a:cs typeface="Times New Roman"/>
              </a:rPr>
              <a:t>GPUs</a:t>
            </a:r>
            <a:r>
              <a:rPr sz="1800" dirty="0">
                <a:latin typeface="Times New Roman"/>
                <a:cs typeface="Times New Roman"/>
              </a:rPr>
              <a:t>,</a:t>
            </a:r>
            <a:r>
              <a:rPr sz="1800" spc="-30" dirty="0">
                <a:latin typeface="Times New Roman"/>
                <a:cs typeface="Times New Roman"/>
              </a:rPr>
              <a:t> </a:t>
            </a:r>
            <a:r>
              <a:rPr sz="1800" spc="-10" dirty="0">
                <a:latin typeface="Times New Roman"/>
                <a:cs typeface="Times New Roman"/>
              </a:rPr>
              <a:t>which </a:t>
            </a:r>
            <a:r>
              <a:rPr sz="1800" dirty="0">
                <a:latin typeface="Times New Roman"/>
                <a:cs typeface="Times New Roman"/>
              </a:rPr>
              <a:t>makes</a:t>
            </a:r>
            <a:r>
              <a:rPr sz="1800" spc="-35"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models</a:t>
            </a:r>
            <a:r>
              <a:rPr sz="1800" spc="-30" dirty="0">
                <a:latin typeface="Times New Roman"/>
                <a:cs typeface="Times New Roman"/>
              </a:rPr>
              <a:t> </a:t>
            </a:r>
            <a:r>
              <a:rPr sz="1800" dirty="0">
                <a:latin typeface="Times New Roman"/>
                <a:cs typeface="Times New Roman"/>
              </a:rPr>
              <a:t>very</a:t>
            </a:r>
            <a:r>
              <a:rPr sz="1800" spc="-40" dirty="0">
                <a:latin typeface="Times New Roman"/>
                <a:cs typeface="Times New Roman"/>
              </a:rPr>
              <a:t> </a:t>
            </a:r>
            <a:r>
              <a:rPr sz="1800" dirty="0">
                <a:latin typeface="Times New Roman"/>
                <a:cs typeface="Times New Roman"/>
              </a:rPr>
              <a:t>efficient</a:t>
            </a:r>
            <a:r>
              <a:rPr sz="1800" spc="-55" dirty="0">
                <a:latin typeface="Times New Roman"/>
                <a:cs typeface="Times New Roman"/>
              </a:rPr>
              <a:t> </a:t>
            </a:r>
            <a:r>
              <a:rPr sz="1800" dirty="0">
                <a:latin typeface="Times New Roman"/>
                <a:cs typeface="Times New Roman"/>
              </a:rPr>
              <a:t>on</a:t>
            </a:r>
            <a:r>
              <a:rPr sz="1800" spc="-30" dirty="0">
                <a:latin typeface="Times New Roman"/>
                <a:cs typeface="Times New Roman"/>
              </a:rPr>
              <a:t> </a:t>
            </a:r>
            <a:r>
              <a:rPr sz="1800" spc="-10" dirty="0">
                <a:latin typeface="Times New Roman"/>
                <a:cs typeface="Times New Roman"/>
              </a:rPr>
              <a:t>large-</a:t>
            </a:r>
            <a:r>
              <a:rPr sz="1800" dirty="0">
                <a:latin typeface="Times New Roman"/>
                <a:cs typeface="Times New Roman"/>
              </a:rPr>
              <a:t>scale</a:t>
            </a:r>
            <a:r>
              <a:rPr sz="1800" spc="-45" dirty="0">
                <a:latin typeface="Times New Roman"/>
                <a:cs typeface="Times New Roman"/>
              </a:rPr>
              <a:t> </a:t>
            </a:r>
            <a:r>
              <a:rPr sz="1800" spc="-10" dirty="0">
                <a:latin typeface="Times New Roman"/>
                <a:cs typeface="Times New Roman"/>
              </a:rPr>
              <a:t>systems.</a:t>
            </a:r>
            <a:endParaRPr sz="1800">
              <a:latin typeface="Times New Roman"/>
              <a:cs typeface="Times New Roman"/>
            </a:endParaRPr>
          </a:p>
        </p:txBody>
      </p:sp>
      <p:pic>
        <p:nvPicPr>
          <p:cNvPr id="3" name="object 3"/>
          <p:cNvPicPr/>
          <p:nvPr/>
        </p:nvPicPr>
        <p:blipFill>
          <a:blip r:embed="rId2" cstate="print"/>
          <a:stretch>
            <a:fillRect/>
          </a:stretch>
        </p:blipFill>
        <p:spPr>
          <a:xfrm>
            <a:off x="6487384" y="3783850"/>
            <a:ext cx="4768879" cy="28715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3306" y="523494"/>
            <a:ext cx="10768965" cy="3317875"/>
          </a:xfrm>
          <a:prstGeom prst="rect">
            <a:avLst/>
          </a:prstGeom>
        </p:spPr>
        <p:txBody>
          <a:bodyPr vert="horz" wrap="square" lIns="0" tIns="12700" rIns="0" bIns="0" rtlCol="0">
            <a:spAutoFit/>
          </a:bodyPr>
          <a:lstStyle/>
          <a:p>
            <a:pPr marL="241300" indent="-228600">
              <a:lnSpc>
                <a:spcPct val="100000"/>
              </a:lnSpc>
              <a:spcBef>
                <a:spcPts val="100"/>
              </a:spcBef>
              <a:buAutoNum type="arabicPeriod" startAt="5"/>
              <a:tabLst>
                <a:tab pos="241300" algn="l"/>
              </a:tabLst>
            </a:pPr>
            <a:r>
              <a:rPr sz="1800" dirty="0">
                <a:solidFill>
                  <a:srgbClr val="600A4A"/>
                </a:solidFill>
                <a:latin typeface="Times New Roman"/>
                <a:cs typeface="Times New Roman"/>
              </a:rPr>
              <a:t>Large</a:t>
            </a:r>
            <a:r>
              <a:rPr sz="1800" spc="-80" dirty="0">
                <a:solidFill>
                  <a:srgbClr val="600A4A"/>
                </a:solidFill>
                <a:latin typeface="Times New Roman"/>
                <a:cs typeface="Times New Roman"/>
              </a:rPr>
              <a:t> </a:t>
            </a:r>
            <a:r>
              <a:rPr sz="1800" spc="-10" dirty="0">
                <a:solidFill>
                  <a:srgbClr val="600A4A"/>
                </a:solidFill>
                <a:latin typeface="Times New Roman"/>
                <a:cs typeface="Times New Roman"/>
              </a:rPr>
              <a:t>Community</a:t>
            </a:r>
            <a:endParaRPr sz="1800">
              <a:latin typeface="Times New Roman"/>
              <a:cs typeface="Times New Roman"/>
            </a:endParaRPr>
          </a:p>
          <a:p>
            <a:pPr marL="12700">
              <a:lnSpc>
                <a:spcPct val="100000"/>
              </a:lnSpc>
            </a:pPr>
            <a:r>
              <a:rPr sz="1800" dirty="0">
                <a:latin typeface="Times New Roman"/>
                <a:cs typeface="Times New Roman"/>
              </a:rPr>
              <a:t>Google</a:t>
            </a:r>
            <a:r>
              <a:rPr sz="1800" spc="-30" dirty="0">
                <a:latin typeface="Times New Roman"/>
                <a:cs typeface="Times New Roman"/>
              </a:rPr>
              <a:t> </a:t>
            </a:r>
            <a:r>
              <a:rPr sz="1800" dirty="0">
                <a:latin typeface="Times New Roman"/>
                <a:cs typeface="Times New Roman"/>
              </a:rPr>
              <a:t>has</a:t>
            </a:r>
            <a:r>
              <a:rPr sz="1800" spc="-35" dirty="0">
                <a:latin typeface="Times New Roman"/>
                <a:cs typeface="Times New Roman"/>
              </a:rPr>
              <a:t> </a:t>
            </a:r>
            <a:r>
              <a:rPr sz="1800" dirty="0">
                <a:latin typeface="Times New Roman"/>
                <a:cs typeface="Times New Roman"/>
              </a:rPr>
              <a:t>developed</a:t>
            </a:r>
            <a:r>
              <a:rPr sz="1800" spc="-25" dirty="0">
                <a:latin typeface="Times New Roman"/>
                <a:cs typeface="Times New Roman"/>
              </a:rPr>
              <a:t> </a:t>
            </a:r>
            <a:r>
              <a:rPr sz="1800" dirty="0">
                <a:latin typeface="Times New Roman"/>
                <a:cs typeface="Times New Roman"/>
              </a:rPr>
              <a:t>it,</a:t>
            </a:r>
            <a:r>
              <a:rPr sz="1800" spc="-35"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latin typeface="Times New Roman"/>
                <a:cs typeface="Times New Roman"/>
              </a:rPr>
              <a:t>there</a:t>
            </a:r>
            <a:r>
              <a:rPr sz="1800" spc="-30" dirty="0">
                <a:latin typeface="Times New Roman"/>
                <a:cs typeface="Times New Roman"/>
              </a:rPr>
              <a:t> </a:t>
            </a:r>
            <a:r>
              <a:rPr sz="1800" dirty="0">
                <a:latin typeface="Times New Roman"/>
                <a:cs typeface="Times New Roman"/>
              </a:rPr>
              <a:t>already</a:t>
            </a:r>
            <a:r>
              <a:rPr sz="1800" spc="-25" dirty="0">
                <a:latin typeface="Times New Roman"/>
                <a:cs typeface="Times New Roman"/>
              </a:rPr>
              <a:t> </a:t>
            </a:r>
            <a:r>
              <a:rPr sz="1800" dirty="0">
                <a:latin typeface="Times New Roman"/>
                <a:cs typeface="Times New Roman"/>
              </a:rPr>
              <a:t>is</a:t>
            </a:r>
            <a:r>
              <a:rPr sz="1800" spc="-35" dirty="0">
                <a:latin typeface="Times New Roman"/>
                <a:cs typeface="Times New Roman"/>
              </a:rPr>
              <a:t> </a:t>
            </a:r>
            <a:r>
              <a:rPr sz="1800" dirty="0">
                <a:latin typeface="Times New Roman"/>
                <a:cs typeface="Times New Roman"/>
              </a:rPr>
              <a:t>a</a:t>
            </a:r>
            <a:r>
              <a:rPr sz="1800" spc="-30" dirty="0">
                <a:latin typeface="Times New Roman"/>
                <a:cs typeface="Times New Roman"/>
              </a:rPr>
              <a:t> </a:t>
            </a:r>
            <a:r>
              <a:rPr sz="1800" dirty="0">
                <a:latin typeface="Times New Roman"/>
                <a:cs typeface="Times New Roman"/>
              </a:rPr>
              <a:t>large</a:t>
            </a:r>
            <a:r>
              <a:rPr sz="1800" spc="-30" dirty="0">
                <a:latin typeface="Times New Roman"/>
                <a:cs typeface="Times New Roman"/>
              </a:rPr>
              <a:t> </a:t>
            </a:r>
            <a:r>
              <a:rPr sz="1800" dirty="0">
                <a:latin typeface="Times New Roman"/>
                <a:cs typeface="Times New Roman"/>
              </a:rPr>
              <a:t>team</a:t>
            </a:r>
            <a:r>
              <a:rPr sz="1800" spc="-35"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dirty="0">
                <a:latin typeface="Times New Roman"/>
                <a:cs typeface="Times New Roman"/>
              </a:rPr>
              <a:t>software</a:t>
            </a:r>
            <a:r>
              <a:rPr sz="1800" spc="-30" dirty="0">
                <a:latin typeface="Times New Roman"/>
                <a:cs typeface="Times New Roman"/>
              </a:rPr>
              <a:t> </a:t>
            </a:r>
            <a:r>
              <a:rPr sz="1800" dirty="0">
                <a:latin typeface="Times New Roman"/>
                <a:cs typeface="Times New Roman"/>
              </a:rPr>
              <a:t>engineers</a:t>
            </a:r>
            <a:r>
              <a:rPr sz="1800" spc="-30" dirty="0">
                <a:latin typeface="Times New Roman"/>
                <a:cs typeface="Times New Roman"/>
              </a:rPr>
              <a:t> </a:t>
            </a:r>
            <a:r>
              <a:rPr sz="1800" dirty="0">
                <a:latin typeface="Times New Roman"/>
                <a:cs typeface="Times New Roman"/>
              </a:rPr>
              <a:t>who</a:t>
            </a:r>
            <a:r>
              <a:rPr sz="1800" spc="-30" dirty="0">
                <a:latin typeface="Times New Roman"/>
                <a:cs typeface="Times New Roman"/>
              </a:rPr>
              <a:t> </a:t>
            </a:r>
            <a:r>
              <a:rPr sz="1800" dirty="0">
                <a:latin typeface="Times New Roman"/>
                <a:cs typeface="Times New Roman"/>
              </a:rPr>
              <a:t>work</a:t>
            </a:r>
            <a:r>
              <a:rPr sz="1800" spc="-35" dirty="0">
                <a:latin typeface="Times New Roman"/>
                <a:cs typeface="Times New Roman"/>
              </a:rPr>
              <a:t> </a:t>
            </a:r>
            <a:r>
              <a:rPr sz="1800" dirty="0">
                <a:latin typeface="Times New Roman"/>
                <a:cs typeface="Times New Roman"/>
              </a:rPr>
              <a:t>on</a:t>
            </a:r>
            <a:r>
              <a:rPr sz="1800" spc="-35" dirty="0">
                <a:latin typeface="Times New Roman"/>
                <a:cs typeface="Times New Roman"/>
              </a:rPr>
              <a:t> </a:t>
            </a:r>
            <a:r>
              <a:rPr sz="1800" dirty="0">
                <a:latin typeface="Times New Roman"/>
                <a:cs typeface="Times New Roman"/>
              </a:rPr>
              <a:t>stability</a:t>
            </a:r>
            <a:r>
              <a:rPr sz="1800" spc="-15" dirty="0">
                <a:latin typeface="Times New Roman"/>
                <a:cs typeface="Times New Roman"/>
              </a:rPr>
              <a:t> </a:t>
            </a:r>
            <a:r>
              <a:rPr sz="1800" spc="-10" dirty="0">
                <a:latin typeface="Times New Roman"/>
                <a:cs typeface="Times New Roman"/>
              </a:rPr>
              <a:t>improvements</a:t>
            </a:r>
            <a:endParaRPr sz="1800">
              <a:latin typeface="Times New Roman"/>
              <a:cs typeface="Times New Roman"/>
            </a:endParaRPr>
          </a:p>
          <a:p>
            <a:pPr marL="12700">
              <a:lnSpc>
                <a:spcPct val="100000"/>
              </a:lnSpc>
            </a:pPr>
            <a:r>
              <a:rPr sz="1800" spc="-10" dirty="0">
                <a:latin typeface="Times New Roman"/>
                <a:cs typeface="Times New Roman"/>
              </a:rPr>
              <a:t>continuously.</a:t>
            </a:r>
            <a:endParaRPr sz="1800">
              <a:latin typeface="Times New Roman"/>
              <a:cs typeface="Times New Roman"/>
            </a:endParaRPr>
          </a:p>
          <a:p>
            <a:pPr marL="241300" indent="-228600">
              <a:lnSpc>
                <a:spcPct val="100000"/>
              </a:lnSpc>
              <a:buAutoNum type="arabicPeriod" startAt="6"/>
              <a:tabLst>
                <a:tab pos="241300" algn="l"/>
              </a:tabLst>
            </a:pPr>
            <a:r>
              <a:rPr sz="1800" dirty="0">
                <a:solidFill>
                  <a:srgbClr val="600A4A"/>
                </a:solidFill>
                <a:latin typeface="Times New Roman"/>
                <a:cs typeface="Times New Roman"/>
              </a:rPr>
              <a:t>Open</a:t>
            </a:r>
            <a:r>
              <a:rPr sz="1800" spc="-45" dirty="0">
                <a:solidFill>
                  <a:srgbClr val="600A4A"/>
                </a:solidFill>
                <a:latin typeface="Times New Roman"/>
                <a:cs typeface="Times New Roman"/>
              </a:rPr>
              <a:t> </a:t>
            </a:r>
            <a:r>
              <a:rPr sz="1800" spc="-10" dirty="0">
                <a:solidFill>
                  <a:srgbClr val="600A4A"/>
                </a:solidFill>
                <a:latin typeface="Times New Roman"/>
                <a:cs typeface="Times New Roman"/>
              </a:rPr>
              <a:t>Source</a:t>
            </a:r>
            <a:endParaRPr sz="1800">
              <a:latin typeface="Times New Roman"/>
              <a:cs typeface="Times New Roman"/>
            </a:endParaRPr>
          </a:p>
          <a:p>
            <a:pPr marL="12700" marR="5080" algn="just">
              <a:lnSpc>
                <a:spcPct val="100000"/>
              </a:lnSpc>
            </a:pPr>
            <a:r>
              <a:rPr sz="1800" dirty="0">
                <a:solidFill>
                  <a:srgbClr val="333333"/>
                </a:solidFill>
                <a:latin typeface="Times New Roman"/>
                <a:cs typeface="Times New Roman"/>
              </a:rPr>
              <a:t>The</a:t>
            </a:r>
            <a:r>
              <a:rPr sz="1800" spc="45" dirty="0">
                <a:solidFill>
                  <a:srgbClr val="333333"/>
                </a:solidFill>
                <a:latin typeface="Times New Roman"/>
                <a:cs typeface="Times New Roman"/>
              </a:rPr>
              <a:t> </a:t>
            </a:r>
            <a:r>
              <a:rPr sz="1800" dirty="0">
                <a:solidFill>
                  <a:srgbClr val="333333"/>
                </a:solidFill>
                <a:latin typeface="Times New Roman"/>
                <a:cs typeface="Times New Roman"/>
              </a:rPr>
              <a:t>best</a:t>
            </a:r>
            <a:r>
              <a:rPr sz="1800" spc="30" dirty="0">
                <a:solidFill>
                  <a:srgbClr val="333333"/>
                </a:solidFill>
                <a:latin typeface="Times New Roman"/>
                <a:cs typeface="Times New Roman"/>
              </a:rPr>
              <a:t> </a:t>
            </a:r>
            <a:r>
              <a:rPr sz="1800" dirty="0">
                <a:solidFill>
                  <a:srgbClr val="333333"/>
                </a:solidFill>
                <a:latin typeface="Times New Roman"/>
                <a:cs typeface="Times New Roman"/>
              </a:rPr>
              <a:t>thing</a:t>
            </a:r>
            <a:r>
              <a:rPr sz="1800" spc="30" dirty="0">
                <a:solidFill>
                  <a:srgbClr val="333333"/>
                </a:solidFill>
                <a:latin typeface="Times New Roman"/>
                <a:cs typeface="Times New Roman"/>
              </a:rPr>
              <a:t> </a:t>
            </a:r>
            <a:r>
              <a:rPr sz="1800" dirty="0">
                <a:solidFill>
                  <a:srgbClr val="333333"/>
                </a:solidFill>
                <a:latin typeface="Times New Roman"/>
                <a:cs typeface="Times New Roman"/>
              </a:rPr>
              <a:t>about</a:t>
            </a:r>
            <a:r>
              <a:rPr sz="1800" spc="45" dirty="0">
                <a:solidFill>
                  <a:srgbClr val="333333"/>
                </a:solidFill>
                <a:latin typeface="Times New Roman"/>
                <a:cs typeface="Times New Roman"/>
              </a:rPr>
              <a:t> </a:t>
            </a:r>
            <a:r>
              <a:rPr sz="1800" dirty="0">
                <a:solidFill>
                  <a:srgbClr val="333333"/>
                </a:solidFill>
                <a:latin typeface="Times New Roman"/>
                <a:cs typeface="Times New Roman"/>
              </a:rPr>
              <a:t>the</a:t>
            </a:r>
            <a:r>
              <a:rPr sz="1800" spc="50" dirty="0">
                <a:solidFill>
                  <a:srgbClr val="333333"/>
                </a:solidFill>
                <a:latin typeface="Times New Roman"/>
                <a:cs typeface="Times New Roman"/>
              </a:rPr>
              <a:t> </a:t>
            </a:r>
            <a:r>
              <a:rPr sz="1800" dirty="0">
                <a:solidFill>
                  <a:srgbClr val="333333"/>
                </a:solidFill>
                <a:latin typeface="Times New Roman"/>
                <a:cs typeface="Times New Roman"/>
              </a:rPr>
              <a:t>machine</a:t>
            </a:r>
            <a:r>
              <a:rPr sz="1800" spc="50" dirty="0">
                <a:solidFill>
                  <a:srgbClr val="333333"/>
                </a:solidFill>
                <a:latin typeface="Times New Roman"/>
                <a:cs typeface="Times New Roman"/>
              </a:rPr>
              <a:t> </a:t>
            </a:r>
            <a:r>
              <a:rPr sz="1800" dirty="0">
                <a:solidFill>
                  <a:srgbClr val="333333"/>
                </a:solidFill>
                <a:latin typeface="Times New Roman"/>
                <a:cs typeface="Times New Roman"/>
              </a:rPr>
              <a:t>learning</a:t>
            </a:r>
            <a:r>
              <a:rPr sz="1800" spc="35" dirty="0">
                <a:solidFill>
                  <a:srgbClr val="333333"/>
                </a:solidFill>
                <a:latin typeface="Times New Roman"/>
                <a:cs typeface="Times New Roman"/>
              </a:rPr>
              <a:t> </a:t>
            </a:r>
            <a:r>
              <a:rPr sz="1800" dirty="0">
                <a:solidFill>
                  <a:srgbClr val="333333"/>
                </a:solidFill>
                <a:latin typeface="Times New Roman"/>
                <a:cs typeface="Times New Roman"/>
              </a:rPr>
              <a:t>library</a:t>
            </a:r>
            <a:r>
              <a:rPr sz="1800" spc="40" dirty="0">
                <a:solidFill>
                  <a:srgbClr val="333333"/>
                </a:solidFill>
                <a:latin typeface="Times New Roman"/>
                <a:cs typeface="Times New Roman"/>
              </a:rPr>
              <a:t> </a:t>
            </a:r>
            <a:r>
              <a:rPr sz="1800" dirty="0">
                <a:solidFill>
                  <a:srgbClr val="333333"/>
                </a:solidFill>
                <a:latin typeface="Times New Roman"/>
                <a:cs typeface="Times New Roman"/>
              </a:rPr>
              <a:t>is</a:t>
            </a:r>
            <a:r>
              <a:rPr sz="1800" spc="25" dirty="0">
                <a:solidFill>
                  <a:srgbClr val="333333"/>
                </a:solidFill>
                <a:latin typeface="Times New Roman"/>
                <a:cs typeface="Times New Roman"/>
              </a:rPr>
              <a:t> </a:t>
            </a:r>
            <a:r>
              <a:rPr sz="1800" dirty="0">
                <a:solidFill>
                  <a:srgbClr val="333333"/>
                </a:solidFill>
                <a:latin typeface="Times New Roman"/>
                <a:cs typeface="Times New Roman"/>
              </a:rPr>
              <a:t>that</a:t>
            </a:r>
            <a:r>
              <a:rPr sz="1800" spc="30" dirty="0">
                <a:solidFill>
                  <a:srgbClr val="333333"/>
                </a:solidFill>
                <a:latin typeface="Times New Roman"/>
                <a:cs typeface="Times New Roman"/>
              </a:rPr>
              <a:t> </a:t>
            </a:r>
            <a:r>
              <a:rPr sz="1800" dirty="0">
                <a:solidFill>
                  <a:srgbClr val="333333"/>
                </a:solidFill>
                <a:latin typeface="Times New Roman"/>
                <a:cs typeface="Times New Roman"/>
              </a:rPr>
              <a:t>it</a:t>
            </a:r>
            <a:r>
              <a:rPr sz="1800" spc="30" dirty="0">
                <a:solidFill>
                  <a:srgbClr val="333333"/>
                </a:solidFill>
                <a:latin typeface="Times New Roman"/>
                <a:cs typeface="Times New Roman"/>
              </a:rPr>
              <a:t> </a:t>
            </a:r>
            <a:r>
              <a:rPr sz="1800" dirty="0">
                <a:solidFill>
                  <a:srgbClr val="333333"/>
                </a:solidFill>
                <a:latin typeface="Times New Roman"/>
                <a:cs typeface="Times New Roman"/>
              </a:rPr>
              <a:t>is</a:t>
            </a:r>
            <a:r>
              <a:rPr sz="1800" spc="30" dirty="0">
                <a:solidFill>
                  <a:srgbClr val="333333"/>
                </a:solidFill>
                <a:latin typeface="Times New Roman"/>
                <a:cs typeface="Times New Roman"/>
              </a:rPr>
              <a:t> </a:t>
            </a:r>
            <a:r>
              <a:rPr sz="1800" dirty="0">
                <a:solidFill>
                  <a:srgbClr val="333333"/>
                </a:solidFill>
                <a:latin typeface="Times New Roman"/>
                <a:cs typeface="Times New Roman"/>
              </a:rPr>
              <a:t>open</a:t>
            </a:r>
            <a:r>
              <a:rPr sz="1800" spc="40" dirty="0">
                <a:solidFill>
                  <a:srgbClr val="333333"/>
                </a:solidFill>
                <a:latin typeface="Times New Roman"/>
                <a:cs typeface="Times New Roman"/>
              </a:rPr>
              <a:t> </a:t>
            </a:r>
            <a:r>
              <a:rPr sz="1800" dirty="0">
                <a:solidFill>
                  <a:srgbClr val="333333"/>
                </a:solidFill>
                <a:latin typeface="Times New Roman"/>
                <a:cs typeface="Times New Roman"/>
              </a:rPr>
              <a:t>source</a:t>
            </a:r>
            <a:r>
              <a:rPr sz="1800" spc="35" dirty="0">
                <a:solidFill>
                  <a:srgbClr val="333333"/>
                </a:solidFill>
                <a:latin typeface="Times New Roman"/>
                <a:cs typeface="Times New Roman"/>
              </a:rPr>
              <a:t> </a:t>
            </a:r>
            <a:r>
              <a:rPr sz="1800" dirty="0">
                <a:solidFill>
                  <a:srgbClr val="333333"/>
                </a:solidFill>
                <a:latin typeface="Times New Roman"/>
                <a:cs typeface="Times New Roman"/>
              </a:rPr>
              <a:t>so</a:t>
            </a:r>
            <a:r>
              <a:rPr sz="1800" spc="40" dirty="0">
                <a:solidFill>
                  <a:srgbClr val="333333"/>
                </a:solidFill>
                <a:latin typeface="Times New Roman"/>
                <a:cs typeface="Times New Roman"/>
              </a:rPr>
              <a:t> </a:t>
            </a:r>
            <a:r>
              <a:rPr sz="1800" dirty="0">
                <a:solidFill>
                  <a:srgbClr val="333333"/>
                </a:solidFill>
                <a:latin typeface="Times New Roman"/>
                <a:cs typeface="Times New Roman"/>
              </a:rPr>
              <a:t>anyone</a:t>
            </a:r>
            <a:r>
              <a:rPr sz="1800" spc="45" dirty="0">
                <a:solidFill>
                  <a:srgbClr val="333333"/>
                </a:solidFill>
                <a:latin typeface="Times New Roman"/>
                <a:cs typeface="Times New Roman"/>
              </a:rPr>
              <a:t> </a:t>
            </a:r>
            <a:r>
              <a:rPr sz="1800" dirty="0">
                <a:solidFill>
                  <a:srgbClr val="333333"/>
                </a:solidFill>
                <a:latin typeface="Times New Roman"/>
                <a:cs typeface="Times New Roman"/>
              </a:rPr>
              <a:t>can</a:t>
            </a:r>
            <a:r>
              <a:rPr sz="1800" spc="45" dirty="0">
                <a:solidFill>
                  <a:srgbClr val="333333"/>
                </a:solidFill>
                <a:latin typeface="Times New Roman"/>
                <a:cs typeface="Times New Roman"/>
              </a:rPr>
              <a:t> </a:t>
            </a:r>
            <a:r>
              <a:rPr sz="1800" dirty="0">
                <a:solidFill>
                  <a:srgbClr val="333333"/>
                </a:solidFill>
                <a:latin typeface="Times New Roman"/>
                <a:cs typeface="Times New Roman"/>
              </a:rPr>
              <a:t>use</a:t>
            </a:r>
            <a:r>
              <a:rPr sz="1800" spc="25" dirty="0">
                <a:solidFill>
                  <a:srgbClr val="333333"/>
                </a:solidFill>
                <a:latin typeface="Times New Roman"/>
                <a:cs typeface="Times New Roman"/>
              </a:rPr>
              <a:t> </a:t>
            </a:r>
            <a:r>
              <a:rPr sz="1800" dirty="0">
                <a:solidFill>
                  <a:srgbClr val="333333"/>
                </a:solidFill>
                <a:latin typeface="Times New Roman"/>
                <a:cs typeface="Times New Roman"/>
              </a:rPr>
              <a:t>it</a:t>
            </a:r>
            <a:r>
              <a:rPr sz="1800" spc="30" dirty="0">
                <a:solidFill>
                  <a:srgbClr val="333333"/>
                </a:solidFill>
                <a:latin typeface="Times New Roman"/>
                <a:cs typeface="Times New Roman"/>
              </a:rPr>
              <a:t> </a:t>
            </a:r>
            <a:r>
              <a:rPr sz="1800" dirty="0">
                <a:solidFill>
                  <a:srgbClr val="333333"/>
                </a:solidFill>
                <a:latin typeface="Times New Roman"/>
                <a:cs typeface="Times New Roman"/>
              </a:rPr>
              <a:t>as</a:t>
            </a:r>
            <a:r>
              <a:rPr sz="1800" spc="20" dirty="0">
                <a:solidFill>
                  <a:srgbClr val="333333"/>
                </a:solidFill>
                <a:latin typeface="Times New Roman"/>
                <a:cs typeface="Times New Roman"/>
              </a:rPr>
              <a:t> </a:t>
            </a:r>
            <a:r>
              <a:rPr sz="1800" dirty="0">
                <a:solidFill>
                  <a:srgbClr val="333333"/>
                </a:solidFill>
                <a:latin typeface="Times New Roman"/>
                <a:cs typeface="Times New Roman"/>
              </a:rPr>
              <a:t>much</a:t>
            </a:r>
            <a:r>
              <a:rPr sz="1800" spc="50" dirty="0">
                <a:solidFill>
                  <a:srgbClr val="333333"/>
                </a:solidFill>
                <a:latin typeface="Times New Roman"/>
                <a:cs typeface="Times New Roman"/>
              </a:rPr>
              <a:t> </a:t>
            </a:r>
            <a:r>
              <a:rPr sz="1800" dirty="0">
                <a:solidFill>
                  <a:srgbClr val="333333"/>
                </a:solidFill>
                <a:latin typeface="Times New Roman"/>
                <a:cs typeface="Times New Roman"/>
              </a:rPr>
              <a:t>as</a:t>
            </a:r>
            <a:r>
              <a:rPr sz="1800" spc="35" dirty="0">
                <a:solidFill>
                  <a:srgbClr val="333333"/>
                </a:solidFill>
                <a:latin typeface="Times New Roman"/>
                <a:cs typeface="Times New Roman"/>
              </a:rPr>
              <a:t> </a:t>
            </a:r>
            <a:r>
              <a:rPr sz="1800" dirty="0">
                <a:solidFill>
                  <a:srgbClr val="333333"/>
                </a:solidFill>
                <a:latin typeface="Times New Roman"/>
                <a:cs typeface="Times New Roman"/>
              </a:rPr>
              <a:t>they</a:t>
            </a:r>
            <a:r>
              <a:rPr sz="1800" spc="50" dirty="0">
                <a:solidFill>
                  <a:srgbClr val="333333"/>
                </a:solidFill>
                <a:latin typeface="Times New Roman"/>
                <a:cs typeface="Times New Roman"/>
              </a:rPr>
              <a:t> </a:t>
            </a:r>
            <a:r>
              <a:rPr sz="1800" spc="-20" dirty="0">
                <a:solidFill>
                  <a:srgbClr val="333333"/>
                </a:solidFill>
                <a:latin typeface="Times New Roman"/>
                <a:cs typeface="Times New Roman"/>
              </a:rPr>
              <a:t>have </a:t>
            </a:r>
            <a:r>
              <a:rPr sz="1800" dirty="0">
                <a:solidFill>
                  <a:srgbClr val="333333"/>
                </a:solidFill>
                <a:latin typeface="Times New Roman"/>
                <a:cs typeface="Times New Roman"/>
              </a:rPr>
              <a:t>internet</a:t>
            </a:r>
            <a:r>
              <a:rPr sz="1800" spc="50" dirty="0">
                <a:solidFill>
                  <a:srgbClr val="333333"/>
                </a:solidFill>
                <a:latin typeface="Times New Roman"/>
                <a:cs typeface="Times New Roman"/>
              </a:rPr>
              <a:t> </a:t>
            </a:r>
            <a:r>
              <a:rPr sz="1800" dirty="0">
                <a:solidFill>
                  <a:srgbClr val="333333"/>
                </a:solidFill>
                <a:latin typeface="Times New Roman"/>
                <a:cs typeface="Times New Roman"/>
              </a:rPr>
              <a:t>connectivity.</a:t>
            </a:r>
            <a:r>
              <a:rPr sz="1800" spc="55" dirty="0">
                <a:solidFill>
                  <a:srgbClr val="333333"/>
                </a:solidFill>
                <a:latin typeface="Times New Roman"/>
                <a:cs typeface="Times New Roman"/>
              </a:rPr>
              <a:t> </a:t>
            </a:r>
            <a:r>
              <a:rPr sz="1800" dirty="0">
                <a:solidFill>
                  <a:srgbClr val="333333"/>
                </a:solidFill>
                <a:latin typeface="Times New Roman"/>
                <a:cs typeface="Times New Roman"/>
              </a:rPr>
              <a:t>So,</a:t>
            </a:r>
            <a:r>
              <a:rPr sz="1800" spc="55" dirty="0">
                <a:solidFill>
                  <a:srgbClr val="333333"/>
                </a:solidFill>
                <a:latin typeface="Times New Roman"/>
                <a:cs typeface="Times New Roman"/>
              </a:rPr>
              <a:t> </a:t>
            </a:r>
            <a:r>
              <a:rPr sz="1800" dirty="0">
                <a:solidFill>
                  <a:srgbClr val="333333"/>
                </a:solidFill>
                <a:latin typeface="Times New Roman"/>
                <a:cs typeface="Times New Roman"/>
              </a:rPr>
              <a:t>people</a:t>
            </a:r>
            <a:r>
              <a:rPr sz="1800" spc="50" dirty="0">
                <a:solidFill>
                  <a:srgbClr val="333333"/>
                </a:solidFill>
                <a:latin typeface="Times New Roman"/>
                <a:cs typeface="Times New Roman"/>
              </a:rPr>
              <a:t> </a:t>
            </a:r>
            <a:r>
              <a:rPr sz="1800" dirty="0">
                <a:solidFill>
                  <a:srgbClr val="333333"/>
                </a:solidFill>
                <a:latin typeface="Times New Roman"/>
                <a:cs typeface="Times New Roman"/>
              </a:rPr>
              <a:t>can</a:t>
            </a:r>
            <a:r>
              <a:rPr sz="1800" spc="55" dirty="0">
                <a:solidFill>
                  <a:srgbClr val="333333"/>
                </a:solidFill>
                <a:latin typeface="Times New Roman"/>
                <a:cs typeface="Times New Roman"/>
              </a:rPr>
              <a:t> </a:t>
            </a:r>
            <a:r>
              <a:rPr sz="1800" dirty="0">
                <a:solidFill>
                  <a:srgbClr val="333333"/>
                </a:solidFill>
                <a:latin typeface="Times New Roman"/>
                <a:cs typeface="Times New Roman"/>
              </a:rPr>
              <a:t>manipulate</a:t>
            </a:r>
            <a:r>
              <a:rPr sz="1800" spc="60" dirty="0">
                <a:solidFill>
                  <a:srgbClr val="333333"/>
                </a:solidFill>
                <a:latin typeface="Times New Roman"/>
                <a:cs typeface="Times New Roman"/>
              </a:rPr>
              <a:t> </a:t>
            </a:r>
            <a:r>
              <a:rPr sz="1800" dirty="0">
                <a:solidFill>
                  <a:srgbClr val="333333"/>
                </a:solidFill>
                <a:latin typeface="Times New Roman"/>
                <a:cs typeface="Times New Roman"/>
              </a:rPr>
              <a:t>the</a:t>
            </a:r>
            <a:r>
              <a:rPr sz="1800" spc="65" dirty="0">
                <a:solidFill>
                  <a:srgbClr val="333333"/>
                </a:solidFill>
                <a:latin typeface="Times New Roman"/>
                <a:cs typeface="Times New Roman"/>
              </a:rPr>
              <a:t> </a:t>
            </a:r>
            <a:r>
              <a:rPr sz="1800" dirty="0">
                <a:solidFill>
                  <a:srgbClr val="333333"/>
                </a:solidFill>
                <a:latin typeface="Times New Roman"/>
                <a:cs typeface="Times New Roman"/>
              </a:rPr>
              <a:t>library</a:t>
            </a:r>
            <a:r>
              <a:rPr sz="1800" spc="60" dirty="0">
                <a:solidFill>
                  <a:srgbClr val="333333"/>
                </a:solidFill>
                <a:latin typeface="Times New Roman"/>
                <a:cs typeface="Times New Roman"/>
              </a:rPr>
              <a:t> </a:t>
            </a:r>
            <a:r>
              <a:rPr sz="1800" dirty="0">
                <a:solidFill>
                  <a:srgbClr val="333333"/>
                </a:solidFill>
                <a:latin typeface="Times New Roman"/>
                <a:cs typeface="Times New Roman"/>
              </a:rPr>
              <a:t>and</a:t>
            </a:r>
            <a:r>
              <a:rPr sz="1800" spc="55" dirty="0">
                <a:solidFill>
                  <a:srgbClr val="333333"/>
                </a:solidFill>
                <a:latin typeface="Times New Roman"/>
                <a:cs typeface="Times New Roman"/>
              </a:rPr>
              <a:t> </a:t>
            </a:r>
            <a:r>
              <a:rPr sz="1800" dirty="0">
                <a:solidFill>
                  <a:srgbClr val="333333"/>
                </a:solidFill>
                <a:latin typeface="Times New Roman"/>
                <a:cs typeface="Times New Roman"/>
              </a:rPr>
              <a:t>come</a:t>
            </a:r>
            <a:r>
              <a:rPr sz="1800" spc="65" dirty="0">
                <a:solidFill>
                  <a:srgbClr val="333333"/>
                </a:solidFill>
                <a:latin typeface="Times New Roman"/>
                <a:cs typeface="Times New Roman"/>
              </a:rPr>
              <a:t> </a:t>
            </a:r>
            <a:r>
              <a:rPr sz="1800" dirty="0">
                <a:solidFill>
                  <a:srgbClr val="333333"/>
                </a:solidFill>
                <a:latin typeface="Times New Roman"/>
                <a:cs typeface="Times New Roman"/>
              </a:rPr>
              <a:t>up</a:t>
            </a:r>
            <a:r>
              <a:rPr sz="1800" spc="60" dirty="0">
                <a:solidFill>
                  <a:srgbClr val="333333"/>
                </a:solidFill>
                <a:latin typeface="Times New Roman"/>
                <a:cs typeface="Times New Roman"/>
              </a:rPr>
              <a:t> </a:t>
            </a:r>
            <a:r>
              <a:rPr sz="1800" dirty="0">
                <a:solidFill>
                  <a:srgbClr val="333333"/>
                </a:solidFill>
                <a:latin typeface="Times New Roman"/>
                <a:cs typeface="Times New Roman"/>
              </a:rPr>
              <a:t>with</a:t>
            </a:r>
            <a:r>
              <a:rPr sz="1800" spc="50" dirty="0">
                <a:solidFill>
                  <a:srgbClr val="333333"/>
                </a:solidFill>
                <a:latin typeface="Times New Roman"/>
                <a:cs typeface="Times New Roman"/>
              </a:rPr>
              <a:t> </a:t>
            </a:r>
            <a:r>
              <a:rPr sz="1800" dirty="0">
                <a:solidFill>
                  <a:srgbClr val="333333"/>
                </a:solidFill>
                <a:latin typeface="Times New Roman"/>
                <a:cs typeface="Times New Roman"/>
              </a:rPr>
              <a:t>a</a:t>
            </a:r>
            <a:r>
              <a:rPr sz="1800" spc="55" dirty="0">
                <a:solidFill>
                  <a:srgbClr val="333333"/>
                </a:solidFill>
                <a:latin typeface="Times New Roman"/>
                <a:cs typeface="Times New Roman"/>
              </a:rPr>
              <a:t> </a:t>
            </a:r>
            <a:r>
              <a:rPr sz="1800" dirty="0">
                <a:solidFill>
                  <a:srgbClr val="333333"/>
                </a:solidFill>
                <a:latin typeface="Times New Roman"/>
                <a:cs typeface="Times New Roman"/>
              </a:rPr>
              <a:t>fantastic</a:t>
            </a:r>
            <a:r>
              <a:rPr sz="1800" spc="60" dirty="0">
                <a:solidFill>
                  <a:srgbClr val="333333"/>
                </a:solidFill>
                <a:latin typeface="Times New Roman"/>
                <a:cs typeface="Times New Roman"/>
              </a:rPr>
              <a:t> </a:t>
            </a:r>
            <a:r>
              <a:rPr sz="1800" dirty="0">
                <a:solidFill>
                  <a:srgbClr val="333333"/>
                </a:solidFill>
                <a:latin typeface="Times New Roman"/>
                <a:cs typeface="Times New Roman"/>
              </a:rPr>
              <a:t>variety</a:t>
            </a:r>
            <a:r>
              <a:rPr sz="1800" spc="65" dirty="0">
                <a:solidFill>
                  <a:srgbClr val="333333"/>
                </a:solidFill>
                <a:latin typeface="Times New Roman"/>
                <a:cs typeface="Times New Roman"/>
              </a:rPr>
              <a:t> </a:t>
            </a:r>
            <a:r>
              <a:rPr sz="1800" dirty="0">
                <a:solidFill>
                  <a:srgbClr val="333333"/>
                </a:solidFill>
                <a:latin typeface="Times New Roman"/>
                <a:cs typeface="Times New Roman"/>
              </a:rPr>
              <a:t>of</a:t>
            </a:r>
            <a:r>
              <a:rPr sz="1800" spc="60" dirty="0">
                <a:solidFill>
                  <a:srgbClr val="333333"/>
                </a:solidFill>
                <a:latin typeface="Times New Roman"/>
                <a:cs typeface="Times New Roman"/>
              </a:rPr>
              <a:t> </a:t>
            </a:r>
            <a:r>
              <a:rPr sz="1800" dirty="0">
                <a:solidFill>
                  <a:srgbClr val="333333"/>
                </a:solidFill>
                <a:latin typeface="Times New Roman"/>
                <a:cs typeface="Times New Roman"/>
              </a:rPr>
              <a:t>useful</a:t>
            </a:r>
            <a:r>
              <a:rPr sz="1800" spc="55" dirty="0">
                <a:solidFill>
                  <a:srgbClr val="333333"/>
                </a:solidFill>
                <a:latin typeface="Times New Roman"/>
                <a:cs typeface="Times New Roman"/>
              </a:rPr>
              <a:t> </a:t>
            </a:r>
            <a:r>
              <a:rPr sz="1800" spc="-10" dirty="0">
                <a:solidFill>
                  <a:srgbClr val="333333"/>
                </a:solidFill>
                <a:latin typeface="Times New Roman"/>
                <a:cs typeface="Times New Roman"/>
              </a:rPr>
              <a:t>products. </a:t>
            </a:r>
            <a:r>
              <a:rPr sz="1800" dirty="0">
                <a:solidFill>
                  <a:srgbClr val="333333"/>
                </a:solidFill>
                <a:latin typeface="Times New Roman"/>
                <a:cs typeface="Times New Roman"/>
              </a:rPr>
              <a:t>And</a:t>
            </a:r>
            <a:r>
              <a:rPr sz="1800" spc="65" dirty="0">
                <a:solidFill>
                  <a:srgbClr val="333333"/>
                </a:solidFill>
                <a:latin typeface="Times New Roman"/>
                <a:cs typeface="Times New Roman"/>
              </a:rPr>
              <a:t> </a:t>
            </a:r>
            <a:r>
              <a:rPr sz="1800" dirty="0">
                <a:solidFill>
                  <a:srgbClr val="333333"/>
                </a:solidFill>
                <a:latin typeface="Times New Roman"/>
                <a:cs typeface="Times New Roman"/>
              </a:rPr>
              <a:t>it</a:t>
            </a:r>
            <a:r>
              <a:rPr sz="1800" spc="75" dirty="0">
                <a:solidFill>
                  <a:srgbClr val="333333"/>
                </a:solidFill>
                <a:latin typeface="Times New Roman"/>
                <a:cs typeface="Times New Roman"/>
              </a:rPr>
              <a:t> </a:t>
            </a:r>
            <a:r>
              <a:rPr sz="1800" dirty="0">
                <a:solidFill>
                  <a:srgbClr val="333333"/>
                </a:solidFill>
                <a:latin typeface="Times New Roman"/>
                <a:cs typeface="Times New Roman"/>
              </a:rPr>
              <a:t>has</a:t>
            </a:r>
            <a:r>
              <a:rPr sz="1800" spc="70" dirty="0">
                <a:solidFill>
                  <a:srgbClr val="333333"/>
                </a:solidFill>
                <a:latin typeface="Times New Roman"/>
                <a:cs typeface="Times New Roman"/>
              </a:rPr>
              <a:t> </a:t>
            </a:r>
            <a:r>
              <a:rPr sz="1800" dirty="0">
                <a:solidFill>
                  <a:srgbClr val="333333"/>
                </a:solidFill>
                <a:latin typeface="Times New Roman"/>
                <a:cs typeface="Times New Roman"/>
              </a:rPr>
              <a:t>become</a:t>
            </a:r>
            <a:r>
              <a:rPr sz="1800" spc="80" dirty="0">
                <a:solidFill>
                  <a:srgbClr val="333333"/>
                </a:solidFill>
                <a:latin typeface="Times New Roman"/>
                <a:cs typeface="Times New Roman"/>
              </a:rPr>
              <a:t> </a:t>
            </a:r>
            <a:r>
              <a:rPr sz="1800" dirty="0">
                <a:solidFill>
                  <a:srgbClr val="333333"/>
                </a:solidFill>
                <a:latin typeface="Times New Roman"/>
                <a:cs typeface="Times New Roman"/>
              </a:rPr>
              <a:t>another</a:t>
            </a:r>
            <a:r>
              <a:rPr sz="1800" spc="80" dirty="0">
                <a:solidFill>
                  <a:srgbClr val="333333"/>
                </a:solidFill>
                <a:latin typeface="Times New Roman"/>
                <a:cs typeface="Times New Roman"/>
              </a:rPr>
              <a:t> </a:t>
            </a:r>
            <a:r>
              <a:rPr sz="1800" b="1" dirty="0">
                <a:solidFill>
                  <a:srgbClr val="333333"/>
                </a:solidFill>
                <a:latin typeface="Times New Roman"/>
                <a:cs typeface="Times New Roman"/>
              </a:rPr>
              <a:t>DIY</a:t>
            </a:r>
            <a:r>
              <a:rPr sz="1800" b="1" spc="65" dirty="0">
                <a:solidFill>
                  <a:srgbClr val="333333"/>
                </a:solidFill>
                <a:latin typeface="Times New Roman"/>
                <a:cs typeface="Times New Roman"/>
              </a:rPr>
              <a:t> </a:t>
            </a:r>
            <a:r>
              <a:rPr sz="1800" dirty="0">
                <a:solidFill>
                  <a:srgbClr val="333333"/>
                </a:solidFill>
                <a:latin typeface="Times New Roman"/>
                <a:cs typeface="Times New Roman"/>
              </a:rPr>
              <a:t>community</a:t>
            </a:r>
            <a:r>
              <a:rPr sz="1800" spc="90" dirty="0">
                <a:solidFill>
                  <a:srgbClr val="333333"/>
                </a:solidFill>
                <a:latin typeface="Times New Roman"/>
                <a:cs typeface="Times New Roman"/>
              </a:rPr>
              <a:t> </a:t>
            </a:r>
            <a:r>
              <a:rPr sz="1800" dirty="0">
                <a:solidFill>
                  <a:srgbClr val="333333"/>
                </a:solidFill>
                <a:latin typeface="Times New Roman"/>
                <a:cs typeface="Times New Roman"/>
              </a:rPr>
              <a:t>which</a:t>
            </a:r>
            <a:r>
              <a:rPr sz="1800" spc="80" dirty="0">
                <a:solidFill>
                  <a:srgbClr val="333333"/>
                </a:solidFill>
                <a:latin typeface="Times New Roman"/>
                <a:cs typeface="Times New Roman"/>
              </a:rPr>
              <a:t> </a:t>
            </a:r>
            <a:r>
              <a:rPr sz="1800" dirty="0">
                <a:solidFill>
                  <a:srgbClr val="333333"/>
                </a:solidFill>
                <a:latin typeface="Times New Roman"/>
                <a:cs typeface="Times New Roman"/>
              </a:rPr>
              <a:t>has</a:t>
            </a:r>
            <a:r>
              <a:rPr sz="1800" spc="70" dirty="0">
                <a:solidFill>
                  <a:srgbClr val="333333"/>
                </a:solidFill>
                <a:latin typeface="Times New Roman"/>
                <a:cs typeface="Times New Roman"/>
              </a:rPr>
              <a:t> </a:t>
            </a:r>
            <a:r>
              <a:rPr sz="1800" dirty="0">
                <a:solidFill>
                  <a:srgbClr val="333333"/>
                </a:solidFill>
                <a:latin typeface="Times New Roman"/>
                <a:cs typeface="Times New Roman"/>
              </a:rPr>
              <a:t>a</a:t>
            </a:r>
            <a:r>
              <a:rPr sz="1800" spc="75" dirty="0">
                <a:solidFill>
                  <a:srgbClr val="333333"/>
                </a:solidFill>
                <a:latin typeface="Times New Roman"/>
                <a:cs typeface="Times New Roman"/>
              </a:rPr>
              <a:t> </a:t>
            </a:r>
            <a:r>
              <a:rPr sz="1800" dirty="0">
                <a:solidFill>
                  <a:srgbClr val="333333"/>
                </a:solidFill>
                <a:latin typeface="Times New Roman"/>
                <a:cs typeface="Times New Roman"/>
              </a:rPr>
              <a:t>massive</a:t>
            </a:r>
            <a:r>
              <a:rPr sz="1800" spc="75" dirty="0">
                <a:solidFill>
                  <a:srgbClr val="333333"/>
                </a:solidFill>
                <a:latin typeface="Times New Roman"/>
                <a:cs typeface="Times New Roman"/>
              </a:rPr>
              <a:t> </a:t>
            </a:r>
            <a:r>
              <a:rPr sz="1800" dirty="0">
                <a:solidFill>
                  <a:srgbClr val="333333"/>
                </a:solidFill>
                <a:latin typeface="Times New Roman"/>
                <a:cs typeface="Times New Roman"/>
              </a:rPr>
              <a:t>forum</a:t>
            </a:r>
            <a:r>
              <a:rPr sz="1800" spc="60" dirty="0">
                <a:solidFill>
                  <a:srgbClr val="333333"/>
                </a:solidFill>
                <a:latin typeface="Times New Roman"/>
                <a:cs typeface="Times New Roman"/>
              </a:rPr>
              <a:t> </a:t>
            </a:r>
            <a:r>
              <a:rPr sz="1800" dirty="0">
                <a:solidFill>
                  <a:srgbClr val="333333"/>
                </a:solidFill>
                <a:latin typeface="Times New Roman"/>
                <a:cs typeface="Times New Roman"/>
              </a:rPr>
              <a:t>for</a:t>
            </a:r>
            <a:r>
              <a:rPr sz="1800" spc="70" dirty="0">
                <a:solidFill>
                  <a:srgbClr val="333333"/>
                </a:solidFill>
                <a:latin typeface="Times New Roman"/>
                <a:cs typeface="Times New Roman"/>
              </a:rPr>
              <a:t> </a:t>
            </a:r>
            <a:r>
              <a:rPr sz="1800" dirty="0">
                <a:solidFill>
                  <a:srgbClr val="333333"/>
                </a:solidFill>
                <a:latin typeface="Times New Roman"/>
                <a:cs typeface="Times New Roman"/>
              </a:rPr>
              <a:t>people</a:t>
            </a:r>
            <a:r>
              <a:rPr sz="1800" spc="80" dirty="0">
                <a:solidFill>
                  <a:srgbClr val="333333"/>
                </a:solidFill>
                <a:latin typeface="Times New Roman"/>
                <a:cs typeface="Times New Roman"/>
              </a:rPr>
              <a:t> </a:t>
            </a:r>
            <a:r>
              <a:rPr sz="1800" dirty="0">
                <a:solidFill>
                  <a:srgbClr val="333333"/>
                </a:solidFill>
                <a:latin typeface="Times New Roman"/>
                <a:cs typeface="Times New Roman"/>
              </a:rPr>
              <a:t>getting</a:t>
            </a:r>
            <a:r>
              <a:rPr sz="1800" spc="75" dirty="0">
                <a:solidFill>
                  <a:srgbClr val="333333"/>
                </a:solidFill>
                <a:latin typeface="Times New Roman"/>
                <a:cs typeface="Times New Roman"/>
              </a:rPr>
              <a:t> </a:t>
            </a:r>
            <a:r>
              <a:rPr sz="1800" dirty="0">
                <a:solidFill>
                  <a:srgbClr val="333333"/>
                </a:solidFill>
                <a:latin typeface="Times New Roman"/>
                <a:cs typeface="Times New Roman"/>
              </a:rPr>
              <a:t>started</a:t>
            </a:r>
            <a:r>
              <a:rPr sz="1800" spc="70" dirty="0">
                <a:solidFill>
                  <a:srgbClr val="333333"/>
                </a:solidFill>
                <a:latin typeface="Times New Roman"/>
                <a:cs typeface="Times New Roman"/>
              </a:rPr>
              <a:t> </a:t>
            </a:r>
            <a:r>
              <a:rPr sz="1800" dirty="0">
                <a:solidFill>
                  <a:srgbClr val="333333"/>
                </a:solidFill>
                <a:latin typeface="Times New Roman"/>
                <a:cs typeface="Times New Roman"/>
              </a:rPr>
              <a:t>with</a:t>
            </a:r>
            <a:r>
              <a:rPr sz="1800" spc="75" dirty="0">
                <a:solidFill>
                  <a:srgbClr val="333333"/>
                </a:solidFill>
                <a:latin typeface="Times New Roman"/>
                <a:cs typeface="Times New Roman"/>
              </a:rPr>
              <a:t> </a:t>
            </a:r>
            <a:r>
              <a:rPr sz="1800" dirty="0">
                <a:solidFill>
                  <a:srgbClr val="333333"/>
                </a:solidFill>
                <a:latin typeface="Times New Roman"/>
                <a:cs typeface="Times New Roman"/>
              </a:rPr>
              <a:t>it</a:t>
            </a:r>
            <a:r>
              <a:rPr sz="1800" spc="75" dirty="0">
                <a:solidFill>
                  <a:srgbClr val="333333"/>
                </a:solidFill>
                <a:latin typeface="Times New Roman"/>
                <a:cs typeface="Times New Roman"/>
              </a:rPr>
              <a:t> </a:t>
            </a:r>
            <a:r>
              <a:rPr sz="1800" dirty="0">
                <a:solidFill>
                  <a:srgbClr val="333333"/>
                </a:solidFill>
                <a:latin typeface="Times New Roman"/>
                <a:cs typeface="Times New Roman"/>
              </a:rPr>
              <a:t>and</a:t>
            </a:r>
            <a:r>
              <a:rPr sz="1800" spc="65" dirty="0">
                <a:solidFill>
                  <a:srgbClr val="333333"/>
                </a:solidFill>
                <a:latin typeface="Times New Roman"/>
                <a:cs typeface="Times New Roman"/>
              </a:rPr>
              <a:t> </a:t>
            </a:r>
            <a:r>
              <a:rPr sz="1800" spc="-10" dirty="0">
                <a:solidFill>
                  <a:srgbClr val="333333"/>
                </a:solidFill>
                <a:latin typeface="Times New Roman"/>
                <a:cs typeface="Times New Roman"/>
              </a:rPr>
              <a:t>those </a:t>
            </a:r>
            <a:r>
              <a:rPr sz="1800" dirty="0">
                <a:solidFill>
                  <a:srgbClr val="333333"/>
                </a:solidFill>
                <a:latin typeface="Times New Roman"/>
                <a:cs typeface="Times New Roman"/>
              </a:rPr>
              <a:t>who</a:t>
            </a:r>
            <a:r>
              <a:rPr sz="1800" spc="-25" dirty="0">
                <a:solidFill>
                  <a:srgbClr val="333333"/>
                </a:solidFill>
                <a:latin typeface="Times New Roman"/>
                <a:cs typeface="Times New Roman"/>
              </a:rPr>
              <a:t> </a:t>
            </a:r>
            <a:r>
              <a:rPr sz="1800" dirty="0">
                <a:solidFill>
                  <a:srgbClr val="333333"/>
                </a:solidFill>
                <a:latin typeface="Times New Roman"/>
                <a:cs typeface="Times New Roman"/>
              </a:rPr>
              <a:t>find</a:t>
            </a:r>
            <a:r>
              <a:rPr sz="1800" spc="-25" dirty="0">
                <a:solidFill>
                  <a:srgbClr val="333333"/>
                </a:solidFill>
                <a:latin typeface="Times New Roman"/>
                <a:cs typeface="Times New Roman"/>
              </a:rPr>
              <a:t> </a:t>
            </a:r>
            <a:r>
              <a:rPr sz="1800" dirty="0">
                <a:solidFill>
                  <a:srgbClr val="333333"/>
                </a:solidFill>
                <a:latin typeface="Times New Roman"/>
                <a:cs typeface="Times New Roman"/>
              </a:rPr>
              <a:t>it</a:t>
            </a:r>
            <a:r>
              <a:rPr sz="1800" spc="-20" dirty="0">
                <a:solidFill>
                  <a:srgbClr val="333333"/>
                </a:solidFill>
                <a:latin typeface="Times New Roman"/>
                <a:cs typeface="Times New Roman"/>
              </a:rPr>
              <a:t> </a:t>
            </a:r>
            <a:r>
              <a:rPr sz="1800" dirty="0">
                <a:solidFill>
                  <a:srgbClr val="333333"/>
                </a:solidFill>
                <a:latin typeface="Times New Roman"/>
                <a:cs typeface="Times New Roman"/>
              </a:rPr>
              <a:t>hard</a:t>
            </a:r>
            <a:r>
              <a:rPr sz="1800" spc="-25" dirty="0">
                <a:solidFill>
                  <a:srgbClr val="333333"/>
                </a:solidFill>
                <a:latin typeface="Times New Roman"/>
                <a:cs typeface="Times New Roman"/>
              </a:rPr>
              <a:t> </a:t>
            </a:r>
            <a:r>
              <a:rPr sz="1800" dirty="0">
                <a:solidFill>
                  <a:srgbClr val="333333"/>
                </a:solidFill>
                <a:latin typeface="Times New Roman"/>
                <a:cs typeface="Times New Roman"/>
              </a:rPr>
              <a:t>to</a:t>
            </a:r>
            <a:r>
              <a:rPr sz="1800" spc="-25" dirty="0">
                <a:solidFill>
                  <a:srgbClr val="333333"/>
                </a:solidFill>
                <a:latin typeface="Times New Roman"/>
                <a:cs typeface="Times New Roman"/>
              </a:rPr>
              <a:t> </a:t>
            </a:r>
            <a:r>
              <a:rPr sz="1800" dirty="0">
                <a:solidFill>
                  <a:srgbClr val="333333"/>
                </a:solidFill>
                <a:latin typeface="Times New Roman"/>
                <a:cs typeface="Times New Roman"/>
              </a:rPr>
              <a:t>use</a:t>
            </a:r>
            <a:r>
              <a:rPr sz="1800" spc="-15" dirty="0">
                <a:solidFill>
                  <a:srgbClr val="333333"/>
                </a:solidFill>
                <a:latin typeface="Times New Roman"/>
                <a:cs typeface="Times New Roman"/>
              </a:rPr>
              <a:t> </a:t>
            </a:r>
            <a:r>
              <a:rPr sz="1800" spc="-25" dirty="0">
                <a:solidFill>
                  <a:srgbClr val="333333"/>
                </a:solidFill>
                <a:latin typeface="Times New Roman"/>
                <a:cs typeface="Times New Roman"/>
              </a:rPr>
              <a:t>it.</a:t>
            </a:r>
            <a:endParaRPr sz="1800">
              <a:latin typeface="Times New Roman"/>
              <a:cs typeface="Times New Roman"/>
            </a:endParaRPr>
          </a:p>
          <a:p>
            <a:pPr marL="241300" indent="-228600" algn="just">
              <a:lnSpc>
                <a:spcPct val="100000"/>
              </a:lnSpc>
              <a:buAutoNum type="arabicPeriod" startAt="7"/>
              <a:tabLst>
                <a:tab pos="241300" algn="l"/>
              </a:tabLst>
            </a:pPr>
            <a:r>
              <a:rPr sz="1800" dirty="0">
                <a:solidFill>
                  <a:srgbClr val="600A4A"/>
                </a:solidFill>
                <a:latin typeface="Times New Roman"/>
                <a:cs typeface="Times New Roman"/>
              </a:rPr>
              <a:t>Feature</a:t>
            </a:r>
            <a:r>
              <a:rPr sz="1800" spc="-65" dirty="0">
                <a:solidFill>
                  <a:srgbClr val="600A4A"/>
                </a:solidFill>
                <a:latin typeface="Times New Roman"/>
                <a:cs typeface="Times New Roman"/>
              </a:rPr>
              <a:t> </a:t>
            </a:r>
            <a:r>
              <a:rPr sz="1800" spc="-10" dirty="0">
                <a:solidFill>
                  <a:srgbClr val="600A4A"/>
                </a:solidFill>
                <a:latin typeface="Times New Roman"/>
                <a:cs typeface="Times New Roman"/>
              </a:rPr>
              <a:t>Columns</a:t>
            </a:r>
            <a:endParaRPr sz="1800">
              <a:latin typeface="Times New Roman"/>
              <a:cs typeface="Times New Roman"/>
            </a:endParaRPr>
          </a:p>
          <a:p>
            <a:pPr marL="12700" marR="5715" algn="just">
              <a:lnSpc>
                <a:spcPct val="100000"/>
              </a:lnSpc>
              <a:spcBef>
                <a:spcPts val="5"/>
              </a:spcBef>
            </a:pPr>
            <a:r>
              <a:rPr sz="1800" dirty="0">
                <a:solidFill>
                  <a:srgbClr val="333333"/>
                </a:solidFill>
                <a:latin typeface="Times New Roman"/>
                <a:cs typeface="Times New Roman"/>
              </a:rPr>
              <a:t>TensorFlow</a:t>
            </a:r>
            <a:r>
              <a:rPr sz="1800" spc="305" dirty="0">
                <a:solidFill>
                  <a:srgbClr val="333333"/>
                </a:solidFill>
                <a:latin typeface="Times New Roman"/>
                <a:cs typeface="Times New Roman"/>
              </a:rPr>
              <a:t> </a:t>
            </a:r>
            <a:r>
              <a:rPr sz="1800" dirty="0">
                <a:solidFill>
                  <a:srgbClr val="333333"/>
                </a:solidFill>
                <a:latin typeface="Times New Roman"/>
                <a:cs typeface="Times New Roman"/>
              </a:rPr>
              <a:t>has</a:t>
            </a:r>
            <a:r>
              <a:rPr sz="1800" spc="300" dirty="0">
                <a:solidFill>
                  <a:srgbClr val="333333"/>
                </a:solidFill>
                <a:latin typeface="Times New Roman"/>
                <a:cs typeface="Times New Roman"/>
              </a:rPr>
              <a:t> </a:t>
            </a:r>
            <a:r>
              <a:rPr sz="1800" dirty="0">
                <a:solidFill>
                  <a:srgbClr val="333333"/>
                </a:solidFill>
                <a:latin typeface="Times New Roman"/>
                <a:cs typeface="Times New Roman"/>
              </a:rPr>
              <a:t>feature</a:t>
            </a:r>
            <a:r>
              <a:rPr sz="1800" spc="320" dirty="0">
                <a:solidFill>
                  <a:srgbClr val="333333"/>
                </a:solidFill>
                <a:latin typeface="Times New Roman"/>
                <a:cs typeface="Times New Roman"/>
              </a:rPr>
              <a:t> </a:t>
            </a:r>
            <a:r>
              <a:rPr sz="1800" dirty="0">
                <a:solidFill>
                  <a:srgbClr val="333333"/>
                </a:solidFill>
                <a:latin typeface="Times New Roman"/>
                <a:cs typeface="Times New Roman"/>
              </a:rPr>
              <a:t>columns</a:t>
            </a:r>
            <a:r>
              <a:rPr sz="1800" spc="305" dirty="0">
                <a:solidFill>
                  <a:srgbClr val="333333"/>
                </a:solidFill>
                <a:latin typeface="Times New Roman"/>
                <a:cs typeface="Times New Roman"/>
              </a:rPr>
              <a:t> </a:t>
            </a:r>
            <a:r>
              <a:rPr sz="1800" dirty="0">
                <a:solidFill>
                  <a:srgbClr val="333333"/>
                </a:solidFill>
                <a:latin typeface="Times New Roman"/>
                <a:cs typeface="Times New Roman"/>
              </a:rPr>
              <a:t>which</a:t>
            </a:r>
            <a:r>
              <a:rPr sz="1800" spc="315" dirty="0">
                <a:solidFill>
                  <a:srgbClr val="333333"/>
                </a:solidFill>
                <a:latin typeface="Times New Roman"/>
                <a:cs typeface="Times New Roman"/>
              </a:rPr>
              <a:t> </a:t>
            </a:r>
            <a:r>
              <a:rPr sz="1800" dirty="0">
                <a:solidFill>
                  <a:srgbClr val="333333"/>
                </a:solidFill>
                <a:latin typeface="Times New Roman"/>
                <a:cs typeface="Times New Roman"/>
              </a:rPr>
              <a:t>could</a:t>
            </a:r>
            <a:r>
              <a:rPr sz="1800" spc="290" dirty="0">
                <a:solidFill>
                  <a:srgbClr val="333333"/>
                </a:solidFill>
                <a:latin typeface="Times New Roman"/>
                <a:cs typeface="Times New Roman"/>
              </a:rPr>
              <a:t> </a:t>
            </a:r>
            <a:r>
              <a:rPr sz="1800" dirty="0">
                <a:solidFill>
                  <a:srgbClr val="333333"/>
                </a:solidFill>
                <a:latin typeface="Times New Roman"/>
                <a:cs typeface="Times New Roman"/>
              </a:rPr>
              <a:t>be</a:t>
            </a:r>
            <a:r>
              <a:rPr sz="1800" spc="315" dirty="0">
                <a:solidFill>
                  <a:srgbClr val="333333"/>
                </a:solidFill>
                <a:latin typeface="Times New Roman"/>
                <a:cs typeface="Times New Roman"/>
              </a:rPr>
              <a:t> </a:t>
            </a:r>
            <a:r>
              <a:rPr sz="1800" dirty="0">
                <a:solidFill>
                  <a:srgbClr val="333333"/>
                </a:solidFill>
                <a:latin typeface="Times New Roman"/>
                <a:cs typeface="Times New Roman"/>
              </a:rPr>
              <a:t>thought</a:t>
            </a:r>
            <a:r>
              <a:rPr sz="1800" spc="305" dirty="0">
                <a:solidFill>
                  <a:srgbClr val="333333"/>
                </a:solidFill>
                <a:latin typeface="Times New Roman"/>
                <a:cs typeface="Times New Roman"/>
              </a:rPr>
              <a:t> </a:t>
            </a:r>
            <a:r>
              <a:rPr sz="1800" dirty="0">
                <a:solidFill>
                  <a:srgbClr val="333333"/>
                </a:solidFill>
                <a:latin typeface="Times New Roman"/>
                <a:cs typeface="Times New Roman"/>
              </a:rPr>
              <a:t>of</a:t>
            </a:r>
            <a:r>
              <a:rPr sz="1800" spc="310" dirty="0">
                <a:solidFill>
                  <a:srgbClr val="333333"/>
                </a:solidFill>
                <a:latin typeface="Times New Roman"/>
                <a:cs typeface="Times New Roman"/>
              </a:rPr>
              <a:t> </a:t>
            </a:r>
            <a:r>
              <a:rPr sz="1800" dirty="0">
                <a:solidFill>
                  <a:srgbClr val="333333"/>
                </a:solidFill>
                <a:latin typeface="Times New Roman"/>
                <a:cs typeface="Times New Roman"/>
              </a:rPr>
              <a:t>as</a:t>
            </a:r>
            <a:r>
              <a:rPr sz="1800" spc="305" dirty="0">
                <a:solidFill>
                  <a:srgbClr val="333333"/>
                </a:solidFill>
                <a:latin typeface="Times New Roman"/>
                <a:cs typeface="Times New Roman"/>
              </a:rPr>
              <a:t> </a:t>
            </a:r>
            <a:r>
              <a:rPr sz="1800" dirty="0">
                <a:solidFill>
                  <a:srgbClr val="333333"/>
                </a:solidFill>
                <a:latin typeface="Times New Roman"/>
                <a:cs typeface="Times New Roman"/>
              </a:rPr>
              <a:t>intermediates</a:t>
            </a:r>
            <a:r>
              <a:rPr sz="1800" spc="305" dirty="0">
                <a:solidFill>
                  <a:srgbClr val="333333"/>
                </a:solidFill>
                <a:latin typeface="Times New Roman"/>
                <a:cs typeface="Times New Roman"/>
              </a:rPr>
              <a:t> </a:t>
            </a:r>
            <a:r>
              <a:rPr sz="1800" dirty="0">
                <a:solidFill>
                  <a:srgbClr val="333333"/>
                </a:solidFill>
                <a:latin typeface="Times New Roman"/>
                <a:cs typeface="Times New Roman"/>
              </a:rPr>
              <a:t>between</a:t>
            </a:r>
            <a:r>
              <a:rPr sz="1800" spc="315" dirty="0">
                <a:solidFill>
                  <a:srgbClr val="333333"/>
                </a:solidFill>
                <a:latin typeface="Times New Roman"/>
                <a:cs typeface="Times New Roman"/>
              </a:rPr>
              <a:t> </a:t>
            </a:r>
            <a:r>
              <a:rPr sz="1800" dirty="0">
                <a:solidFill>
                  <a:srgbClr val="333333"/>
                </a:solidFill>
                <a:latin typeface="Times New Roman"/>
                <a:cs typeface="Times New Roman"/>
              </a:rPr>
              <a:t>raw</a:t>
            </a:r>
            <a:r>
              <a:rPr sz="1800" spc="310" dirty="0">
                <a:solidFill>
                  <a:srgbClr val="333333"/>
                </a:solidFill>
                <a:latin typeface="Times New Roman"/>
                <a:cs typeface="Times New Roman"/>
              </a:rPr>
              <a:t> </a:t>
            </a:r>
            <a:r>
              <a:rPr sz="1800" dirty="0">
                <a:solidFill>
                  <a:srgbClr val="333333"/>
                </a:solidFill>
                <a:latin typeface="Times New Roman"/>
                <a:cs typeface="Times New Roman"/>
              </a:rPr>
              <a:t>data</a:t>
            </a:r>
            <a:r>
              <a:rPr sz="1800" spc="325" dirty="0">
                <a:solidFill>
                  <a:srgbClr val="333333"/>
                </a:solidFill>
                <a:latin typeface="Times New Roman"/>
                <a:cs typeface="Times New Roman"/>
              </a:rPr>
              <a:t> </a:t>
            </a:r>
            <a:r>
              <a:rPr sz="1800" dirty="0">
                <a:solidFill>
                  <a:srgbClr val="333333"/>
                </a:solidFill>
                <a:latin typeface="Times New Roman"/>
                <a:cs typeface="Times New Roman"/>
              </a:rPr>
              <a:t>and</a:t>
            </a:r>
            <a:r>
              <a:rPr sz="1800" spc="305" dirty="0">
                <a:solidFill>
                  <a:srgbClr val="333333"/>
                </a:solidFill>
                <a:latin typeface="Times New Roman"/>
                <a:cs typeface="Times New Roman"/>
              </a:rPr>
              <a:t> </a:t>
            </a:r>
            <a:r>
              <a:rPr sz="1800" spc="-10" dirty="0">
                <a:solidFill>
                  <a:srgbClr val="333333"/>
                </a:solidFill>
                <a:latin typeface="Times New Roman"/>
                <a:cs typeface="Times New Roman"/>
              </a:rPr>
              <a:t>estimators; accordingly,</a:t>
            </a:r>
            <a:r>
              <a:rPr sz="1800" spc="-40" dirty="0">
                <a:solidFill>
                  <a:srgbClr val="333333"/>
                </a:solidFill>
                <a:latin typeface="Times New Roman"/>
                <a:cs typeface="Times New Roman"/>
              </a:rPr>
              <a:t> </a:t>
            </a:r>
            <a:r>
              <a:rPr sz="1800" b="1" dirty="0">
                <a:solidFill>
                  <a:srgbClr val="333333"/>
                </a:solidFill>
                <a:latin typeface="Times New Roman"/>
                <a:cs typeface="Times New Roman"/>
              </a:rPr>
              <a:t>bridging</a:t>
            </a:r>
            <a:r>
              <a:rPr sz="1800" b="1" spc="-20" dirty="0">
                <a:solidFill>
                  <a:srgbClr val="333333"/>
                </a:solidFill>
                <a:latin typeface="Times New Roman"/>
                <a:cs typeface="Times New Roman"/>
              </a:rPr>
              <a:t> </a:t>
            </a:r>
            <a:r>
              <a:rPr sz="1800" dirty="0">
                <a:solidFill>
                  <a:srgbClr val="333333"/>
                </a:solidFill>
                <a:latin typeface="Times New Roman"/>
                <a:cs typeface="Times New Roman"/>
              </a:rPr>
              <a:t>input</a:t>
            </a:r>
            <a:r>
              <a:rPr sz="1800" spc="-10" dirty="0">
                <a:solidFill>
                  <a:srgbClr val="333333"/>
                </a:solidFill>
                <a:latin typeface="Times New Roman"/>
                <a:cs typeface="Times New Roman"/>
              </a:rPr>
              <a:t> </a:t>
            </a:r>
            <a:r>
              <a:rPr sz="1800" dirty="0">
                <a:solidFill>
                  <a:srgbClr val="333333"/>
                </a:solidFill>
                <a:latin typeface="Times New Roman"/>
                <a:cs typeface="Times New Roman"/>
              </a:rPr>
              <a:t>data</a:t>
            </a:r>
            <a:r>
              <a:rPr sz="1800" spc="-25" dirty="0">
                <a:solidFill>
                  <a:srgbClr val="333333"/>
                </a:solidFill>
                <a:latin typeface="Times New Roman"/>
                <a:cs typeface="Times New Roman"/>
              </a:rPr>
              <a:t> </a:t>
            </a:r>
            <a:r>
              <a:rPr sz="1800" dirty="0">
                <a:solidFill>
                  <a:srgbClr val="333333"/>
                </a:solidFill>
                <a:latin typeface="Times New Roman"/>
                <a:cs typeface="Times New Roman"/>
              </a:rPr>
              <a:t>with</a:t>
            </a:r>
            <a:r>
              <a:rPr sz="1800" spc="-5" dirty="0">
                <a:solidFill>
                  <a:srgbClr val="333333"/>
                </a:solidFill>
                <a:latin typeface="Times New Roman"/>
                <a:cs typeface="Times New Roman"/>
              </a:rPr>
              <a:t> </a:t>
            </a:r>
            <a:r>
              <a:rPr sz="1800" dirty="0">
                <a:solidFill>
                  <a:srgbClr val="333333"/>
                </a:solidFill>
                <a:latin typeface="Times New Roman"/>
                <a:cs typeface="Times New Roman"/>
              </a:rPr>
              <a:t>our</a:t>
            </a:r>
            <a:r>
              <a:rPr sz="1800" spc="-20" dirty="0">
                <a:solidFill>
                  <a:srgbClr val="333333"/>
                </a:solidFill>
                <a:latin typeface="Times New Roman"/>
                <a:cs typeface="Times New Roman"/>
              </a:rPr>
              <a:t> </a:t>
            </a:r>
            <a:r>
              <a:rPr sz="1800" spc="-10" dirty="0">
                <a:solidFill>
                  <a:srgbClr val="333333"/>
                </a:solidFill>
                <a:latin typeface="Times New Roman"/>
                <a:cs typeface="Times New Roman"/>
              </a:rPr>
              <a:t>model.</a:t>
            </a:r>
            <a:endParaRPr sz="1800">
              <a:latin typeface="Times New Roman"/>
              <a:cs typeface="Times New Roman"/>
            </a:endParaRPr>
          </a:p>
          <a:p>
            <a:pPr marL="12700" algn="just">
              <a:lnSpc>
                <a:spcPct val="100000"/>
              </a:lnSpc>
            </a:pPr>
            <a:r>
              <a:rPr sz="1800" dirty="0">
                <a:solidFill>
                  <a:srgbClr val="333333"/>
                </a:solidFill>
                <a:latin typeface="Times New Roman"/>
                <a:cs typeface="Times New Roman"/>
              </a:rPr>
              <a:t>The</a:t>
            </a:r>
            <a:r>
              <a:rPr sz="1800" spc="-30" dirty="0">
                <a:solidFill>
                  <a:srgbClr val="333333"/>
                </a:solidFill>
                <a:latin typeface="Times New Roman"/>
                <a:cs typeface="Times New Roman"/>
              </a:rPr>
              <a:t> </a:t>
            </a:r>
            <a:r>
              <a:rPr sz="1800" dirty="0">
                <a:solidFill>
                  <a:srgbClr val="333333"/>
                </a:solidFill>
                <a:latin typeface="Times New Roman"/>
                <a:cs typeface="Times New Roman"/>
              </a:rPr>
              <a:t>feature</a:t>
            </a:r>
            <a:r>
              <a:rPr sz="1800" spc="-40" dirty="0">
                <a:solidFill>
                  <a:srgbClr val="333333"/>
                </a:solidFill>
                <a:latin typeface="Times New Roman"/>
                <a:cs typeface="Times New Roman"/>
              </a:rPr>
              <a:t> </a:t>
            </a:r>
            <a:r>
              <a:rPr sz="1800" dirty="0">
                <a:solidFill>
                  <a:srgbClr val="333333"/>
                </a:solidFill>
                <a:latin typeface="Times New Roman"/>
                <a:cs typeface="Times New Roman"/>
              </a:rPr>
              <a:t>below</a:t>
            </a:r>
            <a:r>
              <a:rPr sz="1800" spc="-45" dirty="0">
                <a:solidFill>
                  <a:srgbClr val="333333"/>
                </a:solidFill>
                <a:latin typeface="Times New Roman"/>
                <a:cs typeface="Times New Roman"/>
              </a:rPr>
              <a:t> </a:t>
            </a:r>
            <a:r>
              <a:rPr sz="1800" dirty="0">
                <a:solidFill>
                  <a:srgbClr val="333333"/>
                </a:solidFill>
                <a:latin typeface="Times New Roman"/>
                <a:cs typeface="Times New Roman"/>
              </a:rPr>
              <a:t>describes</a:t>
            </a:r>
            <a:r>
              <a:rPr sz="1800" spc="-35" dirty="0">
                <a:solidFill>
                  <a:srgbClr val="333333"/>
                </a:solidFill>
                <a:latin typeface="Times New Roman"/>
                <a:cs typeface="Times New Roman"/>
              </a:rPr>
              <a:t> </a:t>
            </a:r>
            <a:r>
              <a:rPr sz="1800" dirty="0">
                <a:solidFill>
                  <a:srgbClr val="333333"/>
                </a:solidFill>
                <a:latin typeface="Times New Roman"/>
                <a:cs typeface="Times New Roman"/>
              </a:rPr>
              <a:t>how</a:t>
            </a:r>
            <a:r>
              <a:rPr sz="1800" spc="-25" dirty="0">
                <a:solidFill>
                  <a:srgbClr val="333333"/>
                </a:solidFill>
                <a:latin typeface="Times New Roman"/>
                <a:cs typeface="Times New Roman"/>
              </a:rPr>
              <a:t> </a:t>
            </a:r>
            <a:r>
              <a:rPr sz="1800" dirty="0">
                <a:solidFill>
                  <a:srgbClr val="333333"/>
                </a:solidFill>
                <a:latin typeface="Times New Roman"/>
                <a:cs typeface="Times New Roman"/>
              </a:rPr>
              <a:t>the</a:t>
            </a:r>
            <a:r>
              <a:rPr sz="1800" spc="-30" dirty="0">
                <a:solidFill>
                  <a:srgbClr val="333333"/>
                </a:solidFill>
                <a:latin typeface="Times New Roman"/>
                <a:cs typeface="Times New Roman"/>
              </a:rPr>
              <a:t> </a:t>
            </a:r>
            <a:r>
              <a:rPr sz="1800" dirty="0">
                <a:solidFill>
                  <a:srgbClr val="333333"/>
                </a:solidFill>
                <a:latin typeface="Times New Roman"/>
                <a:cs typeface="Times New Roman"/>
              </a:rPr>
              <a:t>feature</a:t>
            </a:r>
            <a:r>
              <a:rPr sz="1800" spc="-40" dirty="0">
                <a:solidFill>
                  <a:srgbClr val="333333"/>
                </a:solidFill>
                <a:latin typeface="Times New Roman"/>
                <a:cs typeface="Times New Roman"/>
              </a:rPr>
              <a:t> </a:t>
            </a:r>
            <a:r>
              <a:rPr sz="1800" dirty="0">
                <a:solidFill>
                  <a:srgbClr val="333333"/>
                </a:solidFill>
                <a:latin typeface="Times New Roman"/>
                <a:cs typeface="Times New Roman"/>
              </a:rPr>
              <a:t>column</a:t>
            </a:r>
            <a:r>
              <a:rPr sz="1800" spc="-35" dirty="0">
                <a:solidFill>
                  <a:srgbClr val="333333"/>
                </a:solidFill>
                <a:latin typeface="Times New Roman"/>
                <a:cs typeface="Times New Roman"/>
              </a:rPr>
              <a:t> </a:t>
            </a:r>
            <a:r>
              <a:rPr sz="1800" dirty="0">
                <a:solidFill>
                  <a:srgbClr val="333333"/>
                </a:solidFill>
                <a:latin typeface="Times New Roman"/>
                <a:cs typeface="Times New Roman"/>
              </a:rPr>
              <a:t>is</a:t>
            </a:r>
            <a:r>
              <a:rPr sz="1800" spc="-30" dirty="0">
                <a:solidFill>
                  <a:srgbClr val="333333"/>
                </a:solidFill>
                <a:latin typeface="Times New Roman"/>
                <a:cs typeface="Times New Roman"/>
              </a:rPr>
              <a:t> </a:t>
            </a:r>
            <a:r>
              <a:rPr sz="1800" spc="-10" dirty="0">
                <a:solidFill>
                  <a:srgbClr val="333333"/>
                </a:solidFill>
                <a:latin typeface="Times New Roman"/>
                <a:cs typeface="Times New Roman"/>
              </a:rPr>
              <a:t>implemented.</a:t>
            </a:r>
            <a:endParaRPr sz="1800">
              <a:latin typeface="Times New Roman"/>
              <a:cs typeface="Times New Roman"/>
            </a:endParaRPr>
          </a:p>
        </p:txBody>
      </p:sp>
      <p:pic>
        <p:nvPicPr>
          <p:cNvPr id="3" name="object 3"/>
          <p:cNvPicPr/>
          <p:nvPr/>
        </p:nvPicPr>
        <p:blipFill>
          <a:blip r:embed="rId2" cstate="print"/>
          <a:stretch>
            <a:fillRect/>
          </a:stretch>
        </p:blipFill>
        <p:spPr>
          <a:xfrm>
            <a:off x="4575183" y="4004716"/>
            <a:ext cx="6483595" cy="24251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2023" y="638302"/>
            <a:ext cx="11250295" cy="4964430"/>
          </a:xfrm>
          <a:prstGeom prst="rect">
            <a:avLst/>
          </a:prstGeom>
        </p:spPr>
        <p:txBody>
          <a:bodyPr vert="horz" wrap="square" lIns="0" tIns="12700" rIns="0" bIns="0" rtlCol="0">
            <a:spAutoFit/>
          </a:bodyPr>
          <a:lstStyle/>
          <a:p>
            <a:pPr marL="228600" indent="-215900">
              <a:lnSpc>
                <a:spcPct val="100000"/>
              </a:lnSpc>
              <a:spcBef>
                <a:spcPts val="100"/>
              </a:spcBef>
              <a:buSzPct val="94444"/>
              <a:buAutoNum type="arabicPeriod" startAt="8"/>
              <a:tabLst>
                <a:tab pos="228600" algn="l"/>
              </a:tabLst>
            </a:pPr>
            <a:r>
              <a:rPr sz="1800" spc="-10" dirty="0">
                <a:solidFill>
                  <a:srgbClr val="600A4A"/>
                </a:solidFill>
                <a:latin typeface="Times New Roman"/>
                <a:cs typeface="Times New Roman"/>
              </a:rPr>
              <a:t>Availability</a:t>
            </a:r>
            <a:r>
              <a:rPr sz="1800" spc="-35" dirty="0">
                <a:solidFill>
                  <a:srgbClr val="600A4A"/>
                </a:solidFill>
                <a:latin typeface="Times New Roman"/>
                <a:cs typeface="Times New Roman"/>
              </a:rPr>
              <a:t> </a:t>
            </a:r>
            <a:r>
              <a:rPr sz="1800" dirty="0">
                <a:solidFill>
                  <a:srgbClr val="600A4A"/>
                </a:solidFill>
                <a:latin typeface="Times New Roman"/>
                <a:cs typeface="Times New Roman"/>
              </a:rPr>
              <a:t>of</a:t>
            </a:r>
            <a:r>
              <a:rPr sz="1800" spc="-25" dirty="0">
                <a:solidFill>
                  <a:srgbClr val="600A4A"/>
                </a:solidFill>
                <a:latin typeface="Times New Roman"/>
                <a:cs typeface="Times New Roman"/>
              </a:rPr>
              <a:t> </a:t>
            </a:r>
            <a:r>
              <a:rPr sz="1800" dirty="0">
                <a:solidFill>
                  <a:srgbClr val="600A4A"/>
                </a:solidFill>
                <a:latin typeface="Times New Roman"/>
                <a:cs typeface="Times New Roman"/>
              </a:rPr>
              <a:t>Statistical</a:t>
            </a:r>
            <a:r>
              <a:rPr sz="1800" spc="-45" dirty="0">
                <a:solidFill>
                  <a:srgbClr val="600A4A"/>
                </a:solidFill>
                <a:latin typeface="Times New Roman"/>
                <a:cs typeface="Times New Roman"/>
              </a:rPr>
              <a:t> </a:t>
            </a:r>
            <a:r>
              <a:rPr sz="1800" spc="-10" dirty="0">
                <a:solidFill>
                  <a:srgbClr val="600A4A"/>
                </a:solidFill>
                <a:latin typeface="Times New Roman"/>
                <a:cs typeface="Times New Roman"/>
              </a:rPr>
              <a:t>Distributions</a:t>
            </a:r>
            <a:endParaRPr sz="1800">
              <a:latin typeface="Times New Roman"/>
              <a:cs typeface="Times New Roman"/>
            </a:endParaRPr>
          </a:p>
          <a:p>
            <a:pPr>
              <a:lnSpc>
                <a:spcPct val="100000"/>
              </a:lnSpc>
              <a:spcBef>
                <a:spcPts val="90"/>
              </a:spcBef>
              <a:buClr>
                <a:srgbClr val="600A4A"/>
              </a:buClr>
              <a:buFont typeface="Times New Roman"/>
              <a:buAutoNum type="arabicPeriod" startAt="8"/>
            </a:pPr>
            <a:endParaRPr sz="1800">
              <a:latin typeface="Times New Roman"/>
              <a:cs typeface="Times New Roman"/>
            </a:endParaRPr>
          </a:p>
          <a:p>
            <a:pPr marL="12700" algn="just">
              <a:lnSpc>
                <a:spcPct val="100000"/>
              </a:lnSpc>
            </a:pPr>
            <a:r>
              <a:rPr sz="1800" dirty="0">
                <a:solidFill>
                  <a:srgbClr val="333333"/>
                </a:solidFill>
                <a:latin typeface="Times New Roman"/>
                <a:cs typeface="Times New Roman"/>
              </a:rPr>
              <a:t>This</a:t>
            </a:r>
            <a:r>
              <a:rPr sz="1800" spc="350" dirty="0">
                <a:solidFill>
                  <a:srgbClr val="333333"/>
                </a:solidFill>
                <a:latin typeface="Times New Roman"/>
                <a:cs typeface="Times New Roman"/>
              </a:rPr>
              <a:t> </a:t>
            </a:r>
            <a:r>
              <a:rPr sz="1800" dirty="0">
                <a:solidFill>
                  <a:srgbClr val="333333"/>
                </a:solidFill>
                <a:latin typeface="Times New Roman"/>
                <a:cs typeface="Times New Roman"/>
              </a:rPr>
              <a:t>library</a:t>
            </a:r>
            <a:r>
              <a:rPr sz="1800" spc="355" dirty="0">
                <a:solidFill>
                  <a:srgbClr val="333333"/>
                </a:solidFill>
                <a:latin typeface="Times New Roman"/>
                <a:cs typeface="Times New Roman"/>
              </a:rPr>
              <a:t> </a:t>
            </a:r>
            <a:r>
              <a:rPr sz="1800" dirty="0">
                <a:solidFill>
                  <a:srgbClr val="333333"/>
                </a:solidFill>
                <a:latin typeface="Times New Roman"/>
                <a:cs typeface="Times New Roman"/>
              </a:rPr>
              <a:t>provides</a:t>
            </a:r>
            <a:r>
              <a:rPr sz="1800" spc="345" dirty="0">
                <a:solidFill>
                  <a:srgbClr val="333333"/>
                </a:solidFill>
                <a:latin typeface="Times New Roman"/>
                <a:cs typeface="Times New Roman"/>
              </a:rPr>
              <a:t> </a:t>
            </a:r>
            <a:r>
              <a:rPr sz="1800" dirty="0">
                <a:solidFill>
                  <a:srgbClr val="333333"/>
                </a:solidFill>
                <a:latin typeface="Times New Roman"/>
                <a:cs typeface="Times New Roman"/>
              </a:rPr>
              <a:t>distributions</a:t>
            </a:r>
            <a:r>
              <a:rPr sz="1800" spc="345" dirty="0">
                <a:solidFill>
                  <a:srgbClr val="333333"/>
                </a:solidFill>
                <a:latin typeface="Times New Roman"/>
                <a:cs typeface="Times New Roman"/>
              </a:rPr>
              <a:t> </a:t>
            </a:r>
            <a:r>
              <a:rPr sz="1800" dirty="0">
                <a:solidFill>
                  <a:srgbClr val="333333"/>
                </a:solidFill>
                <a:latin typeface="Times New Roman"/>
                <a:cs typeface="Times New Roman"/>
              </a:rPr>
              <a:t>functions</a:t>
            </a:r>
            <a:r>
              <a:rPr sz="1800" spc="335" dirty="0">
                <a:solidFill>
                  <a:srgbClr val="333333"/>
                </a:solidFill>
                <a:latin typeface="Times New Roman"/>
                <a:cs typeface="Times New Roman"/>
              </a:rPr>
              <a:t> </a:t>
            </a:r>
            <a:r>
              <a:rPr sz="1800" dirty="0">
                <a:solidFill>
                  <a:srgbClr val="333333"/>
                </a:solidFill>
                <a:latin typeface="Times New Roman"/>
                <a:cs typeface="Times New Roman"/>
              </a:rPr>
              <a:t>including</a:t>
            </a:r>
            <a:r>
              <a:rPr sz="1800" spc="355" dirty="0">
                <a:solidFill>
                  <a:srgbClr val="333333"/>
                </a:solidFill>
                <a:latin typeface="Times New Roman"/>
                <a:cs typeface="Times New Roman"/>
              </a:rPr>
              <a:t> </a:t>
            </a:r>
            <a:r>
              <a:rPr sz="1800" dirty="0">
                <a:solidFill>
                  <a:srgbClr val="333333"/>
                </a:solidFill>
                <a:latin typeface="Times New Roman"/>
                <a:cs typeface="Times New Roman"/>
              </a:rPr>
              <a:t>Bernoulli,</a:t>
            </a:r>
            <a:r>
              <a:rPr sz="1800" spc="355" dirty="0">
                <a:solidFill>
                  <a:srgbClr val="333333"/>
                </a:solidFill>
                <a:latin typeface="Times New Roman"/>
                <a:cs typeface="Times New Roman"/>
              </a:rPr>
              <a:t> </a:t>
            </a:r>
            <a:r>
              <a:rPr sz="1800" dirty="0">
                <a:solidFill>
                  <a:srgbClr val="333333"/>
                </a:solidFill>
                <a:latin typeface="Times New Roman"/>
                <a:cs typeface="Times New Roman"/>
              </a:rPr>
              <a:t>Beta,</a:t>
            </a:r>
            <a:r>
              <a:rPr sz="1800" spc="360" dirty="0">
                <a:solidFill>
                  <a:srgbClr val="333333"/>
                </a:solidFill>
                <a:latin typeface="Times New Roman"/>
                <a:cs typeface="Times New Roman"/>
              </a:rPr>
              <a:t> </a:t>
            </a:r>
            <a:r>
              <a:rPr sz="1800" dirty="0">
                <a:solidFill>
                  <a:srgbClr val="333333"/>
                </a:solidFill>
                <a:latin typeface="Times New Roman"/>
                <a:cs typeface="Times New Roman"/>
              </a:rPr>
              <a:t>Chi2,</a:t>
            </a:r>
            <a:r>
              <a:rPr sz="1800" spc="355" dirty="0">
                <a:solidFill>
                  <a:srgbClr val="333333"/>
                </a:solidFill>
                <a:latin typeface="Times New Roman"/>
                <a:cs typeface="Times New Roman"/>
              </a:rPr>
              <a:t> </a:t>
            </a:r>
            <a:r>
              <a:rPr sz="1800" dirty="0">
                <a:solidFill>
                  <a:srgbClr val="333333"/>
                </a:solidFill>
                <a:latin typeface="Times New Roman"/>
                <a:cs typeface="Times New Roman"/>
              </a:rPr>
              <a:t>Uniform,</a:t>
            </a:r>
            <a:r>
              <a:rPr sz="1800" spc="350" dirty="0">
                <a:solidFill>
                  <a:srgbClr val="333333"/>
                </a:solidFill>
                <a:latin typeface="Times New Roman"/>
                <a:cs typeface="Times New Roman"/>
              </a:rPr>
              <a:t> </a:t>
            </a:r>
            <a:r>
              <a:rPr sz="1800" dirty="0">
                <a:solidFill>
                  <a:srgbClr val="333333"/>
                </a:solidFill>
                <a:latin typeface="Times New Roman"/>
                <a:cs typeface="Times New Roman"/>
              </a:rPr>
              <a:t>Gamma,</a:t>
            </a:r>
            <a:r>
              <a:rPr sz="1800" spc="355" dirty="0">
                <a:solidFill>
                  <a:srgbClr val="333333"/>
                </a:solidFill>
                <a:latin typeface="Times New Roman"/>
                <a:cs typeface="Times New Roman"/>
              </a:rPr>
              <a:t> </a:t>
            </a:r>
            <a:r>
              <a:rPr sz="1800" dirty="0">
                <a:solidFill>
                  <a:srgbClr val="333333"/>
                </a:solidFill>
                <a:latin typeface="Times New Roman"/>
                <a:cs typeface="Times New Roman"/>
              </a:rPr>
              <a:t>which</a:t>
            </a:r>
            <a:r>
              <a:rPr sz="1800" spc="345" dirty="0">
                <a:solidFill>
                  <a:srgbClr val="333333"/>
                </a:solidFill>
                <a:latin typeface="Times New Roman"/>
                <a:cs typeface="Times New Roman"/>
              </a:rPr>
              <a:t> </a:t>
            </a:r>
            <a:r>
              <a:rPr sz="1800" dirty="0">
                <a:solidFill>
                  <a:srgbClr val="333333"/>
                </a:solidFill>
                <a:latin typeface="Times New Roman"/>
                <a:cs typeface="Times New Roman"/>
              </a:rPr>
              <a:t>are</a:t>
            </a:r>
            <a:r>
              <a:rPr sz="1800" spc="355" dirty="0">
                <a:solidFill>
                  <a:srgbClr val="333333"/>
                </a:solidFill>
                <a:latin typeface="Times New Roman"/>
                <a:cs typeface="Times New Roman"/>
              </a:rPr>
              <a:t> </a:t>
            </a:r>
            <a:r>
              <a:rPr sz="1800" spc="-10" dirty="0">
                <a:solidFill>
                  <a:srgbClr val="333333"/>
                </a:solidFill>
                <a:latin typeface="Times New Roman"/>
                <a:cs typeface="Times New Roman"/>
              </a:rPr>
              <a:t>essential,</a:t>
            </a:r>
            <a:endParaRPr sz="1800">
              <a:latin typeface="Times New Roman"/>
              <a:cs typeface="Times New Roman"/>
            </a:endParaRPr>
          </a:p>
          <a:p>
            <a:pPr marL="12700" algn="just">
              <a:lnSpc>
                <a:spcPct val="100000"/>
              </a:lnSpc>
            </a:pPr>
            <a:r>
              <a:rPr sz="1800" dirty="0">
                <a:solidFill>
                  <a:srgbClr val="333333"/>
                </a:solidFill>
                <a:latin typeface="Times New Roman"/>
                <a:cs typeface="Times New Roman"/>
              </a:rPr>
              <a:t>especially</a:t>
            </a:r>
            <a:r>
              <a:rPr sz="1800" spc="-65" dirty="0">
                <a:solidFill>
                  <a:srgbClr val="333333"/>
                </a:solidFill>
                <a:latin typeface="Times New Roman"/>
                <a:cs typeface="Times New Roman"/>
              </a:rPr>
              <a:t> </a:t>
            </a:r>
            <a:r>
              <a:rPr sz="1800" dirty="0">
                <a:solidFill>
                  <a:srgbClr val="333333"/>
                </a:solidFill>
                <a:latin typeface="Times New Roman"/>
                <a:cs typeface="Times New Roman"/>
              </a:rPr>
              <a:t>where</a:t>
            </a:r>
            <a:r>
              <a:rPr sz="1800" spc="-25" dirty="0">
                <a:solidFill>
                  <a:srgbClr val="333333"/>
                </a:solidFill>
                <a:latin typeface="Times New Roman"/>
                <a:cs typeface="Times New Roman"/>
              </a:rPr>
              <a:t> </a:t>
            </a:r>
            <a:r>
              <a:rPr sz="1800" dirty="0">
                <a:solidFill>
                  <a:srgbClr val="333333"/>
                </a:solidFill>
                <a:latin typeface="Times New Roman"/>
                <a:cs typeface="Times New Roman"/>
              </a:rPr>
              <a:t>considering</a:t>
            </a:r>
            <a:r>
              <a:rPr sz="1800" spc="-55" dirty="0">
                <a:solidFill>
                  <a:srgbClr val="333333"/>
                </a:solidFill>
                <a:latin typeface="Times New Roman"/>
                <a:cs typeface="Times New Roman"/>
              </a:rPr>
              <a:t> </a:t>
            </a:r>
            <a:r>
              <a:rPr sz="1800" dirty="0">
                <a:solidFill>
                  <a:srgbClr val="333333"/>
                </a:solidFill>
                <a:latin typeface="Times New Roman"/>
                <a:cs typeface="Times New Roman"/>
              </a:rPr>
              <a:t>probabilistic</a:t>
            </a:r>
            <a:r>
              <a:rPr sz="1800" spc="-50" dirty="0">
                <a:solidFill>
                  <a:srgbClr val="333333"/>
                </a:solidFill>
                <a:latin typeface="Times New Roman"/>
                <a:cs typeface="Times New Roman"/>
              </a:rPr>
              <a:t> </a:t>
            </a:r>
            <a:r>
              <a:rPr sz="1800" dirty="0">
                <a:solidFill>
                  <a:srgbClr val="333333"/>
                </a:solidFill>
                <a:latin typeface="Times New Roman"/>
                <a:cs typeface="Times New Roman"/>
              </a:rPr>
              <a:t>approaches</a:t>
            </a:r>
            <a:r>
              <a:rPr sz="1800" spc="-55" dirty="0">
                <a:solidFill>
                  <a:srgbClr val="333333"/>
                </a:solidFill>
                <a:latin typeface="Times New Roman"/>
                <a:cs typeface="Times New Roman"/>
              </a:rPr>
              <a:t> </a:t>
            </a:r>
            <a:r>
              <a:rPr sz="1800" dirty="0">
                <a:solidFill>
                  <a:srgbClr val="333333"/>
                </a:solidFill>
                <a:latin typeface="Times New Roman"/>
                <a:cs typeface="Times New Roman"/>
              </a:rPr>
              <a:t>such</a:t>
            </a:r>
            <a:r>
              <a:rPr sz="1800" spc="-30" dirty="0">
                <a:solidFill>
                  <a:srgbClr val="333333"/>
                </a:solidFill>
                <a:latin typeface="Times New Roman"/>
                <a:cs typeface="Times New Roman"/>
              </a:rPr>
              <a:t> </a:t>
            </a:r>
            <a:r>
              <a:rPr sz="1800" dirty="0">
                <a:solidFill>
                  <a:srgbClr val="333333"/>
                </a:solidFill>
                <a:latin typeface="Times New Roman"/>
                <a:cs typeface="Times New Roman"/>
              </a:rPr>
              <a:t>as</a:t>
            </a:r>
            <a:r>
              <a:rPr sz="1800" spc="-40" dirty="0">
                <a:solidFill>
                  <a:srgbClr val="333333"/>
                </a:solidFill>
                <a:latin typeface="Times New Roman"/>
                <a:cs typeface="Times New Roman"/>
              </a:rPr>
              <a:t> </a:t>
            </a:r>
            <a:r>
              <a:rPr sz="1800" dirty="0">
                <a:solidFill>
                  <a:srgbClr val="333333"/>
                </a:solidFill>
                <a:latin typeface="Times New Roman"/>
                <a:cs typeface="Times New Roman"/>
              </a:rPr>
              <a:t>Bayesian</a:t>
            </a:r>
            <a:r>
              <a:rPr sz="1800" spc="-65" dirty="0">
                <a:solidFill>
                  <a:srgbClr val="333333"/>
                </a:solidFill>
                <a:latin typeface="Times New Roman"/>
                <a:cs typeface="Times New Roman"/>
              </a:rPr>
              <a:t> </a:t>
            </a:r>
            <a:r>
              <a:rPr sz="1800" spc="-10" dirty="0">
                <a:solidFill>
                  <a:srgbClr val="333333"/>
                </a:solidFill>
                <a:latin typeface="Times New Roman"/>
                <a:cs typeface="Times New Roman"/>
              </a:rPr>
              <a:t>models.</a:t>
            </a:r>
            <a:endParaRPr sz="1800">
              <a:latin typeface="Times New Roman"/>
              <a:cs typeface="Times New Roman"/>
            </a:endParaRPr>
          </a:p>
          <a:p>
            <a:pPr>
              <a:lnSpc>
                <a:spcPct val="100000"/>
              </a:lnSpc>
              <a:spcBef>
                <a:spcPts val="90"/>
              </a:spcBef>
            </a:pPr>
            <a:endParaRPr sz="1800">
              <a:latin typeface="Times New Roman"/>
              <a:cs typeface="Times New Roman"/>
            </a:endParaRPr>
          </a:p>
          <a:p>
            <a:pPr marL="241300" indent="-228600">
              <a:lnSpc>
                <a:spcPct val="100000"/>
              </a:lnSpc>
              <a:buSzPct val="94444"/>
              <a:buAutoNum type="arabicPeriod" startAt="9"/>
              <a:tabLst>
                <a:tab pos="241300" algn="l"/>
              </a:tabLst>
            </a:pPr>
            <a:r>
              <a:rPr sz="1800" dirty="0">
                <a:solidFill>
                  <a:srgbClr val="600A4A"/>
                </a:solidFill>
                <a:latin typeface="Times New Roman"/>
                <a:cs typeface="Times New Roman"/>
              </a:rPr>
              <a:t>Layered</a:t>
            </a:r>
            <a:r>
              <a:rPr sz="1800" spc="-50" dirty="0">
                <a:solidFill>
                  <a:srgbClr val="600A4A"/>
                </a:solidFill>
                <a:latin typeface="Times New Roman"/>
                <a:cs typeface="Times New Roman"/>
              </a:rPr>
              <a:t> </a:t>
            </a:r>
            <a:r>
              <a:rPr sz="1800" spc="-10" dirty="0">
                <a:solidFill>
                  <a:srgbClr val="600A4A"/>
                </a:solidFill>
                <a:latin typeface="Times New Roman"/>
                <a:cs typeface="Times New Roman"/>
              </a:rPr>
              <a:t>Components</a:t>
            </a:r>
            <a:endParaRPr sz="1800">
              <a:latin typeface="Times New Roman"/>
              <a:cs typeface="Times New Roman"/>
            </a:endParaRPr>
          </a:p>
          <a:p>
            <a:pPr>
              <a:lnSpc>
                <a:spcPct val="100000"/>
              </a:lnSpc>
              <a:spcBef>
                <a:spcPts val="90"/>
              </a:spcBef>
              <a:buClr>
                <a:srgbClr val="600A4A"/>
              </a:buClr>
              <a:buFont typeface="Times New Roman"/>
              <a:buAutoNum type="arabicPeriod" startAt="9"/>
            </a:pPr>
            <a:endParaRPr sz="1800">
              <a:latin typeface="Times New Roman"/>
              <a:cs typeface="Times New Roman"/>
            </a:endParaRPr>
          </a:p>
          <a:p>
            <a:pPr marL="12700" marR="5715" algn="just">
              <a:lnSpc>
                <a:spcPct val="100000"/>
              </a:lnSpc>
            </a:pPr>
            <a:r>
              <a:rPr sz="1800" spc="-10" dirty="0">
                <a:solidFill>
                  <a:srgbClr val="333333"/>
                </a:solidFill>
                <a:latin typeface="Times New Roman"/>
                <a:cs typeface="Times New Roman"/>
              </a:rPr>
              <a:t>TensorFlow</a:t>
            </a:r>
            <a:r>
              <a:rPr sz="1800" spc="-25" dirty="0">
                <a:solidFill>
                  <a:srgbClr val="333333"/>
                </a:solidFill>
                <a:latin typeface="Times New Roman"/>
                <a:cs typeface="Times New Roman"/>
              </a:rPr>
              <a:t> </a:t>
            </a:r>
            <a:r>
              <a:rPr sz="1800" dirty="0">
                <a:solidFill>
                  <a:srgbClr val="333333"/>
                </a:solidFill>
                <a:latin typeface="Times New Roman"/>
                <a:cs typeface="Times New Roman"/>
              </a:rPr>
              <a:t>produces</a:t>
            </a:r>
            <a:r>
              <a:rPr sz="1800" spc="-30" dirty="0">
                <a:solidFill>
                  <a:srgbClr val="333333"/>
                </a:solidFill>
                <a:latin typeface="Times New Roman"/>
                <a:cs typeface="Times New Roman"/>
              </a:rPr>
              <a:t> </a:t>
            </a:r>
            <a:r>
              <a:rPr sz="1800" dirty="0">
                <a:solidFill>
                  <a:srgbClr val="333333"/>
                </a:solidFill>
                <a:latin typeface="Times New Roman"/>
                <a:cs typeface="Times New Roman"/>
              </a:rPr>
              <a:t>layered</a:t>
            </a:r>
            <a:r>
              <a:rPr sz="1800" spc="-15" dirty="0">
                <a:solidFill>
                  <a:srgbClr val="333333"/>
                </a:solidFill>
                <a:latin typeface="Times New Roman"/>
                <a:cs typeface="Times New Roman"/>
              </a:rPr>
              <a:t> </a:t>
            </a:r>
            <a:r>
              <a:rPr sz="1800" dirty="0">
                <a:solidFill>
                  <a:srgbClr val="333333"/>
                </a:solidFill>
                <a:latin typeface="Times New Roman"/>
                <a:cs typeface="Times New Roman"/>
              </a:rPr>
              <a:t>operations</a:t>
            </a:r>
            <a:r>
              <a:rPr sz="1800" spc="-20" dirty="0">
                <a:solidFill>
                  <a:srgbClr val="333333"/>
                </a:solidFill>
                <a:latin typeface="Times New Roman"/>
                <a:cs typeface="Times New Roman"/>
              </a:rPr>
              <a:t> </a:t>
            </a:r>
            <a:r>
              <a:rPr sz="1800" dirty="0">
                <a:solidFill>
                  <a:srgbClr val="333333"/>
                </a:solidFill>
                <a:latin typeface="Times New Roman"/>
                <a:cs typeface="Times New Roman"/>
              </a:rPr>
              <a:t>of</a:t>
            </a:r>
            <a:r>
              <a:rPr sz="1800" spc="-15" dirty="0">
                <a:solidFill>
                  <a:srgbClr val="333333"/>
                </a:solidFill>
                <a:latin typeface="Times New Roman"/>
                <a:cs typeface="Times New Roman"/>
              </a:rPr>
              <a:t> </a:t>
            </a:r>
            <a:r>
              <a:rPr sz="1800" dirty="0">
                <a:solidFill>
                  <a:srgbClr val="333333"/>
                </a:solidFill>
                <a:latin typeface="Times New Roman"/>
                <a:cs typeface="Times New Roman"/>
              </a:rPr>
              <a:t>weight</a:t>
            </a:r>
            <a:r>
              <a:rPr sz="1800" spc="-20" dirty="0">
                <a:solidFill>
                  <a:srgbClr val="333333"/>
                </a:solidFill>
                <a:latin typeface="Times New Roman"/>
                <a:cs typeface="Times New Roman"/>
              </a:rPr>
              <a:t> </a:t>
            </a:r>
            <a:r>
              <a:rPr sz="1800" dirty="0">
                <a:solidFill>
                  <a:srgbClr val="333333"/>
                </a:solidFill>
                <a:latin typeface="Times New Roman"/>
                <a:cs typeface="Times New Roman"/>
              </a:rPr>
              <a:t>and</a:t>
            </a:r>
            <a:r>
              <a:rPr sz="1800" spc="-10" dirty="0">
                <a:solidFill>
                  <a:srgbClr val="333333"/>
                </a:solidFill>
                <a:latin typeface="Times New Roman"/>
                <a:cs typeface="Times New Roman"/>
              </a:rPr>
              <a:t> </a:t>
            </a:r>
            <a:r>
              <a:rPr sz="1800" dirty="0">
                <a:solidFill>
                  <a:srgbClr val="333333"/>
                </a:solidFill>
                <a:latin typeface="Times New Roman"/>
                <a:cs typeface="Times New Roman"/>
              </a:rPr>
              <a:t>biases</a:t>
            </a:r>
            <a:r>
              <a:rPr sz="1800" spc="-20" dirty="0">
                <a:solidFill>
                  <a:srgbClr val="333333"/>
                </a:solidFill>
                <a:latin typeface="Times New Roman"/>
                <a:cs typeface="Times New Roman"/>
              </a:rPr>
              <a:t> </a:t>
            </a:r>
            <a:r>
              <a:rPr sz="1800" dirty="0">
                <a:solidFill>
                  <a:srgbClr val="333333"/>
                </a:solidFill>
                <a:latin typeface="Times New Roman"/>
                <a:cs typeface="Times New Roman"/>
              </a:rPr>
              <a:t>from</a:t>
            </a:r>
            <a:r>
              <a:rPr sz="1800" spc="-30" dirty="0">
                <a:solidFill>
                  <a:srgbClr val="333333"/>
                </a:solidFill>
                <a:latin typeface="Times New Roman"/>
                <a:cs typeface="Times New Roman"/>
              </a:rPr>
              <a:t> </a:t>
            </a:r>
            <a:r>
              <a:rPr sz="1800" dirty="0">
                <a:solidFill>
                  <a:srgbClr val="333333"/>
                </a:solidFill>
                <a:latin typeface="Times New Roman"/>
                <a:cs typeface="Times New Roman"/>
              </a:rPr>
              <a:t>the</a:t>
            </a:r>
            <a:r>
              <a:rPr sz="1800" spc="-10" dirty="0">
                <a:solidFill>
                  <a:srgbClr val="333333"/>
                </a:solidFill>
                <a:latin typeface="Times New Roman"/>
                <a:cs typeface="Times New Roman"/>
              </a:rPr>
              <a:t> </a:t>
            </a:r>
            <a:r>
              <a:rPr sz="1800" dirty="0">
                <a:solidFill>
                  <a:srgbClr val="333333"/>
                </a:solidFill>
                <a:latin typeface="Times New Roman"/>
                <a:cs typeface="Times New Roman"/>
              </a:rPr>
              <a:t>function</a:t>
            </a:r>
            <a:r>
              <a:rPr sz="1800" spc="-15" dirty="0">
                <a:solidFill>
                  <a:srgbClr val="333333"/>
                </a:solidFill>
                <a:latin typeface="Times New Roman"/>
                <a:cs typeface="Times New Roman"/>
              </a:rPr>
              <a:t> </a:t>
            </a:r>
            <a:r>
              <a:rPr sz="1800" dirty="0">
                <a:solidFill>
                  <a:srgbClr val="333333"/>
                </a:solidFill>
                <a:latin typeface="Times New Roman"/>
                <a:cs typeface="Times New Roman"/>
              </a:rPr>
              <a:t>such</a:t>
            </a:r>
            <a:r>
              <a:rPr sz="1800" spc="-15" dirty="0">
                <a:solidFill>
                  <a:srgbClr val="333333"/>
                </a:solidFill>
                <a:latin typeface="Times New Roman"/>
                <a:cs typeface="Times New Roman"/>
              </a:rPr>
              <a:t> </a:t>
            </a:r>
            <a:r>
              <a:rPr sz="1800" dirty="0">
                <a:solidFill>
                  <a:srgbClr val="333333"/>
                </a:solidFill>
                <a:latin typeface="Times New Roman"/>
                <a:cs typeface="Times New Roman"/>
              </a:rPr>
              <a:t>as</a:t>
            </a:r>
            <a:r>
              <a:rPr sz="1800" spc="-20" dirty="0">
                <a:solidFill>
                  <a:srgbClr val="333333"/>
                </a:solidFill>
                <a:latin typeface="Times New Roman"/>
                <a:cs typeface="Times New Roman"/>
              </a:rPr>
              <a:t> </a:t>
            </a:r>
            <a:r>
              <a:rPr sz="1800" dirty="0">
                <a:solidFill>
                  <a:srgbClr val="333333"/>
                </a:solidFill>
                <a:latin typeface="Times New Roman"/>
                <a:cs typeface="Times New Roman"/>
              </a:rPr>
              <a:t>tf.contrib.layers</a:t>
            </a:r>
            <a:r>
              <a:rPr sz="1800" spc="-25" dirty="0">
                <a:solidFill>
                  <a:srgbClr val="333333"/>
                </a:solidFill>
                <a:latin typeface="Times New Roman"/>
                <a:cs typeface="Times New Roman"/>
              </a:rPr>
              <a:t> </a:t>
            </a:r>
            <a:r>
              <a:rPr sz="1800" dirty="0">
                <a:solidFill>
                  <a:srgbClr val="333333"/>
                </a:solidFill>
                <a:latin typeface="Times New Roman"/>
                <a:cs typeface="Times New Roman"/>
              </a:rPr>
              <a:t>and</a:t>
            </a:r>
            <a:r>
              <a:rPr sz="1800" spc="-10" dirty="0">
                <a:solidFill>
                  <a:srgbClr val="333333"/>
                </a:solidFill>
                <a:latin typeface="Times New Roman"/>
                <a:cs typeface="Times New Roman"/>
              </a:rPr>
              <a:t> </a:t>
            </a:r>
            <a:r>
              <a:rPr sz="1800" dirty="0">
                <a:solidFill>
                  <a:srgbClr val="333333"/>
                </a:solidFill>
                <a:latin typeface="Times New Roman"/>
                <a:cs typeface="Times New Roman"/>
              </a:rPr>
              <a:t>also</a:t>
            </a:r>
            <a:r>
              <a:rPr sz="1800" spc="-20" dirty="0">
                <a:solidFill>
                  <a:srgbClr val="333333"/>
                </a:solidFill>
                <a:latin typeface="Times New Roman"/>
                <a:cs typeface="Times New Roman"/>
              </a:rPr>
              <a:t> </a:t>
            </a:r>
            <a:r>
              <a:rPr sz="1800" spc="-10" dirty="0">
                <a:solidFill>
                  <a:srgbClr val="333333"/>
                </a:solidFill>
                <a:latin typeface="Times New Roman"/>
                <a:cs typeface="Times New Roman"/>
              </a:rPr>
              <a:t>provides </a:t>
            </a:r>
            <a:r>
              <a:rPr sz="1800" dirty="0">
                <a:solidFill>
                  <a:srgbClr val="333333"/>
                </a:solidFill>
                <a:latin typeface="Times New Roman"/>
                <a:cs typeface="Times New Roman"/>
              </a:rPr>
              <a:t>batch</a:t>
            </a:r>
            <a:r>
              <a:rPr sz="1800" spc="80" dirty="0">
                <a:solidFill>
                  <a:srgbClr val="333333"/>
                </a:solidFill>
                <a:latin typeface="Times New Roman"/>
                <a:cs typeface="Times New Roman"/>
              </a:rPr>
              <a:t>  </a:t>
            </a:r>
            <a:r>
              <a:rPr sz="1800" dirty="0">
                <a:solidFill>
                  <a:srgbClr val="333333"/>
                </a:solidFill>
                <a:latin typeface="Times New Roman"/>
                <a:cs typeface="Times New Roman"/>
              </a:rPr>
              <a:t>normalization,</a:t>
            </a:r>
            <a:r>
              <a:rPr sz="1800" spc="70" dirty="0">
                <a:solidFill>
                  <a:srgbClr val="333333"/>
                </a:solidFill>
                <a:latin typeface="Times New Roman"/>
                <a:cs typeface="Times New Roman"/>
              </a:rPr>
              <a:t>  </a:t>
            </a:r>
            <a:r>
              <a:rPr sz="1800" dirty="0">
                <a:solidFill>
                  <a:srgbClr val="333333"/>
                </a:solidFill>
                <a:latin typeface="Times New Roman"/>
                <a:cs typeface="Times New Roman"/>
              </a:rPr>
              <a:t>convolution</a:t>
            </a:r>
            <a:r>
              <a:rPr sz="1800" spc="80" dirty="0">
                <a:solidFill>
                  <a:srgbClr val="333333"/>
                </a:solidFill>
                <a:latin typeface="Times New Roman"/>
                <a:cs typeface="Times New Roman"/>
              </a:rPr>
              <a:t>  </a:t>
            </a:r>
            <a:r>
              <a:rPr sz="1800" dirty="0">
                <a:solidFill>
                  <a:srgbClr val="333333"/>
                </a:solidFill>
                <a:latin typeface="Times New Roman"/>
                <a:cs typeface="Times New Roman"/>
              </a:rPr>
              <a:t>layer,</a:t>
            </a:r>
            <a:r>
              <a:rPr sz="1800" spc="75" dirty="0">
                <a:solidFill>
                  <a:srgbClr val="333333"/>
                </a:solidFill>
                <a:latin typeface="Times New Roman"/>
                <a:cs typeface="Times New Roman"/>
              </a:rPr>
              <a:t>  </a:t>
            </a:r>
            <a:r>
              <a:rPr sz="1800" dirty="0">
                <a:solidFill>
                  <a:srgbClr val="333333"/>
                </a:solidFill>
                <a:latin typeface="Times New Roman"/>
                <a:cs typeface="Times New Roman"/>
              </a:rPr>
              <a:t>and</a:t>
            </a:r>
            <a:r>
              <a:rPr sz="1800" spc="80" dirty="0">
                <a:solidFill>
                  <a:srgbClr val="333333"/>
                </a:solidFill>
                <a:latin typeface="Times New Roman"/>
                <a:cs typeface="Times New Roman"/>
              </a:rPr>
              <a:t>  </a:t>
            </a:r>
            <a:r>
              <a:rPr sz="1800" dirty="0">
                <a:solidFill>
                  <a:srgbClr val="333333"/>
                </a:solidFill>
                <a:latin typeface="Times New Roman"/>
                <a:cs typeface="Times New Roman"/>
              </a:rPr>
              <a:t>dropout</a:t>
            </a:r>
            <a:r>
              <a:rPr sz="1800" spc="80" dirty="0">
                <a:solidFill>
                  <a:srgbClr val="333333"/>
                </a:solidFill>
                <a:latin typeface="Times New Roman"/>
                <a:cs typeface="Times New Roman"/>
              </a:rPr>
              <a:t>  </a:t>
            </a:r>
            <a:r>
              <a:rPr sz="1800" dirty="0">
                <a:solidFill>
                  <a:srgbClr val="333333"/>
                </a:solidFill>
                <a:latin typeface="Times New Roman"/>
                <a:cs typeface="Times New Roman"/>
              </a:rPr>
              <a:t>layer.</a:t>
            </a:r>
            <a:r>
              <a:rPr sz="1800" spc="85" dirty="0">
                <a:solidFill>
                  <a:srgbClr val="333333"/>
                </a:solidFill>
                <a:latin typeface="Times New Roman"/>
                <a:cs typeface="Times New Roman"/>
              </a:rPr>
              <a:t>  </a:t>
            </a:r>
            <a:r>
              <a:rPr sz="1800" dirty="0">
                <a:solidFill>
                  <a:srgbClr val="333333"/>
                </a:solidFill>
                <a:latin typeface="Times New Roman"/>
                <a:cs typeface="Times New Roman"/>
              </a:rPr>
              <a:t>So</a:t>
            </a:r>
            <a:r>
              <a:rPr sz="1800" spc="80" dirty="0">
                <a:solidFill>
                  <a:srgbClr val="333333"/>
                </a:solidFill>
                <a:latin typeface="Times New Roman"/>
                <a:cs typeface="Times New Roman"/>
              </a:rPr>
              <a:t>  </a:t>
            </a:r>
            <a:r>
              <a:rPr sz="1800" b="1" dirty="0">
                <a:solidFill>
                  <a:srgbClr val="333333"/>
                </a:solidFill>
                <a:latin typeface="Times New Roman"/>
                <a:cs typeface="Times New Roman"/>
              </a:rPr>
              <a:t>tf.contrib.layers.optimizers</a:t>
            </a:r>
            <a:r>
              <a:rPr sz="1800" b="1" spc="75" dirty="0">
                <a:solidFill>
                  <a:srgbClr val="333333"/>
                </a:solidFill>
                <a:latin typeface="Times New Roman"/>
                <a:cs typeface="Times New Roman"/>
              </a:rPr>
              <a:t>  </a:t>
            </a:r>
            <a:r>
              <a:rPr sz="1800" dirty="0">
                <a:solidFill>
                  <a:srgbClr val="333333"/>
                </a:solidFill>
                <a:latin typeface="Times New Roman"/>
                <a:cs typeface="Times New Roman"/>
              </a:rPr>
              <a:t>have</a:t>
            </a:r>
            <a:r>
              <a:rPr sz="1800" spc="80" dirty="0">
                <a:solidFill>
                  <a:srgbClr val="333333"/>
                </a:solidFill>
                <a:latin typeface="Times New Roman"/>
                <a:cs typeface="Times New Roman"/>
              </a:rPr>
              <a:t>  </a:t>
            </a:r>
            <a:r>
              <a:rPr sz="1800" dirty="0">
                <a:solidFill>
                  <a:srgbClr val="333333"/>
                </a:solidFill>
                <a:latin typeface="Times New Roman"/>
                <a:cs typeface="Times New Roman"/>
              </a:rPr>
              <a:t>optimizers</a:t>
            </a:r>
            <a:r>
              <a:rPr sz="1800" spc="65" dirty="0">
                <a:solidFill>
                  <a:srgbClr val="333333"/>
                </a:solidFill>
                <a:latin typeface="Times New Roman"/>
                <a:cs typeface="Times New Roman"/>
              </a:rPr>
              <a:t>  </a:t>
            </a:r>
            <a:r>
              <a:rPr sz="1800" spc="-20" dirty="0">
                <a:solidFill>
                  <a:srgbClr val="333333"/>
                </a:solidFill>
                <a:latin typeface="Times New Roman"/>
                <a:cs typeface="Times New Roman"/>
              </a:rPr>
              <a:t>such </a:t>
            </a:r>
            <a:r>
              <a:rPr sz="1800" dirty="0">
                <a:solidFill>
                  <a:srgbClr val="333333"/>
                </a:solidFill>
                <a:latin typeface="Times New Roman"/>
                <a:cs typeface="Times New Roman"/>
              </a:rPr>
              <a:t>as</a:t>
            </a:r>
            <a:r>
              <a:rPr sz="1800" spc="-35" dirty="0">
                <a:solidFill>
                  <a:srgbClr val="333333"/>
                </a:solidFill>
                <a:latin typeface="Times New Roman"/>
                <a:cs typeface="Times New Roman"/>
              </a:rPr>
              <a:t> </a:t>
            </a:r>
            <a:r>
              <a:rPr sz="1800" b="1" dirty="0">
                <a:solidFill>
                  <a:srgbClr val="333333"/>
                </a:solidFill>
                <a:latin typeface="Times New Roman"/>
                <a:cs typeface="Times New Roman"/>
              </a:rPr>
              <a:t>Adagrad</a:t>
            </a:r>
            <a:r>
              <a:rPr sz="1800" dirty="0">
                <a:solidFill>
                  <a:srgbClr val="333333"/>
                </a:solidFill>
                <a:latin typeface="Times New Roman"/>
                <a:cs typeface="Times New Roman"/>
              </a:rPr>
              <a:t>,</a:t>
            </a:r>
            <a:r>
              <a:rPr sz="1800" spc="-15" dirty="0">
                <a:solidFill>
                  <a:srgbClr val="333333"/>
                </a:solidFill>
                <a:latin typeface="Times New Roman"/>
                <a:cs typeface="Times New Roman"/>
              </a:rPr>
              <a:t> </a:t>
            </a:r>
            <a:r>
              <a:rPr sz="1800" b="1" dirty="0">
                <a:solidFill>
                  <a:srgbClr val="333333"/>
                </a:solidFill>
                <a:latin typeface="Times New Roman"/>
                <a:cs typeface="Times New Roman"/>
              </a:rPr>
              <a:t>SGD</a:t>
            </a:r>
            <a:r>
              <a:rPr sz="1800" dirty="0">
                <a:solidFill>
                  <a:srgbClr val="333333"/>
                </a:solidFill>
                <a:latin typeface="Times New Roman"/>
                <a:cs typeface="Times New Roman"/>
              </a:rPr>
              <a:t>,</a:t>
            </a:r>
            <a:r>
              <a:rPr sz="1800" spc="-10" dirty="0">
                <a:solidFill>
                  <a:srgbClr val="333333"/>
                </a:solidFill>
                <a:latin typeface="Times New Roman"/>
                <a:cs typeface="Times New Roman"/>
              </a:rPr>
              <a:t> </a:t>
            </a:r>
            <a:r>
              <a:rPr sz="1800" b="1" dirty="0">
                <a:solidFill>
                  <a:srgbClr val="333333"/>
                </a:solidFill>
                <a:latin typeface="Times New Roman"/>
                <a:cs typeface="Times New Roman"/>
              </a:rPr>
              <a:t>Momentum</a:t>
            </a:r>
            <a:r>
              <a:rPr sz="1800" b="1" spc="-40" dirty="0">
                <a:solidFill>
                  <a:srgbClr val="333333"/>
                </a:solidFill>
                <a:latin typeface="Times New Roman"/>
                <a:cs typeface="Times New Roman"/>
              </a:rPr>
              <a:t> </a:t>
            </a:r>
            <a:r>
              <a:rPr sz="1800" dirty="0">
                <a:solidFill>
                  <a:srgbClr val="333333"/>
                </a:solidFill>
                <a:latin typeface="Times New Roman"/>
                <a:cs typeface="Times New Roman"/>
              </a:rPr>
              <a:t>which</a:t>
            </a:r>
            <a:r>
              <a:rPr sz="1800" spc="-30" dirty="0">
                <a:solidFill>
                  <a:srgbClr val="333333"/>
                </a:solidFill>
                <a:latin typeface="Times New Roman"/>
                <a:cs typeface="Times New Roman"/>
              </a:rPr>
              <a:t> </a:t>
            </a:r>
            <a:r>
              <a:rPr sz="1800" dirty="0">
                <a:solidFill>
                  <a:srgbClr val="333333"/>
                </a:solidFill>
                <a:latin typeface="Times New Roman"/>
                <a:cs typeface="Times New Roman"/>
              </a:rPr>
              <a:t>are</a:t>
            </a:r>
            <a:r>
              <a:rPr sz="1800" spc="-25" dirty="0">
                <a:solidFill>
                  <a:srgbClr val="333333"/>
                </a:solidFill>
                <a:latin typeface="Times New Roman"/>
                <a:cs typeface="Times New Roman"/>
              </a:rPr>
              <a:t> </a:t>
            </a:r>
            <a:r>
              <a:rPr sz="1800" dirty="0">
                <a:solidFill>
                  <a:srgbClr val="333333"/>
                </a:solidFill>
                <a:latin typeface="Times New Roman"/>
                <a:cs typeface="Times New Roman"/>
              </a:rPr>
              <a:t>often</a:t>
            </a:r>
            <a:r>
              <a:rPr sz="1800" spc="-30" dirty="0">
                <a:solidFill>
                  <a:srgbClr val="333333"/>
                </a:solidFill>
                <a:latin typeface="Times New Roman"/>
                <a:cs typeface="Times New Roman"/>
              </a:rPr>
              <a:t> </a:t>
            </a:r>
            <a:r>
              <a:rPr sz="1800" dirty="0">
                <a:solidFill>
                  <a:srgbClr val="333333"/>
                </a:solidFill>
                <a:latin typeface="Times New Roman"/>
                <a:cs typeface="Times New Roman"/>
              </a:rPr>
              <a:t>used</a:t>
            </a:r>
            <a:r>
              <a:rPr sz="1800" spc="-30" dirty="0">
                <a:solidFill>
                  <a:srgbClr val="333333"/>
                </a:solidFill>
                <a:latin typeface="Times New Roman"/>
                <a:cs typeface="Times New Roman"/>
              </a:rPr>
              <a:t> </a:t>
            </a:r>
            <a:r>
              <a:rPr sz="1800" dirty="0">
                <a:solidFill>
                  <a:srgbClr val="333333"/>
                </a:solidFill>
                <a:latin typeface="Times New Roman"/>
                <a:cs typeface="Times New Roman"/>
              </a:rPr>
              <a:t>to</a:t>
            </a:r>
            <a:r>
              <a:rPr sz="1800" spc="-15" dirty="0">
                <a:solidFill>
                  <a:srgbClr val="333333"/>
                </a:solidFill>
                <a:latin typeface="Times New Roman"/>
                <a:cs typeface="Times New Roman"/>
              </a:rPr>
              <a:t> </a:t>
            </a:r>
            <a:r>
              <a:rPr sz="1800" dirty="0">
                <a:solidFill>
                  <a:srgbClr val="333333"/>
                </a:solidFill>
                <a:latin typeface="Times New Roman"/>
                <a:cs typeface="Times New Roman"/>
              </a:rPr>
              <a:t>solve</a:t>
            </a:r>
            <a:r>
              <a:rPr sz="1800" spc="-30" dirty="0">
                <a:solidFill>
                  <a:srgbClr val="333333"/>
                </a:solidFill>
                <a:latin typeface="Times New Roman"/>
                <a:cs typeface="Times New Roman"/>
              </a:rPr>
              <a:t> </a:t>
            </a:r>
            <a:r>
              <a:rPr sz="1800" dirty="0">
                <a:solidFill>
                  <a:srgbClr val="333333"/>
                </a:solidFill>
                <a:latin typeface="Times New Roman"/>
                <a:cs typeface="Times New Roman"/>
              </a:rPr>
              <a:t>optimization</a:t>
            </a:r>
            <a:r>
              <a:rPr sz="1800" spc="-45" dirty="0">
                <a:solidFill>
                  <a:srgbClr val="333333"/>
                </a:solidFill>
                <a:latin typeface="Times New Roman"/>
                <a:cs typeface="Times New Roman"/>
              </a:rPr>
              <a:t> </a:t>
            </a:r>
            <a:r>
              <a:rPr sz="1800" dirty="0">
                <a:solidFill>
                  <a:srgbClr val="333333"/>
                </a:solidFill>
                <a:latin typeface="Times New Roman"/>
                <a:cs typeface="Times New Roman"/>
              </a:rPr>
              <a:t>problems</a:t>
            </a:r>
            <a:r>
              <a:rPr sz="1800" spc="-40" dirty="0">
                <a:solidFill>
                  <a:srgbClr val="333333"/>
                </a:solidFill>
                <a:latin typeface="Times New Roman"/>
                <a:cs typeface="Times New Roman"/>
              </a:rPr>
              <a:t> </a:t>
            </a:r>
            <a:r>
              <a:rPr sz="1800" dirty="0">
                <a:solidFill>
                  <a:srgbClr val="333333"/>
                </a:solidFill>
                <a:latin typeface="Times New Roman"/>
                <a:cs typeface="Times New Roman"/>
              </a:rPr>
              <a:t>for</a:t>
            </a:r>
            <a:r>
              <a:rPr sz="1800" spc="-20" dirty="0">
                <a:solidFill>
                  <a:srgbClr val="333333"/>
                </a:solidFill>
                <a:latin typeface="Times New Roman"/>
                <a:cs typeface="Times New Roman"/>
              </a:rPr>
              <a:t> </a:t>
            </a:r>
            <a:r>
              <a:rPr sz="1800" dirty="0">
                <a:solidFill>
                  <a:srgbClr val="333333"/>
                </a:solidFill>
                <a:latin typeface="Times New Roman"/>
                <a:cs typeface="Times New Roman"/>
              </a:rPr>
              <a:t>numerical</a:t>
            </a:r>
            <a:r>
              <a:rPr sz="1800" spc="-45" dirty="0">
                <a:solidFill>
                  <a:srgbClr val="333333"/>
                </a:solidFill>
                <a:latin typeface="Times New Roman"/>
                <a:cs typeface="Times New Roman"/>
              </a:rPr>
              <a:t> </a:t>
            </a:r>
            <a:r>
              <a:rPr sz="1800" spc="-10" dirty="0">
                <a:solidFill>
                  <a:srgbClr val="333333"/>
                </a:solidFill>
                <a:latin typeface="Times New Roman"/>
                <a:cs typeface="Times New Roman"/>
              </a:rPr>
              <a:t>analysis.</a:t>
            </a:r>
            <a:endParaRPr sz="1800">
              <a:latin typeface="Times New Roman"/>
              <a:cs typeface="Times New Roman"/>
            </a:endParaRPr>
          </a:p>
          <a:p>
            <a:pPr>
              <a:lnSpc>
                <a:spcPct val="100000"/>
              </a:lnSpc>
              <a:spcBef>
                <a:spcPts val="95"/>
              </a:spcBef>
            </a:pPr>
            <a:endParaRPr sz="1800">
              <a:latin typeface="Times New Roman"/>
              <a:cs typeface="Times New Roman"/>
            </a:endParaRPr>
          </a:p>
          <a:p>
            <a:pPr marL="350520" indent="-337820">
              <a:lnSpc>
                <a:spcPct val="100000"/>
              </a:lnSpc>
              <a:buSzPct val="94444"/>
              <a:buAutoNum type="arabicPeriod" startAt="10"/>
              <a:tabLst>
                <a:tab pos="350520" algn="l"/>
              </a:tabLst>
            </a:pPr>
            <a:r>
              <a:rPr sz="1800" spc="-10" dirty="0">
                <a:solidFill>
                  <a:srgbClr val="600A4A"/>
                </a:solidFill>
                <a:latin typeface="Times New Roman"/>
                <a:cs typeface="Times New Roman"/>
              </a:rPr>
              <a:t>Visualizer</a:t>
            </a:r>
            <a:r>
              <a:rPr sz="1800" spc="-65" dirty="0">
                <a:solidFill>
                  <a:srgbClr val="600A4A"/>
                </a:solidFill>
                <a:latin typeface="Times New Roman"/>
                <a:cs typeface="Times New Roman"/>
              </a:rPr>
              <a:t> </a:t>
            </a:r>
            <a:r>
              <a:rPr sz="1800" spc="-10" dirty="0">
                <a:solidFill>
                  <a:srgbClr val="600A4A"/>
                </a:solidFill>
                <a:latin typeface="Times New Roman"/>
                <a:cs typeface="Times New Roman"/>
              </a:rPr>
              <a:t>(With</a:t>
            </a:r>
            <a:r>
              <a:rPr sz="1800" spc="-75" dirty="0">
                <a:solidFill>
                  <a:srgbClr val="600A4A"/>
                </a:solidFill>
                <a:latin typeface="Times New Roman"/>
                <a:cs typeface="Times New Roman"/>
              </a:rPr>
              <a:t> </a:t>
            </a:r>
            <a:r>
              <a:rPr sz="1800" spc="-10" dirty="0">
                <a:solidFill>
                  <a:srgbClr val="600A4A"/>
                </a:solidFill>
                <a:latin typeface="Times New Roman"/>
                <a:cs typeface="Times New Roman"/>
              </a:rPr>
              <a:t>TensorBoard)</a:t>
            </a:r>
            <a:endParaRPr sz="1800">
              <a:latin typeface="Times New Roman"/>
              <a:cs typeface="Times New Roman"/>
            </a:endParaRPr>
          </a:p>
          <a:p>
            <a:pPr>
              <a:lnSpc>
                <a:spcPct val="100000"/>
              </a:lnSpc>
              <a:spcBef>
                <a:spcPts val="90"/>
              </a:spcBef>
              <a:buClr>
                <a:srgbClr val="600A4A"/>
              </a:buClr>
              <a:buFont typeface="Times New Roman"/>
              <a:buAutoNum type="arabicPeriod" startAt="10"/>
            </a:pPr>
            <a:endParaRPr sz="1800">
              <a:latin typeface="Times New Roman"/>
              <a:cs typeface="Times New Roman"/>
            </a:endParaRPr>
          </a:p>
          <a:p>
            <a:pPr marL="12700">
              <a:lnSpc>
                <a:spcPct val="100000"/>
              </a:lnSpc>
            </a:pPr>
            <a:r>
              <a:rPr sz="1800" dirty="0">
                <a:solidFill>
                  <a:srgbClr val="333333"/>
                </a:solidFill>
                <a:latin typeface="Times New Roman"/>
                <a:cs typeface="Times New Roman"/>
              </a:rPr>
              <a:t>We</a:t>
            </a:r>
            <a:r>
              <a:rPr sz="1800" spc="50" dirty="0">
                <a:solidFill>
                  <a:srgbClr val="333333"/>
                </a:solidFill>
                <a:latin typeface="Times New Roman"/>
                <a:cs typeface="Times New Roman"/>
              </a:rPr>
              <a:t> </a:t>
            </a:r>
            <a:r>
              <a:rPr sz="1800" dirty="0">
                <a:solidFill>
                  <a:srgbClr val="333333"/>
                </a:solidFill>
                <a:latin typeface="Times New Roman"/>
                <a:cs typeface="Times New Roman"/>
              </a:rPr>
              <a:t>can</a:t>
            </a:r>
            <a:r>
              <a:rPr sz="1800" spc="30" dirty="0">
                <a:solidFill>
                  <a:srgbClr val="333333"/>
                </a:solidFill>
                <a:latin typeface="Times New Roman"/>
                <a:cs typeface="Times New Roman"/>
              </a:rPr>
              <a:t> </a:t>
            </a:r>
            <a:r>
              <a:rPr sz="1800" dirty="0">
                <a:solidFill>
                  <a:srgbClr val="333333"/>
                </a:solidFill>
                <a:latin typeface="Times New Roman"/>
                <a:cs typeface="Times New Roman"/>
              </a:rPr>
              <a:t>inspect</a:t>
            </a:r>
            <a:r>
              <a:rPr sz="1800" spc="25" dirty="0">
                <a:solidFill>
                  <a:srgbClr val="333333"/>
                </a:solidFill>
                <a:latin typeface="Times New Roman"/>
                <a:cs typeface="Times New Roman"/>
              </a:rPr>
              <a:t> </a:t>
            </a:r>
            <a:r>
              <a:rPr sz="1800" dirty="0">
                <a:solidFill>
                  <a:srgbClr val="333333"/>
                </a:solidFill>
                <a:latin typeface="Times New Roman"/>
                <a:cs typeface="Times New Roman"/>
              </a:rPr>
              <a:t>a</a:t>
            </a:r>
            <a:r>
              <a:rPr sz="1800" spc="40" dirty="0">
                <a:solidFill>
                  <a:srgbClr val="333333"/>
                </a:solidFill>
                <a:latin typeface="Times New Roman"/>
                <a:cs typeface="Times New Roman"/>
              </a:rPr>
              <a:t> </a:t>
            </a:r>
            <a:r>
              <a:rPr sz="1800" dirty="0">
                <a:solidFill>
                  <a:srgbClr val="333333"/>
                </a:solidFill>
                <a:latin typeface="Times New Roman"/>
                <a:cs typeface="Times New Roman"/>
              </a:rPr>
              <a:t>different</a:t>
            </a:r>
            <a:r>
              <a:rPr sz="1800" spc="30" dirty="0">
                <a:solidFill>
                  <a:srgbClr val="333333"/>
                </a:solidFill>
                <a:latin typeface="Times New Roman"/>
                <a:cs typeface="Times New Roman"/>
              </a:rPr>
              <a:t> </a:t>
            </a:r>
            <a:r>
              <a:rPr sz="1800" dirty="0">
                <a:solidFill>
                  <a:srgbClr val="333333"/>
                </a:solidFill>
                <a:latin typeface="Times New Roman"/>
                <a:cs typeface="Times New Roman"/>
              </a:rPr>
              <a:t>representation</a:t>
            </a:r>
            <a:r>
              <a:rPr sz="1800" spc="25" dirty="0">
                <a:solidFill>
                  <a:srgbClr val="333333"/>
                </a:solidFill>
                <a:latin typeface="Times New Roman"/>
                <a:cs typeface="Times New Roman"/>
              </a:rPr>
              <a:t> </a:t>
            </a:r>
            <a:r>
              <a:rPr sz="1800" dirty="0">
                <a:solidFill>
                  <a:srgbClr val="333333"/>
                </a:solidFill>
                <a:latin typeface="Times New Roman"/>
                <a:cs typeface="Times New Roman"/>
              </a:rPr>
              <a:t>of</a:t>
            </a:r>
            <a:r>
              <a:rPr sz="1800" spc="30" dirty="0">
                <a:solidFill>
                  <a:srgbClr val="333333"/>
                </a:solidFill>
                <a:latin typeface="Times New Roman"/>
                <a:cs typeface="Times New Roman"/>
              </a:rPr>
              <a:t> </a:t>
            </a:r>
            <a:r>
              <a:rPr sz="1800" dirty="0">
                <a:solidFill>
                  <a:srgbClr val="333333"/>
                </a:solidFill>
                <a:latin typeface="Times New Roman"/>
                <a:cs typeface="Times New Roman"/>
              </a:rPr>
              <a:t>a</a:t>
            </a:r>
            <a:r>
              <a:rPr sz="1800" spc="55" dirty="0">
                <a:solidFill>
                  <a:srgbClr val="333333"/>
                </a:solidFill>
                <a:latin typeface="Times New Roman"/>
                <a:cs typeface="Times New Roman"/>
              </a:rPr>
              <a:t> </a:t>
            </a:r>
            <a:r>
              <a:rPr sz="1800" dirty="0">
                <a:solidFill>
                  <a:srgbClr val="333333"/>
                </a:solidFill>
                <a:latin typeface="Times New Roman"/>
                <a:cs typeface="Times New Roman"/>
              </a:rPr>
              <a:t>model</a:t>
            </a:r>
            <a:r>
              <a:rPr sz="1800" spc="30" dirty="0">
                <a:solidFill>
                  <a:srgbClr val="333333"/>
                </a:solidFill>
                <a:latin typeface="Times New Roman"/>
                <a:cs typeface="Times New Roman"/>
              </a:rPr>
              <a:t> </a:t>
            </a:r>
            <a:r>
              <a:rPr sz="1800" dirty="0">
                <a:solidFill>
                  <a:srgbClr val="333333"/>
                </a:solidFill>
                <a:latin typeface="Times New Roman"/>
                <a:cs typeface="Times New Roman"/>
              </a:rPr>
              <a:t>and</a:t>
            </a:r>
            <a:r>
              <a:rPr sz="1800" spc="35" dirty="0">
                <a:solidFill>
                  <a:srgbClr val="333333"/>
                </a:solidFill>
                <a:latin typeface="Times New Roman"/>
                <a:cs typeface="Times New Roman"/>
              </a:rPr>
              <a:t> </a:t>
            </a:r>
            <a:r>
              <a:rPr sz="1800" dirty="0">
                <a:solidFill>
                  <a:srgbClr val="333333"/>
                </a:solidFill>
                <a:latin typeface="Times New Roman"/>
                <a:cs typeface="Times New Roman"/>
              </a:rPr>
              <a:t>make</a:t>
            </a:r>
            <a:r>
              <a:rPr sz="1800" spc="35" dirty="0">
                <a:solidFill>
                  <a:srgbClr val="333333"/>
                </a:solidFill>
                <a:latin typeface="Times New Roman"/>
                <a:cs typeface="Times New Roman"/>
              </a:rPr>
              <a:t> </a:t>
            </a:r>
            <a:r>
              <a:rPr sz="1800" dirty="0">
                <a:solidFill>
                  <a:srgbClr val="333333"/>
                </a:solidFill>
                <a:latin typeface="Times New Roman"/>
                <a:cs typeface="Times New Roman"/>
              </a:rPr>
              <a:t>the</a:t>
            </a:r>
            <a:r>
              <a:rPr sz="1800" spc="40" dirty="0">
                <a:solidFill>
                  <a:srgbClr val="333333"/>
                </a:solidFill>
                <a:latin typeface="Times New Roman"/>
                <a:cs typeface="Times New Roman"/>
              </a:rPr>
              <a:t> </a:t>
            </a:r>
            <a:r>
              <a:rPr sz="1800" dirty="0">
                <a:solidFill>
                  <a:srgbClr val="333333"/>
                </a:solidFill>
                <a:latin typeface="Times New Roman"/>
                <a:cs typeface="Times New Roman"/>
              </a:rPr>
              <a:t>changed</a:t>
            </a:r>
            <a:r>
              <a:rPr sz="1800" spc="30" dirty="0">
                <a:solidFill>
                  <a:srgbClr val="333333"/>
                </a:solidFill>
                <a:latin typeface="Times New Roman"/>
                <a:cs typeface="Times New Roman"/>
              </a:rPr>
              <a:t> </a:t>
            </a:r>
            <a:r>
              <a:rPr sz="1800" dirty="0">
                <a:solidFill>
                  <a:srgbClr val="333333"/>
                </a:solidFill>
                <a:latin typeface="Times New Roman"/>
                <a:cs typeface="Times New Roman"/>
              </a:rPr>
              <a:t>necessary</a:t>
            </a:r>
            <a:r>
              <a:rPr sz="1800" spc="40" dirty="0">
                <a:solidFill>
                  <a:srgbClr val="333333"/>
                </a:solidFill>
                <a:latin typeface="Times New Roman"/>
                <a:cs typeface="Times New Roman"/>
              </a:rPr>
              <a:t> </a:t>
            </a:r>
            <a:r>
              <a:rPr sz="1800" dirty="0">
                <a:solidFill>
                  <a:srgbClr val="333333"/>
                </a:solidFill>
                <a:latin typeface="Times New Roman"/>
                <a:cs typeface="Times New Roman"/>
              </a:rPr>
              <a:t>while</a:t>
            </a:r>
            <a:r>
              <a:rPr sz="1800" spc="40" dirty="0">
                <a:solidFill>
                  <a:srgbClr val="333333"/>
                </a:solidFill>
                <a:latin typeface="Times New Roman"/>
                <a:cs typeface="Times New Roman"/>
              </a:rPr>
              <a:t> </a:t>
            </a:r>
            <a:r>
              <a:rPr sz="1800" dirty="0">
                <a:solidFill>
                  <a:srgbClr val="333333"/>
                </a:solidFill>
                <a:latin typeface="Times New Roman"/>
                <a:cs typeface="Times New Roman"/>
              </a:rPr>
              <a:t>debugging</a:t>
            </a:r>
            <a:r>
              <a:rPr sz="1800" spc="30" dirty="0">
                <a:solidFill>
                  <a:srgbClr val="333333"/>
                </a:solidFill>
                <a:latin typeface="Times New Roman"/>
                <a:cs typeface="Times New Roman"/>
              </a:rPr>
              <a:t> </a:t>
            </a:r>
            <a:r>
              <a:rPr sz="1800" dirty="0">
                <a:solidFill>
                  <a:srgbClr val="333333"/>
                </a:solidFill>
                <a:latin typeface="Times New Roman"/>
                <a:cs typeface="Times New Roman"/>
              </a:rPr>
              <a:t>it</a:t>
            </a:r>
            <a:r>
              <a:rPr sz="1800" spc="40" dirty="0">
                <a:solidFill>
                  <a:srgbClr val="333333"/>
                </a:solidFill>
                <a:latin typeface="Times New Roman"/>
                <a:cs typeface="Times New Roman"/>
              </a:rPr>
              <a:t> </a:t>
            </a:r>
            <a:r>
              <a:rPr sz="1800" dirty="0">
                <a:solidFill>
                  <a:srgbClr val="333333"/>
                </a:solidFill>
                <a:latin typeface="Times New Roman"/>
                <a:cs typeface="Times New Roman"/>
              </a:rPr>
              <a:t>with</a:t>
            </a:r>
            <a:r>
              <a:rPr sz="1800" spc="30" dirty="0">
                <a:solidFill>
                  <a:srgbClr val="333333"/>
                </a:solidFill>
                <a:latin typeface="Times New Roman"/>
                <a:cs typeface="Times New Roman"/>
              </a:rPr>
              <a:t> </a:t>
            </a:r>
            <a:r>
              <a:rPr sz="1800" dirty="0">
                <a:solidFill>
                  <a:srgbClr val="333333"/>
                </a:solidFill>
                <a:latin typeface="Times New Roman"/>
                <a:cs typeface="Times New Roman"/>
              </a:rPr>
              <a:t>the</a:t>
            </a:r>
            <a:r>
              <a:rPr sz="1800" spc="45" dirty="0">
                <a:solidFill>
                  <a:srgbClr val="333333"/>
                </a:solidFill>
                <a:latin typeface="Times New Roman"/>
                <a:cs typeface="Times New Roman"/>
              </a:rPr>
              <a:t> </a:t>
            </a:r>
            <a:r>
              <a:rPr sz="1800" dirty="0">
                <a:solidFill>
                  <a:srgbClr val="333333"/>
                </a:solidFill>
                <a:latin typeface="Times New Roman"/>
                <a:cs typeface="Times New Roman"/>
              </a:rPr>
              <a:t>help</a:t>
            </a:r>
            <a:r>
              <a:rPr sz="1800" spc="30" dirty="0">
                <a:solidFill>
                  <a:srgbClr val="333333"/>
                </a:solidFill>
                <a:latin typeface="Times New Roman"/>
                <a:cs typeface="Times New Roman"/>
              </a:rPr>
              <a:t> </a:t>
            </a:r>
            <a:r>
              <a:rPr sz="1800" spc="-25" dirty="0">
                <a:solidFill>
                  <a:srgbClr val="333333"/>
                </a:solidFill>
                <a:latin typeface="Times New Roman"/>
                <a:cs typeface="Times New Roman"/>
              </a:rPr>
              <a:t>of</a:t>
            </a:r>
            <a:endParaRPr sz="1800">
              <a:latin typeface="Times New Roman"/>
              <a:cs typeface="Times New Roman"/>
            </a:endParaRPr>
          </a:p>
          <a:p>
            <a:pPr marL="12700">
              <a:lnSpc>
                <a:spcPct val="100000"/>
              </a:lnSpc>
            </a:pPr>
            <a:r>
              <a:rPr sz="1800" spc="-10" dirty="0">
                <a:solidFill>
                  <a:srgbClr val="333333"/>
                </a:solidFill>
                <a:latin typeface="Times New Roman"/>
                <a:cs typeface="Times New Roman"/>
              </a:rPr>
              <a:t>TensorBoard.</a:t>
            </a:r>
            <a:endParaRPr sz="1800">
              <a:latin typeface="Times New Roman"/>
              <a:cs typeface="Times New Roman"/>
            </a:endParaRPr>
          </a:p>
          <a:p>
            <a:pPr marL="290195" indent="-282575">
              <a:lnSpc>
                <a:spcPct val="100000"/>
              </a:lnSpc>
              <a:buSzPct val="94444"/>
              <a:buAutoNum type="arabicPeriod" startAt="11"/>
              <a:tabLst>
                <a:tab pos="290195" algn="l"/>
              </a:tabLst>
            </a:pPr>
            <a:r>
              <a:rPr sz="1800" dirty="0">
                <a:solidFill>
                  <a:srgbClr val="600A4A"/>
                </a:solidFill>
                <a:latin typeface="Times New Roman"/>
                <a:cs typeface="Times New Roman"/>
              </a:rPr>
              <a:t>Event</a:t>
            </a:r>
            <a:r>
              <a:rPr sz="1800" spc="-45" dirty="0">
                <a:solidFill>
                  <a:srgbClr val="600A4A"/>
                </a:solidFill>
                <a:latin typeface="Times New Roman"/>
                <a:cs typeface="Times New Roman"/>
              </a:rPr>
              <a:t> </a:t>
            </a:r>
            <a:r>
              <a:rPr sz="1800" dirty="0">
                <a:solidFill>
                  <a:srgbClr val="600A4A"/>
                </a:solidFill>
                <a:latin typeface="Times New Roman"/>
                <a:cs typeface="Times New Roman"/>
              </a:rPr>
              <a:t>Logger</a:t>
            </a:r>
            <a:r>
              <a:rPr sz="1800" spc="-40" dirty="0">
                <a:solidFill>
                  <a:srgbClr val="600A4A"/>
                </a:solidFill>
                <a:latin typeface="Times New Roman"/>
                <a:cs typeface="Times New Roman"/>
              </a:rPr>
              <a:t> </a:t>
            </a:r>
            <a:r>
              <a:rPr sz="1800" spc="-10" dirty="0">
                <a:solidFill>
                  <a:srgbClr val="600A4A"/>
                </a:solidFill>
                <a:latin typeface="Times New Roman"/>
                <a:cs typeface="Times New Roman"/>
              </a:rPr>
              <a:t>(With</a:t>
            </a:r>
            <a:r>
              <a:rPr sz="1800" spc="-60" dirty="0">
                <a:solidFill>
                  <a:srgbClr val="600A4A"/>
                </a:solidFill>
                <a:latin typeface="Times New Roman"/>
                <a:cs typeface="Times New Roman"/>
              </a:rPr>
              <a:t> </a:t>
            </a:r>
            <a:r>
              <a:rPr sz="1800" spc="-10" dirty="0">
                <a:solidFill>
                  <a:srgbClr val="600A4A"/>
                </a:solidFill>
                <a:latin typeface="Times New Roman"/>
                <a:cs typeface="Times New Roman"/>
              </a:rPr>
              <a:t>TensorBoard)</a:t>
            </a:r>
            <a:endParaRPr sz="1800">
              <a:latin typeface="Times New Roman"/>
              <a:cs typeface="Times New Roman"/>
            </a:endParaRPr>
          </a:p>
          <a:p>
            <a:pPr marL="12700" marR="5080">
              <a:lnSpc>
                <a:spcPct val="100000"/>
              </a:lnSpc>
            </a:pPr>
            <a:r>
              <a:rPr sz="1800" dirty="0">
                <a:solidFill>
                  <a:srgbClr val="333333"/>
                </a:solidFill>
                <a:latin typeface="Times New Roman"/>
                <a:cs typeface="Times New Roman"/>
              </a:rPr>
              <a:t>It</a:t>
            </a:r>
            <a:r>
              <a:rPr sz="1800" spc="285" dirty="0">
                <a:solidFill>
                  <a:srgbClr val="333333"/>
                </a:solidFill>
                <a:latin typeface="Times New Roman"/>
                <a:cs typeface="Times New Roman"/>
              </a:rPr>
              <a:t> </a:t>
            </a:r>
            <a:r>
              <a:rPr sz="1800" dirty="0">
                <a:solidFill>
                  <a:srgbClr val="333333"/>
                </a:solidFill>
                <a:latin typeface="Times New Roman"/>
                <a:cs typeface="Times New Roman"/>
              </a:rPr>
              <a:t>is</a:t>
            </a:r>
            <a:r>
              <a:rPr sz="1800" spc="270" dirty="0">
                <a:solidFill>
                  <a:srgbClr val="333333"/>
                </a:solidFill>
                <a:latin typeface="Times New Roman"/>
                <a:cs typeface="Times New Roman"/>
              </a:rPr>
              <a:t> </a:t>
            </a:r>
            <a:r>
              <a:rPr sz="1800" dirty="0">
                <a:solidFill>
                  <a:srgbClr val="333333"/>
                </a:solidFill>
                <a:latin typeface="Times New Roman"/>
                <a:cs typeface="Times New Roman"/>
              </a:rPr>
              <a:t>just</a:t>
            </a:r>
            <a:r>
              <a:rPr sz="1800" spc="275" dirty="0">
                <a:solidFill>
                  <a:srgbClr val="333333"/>
                </a:solidFill>
                <a:latin typeface="Times New Roman"/>
                <a:cs typeface="Times New Roman"/>
              </a:rPr>
              <a:t> </a:t>
            </a:r>
            <a:r>
              <a:rPr sz="1800" dirty="0">
                <a:solidFill>
                  <a:srgbClr val="333333"/>
                </a:solidFill>
                <a:latin typeface="Times New Roman"/>
                <a:cs typeface="Times New Roman"/>
              </a:rPr>
              <a:t>like</a:t>
            </a:r>
            <a:r>
              <a:rPr sz="1800" spc="280" dirty="0">
                <a:solidFill>
                  <a:srgbClr val="333333"/>
                </a:solidFill>
                <a:latin typeface="Times New Roman"/>
                <a:cs typeface="Times New Roman"/>
              </a:rPr>
              <a:t> </a:t>
            </a:r>
            <a:r>
              <a:rPr sz="1800" dirty="0">
                <a:solidFill>
                  <a:srgbClr val="333333"/>
                </a:solidFill>
                <a:latin typeface="Times New Roman"/>
                <a:cs typeface="Times New Roman"/>
              </a:rPr>
              <a:t>UNIX,</a:t>
            </a:r>
            <a:r>
              <a:rPr sz="1800" spc="285" dirty="0">
                <a:solidFill>
                  <a:srgbClr val="333333"/>
                </a:solidFill>
                <a:latin typeface="Times New Roman"/>
                <a:cs typeface="Times New Roman"/>
              </a:rPr>
              <a:t> </a:t>
            </a:r>
            <a:r>
              <a:rPr sz="1800" dirty="0">
                <a:solidFill>
                  <a:srgbClr val="333333"/>
                </a:solidFill>
                <a:latin typeface="Times New Roman"/>
                <a:cs typeface="Times New Roman"/>
              </a:rPr>
              <a:t>where</a:t>
            </a:r>
            <a:r>
              <a:rPr sz="1800" spc="290" dirty="0">
                <a:solidFill>
                  <a:srgbClr val="333333"/>
                </a:solidFill>
                <a:latin typeface="Times New Roman"/>
                <a:cs typeface="Times New Roman"/>
              </a:rPr>
              <a:t> </a:t>
            </a:r>
            <a:r>
              <a:rPr sz="1800" dirty="0">
                <a:solidFill>
                  <a:srgbClr val="333333"/>
                </a:solidFill>
                <a:latin typeface="Times New Roman"/>
                <a:cs typeface="Times New Roman"/>
              </a:rPr>
              <a:t>we</a:t>
            </a:r>
            <a:r>
              <a:rPr sz="1800" spc="275" dirty="0">
                <a:solidFill>
                  <a:srgbClr val="333333"/>
                </a:solidFill>
                <a:latin typeface="Times New Roman"/>
                <a:cs typeface="Times New Roman"/>
              </a:rPr>
              <a:t> </a:t>
            </a:r>
            <a:r>
              <a:rPr sz="1800" dirty="0">
                <a:solidFill>
                  <a:srgbClr val="333333"/>
                </a:solidFill>
                <a:latin typeface="Times New Roman"/>
                <a:cs typeface="Times New Roman"/>
              </a:rPr>
              <a:t>use</a:t>
            </a:r>
            <a:r>
              <a:rPr sz="1800" spc="290" dirty="0">
                <a:solidFill>
                  <a:srgbClr val="333333"/>
                </a:solidFill>
                <a:latin typeface="Times New Roman"/>
                <a:cs typeface="Times New Roman"/>
              </a:rPr>
              <a:t> </a:t>
            </a:r>
            <a:r>
              <a:rPr sz="1800" b="1" dirty="0">
                <a:solidFill>
                  <a:srgbClr val="333333"/>
                </a:solidFill>
                <a:latin typeface="Times New Roman"/>
                <a:cs typeface="Times New Roman"/>
              </a:rPr>
              <a:t>tail</a:t>
            </a:r>
            <a:r>
              <a:rPr sz="1800" b="1" spc="290" dirty="0">
                <a:solidFill>
                  <a:srgbClr val="333333"/>
                </a:solidFill>
                <a:latin typeface="Times New Roman"/>
                <a:cs typeface="Times New Roman"/>
              </a:rPr>
              <a:t> </a:t>
            </a:r>
            <a:r>
              <a:rPr sz="1800" b="1" dirty="0">
                <a:solidFill>
                  <a:srgbClr val="333333"/>
                </a:solidFill>
                <a:latin typeface="Times New Roman"/>
                <a:cs typeface="Times New Roman"/>
              </a:rPr>
              <a:t>-</a:t>
            </a:r>
            <a:r>
              <a:rPr sz="1800" b="1" spc="275" dirty="0">
                <a:solidFill>
                  <a:srgbClr val="333333"/>
                </a:solidFill>
                <a:latin typeface="Times New Roman"/>
                <a:cs typeface="Times New Roman"/>
              </a:rPr>
              <a:t> </a:t>
            </a:r>
            <a:r>
              <a:rPr sz="1800" b="1" dirty="0">
                <a:solidFill>
                  <a:srgbClr val="333333"/>
                </a:solidFill>
                <a:latin typeface="Times New Roman"/>
                <a:cs typeface="Times New Roman"/>
              </a:rPr>
              <a:t>f</a:t>
            </a:r>
            <a:r>
              <a:rPr sz="1800" b="1" spc="270" dirty="0">
                <a:solidFill>
                  <a:srgbClr val="333333"/>
                </a:solidFill>
                <a:latin typeface="Times New Roman"/>
                <a:cs typeface="Times New Roman"/>
              </a:rPr>
              <a:t> </a:t>
            </a:r>
            <a:r>
              <a:rPr sz="1800" dirty="0">
                <a:solidFill>
                  <a:srgbClr val="333333"/>
                </a:solidFill>
                <a:latin typeface="Times New Roman"/>
                <a:cs typeface="Times New Roman"/>
              </a:rPr>
              <a:t>to</a:t>
            </a:r>
            <a:r>
              <a:rPr sz="1800" spc="275" dirty="0">
                <a:solidFill>
                  <a:srgbClr val="333333"/>
                </a:solidFill>
                <a:latin typeface="Times New Roman"/>
                <a:cs typeface="Times New Roman"/>
              </a:rPr>
              <a:t> </a:t>
            </a:r>
            <a:r>
              <a:rPr sz="1800" dirty="0">
                <a:solidFill>
                  <a:srgbClr val="333333"/>
                </a:solidFill>
                <a:latin typeface="Times New Roman"/>
                <a:cs typeface="Times New Roman"/>
              </a:rPr>
              <a:t>monitor</a:t>
            </a:r>
            <a:r>
              <a:rPr sz="1800" spc="285" dirty="0">
                <a:solidFill>
                  <a:srgbClr val="333333"/>
                </a:solidFill>
                <a:latin typeface="Times New Roman"/>
                <a:cs typeface="Times New Roman"/>
              </a:rPr>
              <a:t> </a:t>
            </a:r>
            <a:r>
              <a:rPr sz="1800" dirty="0">
                <a:solidFill>
                  <a:srgbClr val="333333"/>
                </a:solidFill>
                <a:latin typeface="Times New Roman"/>
                <a:cs typeface="Times New Roman"/>
              </a:rPr>
              <a:t>the</a:t>
            </a:r>
            <a:r>
              <a:rPr sz="1800" spc="275" dirty="0">
                <a:solidFill>
                  <a:srgbClr val="333333"/>
                </a:solidFill>
                <a:latin typeface="Times New Roman"/>
                <a:cs typeface="Times New Roman"/>
              </a:rPr>
              <a:t> </a:t>
            </a:r>
            <a:r>
              <a:rPr sz="1800" dirty="0">
                <a:solidFill>
                  <a:srgbClr val="333333"/>
                </a:solidFill>
                <a:latin typeface="Times New Roman"/>
                <a:cs typeface="Times New Roman"/>
              </a:rPr>
              <a:t>output</a:t>
            </a:r>
            <a:r>
              <a:rPr sz="1800" spc="285" dirty="0">
                <a:solidFill>
                  <a:srgbClr val="333333"/>
                </a:solidFill>
                <a:latin typeface="Times New Roman"/>
                <a:cs typeface="Times New Roman"/>
              </a:rPr>
              <a:t> </a:t>
            </a:r>
            <a:r>
              <a:rPr sz="1800" dirty="0">
                <a:solidFill>
                  <a:srgbClr val="333333"/>
                </a:solidFill>
                <a:latin typeface="Times New Roman"/>
                <a:cs typeface="Times New Roman"/>
              </a:rPr>
              <a:t>of</a:t>
            </a:r>
            <a:r>
              <a:rPr sz="1800" spc="275" dirty="0">
                <a:solidFill>
                  <a:srgbClr val="333333"/>
                </a:solidFill>
                <a:latin typeface="Times New Roman"/>
                <a:cs typeface="Times New Roman"/>
              </a:rPr>
              <a:t> </a:t>
            </a:r>
            <a:r>
              <a:rPr sz="1800" dirty="0">
                <a:solidFill>
                  <a:srgbClr val="333333"/>
                </a:solidFill>
                <a:latin typeface="Times New Roman"/>
                <a:cs typeface="Times New Roman"/>
              </a:rPr>
              <a:t>tasks</a:t>
            </a:r>
            <a:r>
              <a:rPr sz="1800" spc="280" dirty="0">
                <a:solidFill>
                  <a:srgbClr val="333333"/>
                </a:solidFill>
                <a:latin typeface="Times New Roman"/>
                <a:cs typeface="Times New Roman"/>
              </a:rPr>
              <a:t> </a:t>
            </a:r>
            <a:r>
              <a:rPr sz="1800" dirty="0">
                <a:solidFill>
                  <a:srgbClr val="333333"/>
                </a:solidFill>
                <a:latin typeface="Times New Roman"/>
                <a:cs typeface="Times New Roman"/>
              </a:rPr>
              <a:t>at</a:t>
            </a:r>
            <a:r>
              <a:rPr sz="1800" spc="285" dirty="0">
                <a:solidFill>
                  <a:srgbClr val="333333"/>
                </a:solidFill>
                <a:latin typeface="Times New Roman"/>
                <a:cs typeface="Times New Roman"/>
              </a:rPr>
              <a:t> </a:t>
            </a:r>
            <a:r>
              <a:rPr sz="1800" dirty="0">
                <a:solidFill>
                  <a:srgbClr val="333333"/>
                </a:solidFill>
                <a:latin typeface="Times New Roman"/>
                <a:cs typeface="Times New Roman"/>
              </a:rPr>
              <a:t>the</a:t>
            </a:r>
            <a:r>
              <a:rPr sz="1800" spc="295" dirty="0">
                <a:solidFill>
                  <a:srgbClr val="333333"/>
                </a:solidFill>
                <a:latin typeface="Times New Roman"/>
                <a:cs typeface="Times New Roman"/>
              </a:rPr>
              <a:t> </a:t>
            </a:r>
            <a:r>
              <a:rPr sz="1800" dirty="0">
                <a:solidFill>
                  <a:srgbClr val="333333"/>
                </a:solidFill>
                <a:latin typeface="Times New Roman"/>
                <a:cs typeface="Times New Roman"/>
              </a:rPr>
              <a:t>cmd.</a:t>
            </a:r>
            <a:r>
              <a:rPr sz="1800" spc="285" dirty="0">
                <a:solidFill>
                  <a:srgbClr val="333333"/>
                </a:solidFill>
                <a:latin typeface="Times New Roman"/>
                <a:cs typeface="Times New Roman"/>
              </a:rPr>
              <a:t> </a:t>
            </a:r>
            <a:r>
              <a:rPr sz="1800" dirty="0">
                <a:solidFill>
                  <a:srgbClr val="333333"/>
                </a:solidFill>
                <a:latin typeface="Times New Roman"/>
                <a:cs typeface="Times New Roman"/>
              </a:rPr>
              <a:t>It</a:t>
            </a:r>
            <a:r>
              <a:rPr sz="1800" spc="275" dirty="0">
                <a:solidFill>
                  <a:srgbClr val="333333"/>
                </a:solidFill>
                <a:latin typeface="Times New Roman"/>
                <a:cs typeface="Times New Roman"/>
              </a:rPr>
              <a:t> </a:t>
            </a:r>
            <a:r>
              <a:rPr sz="1800" dirty="0">
                <a:solidFill>
                  <a:srgbClr val="333333"/>
                </a:solidFill>
                <a:latin typeface="Times New Roman"/>
                <a:cs typeface="Times New Roman"/>
              </a:rPr>
              <a:t>checks,</a:t>
            </a:r>
            <a:r>
              <a:rPr sz="1800" spc="280" dirty="0">
                <a:solidFill>
                  <a:srgbClr val="333333"/>
                </a:solidFill>
                <a:latin typeface="Times New Roman"/>
                <a:cs typeface="Times New Roman"/>
              </a:rPr>
              <a:t> </a:t>
            </a:r>
            <a:r>
              <a:rPr sz="1800" dirty="0">
                <a:solidFill>
                  <a:srgbClr val="333333"/>
                </a:solidFill>
                <a:latin typeface="Times New Roman"/>
                <a:cs typeface="Times New Roman"/>
              </a:rPr>
              <a:t>logging</a:t>
            </a:r>
            <a:r>
              <a:rPr sz="1800" spc="275" dirty="0">
                <a:solidFill>
                  <a:srgbClr val="333333"/>
                </a:solidFill>
                <a:latin typeface="Times New Roman"/>
                <a:cs typeface="Times New Roman"/>
              </a:rPr>
              <a:t> </a:t>
            </a:r>
            <a:r>
              <a:rPr sz="1800" dirty="0">
                <a:solidFill>
                  <a:srgbClr val="333333"/>
                </a:solidFill>
                <a:latin typeface="Times New Roman"/>
                <a:cs typeface="Times New Roman"/>
              </a:rPr>
              <a:t>events</a:t>
            </a:r>
            <a:r>
              <a:rPr sz="1800" spc="280" dirty="0">
                <a:solidFill>
                  <a:srgbClr val="333333"/>
                </a:solidFill>
                <a:latin typeface="Times New Roman"/>
                <a:cs typeface="Times New Roman"/>
              </a:rPr>
              <a:t> </a:t>
            </a:r>
            <a:r>
              <a:rPr sz="1800" spc="-25" dirty="0">
                <a:solidFill>
                  <a:srgbClr val="333333"/>
                </a:solidFill>
                <a:latin typeface="Times New Roman"/>
                <a:cs typeface="Times New Roman"/>
              </a:rPr>
              <a:t>and </a:t>
            </a:r>
            <a:r>
              <a:rPr sz="1800" dirty="0">
                <a:solidFill>
                  <a:srgbClr val="333333"/>
                </a:solidFill>
                <a:latin typeface="Times New Roman"/>
                <a:cs typeface="Times New Roman"/>
              </a:rPr>
              <a:t>summaries</a:t>
            </a:r>
            <a:r>
              <a:rPr sz="1800" spc="-25" dirty="0">
                <a:solidFill>
                  <a:srgbClr val="333333"/>
                </a:solidFill>
                <a:latin typeface="Times New Roman"/>
                <a:cs typeface="Times New Roman"/>
              </a:rPr>
              <a:t> </a:t>
            </a:r>
            <a:r>
              <a:rPr sz="1800" dirty="0">
                <a:solidFill>
                  <a:srgbClr val="333333"/>
                </a:solidFill>
                <a:latin typeface="Times New Roman"/>
                <a:cs typeface="Times New Roman"/>
              </a:rPr>
              <a:t>from</a:t>
            </a:r>
            <a:r>
              <a:rPr sz="1800" spc="-15" dirty="0">
                <a:solidFill>
                  <a:srgbClr val="333333"/>
                </a:solidFill>
                <a:latin typeface="Times New Roman"/>
                <a:cs typeface="Times New Roman"/>
              </a:rPr>
              <a:t> </a:t>
            </a:r>
            <a:r>
              <a:rPr sz="1800" dirty="0">
                <a:solidFill>
                  <a:srgbClr val="333333"/>
                </a:solidFill>
                <a:latin typeface="Times New Roman"/>
                <a:cs typeface="Times New Roman"/>
              </a:rPr>
              <a:t>the</a:t>
            </a:r>
            <a:r>
              <a:rPr sz="1800" spc="-20" dirty="0">
                <a:solidFill>
                  <a:srgbClr val="333333"/>
                </a:solidFill>
                <a:latin typeface="Times New Roman"/>
                <a:cs typeface="Times New Roman"/>
              </a:rPr>
              <a:t> </a:t>
            </a:r>
            <a:r>
              <a:rPr sz="1800" dirty="0">
                <a:solidFill>
                  <a:srgbClr val="333333"/>
                </a:solidFill>
                <a:latin typeface="Times New Roman"/>
                <a:cs typeface="Times New Roman"/>
              </a:rPr>
              <a:t>graph</a:t>
            </a:r>
            <a:r>
              <a:rPr sz="1800" spc="-25" dirty="0">
                <a:solidFill>
                  <a:srgbClr val="333333"/>
                </a:solidFill>
                <a:latin typeface="Times New Roman"/>
                <a:cs typeface="Times New Roman"/>
              </a:rPr>
              <a:t> </a:t>
            </a:r>
            <a:r>
              <a:rPr sz="1800" dirty="0">
                <a:solidFill>
                  <a:srgbClr val="333333"/>
                </a:solidFill>
                <a:latin typeface="Times New Roman"/>
                <a:cs typeface="Times New Roman"/>
              </a:rPr>
              <a:t>and</a:t>
            </a:r>
            <a:r>
              <a:rPr sz="1800" spc="-25" dirty="0">
                <a:solidFill>
                  <a:srgbClr val="333333"/>
                </a:solidFill>
                <a:latin typeface="Times New Roman"/>
                <a:cs typeface="Times New Roman"/>
              </a:rPr>
              <a:t> </a:t>
            </a:r>
            <a:r>
              <a:rPr sz="1800" dirty="0">
                <a:solidFill>
                  <a:srgbClr val="333333"/>
                </a:solidFill>
                <a:latin typeface="Times New Roman"/>
                <a:cs typeface="Times New Roman"/>
              </a:rPr>
              <a:t>production</a:t>
            </a:r>
            <a:r>
              <a:rPr sz="1800" spc="-35" dirty="0">
                <a:solidFill>
                  <a:srgbClr val="333333"/>
                </a:solidFill>
                <a:latin typeface="Times New Roman"/>
                <a:cs typeface="Times New Roman"/>
              </a:rPr>
              <a:t> </a:t>
            </a:r>
            <a:r>
              <a:rPr sz="1800" dirty="0">
                <a:solidFill>
                  <a:srgbClr val="333333"/>
                </a:solidFill>
                <a:latin typeface="Times New Roman"/>
                <a:cs typeface="Times New Roman"/>
              </a:rPr>
              <a:t>with</a:t>
            </a:r>
            <a:r>
              <a:rPr sz="1800" spc="-10" dirty="0">
                <a:solidFill>
                  <a:srgbClr val="333333"/>
                </a:solidFill>
                <a:latin typeface="Times New Roman"/>
                <a:cs typeface="Times New Roman"/>
              </a:rPr>
              <a:t> </a:t>
            </a:r>
            <a:r>
              <a:rPr sz="1800" dirty="0">
                <a:solidFill>
                  <a:srgbClr val="333333"/>
                </a:solidFill>
                <a:latin typeface="Times New Roman"/>
                <a:cs typeface="Times New Roman"/>
              </a:rPr>
              <a:t>the</a:t>
            </a:r>
            <a:r>
              <a:rPr sz="1800" spc="-55" dirty="0">
                <a:solidFill>
                  <a:srgbClr val="333333"/>
                </a:solidFill>
                <a:latin typeface="Times New Roman"/>
                <a:cs typeface="Times New Roman"/>
              </a:rPr>
              <a:t> </a:t>
            </a:r>
            <a:r>
              <a:rPr sz="1800" spc="-10" dirty="0">
                <a:solidFill>
                  <a:srgbClr val="333333"/>
                </a:solidFill>
                <a:latin typeface="Times New Roman"/>
                <a:cs typeface="Times New Roman"/>
              </a:rPr>
              <a:t>TensorBoard.</a:t>
            </a:r>
            <a:endParaRPr sz="18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0" y="2695213"/>
            <a:ext cx="7924800" cy="769441"/>
          </a:xfrm>
          <a:prstGeom prst="rect">
            <a:avLst/>
          </a:prstGeom>
          <a:noFill/>
        </p:spPr>
        <p:txBody>
          <a:bodyPr wrap="square" rtlCol="0">
            <a:spAutoFit/>
          </a:bodyPr>
          <a:lstStyle/>
          <a:p>
            <a:r>
              <a:rPr lang="en-US" sz="4400" b="1" smtClean="0"/>
              <a:t>Computational Graphs</a:t>
            </a:r>
            <a:endParaRPr lang="en-US" sz="4400" b="1"/>
          </a:p>
        </p:txBody>
      </p:sp>
    </p:spTree>
    <p:extLst>
      <p:ext uri="{BB962C8B-B14F-4D97-AF65-F5344CB8AC3E}">
        <p14:creationId xmlns:p14="http://schemas.microsoft.com/office/powerpoint/2010/main" val="2222960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30655" y="723341"/>
            <a:ext cx="9715500" cy="222123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Times New Roman"/>
                <a:cs typeface="Times New Roman"/>
              </a:rPr>
              <a:t>Computational</a:t>
            </a:r>
            <a:r>
              <a:rPr sz="1800" b="1" spc="-35" dirty="0">
                <a:solidFill>
                  <a:srgbClr val="FF0000"/>
                </a:solidFill>
                <a:latin typeface="Times New Roman"/>
                <a:cs typeface="Times New Roman"/>
              </a:rPr>
              <a:t> </a:t>
            </a:r>
            <a:r>
              <a:rPr sz="1800" b="1" spc="-20" dirty="0">
                <a:solidFill>
                  <a:srgbClr val="FF0000"/>
                </a:solidFill>
                <a:latin typeface="Times New Roman"/>
                <a:cs typeface="Times New Roman"/>
              </a:rPr>
              <a:t>Graph</a:t>
            </a: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80"/>
              </a:spcBef>
            </a:pPr>
            <a:endParaRPr sz="1800">
              <a:latin typeface="Times New Roman"/>
              <a:cs typeface="Times New Roman"/>
            </a:endParaRPr>
          </a:p>
          <a:p>
            <a:pPr marL="12700">
              <a:lnSpc>
                <a:spcPct val="100000"/>
              </a:lnSpc>
            </a:pPr>
            <a:r>
              <a:rPr sz="1800" dirty="0">
                <a:latin typeface="Times New Roman"/>
                <a:cs typeface="Times New Roman"/>
              </a:rPr>
              <a:t>Any</a:t>
            </a:r>
            <a:r>
              <a:rPr sz="1800" spc="-40" dirty="0">
                <a:latin typeface="Times New Roman"/>
                <a:cs typeface="Times New Roman"/>
              </a:rPr>
              <a:t> </a:t>
            </a:r>
            <a:r>
              <a:rPr sz="1800" b="1" spc="-10" dirty="0">
                <a:latin typeface="Times New Roman"/>
                <a:cs typeface="Times New Roman"/>
              </a:rPr>
              <a:t>TensorFlow</a:t>
            </a:r>
            <a:r>
              <a:rPr sz="1800" b="1" spc="-45" dirty="0">
                <a:latin typeface="Times New Roman"/>
                <a:cs typeface="Times New Roman"/>
              </a:rPr>
              <a:t> </a:t>
            </a:r>
            <a:r>
              <a:rPr sz="1800" b="1" dirty="0">
                <a:latin typeface="Times New Roman"/>
                <a:cs typeface="Times New Roman"/>
              </a:rPr>
              <a:t>Core</a:t>
            </a:r>
            <a:r>
              <a:rPr sz="1800" b="1" spc="-25" dirty="0">
                <a:latin typeface="Times New Roman"/>
                <a:cs typeface="Times New Roman"/>
              </a:rPr>
              <a:t> </a:t>
            </a:r>
            <a:r>
              <a:rPr sz="1800" dirty="0">
                <a:latin typeface="Times New Roman"/>
                <a:cs typeface="Times New Roman"/>
              </a:rPr>
              <a:t>program</a:t>
            </a:r>
            <a:r>
              <a:rPr sz="1800" spc="-30" dirty="0">
                <a:latin typeface="Times New Roman"/>
                <a:cs typeface="Times New Roman"/>
              </a:rPr>
              <a:t> </a:t>
            </a:r>
            <a:r>
              <a:rPr sz="1800" dirty="0">
                <a:latin typeface="Times New Roman"/>
                <a:cs typeface="Times New Roman"/>
              </a:rPr>
              <a:t>can</a:t>
            </a:r>
            <a:r>
              <a:rPr sz="1800" spc="-55" dirty="0">
                <a:latin typeface="Times New Roman"/>
                <a:cs typeface="Times New Roman"/>
              </a:rPr>
              <a:t> </a:t>
            </a:r>
            <a:r>
              <a:rPr sz="1800" dirty="0">
                <a:latin typeface="Times New Roman"/>
                <a:cs typeface="Times New Roman"/>
              </a:rPr>
              <a:t>be</a:t>
            </a:r>
            <a:r>
              <a:rPr sz="1800" spc="-25" dirty="0">
                <a:latin typeface="Times New Roman"/>
                <a:cs typeface="Times New Roman"/>
              </a:rPr>
              <a:t> </a:t>
            </a:r>
            <a:r>
              <a:rPr sz="1800" dirty="0">
                <a:latin typeface="Times New Roman"/>
                <a:cs typeface="Times New Roman"/>
              </a:rPr>
              <a:t>divided</a:t>
            </a:r>
            <a:r>
              <a:rPr sz="1800" spc="-45" dirty="0">
                <a:latin typeface="Times New Roman"/>
                <a:cs typeface="Times New Roman"/>
              </a:rPr>
              <a:t> </a:t>
            </a:r>
            <a:r>
              <a:rPr sz="1800" dirty="0">
                <a:latin typeface="Times New Roman"/>
                <a:cs typeface="Times New Roman"/>
              </a:rPr>
              <a:t>into</a:t>
            </a:r>
            <a:r>
              <a:rPr sz="1800" spc="-40" dirty="0">
                <a:latin typeface="Times New Roman"/>
                <a:cs typeface="Times New Roman"/>
              </a:rPr>
              <a:t> </a:t>
            </a:r>
            <a:r>
              <a:rPr sz="1800" dirty="0">
                <a:latin typeface="Times New Roman"/>
                <a:cs typeface="Times New Roman"/>
              </a:rPr>
              <a:t>two</a:t>
            </a:r>
            <a:r>
              <a:rPr sz="1800" spc="-40" dirty="0">
                <a:latin typeface="Times New Roman"/>
                <a:cs typeface="Times New Roman"/>
              </a:rPr>
              <a:t> </a:t>
            </a:r>
            <a:r>
              <a:rPr sz="1800" dirty="0">
                <a:latin typeface="Times New Roman"/>
                <a:cs typeface="Times New Roman"/>
              </a:rPr>
              <a:t>discrete</a:t>
            </a:r>
            <a:r>
              <a:rPr sz="1800" spc="-30" dirty="0">
                <a:latin typeface="Times New Roman"/>
                <a:cs typeface="Times New Roman"/>
              </a:rPr>
              <a:t> </a:t>
            </a:r>
            <a:r>
              <a:rPr sz="1800" spc="-10" dirty="0">
                <a:latin typeface="Times New Roman"/>
                <a:cs typeface="Times New Roman"/>
              </a:rPr>
              <a:t>sections:</a:t>
            </a: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85"/>
              </a:spcBef>
            </a:pPr>
            <a:endParaRPr sz="1800">
              <a:latin typeface="Times New Roman"/>
              <a:cs typeface="Times New Roman"/>
            </a:endParaRPr>
          </a:p>
          <a:p>
            <a:pPr marL="12700">
              <a:lnSpc>
                <a:spcPct val="100000"/>
              </a:lnSpc>
            </a:pPr>
            <a:r>
              <a:rPr sz="1800" b="1" dirty="0">
                <a:solidFill>
                  <a:srgbClr val="6F2F9F"/>
                </a:solidFill>
                <a:latin typeface="Times New Roman"/>
                <a:cs typeface="Times New Roman"/>
              </a:rPr>
              <a:t>1.Building</a:t>
            </a:r>
            <a:r>
              <a:rPr sz="1800" b="1" spc="-30" dirty="0">
                <a:solidFill>
                  <a:srgbClr val="6F2F9F"/>
                </a:solidFill>
                <a:latin typeface="Times New Roman"/>
                <a:cs typeface="Times New Roman"/>
              </a:rPr>
              <a:t> </a:t>
            </a:r>
            <a:r>
              <a:rPr sz="1800" b="1" dirty="0">
                <a:solidFill>
                  <a:srgbClr val="6F2F9F"/>
                </a:solidFill>
                <a:latin typeface="Times New Roman"/>
                <a:cs typeface="Times New Roman"/>
              </a:rPr>
              <a:t>the</a:t>
            </a:r>
            <a:r>
              <a:rPr sz="1800" b="1" spc="-25" dirty="0">
                <a:solidFill>
                  <a:srgbClr val="6F2F9F"/>
                </a:solidFill>
                <a:latin typeface="Times New Roman"/>
                <a:cs typeface="Times New Roman"/>
              </a:rPr>
              <a:t> </a:t>
            </a:r>
            <a:r>
              <a:rPr sz="1800" b="1" dirty="0">
                <a:solidFill>
                  <a:srgbClr val="6F2F9F"/>
                </a:solidFill>
                <a:latin typeface="Times New Roman"/>
                <a:cs typeface="Times New Roman"/>
              </a:rPr>
              <a:t>computational</a:t>
            </a:r>
            <a:r>
              <a:rPr sz="1800" b="1" spc="-15" dirty="0">
                <a:solidFill>
                  <a:srgbClr val="6F2F9F"/>
                </a:solidFill>
                <a:latin typeface="Times New Roman"/>
                <a:cs typeface="Times New Roman"/>
              </a:rPr>
              <a:t> </a:t>
            </a:r>
            <a:r>
              <a:rPr sz="1800" b="1" spc="-10" dirty="0">
                <a:solidFill>
                  <a:srgbClr val="6F2F9F"/>
                </a:solidFill>
                <a:latin typeface="Times New Roman"/>
                <a:cs typeface="Times New Roman"/>
              </a:rPr>
              <a:t>graph</a:t>
            </a:r>
            <a:r>
              <a:rPr sz="1800" spc="-10" dirty="0">
                <a:latin typeface="Times New Roman"/>
                <a:cs typeface="Times New Roman"/>
              </a:rPr>
              <a:t>.</a:t>
            </a:r>
            <a:endParaRPr sz="1800">
              <a:latin typeface="Times New Roman"/>
              <a:cs typeface="Times New Roman"/>
            </a:endParaRPr>
          </a:p>
          <a:p>
            <a:pPr marL="91440" indent="-88900">
              <a:lnSpc>
                <a:spcPct val="100000"/>
              </a:lnSpc>
              <a:buSzPct val="94444"/>
              <a:buFont typeface="Arial MT"/>
              <a:buChar char="•"/>
              <a:tabLst>
                <a:tab pos="91440" algn="l"/>
              </a:tabLst>
            </a:pPr>
            <a:r>
              <a:rPr sz="1800" dirty="0">
                <a:latin typeface="Times New Roman"/>
                <a:cs typeface="Times New Roman"/>
              </a:rPr>
              <a:t>A</a:t>
            </a:r>
            <a:r>
              <a:rPr sz="1800" spc="-114" dirty="0">
                <a:latin typeface="Times New Roman"/>
                <a:cs typeface="Times New Roman"/>
              </a:rPr>
              <a:t> </a:t>
            </a:r>
            <a:r>
              <a:rPr sz="1800" b="1" dirty="0">
                <a:latin typeface="Times New Roman"/>
                <a:cs typeface="Times New Roman"/>
              </a:rPr>
              <a:t>computational</a:t>
            </a:r>
            <a:r>
              <a:rPr sz="1800" b="1" spc="-20" dirty="0">
                <a:latin typeface="Times New Roman"/>
                <a:cs typeface="Times New Roman"/>
              </a:rPr>
              <a:t> </a:t>
            </a:r>
            <a:r>
              <a:rPr sz="1800" b="1" dirty="0">
                <a:latin typeface="Times New Roman"/>
                <a:cs typeface="Times New Roman"/>
              </a:rPr>
              <a:t>graph</a:t>
            </a:r>
            <a:r>
              <a:rPr sz="1800" b="1" spc="-15" dirty="0">
                <a:latin typeface="Times New Roman"/>
                <a:cs typeface="Times New Roman"/>
              </a:rPr>
              <a:t> </a:t>
            </a:r>
            <a:r>
              <a:rPr sz="1800" dirty="0">
                <a:latin typeface="Times New Roman"/>
                <a:cs typeface="Times New Roman"/>
              </a:rPr>
              <a:t>is</a:t>
            </a:r>
            <a:r>
              <a:rPr sz="1800" spc="-30" dirty="0">
                <a:latin typeface="Times New Roman"/>
                <a:cs typeface="Times New Roman"/>
              </a:rPr>
              <a:t> </a:t>
            </a:r>
            <a:r>
              <a:rPr sz="1800" dirty="0">
                <a:latin typeface="Times New Roman"/>
                <a:cs typeface="Times New Roman"/>
              </a:rPr>
              <a:t>nothing</a:t>
            </a:r>
            <a:r>
              <a:rPr sz="1800" spc="-25" dirty="0">
                <a:latin typeface="Times New Roman"/>
                <a:cs typeface="Times New Roman"/>
              </a:rPr>
              <a:t> </a:t>
            </a:r>
            <a:r>
              <a:rPr sz="1800" dirty="0">
                <a:latin typeface="Times New Roman"/>
                <a:cs typeface="Times New Roman"/>
              </a:rPr>
              <a:t>but</a:t>
            </a:r>
            <a:r>
              <a:rPr sz="1800" spc="-20" dirty="0">
                <a:latin typeface="Times New Roman"/>
                <a:cs typeface="Times New Roman"/>
              </a:rPr>
              <a:t> </a:t>
            </a:r>
            <a:r>
              <a:rPr sz="1800" dirty="0">
                <a:latin typeface="Times New Roman"/>
                <a:cs typeface="Times New Roman"/>
              </a:rPr>
              <a:t>a</a:t>
            </a:r>
            <a:r>
              <a:rPr sz="1800" spc="-10" dirty="0">
                <a:latin typeface="Times New Roman"/>
                <a:cs typeface="Times New Roman"/>
              </a:rPr>
              <a:t> </a:t>
            </a:r>
            <a:r>
              <a:rPr sz="1800" dirty="0">
                <a:latin typeface="Times New Roman"/>
                <a:cs typeface="Times New Roman"/>
              </a:rPr>
              <a:t>series</a:t>
            </a:r>
            <a:r>
              <a:rPr sz="1800" spc="-30" dirty="0">
                <a:latin typeface="Times New Roman"/>
                <a:cs typeface="Times New Roman"/>
              </a:rPr>
              <a:t> </a:t>
            </a:r>
            <a:r>
              <a:rPr sz="1800" dirty="0">
                <a:latin typeface="Times New Roman"/>
                <a:cs typeface="Times New Roman"/>
              </a:rPr>
              <a:t>of</a:t>
            </a:r>
            <a:r>
              <a:rPr sz="1800" spc="-50" dirty="0">
                <a:latin typeface="Times New Roman"/>
                <a:cs typeface="Times New Roman"/>
              </a:rPr>
              <a:t> </a:t>
            </a:r>
            <a:r>
              <a:rPr sz="1800" spc="-10" dirty="0">
                <a:latin typeface="Times New Roman"/>
                <a:cs typeface="Times New Roman"/>
              </a:rPr>
              <a:t>TensorFlow</a:t>
            </a:r>
            <a:r>
              <a:rPr sz="1800" spc="-25" dirty="0">
                <a:latin typeface="Times New Roman"/>
                <a:cs typeface="Times New Roman"/>
              </a:rPr>
              <a:t> </a:t>
            </a:r>
            <a:r>
              <a:rPr sz="1800" dirty="0">
                <a:latin typeface="Times New Roman"/>
                <a:cs typeface="Times New Roman"/>
              </a:rPr>
              <a:t>operations</a:t>
            </a:r>
            <a:r>
              <a:rPr sz="1800" spc="-35" dirty="0">
                <a:latin typeface="Times New Roman"/>
                <a:cs typeface="Times New Roman"/>
              </a:rPr>
              <a:t> </a:t>
            </a:r>
            <a:r>
              <a:rPr sz="1800" dirty="0">
                <a:latin typeface="Times New Roman"/>
                <a:cs typeface="Times New Roman"/>
              </a:rPr>
              <a:t>arranged</a:t>
            </a:r>
            <a:r>
              <a:rPr sz="1800" spc="-30" dirty="0">
                <a:latin typeface="Times New Roman"/>
                <a:cs typeface="Times New Roman"/>
              </a:rPr>
              <a:t> </a:t>
            </a:r>
            <a:r>
              <a:rPr sz="1800" dirty="0">
                <a:latin typeface="Times New Roman"/>
                <a:cs typeface="Times New Roman"/>
              </a:rPr>
              <a:t>into</a:t>
            </a:r>
            <a:r>
              <a:rPr sz="1800" spc="-35" dirty="0">
                <a:latin typeface="Times New Roman"/>
                <a:cs typeface="Times New Roman"/>
              </a:rPr>
              <a:t> </a:t>
            </a:r>
            <a:r>
              <a:rPr sz="1800" dirty="0">
                <a:latin typeface="Times New Roman"/>
                <a:cs typeface="Times New Roman"/>
              </a:rPr>
              <a:t>a</a:t>
            </a:r>
            <a:r>
              <a:rPr sz="1800" spc="-15" dirty="0">
                <a:latin typeface="Times New Roman"/>
                <a:cs typeface="Times New Roman"/>
              </a:rPr>
              <a:t> </a:t>
            </a:r>
            <a:r>
              <a:rPr sz="1800" dirty="0">
                <a:latin typeface="Times New Roman"/>
                <a:cs typeface="Times New Roman"/>
              </a:rPr>
              <a:t>graph</a:t>
            </a:r>
            <a:r>
              <a:rPr sz="1800" spc="-25" dirty="0">
                <a:latin typeface="Times New Roman"/>
                <a:cs typeface="Times New Roman"/>
              </a:rPr>
              <a:t> </a:t>
            </a:r>
            <a:r>
              <a:rPr sz="1800" dirty="0">
                <a:latin typeface="Times New Roman"/>
                <a:cs typeface="Times New Roman"/>
              </a:rPr>
              <a:t>of</a:t>
            </a:r>
            <a:r>
              <a:rPr sz="1800" spc="-20" dirty="0">
                <a:latin typeface="Times New Roman"/>
                <a:cs typeface="Times New Roman"/>
              </a:rPr>
              <a:t> </a:t>
            </a:r>
            <a:r>
              <a:rPr sz="1800" spc="-10" dirty="0">
                <a:latin typeface="Times New Roman"/>
                <a:cs typeface="Times New Roman"/>
              </a:rPr>
              <a:t>nodes.</a:t>
            </a:r>
            <a:endParaRPr sz="1800">
              <a:latin typeface="Times New Roman"/>
              <a:cs typeface="Times New Roman"/>
            </a:endParaRPr>
          </a:p>
        </p:txBody>
      </p:sp>
      <p:sp>
        <p:nvSpPr>
          <p:cNvPr id="3" name="object 3"/>
          <p:cNvSpPr txBox="1"/>
          <p:nvPr/>
        </p:nvSpPr>
        <p:spPr>
          <a:xfrm>
            <a:off x="930655" y="3741546"/>
            <a:ext cx="7982584" cy="848994"/>
          </a:xfrm>
          <a:prstGeom prst="rect">
            <a:avLst/>
          </a:prstGeom>
        </p:spPr>
        <p:txBody>
          <a:bodyPr vert="horz" wrap="square" lIns="0" tIns="12700" rIns="0" bIns="0" rtlCol="0">
            <a:spAutoFit/>
          </a:bodyPr>
          <a:lstStyle/>
          <a:p>
            <a:pPr marL="184150" indent="-174625">
              <a:lnSpc>
                <a:spcPct val="100000"/>
              </a:lnSpc>
              <a:spcBef>
                <a:spcPts val="100"/>
              </a:spcBef>
              <a:buSzPct val="94444"/>
              <a:buAutoNum type="arabicPeriod" startAt="2"/>
              <a:tabLst>
                <a:tab pos="184150" algn="l"/>
              </a:tabLst>
            </a:pPr>
            <a:r>
              <a:rPr sz="1800" b="1" dirty="0">
                <a:solidFill>
                  <a:srgbClr val="6F2F9F"/>
                </a:solidFill>
                <a:latin typeface="Times New Roman"/>
                <a:cs typeface="Times New Roman"/>
              </a:rPr>
              <a:t>Running</a:t>
            </a:r>
            <a:r>
              <a:rPr sz="1800" b="1" spc="-25" dirty="0">
                <a:solidFill>
                  <a:srgbClr val="6F2F9F"/>
                </a:solidFill>
                <a:latin typeface="Times New Roman"/>
                <a:cs typeface="Times New Roman"/>
              </a:rPr>
              <a:t> </a:t>
            </a:r>
            <a:r>
              <a:rPr sz="1800" b="1" dirty="0">
                <a:solidFill>
                  <a:srgbClr val="6F2F9F"/>
                </a:solidFill>
                <a:latin typeface="Times New Roman"/>
                <a:cs typeface="Times New Roman"/>
              </a:rPr>
              <a:t>the</a:t>
            </a:r>
            <a:r>
              <a:rPr sz="1800" b="1" spc="-25" dirty="0">
                <a:solidFill>
                  <a:srgbClr val="6F2F9F"/>
                </a:solidFill>
                <a:latin typeface="Times New Roman"/>
                <a:cs typeface="Times New Roman"/>
              </a:rPr>
              <a:t> </a:t>
            </a:r>
            <a:r>
              <a:rPr sz="1800" b="1" dirty="0">
                <a:solidFill>
                  <a:srgbClr val="6F2F9F"/>
                </a:solidFill>
                <a:latin typeface="Times New Roman"/>
                <a:cs typeface="Times New Roman"/>
              </a:rPr>
              <a:t>computational</a:t>
            </a:r>
            <a:r>
              <a:rPr sz="1800" b="1" spc="-20" dirty="0">
                <a:solidFill>
                  <a:srgbClr val="6F2F9F"/>
                </a:solidFill>
                <a:latin typeface="Times New Roman"/>
                <a:cs typeface="Times New Roman"/>
              </a:rPr>
              <a:t> </a:t>
            </a:r>
            <a:r>
              <a:rPr sz="1800" b="1" spc="-10" dirty="0">
                <a:solidFill>
                  <a:srgbClr val="6F2F9F"/>
                </a:solidFill>
                <a:latin typeface="Times New Roman"/>
                <a:cs typeface="Times New Roman"/>
              </a:rPr>
              <a:t>graph</a:t>
            </a:r>
            <a:r>
              <a:rPr sz="1800" spc="-10" dirty="0">
                <a:latin typeface="Times New Roman"/>
                <a:cs typeface="Times New Roman"/>
              </a:rPr>
              <a:t>.</a:t>
            </a:r>
            <a:endParaRPr sz="1800">
              <a:latin typeface="Times New Roman"/>
              <a:cs typeface="Times New Roman"/>
            </a:endParaRPr>
          </a:p>
          <a:p>
            <a:pPr marL="91440" lvl="1" indent="-88900">
              <a:lnSpc>
                <a:spcPct val="100000"/>
              </a:lnSpc>
              <a:buSzPct val="94444"/>
              <a:buFont typeface="Arial MT"/>
              <a:buChar char="•"/>
              <a:tabLst>
                <a:tab pos="91440" algn="l"/>
              </a:tabLst>
            </a:pPr>
            <a:r>
              <a:rPr sz="1800" spc="-30" dirty="0">
                <a:latin typeface="Times New Roman"/>
                <a:cs typeface="Times New Roman"/>
              </a:rPr>
              <a:t>To </a:t>
            </a:r>
            <a:r>
              <a:rPr sz="1800" dirty="0">
                <a:latin typeface="Times New Roman"/>
                <a:cs typeface="Times New Roman"/>
              </a:rPr>
              <a:t>actually</a:t>
            </a:r>
            <a:r>
              <a:rPr sz="1800" spc="-55" dirty="0">
                <a:latin typeface="Times New Roman"/>
                <a:cs typeface="Times New Roman"/>
              </a:rPr>
              <a:t> </a:t>
            </a:r>
            <a:r>
              <a:rPr sz="1800" dirty="0">
                <a:latin typeface="Times New Roman"/>
                <a:cs typeface="Times New Roman"/>
              </a:rPr>
              <a:t>evaluate</a:t>
            </a:r>
            <a:r>
              <a:rPr sz="1800" spc="-35"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dirty="0">
                <a:latin typeface="Times New Roman"/>
                <a:cs typeface="Times New Roman"/>
              </a:rPr>
              <a:t>nodes,</a:t>
            </a:r>
            <a:r>
              <a:rPr sz="1800" spc="-20" dirty="0">
                <a:latin typeface="Times New Roman"/>
                <a:cs typeface="Times New Roman"/>
              </a:rPr>
              <a:t> </a:t>
            </a:r>
            <a:r>
              <a:rPr sz="1800" dirty="0">
                <a:latin typeface="Times New Roman"/>
                <a:cs typeface="Times New Roman"/>
              </a:rPr>
              <a:t>we</a:t>
            </a:r>
            <a:r>
              <a:rPr sz="1800" spc="-20" dirty="0">
                <a:latin typeface="Times New Roman"/>
                <a:cs typeface="Times New Roman"/>
              </a:rPr>
              <a:t> </a:t>
            </a:r>
            <a:r>
              <a:rPr sz="1800" dirty="0">
                <a:latin typeface="Times New Roman"/>
                <a:cs typeface="Times New Roman"/>
              </a:rPr>
              <a:t>must</a:t>
            </a:r>
            <a:r>
              <a:rPr sz="1800" spc="-20" dirty="0">
                <a:latin typeface="Times New Roman"/>
                <a:cs typeface="Times New Roman"/>
              </a:rPr>
              <a:t> </a:t>
            </a:r>
            <a:r>
              <a:rPr sz="1800" dirty="0">
                <a:latin typeface="Times New Roman"/>
                <a:cs typeface="Times New Roman"/>
              </a:rPr>
              <a:t>run</a:t>
            </a:r>
            <a:r>
              <a:rPr sz="1800" spc="-20"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spc="-10" dirty="0">
                <a:latin typeface="Times New Roman"/>
                <a:cs typeface="Times New Roman"/>
              </a:rPr>
              <a:t>computational</a:t>
            </a:r>
            <a:r>
              <a:rPr sz="1800" spc="-50" dirty="0">
                <a:latin typeface="Times New Roman"/>
                <a:cs typeface="Times New Roman"/>
              </a:rPr>
              <a:t> </a:t>
            </a:r>
            <a:r>
              <a:rPr sz="1800" dirty="0">
                <a:latin typeface="Times New Roman"/>
                <a:cs typeface="Times New Roman"/>
              </a:rPr>
              <a:t>graph</a:t>
            </a:r>
            <a:r>
              <a:rPr sz="1800" spc="-20" dirty="0">
                <a:latin typeface="Times New Roman"/>
                <a:cs typeface="Times New Roman"/>
              </a:rPr>
              <a:t> </a:t>
            </a:r>
            <a:r>
              <a:rPr sz="1800" dirty="0">
                <a:latin typeface="Times New Roman"/>
                <a:cs typeface="Times New Roman"/>
              </a:rPr>
              <a:t>within</a:t>
            </a:r>
            <a:r>
              <a:rPr sz="1800" spc="-40" dirty="0">
                <a:latin typeface="Times New Roman"/>
                <a:cs typeface="Times New Roman"/>
              </a:rPr>
              <a:t> </a:t>
            </a:r>
            <a:r>
              <a:rPr sz="1800" dirty="0">
                <a:latin typeface="Times New Roman"/>
                <a:cs typeface="Times New Roman"/>
              </a:rPr>
              <a:t>a</a:t>
            </a:r>
            <a:r>
              <a:rPr sz="1800" spc="25" dirty="0">
                <a:latin typeface="Times New Roman"/>
                <a:cs typeface="Times New Roman"/>
              </a:rPr>
              <a:t> </a:t>
            </a:r>
            <a:r>
              <a:rPr sz="1800" b="1" spc="-10" dirty="0">
                <a:latin typeface="Times New Roman"/>
                <a:cs typeface="Times New Roman"/>
              </a:rPr>
              <a:t>session</a:t>
            </a:r>
            <a:r>
              <a:rPr sz="1800" spc="-10" dirty="0">
                <a:latin typeface="Times New Roman"/>
                <a:cs typeface="Times New Roman"/>
              </a:rPr>
              <a:t>.</a:t>
            </a:r>
            <a:endParaRPr sz="1800">
              <a:latin typeface="Times New Roman"/>
              <a:cs typeface="Times New Roman"/>
            </a:endParaRPr>
          </a:p>
          <a:p>
            <a:pPr marL="91440" lvl="1" indent="-88900">
              <a:lnSpc>
                <a:spcPct val="100000"/>
              </a:lnSpc>
              <a:buSzPct val="94444"/>
              <a:buFont typeface="Arial MT"/>
              <a:buChar char="•"/>
              <a:tabLst>
                <a:tab pos="91440" algn="l"/>
              </a:tabLst>
            </a:pPr>
            <a:r>
              <a:rPr sz="1800" spc="-20" dirty="0">
                <a:latin typeface="Times New Roman"/>
                <a:cs typeface="Times New Roman"/>
              </a:rPr>
              <a:t>A</a:t>
            </a:r>
            <a:r>
              <a:rPr sz="1800" spc="-105" dirty="0">
                <a:latin typeface="Times New Roman"/>
                <a:cs typeface="Times New Roman"/>
              </a:rPr>
              <a:t> </a:t>
            </a:r>
            <a:r>
              <a:rPr sz="1800" dirty="0">
                <a:latin typeface="Times New Roman"/>
                <a:cs typeface="Times New Roman"/>
              </a:rPr>
              <a:t>session</a:t>
            </a:r>
            <a:r>
              <a:rPr sz="1800" spc="-55" dirty="0">
                <a:latin typeface="Times New Roman"/>
                <a:cs typeface="Times New Roman"/>
              </a:rPr>
              <a:t> </a:t>
            </a:r>
            <a:r>
              <a:rPr sz="1800" dirty="0">
                <a:latin typeface="Times New Roman"/>
                <a:cs typeface="Times New Roman"/>
              </a:rPr>
              <a:t>encapsulates</a:t>
            </a:r>
            <a:r>
              <a:rPr sz="1800" spc="-50"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dirty="0">
                <a:latin typeface="Times New Roman"/>
                <a:cs typeface="Times New Roman"/>
              </a:rPr>
              <a:t>control</a:t>
            </a:r>
            <a:r>
              <a:rPr sz="1800" spc="-25" dirty="0">
                <a:latin typeface="Times New Roman"/>
                <a:cs typeface="Times New Roman"/>
              </a:rPr>
              <a:t> </a:t>
            </a:r>
            <a:r>
              <a:rPr sz="1800" dirty="0">
                <a:latin typeface="Times New Roman"/>
                <a:cs typeface="Times New Roman"/>
              </a:rPr>
              <a:t>and</a:t>
            </a:r>
            <a:r>
              <a:rPr sz="1800" spc="-30" dirty="0">
                <a:latin typeface="Times New Roman"/>
                <a:cs typeface="Times New Roman"/>
              </a:rPr>
              <a:t> </a:t>
            </a:r>
            <a:r>
              <a:rPr sz="1800" dirty="0">
                <a:latin typeface="Times New Roman"/>
                <a:cs typeface="Times New Roman"/>
              </a:rPr>
              <a:t>state</a:t>
            </a:r>
            <a:r>
              <a:rPr sz="1800" spc="-40" dirty="0">
                <a:latin typeface="Times New Roman"/>
                <a:cs typeface="Times New Roman"/>
              </a:rPr>
              <a:t> </a:t>
            </a:r>
            <a:r>
              <a:rPr sz="1800" dirty="0">
                <a:latin typeface="Times New Roman"/>
                <a:cs typeface="Times New Roman"/>
              </a:rPr>
              <a:t>of</a:t>
            </a:r>
            <a:r>
              <a:rPr sz="1800" spc="-25" dirty="0">
                <a:latin typeface="Times New Roman"/>
                <a:cs typeface="Times New Roman"/>
              </a:rPr>
              <a:t> </a:t>
            </a:r>
            <a:r>
              <a:rPr sz="1800" dirty="0">
                <a:latin typeface="Times New Roman"/>
                <a:cs typeface="Times New Roman"/>
              </a:rPr>
              <a:t>the</a:t>
            </a:r>
            <a:r>
              <a:rPr sz="1800" spc="-60" dirty="0">
                <a:latin typeface="Times New Roman"/>
                <a:cs typeface="Times New Roman"/>
              </a:rPr>
              <a:t> </a:t>
            </a:r>
            <a:r>
              <a:rPr sz="1800" spc="-10" dirty="0">
                <a:latin typeface="Times New Roman"/>
                <a:cs typeface="Times New Roman"/>
              </a:rPr>
              <a:t>TensorFlow</a:t>
            </a:r>
            <a:r>
              <a:rPr sz="1800" spc="-40" dirty="0">
                <a:latin typeface="Times New Roman"/>
                <a:cs typeface="Times New Roman"/>
              </a:rPr>
              <a:t> </a:t>
            </a:r>
            <a:r>
              <a:rPr sz="1800" spc="-10" dirty="0">
                <a:latin typeface="Times New Roman"/>
                <a:cs typeface="Times New Roman"/>
              </a:rPr>
              <a:t>runtime.</a:t>
            </a:r>
            <a:endParaRPr sz="18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8163" y="345717"/>
            <a:ext cx="12014200" cy="4979670"/>
          </a:xfrm>
          <a:prstGeom prst="rect">
            <a:avLst/>
          </a:prstGeom>
        </p:spPr>
        <p:txBody>
          <a:bodyPr vert="horz" wrap="square" lIns="0" tIns="88900" rIns="0" bIns="0" rtlCol="0">
            <a:spAutoFit/>
          </a:bodyPr>
          <a:lstStyle/>
          <a:p>
            <a:pPr marL="12700" algn="just">
              <a:lnSpc>
                <a:spcPct val="100000"/>
              </a:lnSpc>
              <a:spcBef>
                <a:spcPts val="700"/>
              </a:spcBef>
            </a:pPr>
            <a:r>
              <a:rPr sz="2500" b="1" spc="-10" dirty="0">
                <a:solidFill>
                  <a:srgbClr val="FF0000"/>
                </a:solidFill>
                <a:latin typeface="Times New Roman"/>
                <a:cs typeface="Times New Roman"/>
              </a:rPr>
              <a:t>Computational</a:t>
            </a:r>
            <a:r>
              <a:rPr sz="2500" b="1" spc="-45" dirty="0">
                <a:solidFill>
                  <a:srgbClr val="FF0000"/>
                </a:solidFill>
                <a:latin typeface="Times New Roman"/>
                <a:cs typeface="Times New Roman"/>
              </a:rPr>
              <a:t> </a:t>
            </a:r>
            <a:r>
              <a:rPr sz="2500" b="1" spc="-20" dirty="0">
                <a:solidFill>
                  <a:srgbClr val="FF0000"/>
                </a:solidFill>
                <a:latin typeface="Times New Roman"/>
                <a:cs typeface="Times New Roman"/>
              </a:rPr>
              <a:t>Graph</a:t>
            </a:r>
            <a:endParaRPr sz="2500">
              <a:latin typeface="Times New Roman"/>
              <a:cs typeface="Times New Roman"/>
            </a:endParaRPr>
          </a:p>
          <a:p>
            <a:pPr marL="355600" marR="5715" indent="-342900" algn="just">
              <a:lnSpc>
                <a:spcPct val="100000"/>
              </a:lnSpc>
              <a:spcBef>
                <a:spcPts val="600"/>
              </a:spcBef>
              <a:buFont typeface="Wingdings"/>
              <a:buChar char=""/>
              <a:tabLst>
                <a:tab pos="355600" algn="l"/>
              </a:tabLst>
            </a:pPr>
            <a:r>
              <a:rPr sz="2500" dirty="0">
                <a:latin typeface="Times New Roman"/>
                <a:cs typeface="Times New Roman"/>
              </a:rPr>
              <a:t>A</a:t>
            </a:r>
            <a:r>
              <a:rPr sz="2500" spc="459" dirty="0">
                <a:latin typeface="Times New Roman"/>
                <a:cs typeface="Times New Roman"/>
              </a:rPr>
              <a:t> </a:t>
            </a:r>
            <a:r>
              <a:rPr sz="2500" dirty="0">
                <a:latin typeface="Times New Roman"/>
                <a:cs typeface="Times New Roman"/>
              </a:rPr>
              <a:t>computational</a:t>
            </a:r>
            <a:r>
              <a:rPr sz="2500" spc="610" dirty="0">
                <a:latin typeface="Times New Roman"/>
                <a:cs typeface="Times New Roman"/>
              </a:rPr>
              <a:t> </a:t>
            </a:r>
            <a:r>
              <a:rPr sz="2500" dirty="0">
                <a:latin typeface="Times New Roman"/>
                <a:cs typeface="Times New Roman"/>
              </a:rPr>
              <a:t>graph</a:t>
            </a:r>
            <a:r>
              <a:rPr sz="2500" spc="600" dirty="0">
                <a:latin typeface="Times New Roman"/>
                <a:cs typeface="Times New Roman"/>
              </a:rPr>
              <a:t> </a:t>
            </a:r>
            <a:r>
              <a:rPr sz="2500" dirty="0">
                <a:latin typeface="Times New Roman"/>
                <a:cs typeface="Times New Roman"/>
              </a:rPr>
              <a:t>is</a:t>
            </a:r>
            <a:r>
              <a:rPr sz="2500" spc="590" dirty="0">
                <a:latin typeface="Times New Roman"/>
                <a:cs typeface="Times New Roman"/>
              </a:rPr>
              <a:t> </a:t>
            </a:r>
            <a:r>
              <a:rPr sz="2500" dirty="0">
                <a:latin typeface="Times New Roman"/>
                <a:cs typeface="Times New Roman"/>
              </a:rPr>
              <a:t>a</a:t>
            </a:r>
            <a:r>
              <a:rPr sz="2500" spc="585" dirty="0">
                <a:latin typeface="Times New Roman"/>
                <a:cs typeface="Times New Roman"/>
              </a:rPr>
              <a:t> </a:t>
            </a:r>
            <a:r>
              <a:rPr sz="2500" dirty="0">
                <a:latin typeface="Times New Roman"/>
                <a:cs typeface="Times New Roman"/>
              </a:rPr>
              <a:t>fundamental</a:t>
            </a:r>
            <a:r>
              <a:rPr sz="2500" spc="610" dirty="0">
                <a:latin typeface="Times New Roman"/>
                <a:cs typeface="Times New Roman"/>
              </a:rPr>
              <a:t> </a:t>
            </a:r>
            <a:r>
              <a:rPr sz="2500" dirty="0">
                <a:latin typeface="Times New Roman"/>
                <a:cs typeface="Times New Roman"/>
              </a:rPr>
              <a:t>concept</a:t>
            </a:r>
            <a:r>
              <a:rPr sz="2500" spc="595" dirty="0">
                <a:latin typeface="Times New Roman"/>
                <a:cs typeface="Times New Roman"/>
              </a:rPr>
              <a:t> </a:t>
            </a:r>
            <a:r>
              <a:rPr sz="2500" dirty="0">
                <a:latin typeface="Times New Roman"/>
                <a:cs typeface="Times New Roman"/>
              </a:rPr>
              <a:t>in</a:t>
            </a:r>
            <a:r>
              <a:rPr sz="2500" spc="600" dirty="0">
                <a:latin typeface="Times New Roman"/>
                <a:cs typeface="Times New Roman"/>
              </a:rPr>
              <a:t> </a:t>
            </a:r>
            <a:r>
              <a:rPr sz="2500" dirty="0">
                <a:latin typeface="Times New Roman"/>
                <a:cs typeface="Times New Roman"/>
              </a:rPr>
              <a:t>many</a:t>
            </a:r>
            <a:r>
              <a:rPr sz="2500" spc="585" dirty="0">
                <a:latin typeface="Times New Roman"/>
                <a:cs typeface="Times New Roman"/>
              </a:rPr>
              <a:t> </a:t>
            </a:r>
            <a:r>
              <a:rPr sz="2500" dirty="0">
                <a:latin typeface="Times New Roman"/>
                <a:cs typeface="Times New Roman"/>
              </a:rPr>
              <a:t>deep</a:t>
            </a:r>
            <a:r>
              <a:rPr sz="2500" spc="595" dirty="0">
                <a:latin typeface="Times New Roman"/>
                <a:cs typeface="Times New Roman"/>
              </a:rPr>
              <a:t> </a:t>
            </a:r>
            <a:r>
              <a:rPr sz="2500" dirty="0">
                <a:latin typeface="Times New Roman"/>
                <a:cs typeface="Times New Roman"/>
              </a:rPr>
              <a:t>learning</a:t>
            </a:r>
            <a:r>
              <a:rPr sz="2500" spc="610" dirty="0">
                <a:latin typeface="Times New Roman"/>
                <a:cs typeface="Times New Roman"/>
              </a:rPr>
              <a:t> </a:t>
            </a:r>
            <a:r>
              <a:rPr sz="2500" spc="-10" dirty="0">
                <a:latin typeface="Times New Roman"/>
                <a:cs typeface="Times New Roman"/>
              </a:rPr>
              <a:t>frameworks, </a:t>
            </a:r>
            <a:r>
              <a:rPr sz="2500" dirty="0">
                <a:latin typeface="Times New Roman"/>
                <a:cs typeface="Times New Roman"/>
              </a:rPr>
              <a:t>including</a:t>
            </a:r>
            <a:r>
              <a:rPr sz="2500" spc="500" dirty="0">
                <a:latin typeface="Times New Roman"/>
                <a:cs typeface="Times New Roman"/>
              </a:rPr>
              <a:t> </a:t>
            </a:r>
            <a:r>
              <a:rPr sz="2500" dirty="0">
                <a:latin typeface="Times New Roman"/>
                <a:cs typeface="Times New Roman"/>
              </a:rPr>
              <a:t>TensorFlow</a:t>
            </a:r>
            <a:r>
              <a:rPr sz="2500" spc="505" dirty="0">
                <a:latin typeface="Times New Roman"/>
                <a:cs typeface="Times New Roman"/>
              </a:rPr>
              <a:t> </a:t>
            </a:r>
            <a:r>
              <a:rPr sz="2500" dirty="0">
                <a:latin typeface="Times New Roman"/>
                <a:cs typeface="Times New Roman"/>
              </a:rPr>
              <a:t>and</a:t>
            </a:r>
            <a:r>
              <a:rPr sz="2500" spc="495" dirty="0">
                <a:latin typeface="Times New Roman"/>
                <a:cs typeface="Times New Roman"/>
              </a:rPr>
              <a:t> </a:t>
            </a:r>
            <a:r>
              <a:rPr sz="2500" dirty="0">
                <a:latin typeface="Times New Roman"/>
                <a:cs typeface="Times New Roman"/>
              </a:rPr>
              <a:t>PyTorch.</a:t>
            </a:r>
            <a:r>
              <a:rPr sz="2500" spc="495" dirty="0">
                <a:latin typeface="Times New Roman"/>
                <a:cs typeface="Times New Roman"/>
              </a:rPr>
              <a:t> </a:t>
            </a:r>
            <a:r>
              <a:rPr sz="2500" dirty="0">
                <a:latin typeface="Times New Roman"/>
                <a:cs typeface="Times New Roman"/>
              </a:rPr>
              <a:t>It</a:t>
            </a:r>
            <a:r>
              <a:rPr sz="2500" spc="495" dirty="0">
                <a:latin typeface="Times New Roman"/>
                <a:cs typeface="Times New Roman"/>
              </a:rPr>
              <a:t> </a:t>
            </a:r>
            <a:r>
              <a:rPr sz="2500" dirty="0">
                <a:latin typeface="Times New Roman"/>
                <a:cs typeface="Times New Roman"/>
              </a:rPr>
              <a:t>is</a:t>
            </a:r>
            <a:r>
              <a:rPr sz="2500" spc="495" dirty="0">
                <a:latin typeface="Times New Roman"/>
                <a:cs typeface="Times New Roman"/>
              </a:rPr>
              <a:t> </a:t>
            </a:r>
            <a:r>
              <a:rPr sz="2500" dirty="0">
                <a:latin typeface="Times New Roman"/>
                <a:cs typeface="Times New Roman"/>
              </a:rPr>
              <a:t>a</a:t>
            </a:r>
            <a:r>
              <a:rPr sz="2500" spc="490" dirty="0">
                <a:latin typeface="Times New Roman"/>
                <a:cs typeface="Times New Roman"/>
              </a:rPr>
              <a:t> </a:t>
            </a:r>
            <a:r>
              <a:rPr sz="2500" dirty="0">
                <a:latin typeface="Times New Roman"/>
                <a:cs typeface="Times New Roman"/>
              </a:rPr>
              <a:t>graphical</a:t>
            </a:r>
            <a:r>
              <a:rPr sz="2500" spc="515" dirty="0">
                <a:latin typeface="Times New Roman"/>
                <a:cs typeface="Times New Roman"/>
              </a:rPr>
              <a:t> </a:t>
            </a:r>
            <a:r>
              <a:rPr sz="2500" dirty="0">
                <a:latin typeface="Times New Roman"/>
                <a:cs typeface="Times New Roman"/>
              </a:rPr>
              <a:t>representation</a:t>
            </a:r>
            <a:r>
              <a:rPr sz="2500" spc="505" dirty="0">
                <a:latin typeface="Times New Roman"/>
                <a:cs typeface="Times New Roman"/>
              </a:rPr>
              <a:t> </a:t>
            </a:r>
            <a:r>
              <a:rPr sz="2500" dirty="0">
                <a:latin typeface="Times New Roman"/>
                <a:cs typeface="Times New Roman"/>
              </a:rPr>
              <a:t>of</a:t>
            </a:r>
            <a:r>
              <a:rPr sz="2500" spc="490" dirty="0">
                <a:latin typeface="Times New Roman"/>
                <a:cs typeface="Times New Roman"/>
              </a:rPr>
              <a:t> </a:t>
            </a:r>
            <a:r>
              <a:rPr sz="2500" dirty="0">
                <a:latin typeface="Times New Roman"/>
                <a:cs typeface="Times New Roman"/>
              </a:rPr>
              <a:t>a</a:t>
            </a:r>
            <a:r>
              <a:rPr sz="2500" spc="515" dirty="0">
                <a:latin typeface="Times New Roman"/>
                <a:cs typeface="Times New Roman"/>
              </a:rPr>
              <a:t> </a:t>
            </a:r>
            <a:r>
              <a:rPr sz="2500" spc="-10" dirty="0">
                <a:latin typeface="Times New Roman"/>
                <a:cs typeface="Times New Roman"/>
              </a:rPr>
              <a:t>mathematical </a:t>
            </a:r>
            <a:r>
              <a:rPr sz="2500" dirty="0">
                <a:latin typeface="Times New Roman"/>
                <a:cs typeface="Times New Roman"/>
              </a:rPr>
              <a:t>computation</a:t>
            </a:r>
            <a:r>
              <a:rPr sz="2500" spc="-10" dirty="0">
                <a:latin typeface="Times New Roman"/>
                <a:cs typeface="Times New Roman"/>
              </a:rPr>
              <a:t> </a:t>
            </a:r>
            <a:r>
              <a:rPr sz="2500" dirty="0">
                <a:latin typeface="Times New Roman"/>
                <a:cs typeface="Times New Roman"/>
              </a:rPr>
              <a:t>that</a:t>
            </a:r>
            <a:r>
              <a:rPr sz="2500" spc="-50" dirty="0">
                <a:latin typeface="Times New Roman"/>
                <a:cs typeface="Times New Roman"/>
              </a:rPr>
              <a:t> </a:t>
            </a:r>
            <a:r>
              <a:rPr sz="2500" dirty="0">
                <a:latin typeface="Times New Roman"/>
                <a:cs typeface="Times New Roman"/>
              </a:rPr>
              <a:t>consists</a:t>
            </a:r>
            <a:r>
              <a:rPr sz="2500" spc="-40" dirty="0">
                <a:latin typeface="Times New Roman"/>
                <a:cs typeface="Times New Roman"/>
              </a:rPr>
              <a:t> </a:t>
            </a:r>
            <a:r>
              <a:rPr sz="2500" dirty="0">
                <a:latin typeface="Times New Roman"/>
                <a:cs typeface="Times New Roman"/>
              </a:rPr>
              <a:t>of</a:t>
            </a:r>
            <a:r>
              <a:rPr sz="2500" spc="-85" dirty="0">
                <a:latin typeface="Times New Roman"/>
                <a:cs typeface="Times New Roman"/>
              </a:rPr>
              <a:t> </a:t>
            </a:r>
            <a:r>
              <a:rPr sz="2500" dirty="0">
                <a:latin typeface="Times New Roman"/>
                <a:cs typeface="Times New Roman"/>
              </a:rPr>
              <a:t>nodes</a:t>
            </a:r>
            <a:r>
              <a:rPr sz="2500" spc="-60" dirty="0">
                <a:latin typeface="Times New Roman"/>
                <a:cs typeface="Times New Roman"/>
              </a:rPr>
              <a:t> </a:t>
            </a:r>
            <a:r>
              <a:rPr sz="2500" dirty="0">
                <a:latin typeface="Times New Roman"/>
                <a:cs typeface="Times New Roman"/>
              </a:rPr>
              <a:t>and</a:t>
            </a:r>
            <a:r>
              <a:rPr sz="2500" spc="-55" dirty="0">
                <a:latin typeface="Times New Roman"/>
                <a:cs typeface="Times New Roman"/>
              </a:rPr>
              <a:t> </a:t>
            </a:r>
            <a:r>
              <a:rPr sz="2500" spc="-10" dirty="0">
                <a:latin typeface="Times New Roman"/>
                <a:cs typeface="Times New Roman"/>
              </a:rPr>
              <a:t>edges</a:t>
            </a:r>
            <a:endParaRPr sz="2500">
              <a:latin typeface="Times New Roman"/>
              <a:cs typeface="Times New Roman"/>
            </a:endParaRPr>
          </a:p>
          <a:p>
            <a:pPr marL="12700" algn="just">
              <a:lnSpc>
                <a:spcPct val="100000"/>
              </a:lnSpc>
              <a:spcBef>
                <a:spcPts val="605"/>
              </a:spcBef>
            </a:pPr>
            <a:r>
              <a:rPr sz="2500" b="1" dirty="0">
                <a:latin typeface="Times New Roman"/>
                <a:cs typeface="Times New Roman"/>
              </a:rPr>
              <a:t>Components</a:t>
            </a:r>
            <a:r>
              <a:rPr sz="2500" b="1" spc="-80" dirty="0">
                <a:latin typeface="Times New Roman"/>
                <a:cs typeface="Times New Roman"/>
              </a:rPr>
              <a:t> </a:t>
            </a:r>
            <a:r>
              <a:rPr sz="2500" b="1" dirty="0">
                <a:latin typeface="Times New Roman"/>
                <a:cs typeface="Times New Roman"/>
              </a:rPr>
              <a:t>of</a:t>
            </a:r>
            <a:r>
              <a:rPr sz="2500" b="1" spc="-100" dirty="0">
                <a:latin typeface="Times New Roman"/>
                <a:cs typeface="Times New Roman"/>
              </a:rPr>
              <a:t> </a:t>
            </a:r>
            <a:r>
              <a:rPr sz="2500" b="1" dirty="0">
                <a:latin typeface="Times New Roman"/>
                <a:cs typeface="Times New Roman"/>
              </a:rPr>
              <a:t>a</a:t>
            </a:r>
            <a:r>
              <a:rPr sz="2500" b="1" spc="-114" dirty="0">
                <a:latin typeface="Times New Roman"/>
                <a:cs typeface="Times New Roman"/>
              </a:rPr>
              <a:t> </a:t>
            </a:r>
            <a:r>
              <a:rPr sz="2500" b="1" dirty="0">
                <a:latin typeface="Times New Roman"/>
                <a:cs typeface="Times New Roman"/>
              </a:rPr>
              <a:t>Computational</a:t>
            </a:r>
            <a:r>
              <a:rPr sz="2500" b="1" spc="-80" dirty="0">
                <a:latin typeface="Times New Roman"/>
                <a:cs typeface="Times New Roman"/>
              </a:rPr>
              <a:t> </a:t>
            </a:r>
            <a:r>
              <a:rPr sz="2500" b="1" spc="-10" dirty="0">
                <a:latin typeface="Times New Roman"/>
                <a:cs typeface="Times New Roman"/>
              </a:rPr>
              <a:t>Graph:</a:t>
            </a:r>
            <a:endParaRPr sz="2500">
              <a:latin typeface="Times New Roman"/>
              <a:cs typeface="Times New Roman"/>
            </a:endParaRPr>
          </a:p>
          <a:p>
            <a:pPr marL="355600" marR="5080" indent="-342900" algn="just">
              <a:lnSpc>
                <a:spcPct val="100000"/>
              </a:lnSpc>
              <a:spcBef>
                <a:spcPts val="600"/>
              </a:spcBef>
              <a:buFont typeface="Wingdings"/>
              <a:buChar char=""/>
              <a:tabLst>
                <a:tab pos="355600" algn="l"/>
              </a:tabLst>
            </a:pPr>
            <a:r>
              <a:rPr sz="2500" b="1" dirty="0">
                <a:latin typeface="Times New Roman"/>
                <a:cs typeface="Times New Roman"/>
              </a:rPr>
              <a:t>Nodes</a:t>
            </a:r>
            <a:r>
              <a:rPr sz="2500" b="1" spc="254" dirty="0">
                <a:latin typeface="Times New Roman"/>
                <a:cs typeface="Times New Roman"/>
              </a:rPr>
              <a:t> </a:t>
            </a:r>
            <a:r>
              <a:rPr sz="2500" b="1" dirty="0">
                <a:latin typeface="Times New Roman"/>
                <a:cs typeface="Times New Roman"/>
              </a:rPr>
              <a:t>(Vertices):</a:t>
            </a:r>
            <a:r>
              <a:rPr sz="2500" b="1" spc="254" dirty="0">
                <a:latin typeface="Times New Roman"/>
                <a:cs typeface="Times New Roman"/>
              </a:rPr>
              <a:t> </a:t>
            </a:r>
            <a:r>
              <a:rPr sz="2500" dirty="0">
                <a:latin typeface="Times New Roman"/>
                <a:cs typeface="Times New Roman"/>
              </a:rPr>
              <a:t>Nodes</a:t>
            </a:r>
            <a:r>
              <a:rPr sz="2500" spc="260" dirty="0">
                <a:latin typeface="Times New Roman"/>
                <a:cs typeface="Times New Roman"/>
              </a:rPr>
              <a:t> </a:t>
            </a:r>
            <a:r>
              <a:rPr sz="2500" dirty="0">
                <a:latin typeface="Times New Roman"/>
                <a:cs typeface="Times New Roman"/>
              </a:rPr>
              <a:t>represent</a:t>
            </a:r>
            <a:r>
              <a:rPr sz="2500" spc="275" dirty="0">
                <a:latin typeface="Times New Roman"/>
                <a:cs typeface="Times New Roman"/>
              </a:rPr>
              <a:t> </a:t>
            </a:r>
            <a:r>
              <a:rPr sz="2500" dirty="0">
                <a:latin typeface="Times New Roman"/>
                <a:cs typeface="Times New Roman"/>
              </a:rPr>
              <a:t>operations</a:t>
            </a:r>
            <a:r>
              <a:rPr sz="2500" spc="270" dirty="0">
                <a:latin typeface="Times New Roman"/>
                <a:cs typeface="Times New Roman"/>
              </a:rPr>
              <a:t> </a:t>
            </a:r>
            <a:r>
              <a:rPr sz="2500" dirty="0">
                <a:latin typeface="Times New Roman"/>
                <a:cs typeface="Times New Roman"/>
              </a:rPr>
              <a:t>or</a:t>
            </a:r>
            <a:r>
              <a:rPr sz="2500" spc="254" dirty="0">
                <a:latin typeface="Times New Roman"/>
                <a:cs typeface="Times New Roman"/>
              </a:rPr>
              <a:t> </a:t>
            </a:r>
            <a:r>
              <a:rPr sz="2500" dirty="0">
                <a:latin typeface="Times New Roman"/>
                <a:cs typeface="Times New Roman"/>
              </a:rPr>
              <a:t>computations.</a:t>
            </a:r>
            <a:r>
              <a:rPr sz="2500" spc="260" dirty="0">
                <a:latin typeface="Times New Roman"/>
                <a:cs typeface="Times New Roman"/>
              </a:rPr>
              <a:t> </a:t>
            </a:r>
            <a:r>
              <a:rPr sz="2500" dirty="0">
                <a:latin typeface="Times New Roman"/>
                <a:cs typeface="Times New Roman"/>
              </a:rPr>
              <a:t>These</a:t>
            </a:r>
            <a:r>
              <a:rPr sz="2500" spc="260" dirty="0">
                <a:latin typeface="Times New Roman"/>
                <a:cs typeface="Times New Roman"/>
              </a:rPr>
              <a:t> </a:t>
            </a:r>
            <a:r>
              <a:rPr sz="2500" dirty="0">
                <a:latin typeface="Times New Roman"/>
                <a:cs typeface="Times New Roman"/>
              </a:rPr>
              <a:t>operations</a:t>
            </a:r>
            <a:r>
              <a:rPr sz="2500" spc="270" dirty="0">
                <a:latin typeface="Times New Roman"/>
                <a:cs typeface="Times New Roman"/>
              </a:rPr>
              <a:t> </a:t>
            </a:r>
            <a:r>
              <a:rPr sz="2500" dirty="0">
                <a:latin typeface="Times New Roman"/>
                <a:cs typeface="Times New Roman"/>
              </a:rPr>
              <a:t>can</a:t>
            </a:r>
            <a:r>
              <a:rPr sz="2500" spc="270" dirty="0">
                <a:latin typeface="Times New Roman"/>
                <a:cs typeface="Times New Roman"/>
              </a:rPr>
              <a:t> </a:t>
            </a:r>
            <a:r>
              <a:rPr sz="2500" spc="-25" dirty="0">
                <a:latin typeface="Times New Roman"/>
                <a:cs typeface="Times New Roman"/>
              </a:rPr>
              <a:t>be </a:t>
            </a:r>
            <a:r>
              <a:rPr sz="2500" dirty="0">
                <a:latin typeface="Times New Roman"/>
                <a:cs typeface="Times New Roman"/>
              </a:rPr>
              <a:t>mathematical</a:t>
            </a:r>
            <a:r>
              <a:rPr sz="2500" spc="65" dirty="0">
                <a:latin typeface="Times New Roman"/>
                <a:cs typeface="Times New Roman"/>
              </a:rPr>
              <a:t>  </a:t>
            </a:r>
            <a:r>
              <a:rPr sz="2500" dirty="0">
                <a:latin typeface="Times New Roman"/>
                <a:cs typeface="Times New Roman"/>
              </a:rPr>
              <a:t>functions,</a:t>
            </a:r>
            <a:r>
              <a:rPr sz="2500" spc="60" dirty="0">
                <a:latin typeface="Times New Roman"/>
                <a:cs typeface="Times New Roman"/>
              </a:rPr>
              <a:t>  </a:t>
            </a:r>
            <a:r>
              <a:rPr sz="2500" dirty="0">
                <a:latin typeface="Times New Roman"/>
                <a:cs typeface="Times New Roman"/>
              </a:rPr>
              <a:t>such</a:t>
            </a:r>
            <a:r>
              <a:rPr sz="2500" spc="60" dirty="0">
                <a:latin typeface="Times New Roman"/>
                <a:cs typeface="Times New Roman"/>
              </a:rPr>
              <a:t>  </a:t>
            </a:r>
            <a:r>
              <a:rPr sz="2500" dirty="0">
                <a:latin typeface="Times New Roman"/>
                <a:cs typeface="Times New Roman"/>
              </a:rPr>
              <a:t>as</a:t>
            </a:r>
            <a:r>
              <a:rPr sz="2500" spc="55" dirty="0">
                <a:latin typeface="Times New Roman"/>
                <a:cs typeface="Times New Roman"/>
              </a:rPr>
              <a:t>  </a:t>
            </a:r>
            <a:r>
              <a:rPr sz="2500" dirty="0">
                <a:latin typeface="Times New Roman"/>
                <a:cs typeface="Times New Roman"/>
              </a:rPr>
              <a:t>addition</a:t>
            </a:r>
            <a:r>
              <a:rPr sz="2500" spc="65" dirty="0">
                <a:latin typeface="Times New Roman"/>
                <a:cs typeface="Times New Roman"/>
              </a:rPr>
              <a:t>  </a:t>
            </a:r>
            <a:r>
              <a:rPr sz="2500" dirty="0">
                <a:latin typeface="Times New Roman"/>
                <a:cs typeface="Times New Roman"/>
              </a:rPr>
              <a:t>or</a:t>
            </a:r>
            <a:r>
              <a:rPr sz="2500" spc="65" dirty="0">
                <a:latin typeface="Times New Roman"/>
                <a:cs typeface="Times New Roman"/>
              </a:rPr>
              <a:t>  </a:t>
            </a:r>
            <a:r>
              <a:rPr sz="2500" dirty="0">
                <a:latin typeface="Times New Roman"/>
                <a:cs typeface="Times New Roman"/>
              </a:rPr>
              <a:t>matrix</a:t>
            </a:r>
            <a:r>
              <a:rPr sz="2500" spc="70" dirty="0">
                <a:latin typeface="Times New Roman"/>
                <a:cs typeface="Times New Roman"/>
              </a:rPr>
              <a:t>  </a:t>
            </a:r>
            <a:r>
              <a:rPr sz="2500" dirty="0">
                <a:latin typeface="Times New Roman"/>
                <a:cs typeface="Times New Roman"/>
              </a:rPr>
              <a:t>multiplication,</a:t>
            </a:r>
            <a:r>
              <a:rPr sz="2500" spc="65" dirty="0">
                <a:latin typeface="Times New Roman"/>
                <a:cs typeface="Times New Roman"/>
              </a:rPr>
              <a:t>  </a:t>
            </a:r>
            <a:r>
              <a:rPr sz="2500" dirty="0">
                <a:latin typeface="Times New Roman"/>
                <a:cs typeface="Times New Roman"/>
              </a:rPr>
              <a:t>or</a:t>
            </a:r>
            <a:r>
              <a:rPr sz="2500" spc="65" dirty="0">
                <a:latin typeface="Times New Roman"/>
                <a:cs typeface="Times New Roman"/>
              </a:rPr>
              <a:t>  </a:t>
            </a:r>
            <a:r>
              <a:rPr sz="2500" dirty="0">
                <a:latin typeface="Times New Roman"/>
                <a:cs typeface="Times New Roman"/>
              </a:rPr>
              <a:t>more</a:t>
            </a:r>
            <a:r>
              <a:rPr sz="2500" spc="60" dirty="0">
                <a:latin typeface="Times New Roman"/>
                <a:cs typeface="Times New Roman"/>
              </a:rPr>
              <a:t>  </a:t>
            </a:r>
            <a:r>
              <a:rPr sz="2500" spc="-10" dirty="0">
                <a:latin typeface="Times New Roman"/>
                <a:cs typeface="Times New Roman"/>
              </a:rPr>
              <a:t>complex </a:t>
            </a:r>
            <a:r>
              <a:rPr sz="2500" dirty="0">
                <a:latin typeface="Times New Roman"/>
                <a:cs typeface="Times New Roman"/>
              </a:rPr>
              <a:t>operations</a:t>
            </a:r>
            <a:r>
              <a:rPr sz="2500" spc="480" dirty="0">
                <a:latin typeface="Times New Roman"/>
                <a:cs typeface="Times New Roman"/>
              </a:rPr>
              <a:t> </a:t>
            </a:r>
            <a:r>
              <a:rPr sz="2500" dirty="0">
                <a:latin typeface="Times New Roman"/>
                <a:cs typeface="Times New Roman"/>
              </a:rPr>
              <a:t>like</a:t>
            </a:r>
            <a:r>
              <a:rPr sz="2500" spc="480" dirty="0">
                <a:latin typeface="Times New Roman"/>
                <a:cs typeface="Times New Roman"/>
              </a:rPr>
              <a:t> </a:t>
            </a:r>
            <a:r>
              <a:rPr sz="2500" dirty="0">
                <a:latin typeface="Times New Roman"/>
                <a:cs typeface="Times New Roman"/>
              </a:rPr>
              <a:t>convolution</a:t>
            </a:r>
            <a:r>
              <a:rPr sz="2500" spc="480" dirty="0">
                <a:latin typeface="Times New Roman"/>
                <a:cs typeface="Times New Roman"/>
              </a:rPr>
              <a:t> </a:t>
            </a:r>
            <a:r>
              <a:rPr sz="2500" dirty="0">
                <a:latin typeface="Times New Roman"/>
                <a:cs typeface="Times New Roman"/>
              </a:rPr>
              <a:t>in</a:t>
            </a:r>
            <a:r>
              <a:rPr sz="2500" spc="480" dirty="0">
                <a:latin typeface="Times New Roman"/>
                <a:cs typeface="Times New Roman"/>
              </a:rPr>
              <a:t> </a:t>
            </a:r>
            <a:r>
              <a:rPr sz="2500" dirty="0">
                <a:latin typeface="Times New Roman"/>
                <a:cs typeface="Times New Roman"/>
              </a:rPr>
              <a:t>a</a:t>
            </a:r>
            <a:r>
              <a:rPr sz="2500" spc="465" dirty="0">
                <a:latin typeface="Times New Roman"/>
                <a:cs typeface="Times New Roman"/>
              </a:rPr>
              <a:t> </a:t>
            </a:r>
            <a:r>
              <a:rPr sz="2500" dirty="0">
                <a:latin typeface="Times New Roman"/>
                <a:cs typeface="Times New Roman"/>
              </a:rPr>
              <a:t>neural</a:t>
            </a:r>
            <a:r>
              <a:rPr sz="2500" spc="480" dirty="0">
                <a:latin typeface="Times New Roman"/>
                <a:cs typeface="Times New Roman"/>
              </a:rPr>
              <a:t> </a:t>
            </a:r>
            <a:r>
              <a:rPr sz="2500" dirty="0">
                <a:latin typeface="Times New Roman"/>
                <a:cs typeface="Times New Roman"/>
              </a:rPr>
              <a:t>network.</a:t>
            </a:r>
            <a:r>
              <a:rPr sz="2500" spc="470" dirty="0">
                <a:latin typeface="Times New Roman"/>
                <a:cs typeface="Times New Roman"/>
              </a:rPr>
              <a:t> </a:t>
            </a:r>
            <a:r>
              <a:rPr sz="2500" dirty="0">
                <a:latin typeface="Times New Roman"/>
                <a:cs typeface="Times New Roman"/>
              </a:rPr>
              <a:t>Each</a:t>
            </a:r>
            <a:r>
              <a:rPr sz="2500" spc="475" dirty="0">
                <a:latin typeface="Times New Roman"/>
                <a:cs typeface="Times New Roman"/>
              </a:rPr>
              <a:t> </a:t>
            </a:r>
            <a:r>
              <a:rPr sz="2500" dirty="0">
                <a:latin typeface="Times New Roman"/>
                <a:cs typeface="Times New Roman"/>
              </a:rPr>
              <a:t>node</a:t>
            </a:r>
            <a:r>
              <a:rPr sz="2500" spc="470" dirty="0">
                <a:latin typeface="Times New Roman"/>
                <a:cs typeface="Times New Roman"/>
              </a:rPr>
              <a:t> </a:t>
            </a:r>
            <a:r>
              <a:rPr sz="2500" dirty="0">
                <a:latin typeface="Times New Roman"/>
                <a:cs typeface="Times New Roman"/>
              </a:rPr>
              <a:t>takes</a:t>
            </a:r>
            <a:r>
              <a:rPr sz="2500" spc="484" dirty="0">
                <a:latin typeface="Times New Roman"/>
                <a:cs typeface="Times New Roman"/>
              </a:rPr>
              <a:t> </a:t>
            </a:r>
            <a:r>
              <a:rPr sz="2500" dirty="0">
                <a:latin typeface="Times New Roman"/>
                <a:cs typeface="Times New Roman"/>
              </a:rPr>
              <a:t>one</a:t>
            </a:r>
            <a:r>
              <a:rPr sz="2500" spc="465" dirty="0">
                <a:latin typeface="Times New Roman"/>
                <a:cs typeface="Times New Roman"/>
              </a:rPr>
              <a:t> </a:t>
            </a:r>
            <a:r>
              <a:rPr sz="2500" dirty="0">
                <a:latin typeface="Times New Roman"/>
                <a:cs typeface="Times New Roman"/>
              </a:rPr>
              <a:t>or</a:t>
            </a:r>
            <a:r>
              <a:rPr sz="2500" spc="475" dirty="0">
                <a:latin typeface="Times New Roman"/>
                <a:cs typeface="Times New Roman"/>
              </a:rPr>
              <a:t> </a:t>
            </a:r>
            <a:r>
              <a:rPr sz="2500" dirty="0">
                <a:latin typeface="Times New Roman"/>
                <a:cs typeface="Times New Roman"/>
              </a:rPr>
              <a:t>more</a:t>
            </a:r>
            <a:r>
              <a:rPr sz="2500" spc="470" dirty="0">
                <a:latin typeface="Times New Roman"/>
                <a:cs typeface="Times New Roman"/>
              </a:rPr>
              <a:t> </a:t>
            </a:r>
            <a:r>
              <a:rPr sz="2500" spc="-10" dirty="0">
                <a:latin typeface="Times New Roman"/>
                <a:cs typeface="Times New Roman"/>
              </a:rPr>
              <a:t>inputs, </a:t>
            </a:r>
            <a:r>
              <a:rPr sz="2500" dirty="0">
                <a:latin typeface="Times New Roman"/>
                <a:cs typeface="Times New Roman"/>
              </a:rPr>
              <a:t>performs</a:t>
            </a:r>
            <a:r>
              <a:rPr sz="2500" spc="-40" dirty="0">
                <a:latin typeface="Times New Roman"/>
                <a:cs typeface="Times New Roman"/>
              </a:rPr>
              <a:t> </a:t>
            </a:r>
            <a:r>
              <a:rPr sz="2500" dirty="0">
                <a:latin typeface="Times New Roman"/>
                <a:cs typeface="Times New Roman"/>
              </a:rPr>
              <a:t>a</a:t>
            </a:r>
            <a:r>
              <a:rPr sz="2500" spc="-100" dirty="0">
                <a:latin typeface="Times New Roman"/>
                <a:cs typeface="Times New Roman"/>
              </a:rPr>
              <a:t> </a:t>
            </a:r>
            <a:r>
              <a:rPr sz="2500" dirty="0">
                <a:latin typeface="Times New Roman"/>
                <a:cs typeface="Times New Roman"/>
              </a:rPr>
              <a:t>specific</a:t>
            </a:r>
            <a:r>
              <a:rPr sz="2500" spc="-65" dirty="0">
                <a:latin typeface="Times New Roman"/>
                <a:cs typeface="Times New Roman"/>
              </a:rPr>
              <a:t> </a:t>
            </a:r>
            <a:r>
              <a:rPr sz="2500" dirty="0">
                <a:latin typeface="Times New Roman"/>
                <a:cs typeface="Times New Roman"/>
              </a:rPr>
              <a:t>operation,</a:t>
            </a:r>
            <a:r>
              <a:rPr sz="2500" spc="-65" dirty="0">
                <a:latin typeface="Times New Roman"/>
                <a:cs typeface="Times New Roman"/>
              </a:rPr>
              <a:t> </a:t>
            </a:r>
            <a:r>
              <a:rPr sz="2500" dirty="0">
                <a:latin typeface="Times New Roman"/>
                <a:cs typeface="Times New Roman"/>
              </a:rPr>
              <a:t>and</a:t>
            </a:r>
            <a:r>
              <a:rPr sz="2500" spc="-125" dirty="0">
                <a:latin typeface="Times New Roman"/>
                <a:cs typeface="Times New Roman"/>
              </a:rPr>
              <a:t> </a:t>
            </a:r>
            <a:r>
              <a:rPr sz="2500" dirty="0">
                <a:latin typeface="Times New Roman"/>
                <a:cs typeface="Times New Roman"/>
              </a:rPr>
              <a:t>produces</a:t>
            </a:r>
            <a:r>
              <a:rPr sz="2500" spc="-70" dirty="0">
                <a:latin typeface="Times New Roman"/>
                <a:cs typeface="Times New Roman"/>
              </a:rPr>
              <a:t> </a:t>
            </a:r>
            <a:r>
              <a:rPr sz="2500" dirty="0">
                <a:latin typeface="Times New Roman"/>
                <a:cs typeface="Times New Roman"/>
              </a:rPr>
              <a:t>an</a:t>
            </a:r>
            <a:r>
              <a:rPr sz="2500" spc="-100" dirty="0">
                <a:latin typeface="Times New Roman"/>
                <a:cs typeface="Times New Roman"/>
              </a:rPr>
              <a:t> </a:t>
            </a:r>
            <a:r>
              <a:rPr sz="2500" spc="-10" dirty="0">
                <a:latin typeface="Times New Roman"/>
                <a:cs typeface="Times New Roman"/>
              </a:rPr>
              <a:t>output.</a:t>
            </a:r>
            <a:endParaRPr sz="2500">
              <a:latin typeface="Times New Roman"/>
              <a:cs typeface="Times New Roman"/>
            </a:endParaRPr>
          </a:p>
          <a:p>
            <a:pPr marL="355600" marR="5080" indent="-342900" algn="just">
              <a:lnSpc>
                <a:spcPct val="100000"/>
              </a:lnSpc>
              <a:spcBef>
                <a:spcPts val="600"/>
              </a:spcBef>
              <a:buFont typeface="Wingdings"/>
              <a:buChar char=""/>
              <a:tabLst>
                <a:tab pos="355600" algn="l"/>
              </a:tabLst>
            </a:pPr>
            <a:r>
              <a:rPr sz="2500" b="1" dirty="0">
                <a:latin typeface="Times New Roman"/>
                <a:cs typeface="Times New Roman"/>
              </a:rPr>
              <a:t>Edges</a:t>
            </a:r>
            <a:r>
              <a:rPr sz="2500" b="1" spc="175" dirty="0">
                <a:latin typeface="Times New Roman"/>
                <a:cs typeface="Times New Roman"/>
              </a:rPr>
              <a:t> </a:t>
            </a:r>
            <a:r>
              <a:rPr sz="2500" b="1" dirty="0">
                <a:latin typeface="Times New Roman"/>
                <a:cs typeface="Times New Roman"/>
              </a:rPr>
              <a:t>(Directed</a:t>
            </a:r>
            <a:r>
              <a:rPr sz="2500" b="1" spc="180" dirty="0">
                <a:latin typeface="Times New Roman"/>
                <a:cs typeface="Times New Roman"/>
              </a:rPr>
              <a:t> </a:t>
            </a:r>
            <a:r>
              <a:rPr sz="2500" b="1" dirty="0">
                <a:latin typeface="Times New Roman"/>
                <a:cs typeface="Times New Roman"/>
              </a:rPr>
              <a:t>Edges):</a:t>
            </a:r>
            <a:r>
              <a:rPr sz="2500" b="1" spc="170" dirty="0">
                <a:latin typeface="Times New Roman"/>
                <a:cs typeface="Times New Roman"/>
              </a:rPr>
              <a:t> </a:t>
            </a:r>
            <a:r>
              <a:rPr sz="2500" dirty="0">
                <a:latin typeface="Times New Roman"/>
                <a:cs typeface="Times New Roman"/>
              </a:rPr>
              <a:t>Edges</a:t>
            </a:r>
            <a:r>
              <a:rPr sz="2500" spc="185" dirty="0">
                <a:latin typeface="Times New Roman"/>
                <a:cs typeface="Times New Roman"/>
              </a:rPr>
              <a:t> </a:t>
            </a:r>
            <a:r>
              <a:rPr sz="2500" dirty="0">
                <a:latin typeface="Times New Roman"/>
                <a:cs typeface="Times New Roman"/>
              </a:rPr>
              <a:t>represent</a:t>
            </a:r>
            <a:r>
              <a:rPr sz="2500" spc="185" dirty="0">
                <a:latin typeface="Times New Roman"/>
                <a:cs typeface="Times New Roman"/>
              </a:rPr>
              <a:t> </a:t>
            </a:r>
            <a:r>
              <a:rPr sz="2500" dirty="0">
                <a:latin typeface="Times New Roman"/>
                <a:cs typeface="Times New Roman"/>
              </a:rPr>
              <a:t>the</a:t>
            </a:r>
            <a:r>
              <a:rPr sz="2500" spc="185" dirty="0">
                <a:latin typeface="Times New Roman"/>
                <a:cs typeface="Times New Roman"/>
              </a:rPr>
              <a:t> </a:t>
            </a:r>
            <a:r>
              <a:rPr sz="2500" dirty="0">
                <a:latin typeface="Times New Roman"/>
                <a:cs typeface="Times New Roman"/>
              </a:rPr>
              <a:t>flow</a:t>
            </a:r>
            <a:r>
              <a:rPr sz="2500" spc="180" dirty="0">
                <a:latin typeface="Times New Roman"/>
                <a:cs typeface="Times New Roman"/>
              </a:rPr>
              <a:t> </a:t>
            </a:r>
            <a:r>
              <a:rPr sz="2500" dirty="0">
                <a:latin typeface="Times New Roman"/>
                <a:cs typeface="Times New Roman"/>
              </a:rPr>
              <a:t>of</a:t>
            </a:r>
            <a:r>
              <a:rPr sz="2500" spc="170" dirty="0">
                <a:latin typeface="Times New Roman"/>
                <a:cs typeface="Times New Roman"/>
              </a:rPr>
              <a:t> </a:t>
            </a:r>
            <a:r>
              <a:rPr sz="2500" dirty="0">
                <a:latin typeface="Times New Roman"/>
                <a:cs typeface="Times New Roman"/>
              </a:rPr>
              <a:t>data</a:t>
            </a:r>
            <a:r>
              <a:rPr sz="2500" spc="175" dirty="0">
                <a:latin typeface="Times New Roman"/>
                <a:cs typeface="Times New Roman"/>
              </a:rPr>
              <a:t> </a:t>
            </a:r>
            <a:r>
              <a:rPr sz="2500" dirty="0">
                <a:latin typeface="Times New Roman"/>
                <a:cs typeface="Times New Roman"/>
              </a:rPr>
              <a:t>between</a:t>
            </a:r>
            <a:r>
              <a:rPr sz="2500" spc="190" dirty="0">
                <a:latin typeface="Times New Roman"/>
                <a:cs typeface="Times New Roman"/>
              </a:rPr>
              <a:t> </a:t>
            </a:r>
            <a:r>
              <a:rPr sz="2500" dirty="0">
                <a:latin typeface="Times New Roman"/>
                <a:cs typeface="Times New Roman"/>
              </a:rPr>
              <a:t>nodes.</a:t>
            </a:r>
            <a:r>
              <a:rPr sz="2500" spc="175" dirty="0">
                <a:latin typeface="Times New Roman"/>
                <a:cs typeface="Times New Roman"/>
              </a:rPr>
              <a:t> </a:t>
            </a:r>
            <a:r>
              <a:rPr sz="2500" dirty="0">
                <a:latin typeface="Times New Roman"/>
                <a:cs typeface="Times New Roman"/>
              </a:rPr>
              <a:t>They</a:t>
            </a:r>
            <a:r>
              <a:rPr sz="2500" spc="175" dirty="0">
                <a:latin typeface="Times New Roman"/>
                <a:cs typeface="Times New Roman"/>
              </a:rPr>
              <a:t> </a:t>
            </a:r>
            <a:r>
              <a:rPr sz="2500" spc="-10" dirty="0">
                <a:latin typeface="Times New Roman"/>
                <a:cs typeface="Times New Roman"/>
              </a:rPr>
              <a:t>indicate </a:t>
            </a:r>
            <a:r>
              <a:rPr sz="2500" dirty="0">
                <a:latin typeface="Times New Roman"/>
                <a:cs typeface="Times New Roman"/>
              </a:rPr>
              <a:t>the</a:t>
            </a:r>
            <a:r>
              <a:rPr sz="2500" spc="490" dirty="0">
                <a:latin typeface="Times New Roman"/>
                <a:cs typeface="Times New Roman"/>
              </a:rPr>
              <a:t> </a:t>
            </a:r>
            <a:r>
              <a:rPr sz="2500" spc="-25" dirty="0">
                <a:latin typeface="Times New Roman"/>
                <a:cs typeface="Times New Roman"/>
              </a:rPr>
              <a:t>input-</a:t>
            </a:r>
            <a:r>
              <a:rPr sz="2500" dirty="0">
                <a:latin typeface="Times New Roman"/>
                <a:cs typeface="Times New Roman"/>
              </a:rPr>
              <a:t>output</a:t>
            </a:r>
            <a:r>
              <a:rPr sz="2500" spc="505" dirty="0">
                <a:latin typeface="Times New Roman"/>
                <a:cs typeface="Times New Roman"/>
              </a:rPr>
              <a:t> </a:t>
            </a:r>
            <a:r>
              <a:rPr sz="2500" dirty="0">
                <a:latin typeface="Times New Roman"/>
                <a:cs typeface="Times New Roman"/>
              </a:rPr>
              <a:t>relationships</a:t>
            </a:r>
            <a:r>
              <a:rPr sz="2500" spc="509" dirty="0">
                <a:latin typeface="Times New Roman"/>
                <a:cs typeface="Times New Roman"/>
              </a:rPr>
              <a:t> </a:t>
            </a:r>
            <a:r>
              <a:rPr sz="2500" dirty="0">
                <a:latin typeface="Times New Roman"/>
                <a:cs typeface="Times New Roman"/>
              </a:rPr>
              <a:t>between</a:t>
            </a:r>
            <a:r>
              <a:rPr sz="2500" spc="490" dirty="0">
                <a:latin typeface="Times New Roman"/>
                <a:cs typeface="Times New Roman"/>
              </a:rPr>
              <a:t> </a:t>
            </a:r>
            <a:r>
              <a:rPr sz="2500" dirty="0">
                <a:latin typeface="Times New Roman"/>
                <a:cs typeface="Times New Roman"/>
              </a:rPr>
              <a:t>operations.</a:t>
            </a:r>
            <a:r>
              <a:rPr sz="2500" spc="495" dirty="0">
                <a:latin typeface="Times New Roman"/>
                <a:cs typeface="Times New Roman"/>
              </a:rPr>
              <a:t> </a:t>
            </a:r>
            <a:r>
              <a:rPr sz="2500" dirty="0">
                <a:latin typeface="Times New Roman"/>
                <a:cs typeface="Times New Roman"/>
              </a:rPr>
              <a:t>Data,</a:t>
            </a:r>
            <a:r>
              <a:rPr sz="2500" spc="500" dirty="0">
                <a:latin typeface="Times New Roman"/>
                <a:cs typeface="Times New Roman"/>
              </a:rPr>
              <a:t> </a:t>
            </a:r>
            <a:r>
              <a:rPr sz="2500" dirty="0">
                <a:latin typeface="Times New Roman"/>
                <a:cs typeface="Times New Roman"/>
              </a:rPr>
              <a:t>in</a:t>
            </a:r>
            <a:r>
              <a:rPr sz="2500" spc="495" dirty="0">
                <a:latin typeface="Times New Roman"/>
                <a:cs typeface="Times New Roman"/>
              </a:rPr>
              <a:t> </a:t>
            </a:r>
            <a:r>
              <a:rPr sz="2500" dirty="0">
                <a:latin typeface="Times New Roman"/>
                <a:cs typeface="Times New Roman"/>
              </a:rPr>
              <a:t>the</a:t>
            </a:r>
            <a:r>
              <a:rPr sz="2500" spc="495" dirty="0">
                <a:latin typeface="Times New Roman"/>
                <a:cs typeface="Times New Roman"/>
              </a:rPr>
              <a:t> </a:t>
            </a:r>
            <a:r>
              <a:rPr sz="2500" dirty="0">
                <a:latin typeface="Times New Roman"/>
                <a:cs typeface="Times New Roman"/>
              </a:rPr>
              <a:t>form</a:t>
            </a:r>
            <a:r>
              <a:rPr sz="2500" spc="490" dirty="0">
                <a:latin typeface="Times New Roman"/>
                <a:cs typeface="Times New Roman"/>
              </a:rPr>
              <a:t> </a:t>
            </a:r>
            <a:r>
              <a:rPr sz="2500" dirty="0">
                <a:latin typeface="Times New Roman"/>
                <a:cs typeface="Times New Roman"/>
              </a:rPr>
              <a:t>of</a:t>
            </a:r>
            <a:r>
              <a:rPr sz="2500" spc="495" dirty="0">
                <a:latin typeface="Times New Roman"/>
                <a:cs typeface="Times New Roman"/>
              </a:rPr>
              <a:t> </a:t>
            </a:r>
            <a:r>
              <a:rPr sz="2500" dirty="0">
                <a:latin typeface="Times New Roman"/>
                <a:cs typeface="Times New Roman"/>
              </a:rPr>
              <a:t>tensors</a:t>
            </a:r>
            <a:r>
              <a:rPr sz="2500" spc="509" dirty="0">
                <a:latin typeface="Times New Roman"/>
                <a:cs typeface="Times New Roman"/>
              </a:rPr>
              <a:t> </a:t>
            </a:r>
            <a:r>
              <a:rPr sz="2500" spc="-10" dirty="0">
                <a:latin typeface="Times New Roman"/>
                <a:cs typeface="Times New Roman"/>
              </a:rPr>
              <a:t>(multi- </a:t>
            </a:r>
            <a:r>
              <a:rPr sz="2500" dirty="0">
                <a:latin typeface="Times New Roman"/>
                <a:cs typeface="Times New Roman"/>
              </a:rPr>
              <a:t>dimensional arrays),</a:t>
            </a:r>
            <a:r>
              <a:rPr sz="2500" spc="-35" dirty="0">
                <a:latin typeface="Times New Roman"/>
                <a:cs typeface="Times New Roman"/>
              </a:rPr>
              <a:t> </a:t>
            </a:r>
            <a:r>
              <a:rPr sz="2500" dirty="0">
                <a:latin typeface="Times New Roman"/>
                <a:cs typeface="Times New Roman"/>
              </a:rPr>
              <a:t>flows</a:t>
            </a:r>
            <a:r>
              <a:rPr sz="2500" spc="-80" dirty="0">
                <a:latin typeface="Times New Roman"/>
                <a:cs typeface="Times New Roman"/>
              </a:rPr>
              <a:t> </a:t>
            </a:r>
            <a:r>
              <a:rPr sz="2500" dirty="0">
                <a:latin typeface="Times New Roman"/>
                <a:cs typeface="Times New Roman"/>
              </a:rPr>
              <a:t>through</a:t>
            </a:r>
            <a:r>
              <a:rPr sz="2500" spc="-105" dirty="0">
                <a:latin typeface="Times New Roman"/>
                <a:cs typeface="Times New Roman"/>
              </a:rPr>
              <a:t> </a:t>
            </a:r>
            <a:r>
              <a:rPr sz="2500" dirty="0">
                <a:latin typeface="Times New Roman"/>
                <a:cs typeface="Times New Roman"/>
              </a:rPr>
              <a:t>these</a:t>
            </a:r>
            <a:r>
              <a:rPr sz="2500" spc="-70" dirty="0">
                <a:latin typeface="Times New Roman"/>
                <a:cs typeface="Times New Roman"/>
              </a:rPr>
              <a:t> </a:t>
            </a:r>
            <a:r>
              <a:rPr sz="2500" dirty="0">
                <a:latin typeface="Times New Roman"/>
                <a:cs typeface="Times New Roman"/>
              </a:rPr>
              <a:t>edges</a:t>
            </a:r>
            <a:r>
              <a:rPr sz="2500" spc="-65" dirty="0">
                <a:latin typeface="Times New Roman"/>
                <a:cs typeface="Times New Roman"/>
              </a:rPr>
              <a:t> </a:t>
            </a:r>
            <a:r>
              <a:rPr sz="2500" dirty="0">
                <a:latin typeface="Times New Roman"/>
                <a:cs typeface="Times New Roman"/>
              </a:rPr>
              <a:t>as</a:t>
            </a:r>
            <a:r>
              <a:rPr sz="2500" spc="-60" dirty="0">
                <a:latin typeface="Times New Roman"/>
                <a:cs typeface="Times New Roman"/>
              </a:rPr>
              <a:t> </a:t>
            </a:r>
            <a:r>
              <a:rPr sz="2500" dirty="0">
                <a:latin typeface="Times New Roman"/>
                <a:cs typeface="Times New Roman"/>
              </a:rPr>
              <a:t>it</a:t>
            </a:r>
            <a:r>
              <a:rPr sz="2500" spc="-85" dirty="0">
                <a:latin typeface="Times New Roman"/>
                <a:cs typeface="Times New Roman"/>
              </a:rPr>
              <a:t> </a:t>
            </a:r>
            <a:r>
              <a:rPr sz="2500" dirty="0">
                <a:latin typeface="Times New Roman"/>
                <a:cs typeface="Times New Roman"/>
              </a:rPr>
              <a:t>moves</a:t>
            </a:r>
            <a:r>
              <a:rPr sz="2500" spc="-30" dirty="0">
                <a:latin typeface="Times New Roman"/>
                <a:cs typeface="Times New Roman"/>
              </a:rPr>
              <a:t> </a:t>
            </a:r>
            <a:r>
              <a:rPr sz="2500" dirty="0">
                <a:latin typeface="Times New Roman"/>
                <a:cs typeface="Times New Roman"/>
              </a:rPr>
              <a:t>from</a:t>
            </a:r>
            <a:r>
              <a:rPr sz="2500" spc="-80" dirty="0">
                <a:latin typeface="Times New Roman"/>
                <a:cs typeface="Times New Roman"/>
              </a:rPr>
              <a:t> </a:t>
            </a:r>
            <a:r>
              <a:rPr sz="2500" dirty="0">
                <a:latin typeface="Times New Roman"/>
                <a:cs typeface="Times New Roman"/>
              </a:rPr>
              <a:t>one</a:t>
            </a:r>
            <a:r>
              <a:rPr sz="2500" spc="-95" dirty="0">
                <a:latin typeface="Times New Roman"/>
                <a:cs typeface="Times New Roman"/>
              </a:rPr>
              <a:t> </a:t>
            </a:r>
            <a:r>
              <a:rPr sz="2500" dirty="0">
                <a:latin typeface="Times New Roman"/>
                <a:cs typeface="Times New Roman"/>
              </a:rPr>
              <a:t>node</a:t>
            </a:r>
            <a:r>
              <a:rPr sz="2500" spc="-100" dirty="0">
                <a:latin typeface="Times New Roman"/>
                <a:cs typeface="Times New Roman"/>
              </a:rPr>
              <a:t> </a:t>
            </a:r>
            <a:r>
              <a:rPr sz="2500" dirty="0">
                <a:latin typeface="Times New Roman"/>
                <a:cs typeface="Times New Roman"/>
              </a:rPr>
              <a:t>to</a:t>
            </a:r>
            <a:r>
              <a:rPr sz="2500" spc="-95" dirty="0">
                <a:latin typeface="Times New Roman"/>
                <a:cs typeface="Times New Roman"/>
              </a:rPr>
              <a:t> </a:t>
            </a:r>
            <a:r>
              <a:rPr sz="2500" spc="-10" dirty="0">
                <a:latin typeface="Times New Roman"/>
                <a:cs typeface="Times New Roman"/>
              </a:rPr>
              <a:t>another.</a:t>
            </a:r>
            <a:endParaRPr sz="25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1" y="76200"/>
            <a:ext cx="6177642"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143000"/>
            <a:ext cx="5089525" cy="319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3843" y="76200"/>
            <a:ext cx="5913664"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3" y="2819400"/>
            <a:ext cx="6319157" cy="161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4777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114" y="228600"/>
            <a:ext cx="722312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Straight Connector 3"/>
          <p:cNvCxnSpPr/>
          <p:nvPr/>
        </p:nvCxnSpPr>
        <p:spPr>
          <a:xfrm>
            <a:off x="990600" y="2979964"/>
            <a:ext cx="6477000" cy="0"/>
          </a:xfrm>
          <a:prstGeom prst="line">
            <a:avLst/>
          </a:prstGeom>
          <a:ln>
            <a:solidFill>
              <a:srgbClr val="FF0000"/>
            </a:solidFill>
          </a:ln>
          <a:effectLst>
            <a:outerShdw blurRad="152400" dist="317500" dir="5400000" sx="90000" sy="-19000"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114" y="3886200"/>
            <a:ext cx="5765800" cy="2430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0675" y="3733800"/>
            <a:ext cx="5480050" cy="291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28600" y="3276600"/>
            <a:ext cx="11922125" cy="76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8926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87325"/>
            <a:ext cx="10896600" cy="640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0741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4600" y="2695213"/>
            <a:ext cx="7924800" cy="769441"/>
          </a:xfrm>
          <a:prstGeom prst="rect">
            <a:avLst/>
          </a:prstGeom>
          <a:noFill/>
        </p:spPr>
        <p:txBody>
          <a:bodyPr wrap="square" rtlCol="0">
            <a:spAutoFit/>
          </a:bodyPr>
          <a:lstStyle/>
          <a:p>
            <a:pPr algn="ctr"/>
            <a:r>
              <a:rPr lang="en-US" sz="4400" b="1" smtClean="0"/>
              <a:t>Key </a:t>
            </a:r>
            <a:r>
              <a:rPr lang="en-US" sz="4400" b="1"/>
              <a:t>highlights</a:t>
            </a:r>
          </a:p>
        </p:txBody>
      </p:sp>
    </p:spTree>
    <p:extLst>
      <p:ext uri="{BB962C8B-B14F-4D97-AF65-F5344CB8AC3E}">
        <p14:creationId xmlns:p14="http://schemas.microsoft.com/office/powerpoint/2010/main" val="3873815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43813140"/>
              </p:ext>
            </p:extLst>
          </p:nvPr>
        </p:nvGraphicFramePr>
        <p:xfrm>
          <a:off x="1142997" y="1444624"/>
          <a:ext cx="9525002" cy="4414840"/>
        </p:xfrm>
        <a:graphic>
          <a:graphicData uri="http://schemas.openxmlformats.org/drawingml/2006/table">
            <a:tbl>
              <a:tblPr/>
              <a:tblGrid>
                <a:gridCol w="4762501">
                  <a:extLst>
                    <a:ext uri="{9D8B030D-6E8A-4147-A177-3AD203B41FA5}">
                      <a16:colId xmlns:a16="http://schemas.microsoft.com/office/drawing/2014/main" val="20000"/>
                    </a:ext>
                  </a:extLst>
                </a:gridCol>
                <a:gridCol w="4762501">
                  <a:extLst>
                    <a:ext uri="{9D8B030D-6E8A-4147-A177-3AD203B41FA5}">
                      <a16:colId xmlns:a16="http://schemas.microsoft.com/office/drawing/2014/main" val="20001"/>
                    </a:ext>
                  </a:extLst>
                </a:gridCol>
              </a:tblGrid>
              <a:tr h="248723">
                <a:tc>
                  <a:txBody>
                    <a:bodyPr/>
                    <a:lstStyle/>
                    <a:p>
                      <a:r>
                        <a:rPr lang="en-US" sz="1200" b="1"/>
                        <a:t>Feature</a:t>
                      </a:r>
                    </a:p>
                  </a:txBody>
                  <a:tcPr marL="62181" marR="62181" marT="31090" marB="31090" anchor="ctr">
                    <a:lnL>
                      <a:noFill/>
                    </a:lnL>
                    <a:lnR>
                      <a:noFill/>
                    </a:lnR>
                    <a:lnT>
                      <a:noFill/>
                    </a:lnT>
                    <a:lnB>
                      <a:noFill/>
                    </a:lnB>
                  </a:tcPr>
                </a:tc>
                <a:tc>
                  <a:txBody>
                    <a:bodyPr/>
                    <a:lstStyle/>
                    <a:p>
                      <a:r>
                        <a:rPr lang="en-US" sz="1200" b="1"/>
                        <a:t>Description</a:t>
                      </a:r>
                    </a:p>
                  </a:txBody>
                  <a:tcPr marL="62181" marR="62181" marT="31090" marB="31090" anchor="ctr">
                    <a:lnL>
                      <a:noFill/>
                    </a:lnL>
                    <a:lnR>
                      <a:noFill/>
                    </a:lnR>
                    <a:lnT>
                      <a:noFill/>
                    </a:lnT>
                    <a:lnB>
                      <a:noFill/>
                    </a:lnB>
                  </a:tcPr>
                </a:tc>
                <a:extLst>
                  <a:ext uri="{0D108BD9-81ED-4DB2-BD59-A6C34878D82A}">
                    <a16:rowId xmlns:a16="http://schemas.microsoft.com/office/drawing/2014/main" val="10000"/>
                  </a:ext>
                </a:extLst>
              </a:tr>
              <a:tr h="435266">
                <a:tc>
                  <a:txBody>
                    <a:bodyPr/>
                    <a:lstStyle/>
                    <a:p>
                      <a:r>
                        <a:rPr lang="en-US" sz="1200" b="0"/>
                        <a:t>🧠 </a:t>
                      </a:r>
                      <a:r>
                        <a:rPr lang="en-US" sz="1200" b="0" smtClean="0"/>
                        <a:t>    Abstraction </a:t>
                      </a:r>
                      <a:r>
                        <a:rPr lang="en-US" sz="1200" b="0"/>
                        <a:t>of Computation</a:t>
                      </a:r>
                    </a:p>
                  </a:txBody>
                  <a:tcPr marL="62181" marR="62181" marT="31090" marB="31090" anchor="ctr">
                    <a:lnL>
                      <a:noFill/>
                    </a:lnL>
                    <a:lnR>
                      <a:noFill/>
                    </a:lnR>
                    <a:lnT>
                      <a:noFill/>
                    </a:lnT>
                    <a:lnB>
                      <a:noFill/>
                    </a:lnB>
                  </a:tcPr>
                </a:tc>
                <a:tc>
                  <a:txBody>
                    <a:bodyPr/>
                    <a:lstStyle/>
                    <a:p>
                      <a:r>
                        <a:rPr lang="en-US" sz="1200" b="0"/>
                        <a:t>Represents complex mathematical operations in graph form.</a:t>
                      </a:r>
                    </a:p>
                  </a:txBody>
                  <a:tcPr marL="62181" marR="62181" marT="31090" marB="31090" anchor="ctr">
                    <a:lnL>
                      <a:noFill/>
                    </a:lnL>
                    <a:lnR>
                      <a:noFill/>
                    </a:lnR>
                    <a:lnT>
                      <a:noFill/>
                    </a:lnT>
                    <a:lnB>
                      <a:noFill/>
                    </a:lnB>
                  </a:tcPr>
                </a:tc>
                <a:extLst>
                  <a:ext uri="{0D108BD9-81ED-4DB2-BD59-A6C34878D82A}">
                    <a16:rowId xmlns:a16="http://schemas.microsoft.com/office/drawing/2014/main" val="10001"/>
                  </a:ext>
                </a:extLst>
              </a:tr>
              <a:tr h="435266">
                <a:tc>
                  <a:txBody>
                    <a:bodyPr/>
                    <a:lstStyle/>
                    <a:p>
                      <a:r>
                        <a:rPr lang="en-US" sz="1200" b="0"/>
                        <a:t>🔁 </a:t>
                      </a:r>
                      <a:r>
                        <a:rPr lang="en-US" sz="1200" b="0" smtClean="0"/>
                        <a:t>   Directed </a:t>
                      </a:r>
                      <a:r>
                        <a:rPr lang="en-US" sz="1200" b="0"/>
                        <a:t>Acyclic Graph (DAG)</a:t>
                      </a:r>
                    </a:p>
                  </a:txBody>
                  <a:tcPr marL="62181" marR="62181" marT="31090" marB="31090" anchor="ctr">
                    <a:lnL>
                      <a:noFill/>
                    </a:lnL>
                    <a:lnR>
                      <a:noFill/>
                    </a:lnR>
                    <a:lnT>
                      <a:noFill/>
                    </a:lnT>
                    <a:lnB>
                      <a:noFill/>
                    </a:lnB>
                  </a:tcPr>
                </a:tc>
                <a:tc>
                  <a:txBody>
                    <a:bodyPr/>
                    <a:lstStyle/>
                    <a:p>
                      <a:r>
                        <a:rPr lang="en-US" sz="1200" b="0"/>
                        <a:t>No loops; ensures operations have a clear execution order.</a:t>
                      </a:r>
                    </a:p>
                  </a:txBody>
                  <a:tcPr marL="62181" marR="62181" marT="31090" marB="31090" anchor="ctr">
                    <a:lnL>
                      <a:noFill/>
                    </a:lnL>
                    <a:lnR>
                      <a:noFill/>
                    </a:lnR>
                    <a:lnT>
                      <a:noFill/>
                    </a:lnT>
                    <a:lnB>
                      <a:noFill/>
                    </a:lnB>
                  </a:tcPr>
                </a:tc>
                <a:extLst>
                  <a:ext uri="{0D108BD9-81ED-4DB2-BD59-A6C34878D82A}">
                    <a16:rowId xmlns:a16="http://schemas.microsoft.com/office/drawing/2014/main" val="10002"/>
                  </a:ext>
                </a:extLst>
              </a:tr>
              <a:tr h="248723">
                <a:tc>
                  <a:txBody>
                    <a:bodyPr/>
                    <a:lstStyle/>
                    <a:p>
                      <a:r>
                        <a:rPr lang="en-US" sz="1200" b="0"/>
                        <a:t>🔗 </a:t>
                      </a:r>
                      <a:r>
                        <a:rPr lang="en-US" sz="1200" b="0" smtClean="0"/>
                        <a:t>  Nodes</a:t>
                      </a:r>
                      <a:endParaRPr lang="en-US" sz="1200" b="0"/>
                    </a:p>
                  </a:txBody>
                  <a:tcPr marL="62181" marR="62181" marT="31090" marB="31090" anchor="ctr">
                    <a:lnL>
                      <a:noFill/>
                    </a:lnL>
                    <a:lnR>
                      <a:noFill/>
                    </a:lnR>
                    <a:lnT>
                      <a:noFill/>
                    </a:lnT>
                    <a:lnB>
                      <a:noFill/>
                    </a:lnB>
                  </a:tcPr>
                </a:tc>
                <a:tc>
                  <a:txBody>
                    <a:bodyPr/>
                    <a:lstStyle/>
                    <a:p>
                      <a:r>
                        <a:rPr lang="en-US" sz="1200" b="0"/>
                        <a:t>Represent operations like add, multiply, or matmul.</a:t>
                      </a:r>
                    </a:p>
                  </a:txBody>
                  <a:tcPr marL="62181" marR="62181" marT="31090" marB="31090" anchor="ctr">
                    <a:lnL>
                      <a:noFill/>
                    </a:lnL>
                    <a:lnR>
                      <a:noFill/>
                    </a:lnR>
                    <a:lnT>
                      <a:noFill/>
                    </a:lnT>
                    <a:lnB>
                      <a:noFill/>
                    </a:lnB>
                  </a:tcPr>
                </a:tc>
                <a:extLst>
                  <a:ext uri="{0D108BD9-81ED-4DB2-BD59-A6C34878D82A}">
                    <a16:rowId xmlns:a16="http://schemas.microsoft.com/office/drawing/2014/main" val="10003"/>
                  </a:ext>
                </a:extLst>
              </a:tr>
              <a:tr h="435266">
                <a:tc>
                  <a:txBody>
                    <a:bodyPr/>
                    <a:lstStyle/>
                    <a:p>
                      <a:r>
                        <a:rPr lang="en-US" sz="1200" b="0"/>
                        <a:t>📦 </a:t>
                      </a:r>
                      <a:r>
                        <a:rPr lang="en-US" sz="1200" b="0" smtClean="0"/>
                        <a:t>  Edges </a:t>
                      </a:r>
                      <a:r>
                        <a:rPr lang="en-US" sz="1200" b="0"/>
                        <a:t>(Tensors)</a:t>
                      </a:r>
                    </a:p>
                  </a:txBody>
                  <a:tcPr marL="62181" marR="62181" marT="31090" marB="31090" anchor="ctr">
                    <a:lnL>
                      <a:noFill/>
                    </a:lnL>
                    <a:lnR>
                      <a:noFill/>
                    </a:lnR>
                    <a:lnT>
                      <a:noFill/>
                    </a:lnT>
                    <a:lnB>
                      <a:noFill/>
                    </a:lnB>
                  </a:tcPr>
                </a:tc>
                <a:tc>
                  <a:txBody>
                    <a:bodyPr/>
                    <a:lstStyle/>
                    <a:p>
                      <a:r>
                        <a:rPr lang="en-US" sz="1200" b="0"/>
                        <a:t>Carry data (multi-dimensional arrays) between nodes.</a:t>
                      </a:r>
                    </a:p>
                  </a:txBody>
                  <a:tcPr marL="62181" marR="62181" marT="31090" marB="31090" anchor="ctr">
                    <a:lnL>
                      <a:noFill/>
                    </a:lnL>
                    <a:lnR>
                      <a:noFill/>
                    </a:lnR>
                    <a:lnT>
                      <a:noFill/>
                    </a:lnT>
                    <a:lnB>
                      <a:noFill/>
                    </a:lnB>
                  </a:tcPr>
                </a:tc>
                <a:extLst>
                  <a:ext uri="{0D108BD9-81ED-4DB2-BD59-A6C34878D82A}">
                    <a16:rowId xmlns:a16="http://schemas.microsoft.com/office/drawing/2014/main" val="10004"/>
                  </a:ext>
                </a:extLst>
              </a:tr>
              <a:tr h="435266">
                <a:tc>
                  <a:txBody>
                    <a:bodyPr/>
                    <a:lstStyle/>
                    <a:p>
                      <a:r>
                        <a:rPr lang="en-US" sz="1200" b="0"/>
                        <a:t>🧩 </a:t>
                      </a:r>
                      <a:r>
                        <a:rPr lang="en-US" sz="1200" b="0" smtClean="0"/>
                        <a:t>  Variables</a:t>
                      </a:r>
                      <a:r>
                        <a:rPr lang="en-US" sz="1200" b="0"/>
                        <a:t>, Constants &amp; Placeholders</a:t>
                      </a:r>
                    </a:p>
                  </a:txBody>
                  <a:tcPr marL="62181" marR="62181" marT="31090" marB="31090" anchor="ctr">
                    <a:lnL>
                      <a:noFill/>
                    </a:lnL>
                    <a:lnR>
                      <a:noFill/>
                    </a:lnR>
                    <a:lnT>
                      <a:noFill/>
                    </a:lnT>
                    <a:lnB>
                      <a:noFill/>
                    </a:lnB>
                  </a:tcPr>
                </a:tc>
                <a:tc>
                  <a:txBody>
                    <a:bodyPr/>
                    <a:lstStyle/>
                    <a:p>
                      <a:r>
                        <a:rPr lang="en-US" sz="1200" b="0"/>
                        <a:t>Inputs to the graph. Variables can change, Constants cannot.</a:t>
                      </a:r>
                    </a:p>
                  </a:txBody>
                  <a:tcPr marL="62181" marR="62181" marT="31090" marB="31090" anchor="ctr">
                    <a:lnL>
                      <a:noFill/>
                    </a:lnL>
                    <a:lnR>
                      <a:noFill/>
                    </a:lnR>
                    <a:lnT>
                      <a:noFill/>
                    </a:lnT>
                    <a:lnB>
                      <a:noFill/>
                    </a:lnB>
                  </a:tcPr>
                </a:tc>
                <a:extLst>
                  <a:ext uri="{0D108BD9-81ED-4DB2-BD59-A6C34878D82A}">
                    <a16:rowId xmlns:a16="http://schemas.microsoft.com/office/drawing/2014/main" val="10005"/>
                  </a:ext>
                </a:extLst>
              </a:tr>
              <a:tr h="435266">
                <a:tc>
                  <a:txBody>
                    <a:bodyPr/>
                    <a:lstStyle/>
                    <a:p>
                      <a:r>
                        <a:rPr lang="en-US" sz="1200" b="0"/>
                        <a:t>⚙️ Build Once, Run Many</a:t>
                      </a:r>
                    </a:p>
                  </a:txBody>
                  <a:tcPr marL="62181" marR="62181" marT="31090" marB="31090" anchor="ctr">
                    <a:lnL>
                      <a:noFill/>
                    </a:lnL>
                    <a:lnR>
                      <a:noFill/>
                    </a:lnR>
                    <a:lnT>
                      <a:noFill/>
                    </a:lnT>
                    <a:lnB>
                      <a:noFill/>
                    </a:lnB>
                  </a:tcPr>
                </a:tc>
                <a:tc>
                  <a:txBody>
                    <a:bodyPr/>
                    <a:lstStyle/>
                    <a:p>
                      <a:r>
                        <a:rPr lang="en-US" sz="1200" b="0"/>
                        <a:t>Graph is defined once and can be executed multiple times with different inputs.</a:t>
                      </a:r>
                    </a:p>
                  </a:txBody>
                  <a:tcPr marL="62181" marR="62181" marT="31090" marB="31090" anchor="ctr">
                    <a:lnL>
                      <a:noFill/>
                    </a:lnL>
                    <a:lnR>
                      <a:noFill/>
                    </a:lnR>
                    <a:lnT>
                      <a:noFill/>
                    </a:lnT>
                    <a:lnB>
                      <a:noFill/>
                    </a:lnB>
                  </a:tcPr>
                </a:tc>
                <a:extLst>
                  <a:ext uri="{0D108BD9-81ED-4DB2-BD59-A6C34878D82A}">
                    <a16:rowId xmlns:a16="http://schemas.microsoft.com/office/drawing/2014/main" val="10006"/>
                  </a:ext>
                </a:extLst>
              </a:tr>
              <a:tr h="435266">
                <a:tc>
                  <a:txBody>
                    <a:bodyPr/>
                    <a:lstStyle/>
                    <a:p>
                      <a:r>
                        <a:rPr lang="en-US" sz="1200" b="0"/>
                        <a:t>⚡ Optimized Execution</a:t>
                      </a:r>
                    </a:p>
                  </a:txBody>
                  <a:tcPr marL="62181" marR="62181" marT="31090" marB="31090" anchor="ctr">
                    <a:lnL>
                      <a:noFill/>
                    </a:lnL>
                    <a:lnR>
                      <a:noFill/>
                    </a:lnR>
                    <a:lnT>
                      <a:noFill/>
                    </a:lnT>
                    <a:lnB>
                      <a:noFill/>
                    </a:lnB>
                  </a:tcPr>
                </a:tc>
                <a:tc>
                  <a:txBody>
                    <a:bodyPr/>
                    <a:lstStyle/>
                    <a:p>
                      <a:r>
                        <a:rPr lang="en-US" sz="1200" b="0"/>
                        <a:t>TensorFlow can optimize the graph for speed and memory before running.</a:t>
                      </a:r>
                    </a:p>
                  </a:txBody>
                  <a:tcPr marL="62181" marR="62181" marT="31090" marB="31090" anchor="ctr">
                    <a:lnL>
                      <a:noFill/>
                    </a:lnL>
                    <a:lnR>
                      <a:noFill/>
                    </a:lnR>
                    <a:lnT>
                      <a:noFill/>
                    </a:lnT>
                    <a:lnB>
                      <a:noFill/>
                    </a:lnB>
                  </a:tcPr>
                </a:tc>
                <a:extLst>
                  <a:ext uri="{0D108BD9-81ED-4DB2-BD59-A6C34878D82A}">
                    <a16:rowId xmlns:a16="http://schemas.microsoft.com/office/drawing/2014/main" val="10007"/>
                  </a:ext>
                </a:extLst>
              </a:tr>
              <a:tr h="435266">
                <a:tc>
                  <a:txBody>
                    <a:bodyPr/>
                    <a:lstStyle/>
                    <a:p>
                      <a:r>
                        <a:rPr lang="en-US" sz="1200" b="0"/>
                        <a:t>🎯 </a:t>
                      </a:r>
                      <a:r>
                        <a:rPr lang="en-US" sz="1200" b="0" smtClean="0"/>
                        <a:t>  Device </a:t>
                      </a:r>
                      <a:r>
                        <a:rPr lang="en-US" sz="1200" b="0"/>
                        <a:t>Independence</a:t>
                      </a:r>
                    </a:p>
                  </a:txBody>
                  <a:tcPr marL="62181" marR="62181" marT="31090" marB="31090" anchor="ctr">
                    <a:lnL>
                      <a:noFill/>
                    </a:lnL>
                    <a:lnR>
                      <a:noFill/>
                    </a:lnR>
                    <a:lnT>
                      <a:noFill/>
                    </a:lnT>
                    <a:lnB>
                      <a:noFill/>
                    </a:lnB>
                  </a:tcPr>
                </a:tc>
                <a:tc>
                  <a:txBody>
                    <a:bodyPr/>
                    <a:lstStyle/>
                    <a:p>
                      <a:r>
                        <a:rPr lang="en-US" sz="1200" b="0"/>
                        <a:t>Graph can be executed on CPU, GPU, or TPU seamlessly.</a:t>
                      </a:r>
                    </a:p>
                  </a:txBody>
                  <a:tcPr marL="62181" marR="62181" marT="31090" marB="31090" anchor="ctr">
                    <a:lnL>
                      <a:noFill/>
                    </a:lnL>
                    <a:lnR>
                      <a:noFill/>
                    </a:lnR>
                    <a:lnT>
                      <a:noFill/>
                    </a:lnT>
                    <a:lnB>
                      <a:noFill/>
                    </a:lnB>
                  </a:tcPr>
                </a:tc>
                <a:extLst>
                  <a:ext uri="{0D108BD9-81ED-4DB2-BD59-A6C34878D82A}">
                    <a16:rowId xmlns:a16="http://schemas.microsoft.com/office/drawing/2014/main" val="10008"/>
                  </a:ext>
                </a:extLst>
              </a:tr>
              <a:tr h="435266">
                <a:tc>
                  <a:txBody>
                    <a:bodyPr/>
                    <a:lstStyle/>
                    <a:p>
                      <a:r>
                        <a:rPr lang="en-US" sz="1200" b="0"/>
                        <a:t>🔄 </a:t>
                      </a:r>
                      <a:r>
                        <a:rPr lang="en-US" sz="1200" b="0" smtClean="0"/>
                        <a:t>   Lazy </a:t>
                      </a:r>
                      <a:r>
                        <a:rPr lang="en-US" sz="1200" b="0"/>
                        <a:t>Evaluation (in TF 1.x)</a:t>
                      </a:r>
                    </a:p>
                  </a:txBody>
                  <a:tcPr marL="62181" marR="62181" marT="31090" marB="31090" anchor="ctr">
                    <a:lnL>
                      <a:noFill/>
                    </a:lnL>
                    <a:lnR>
                      <a:noFill/>
                    </a:lnR>
                    <a:lnT>
                      <a:noFill/>
                    </a:lnT>
                    <a:lnB>
                      <a:noFill/>
                    </a:lnB>
                  </a:tcPr>
                </a:tc>
                <a:tc>
                  <a:txBody>
                    <a:bodyPr/>
                    <a:lstStyle/>
                    <a:p>
                      <a:r>
                        <a:rPr lang="en-US" sz="1200" b="0"/>
                        <a:t>Computation only happens when explicitly run in a session.</a:t>
                      </a:r>
                    </a:p>
                  </a:txBody>
                  <a:tcPr marL="62181" marR="62181" marT="31090" marB="31090" anchor="ctr">
                    <a:lnL>
                      <a:noFill/>
                    </a:lnL>
                    <a:lnR>
                      <a:noFill/>
                    </a:lnR>
                    <a:lnT>
                      <a:noFill/>
                    </a:lnT>
                    <a:lnB>
                      <a:noFill/>
                    </a:lnB>
                  </a:tcPr>
                </a:tc>
                <a:extLst>
                  <a:ext uri="{0D108BD9-81ED-4DB2-BD59-A6C34878D82A}">
                    <a16:rowId xmlns:a16="http://schemas.microsoft.com/office/drawing/2014/main" val="10009"/>
                  </a:ext>
                </a:extLst>
              </a:tr>
              <a:tr h="435266">
                <a:tc>
                  <a:txBody>
                    <a:bodyPr/>
                    <a:lstStyle/>
                    <a:p>
                      <a:r>
                        <a:rPr lang="en-US" sz="1200" b="0"/>
                        <a:t>🚀 </a:t>
                      </a:r>
                      <a:r>
                        <a:rPr lang="en-US" sz="1200" b="0" smtClean="0"/>
                        <a:t>   TF </a:t>
                      </a:r>
                      <a:r>
                        <a:rPr lang="en-US" sz="1200" b="0"/>
                        <a:t>2.x &amp; Eager Execution</a:t>
                      </a:r>
                    </a:p>
                  </a:txBody>
                  <a:tcPr marL="62181" marR="62181" marT="31090" marB="31090" anchor="ctr">
                    <a:lnL>
                      <a:noFill/>
                    </a:lnL>
                    <a:lnR>
                      <a:noFill/>
                    </a:lnR>
                    <a:lnT>
                      <a:noFill/>
                    </a:lnT>
                    <a:lnB>
                      <a:noFill/>
                    </a:lnB>
                  </a:tcPr>
                </a:tc>
                <a:tc>
                  <a:txBody>
                    <a:bodyPr/>
                    <a:lstStyle/>
                    <a:p>
                      <a:r>
                        <a:rPr lang="en-US" sz="1200" b="0"/>
                        <a:t>Uses eager execution by default but graphs can still be created using @tf.function.</a:t>
                      </a:r>
                    </a:p>
                  </a:txBody>
                  <a:tcPr marL="62181" marR="62181" marT="31090" marB="31090" anchor="ctr">
                    <a:lnL>
                      <a:noFill/>
                    </a:lnL>
                    <a:lnR>
                      <a:noFill/>
                    </a:lnR>
                    <a:lnT>
                      <a:noFill/>
                    </a:lnT>
                    <a:lnB>
                      <a:noFill/>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102490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2695213"/>
            <a:ext cx="10591800" cy="2123658"/>
          </a:xfrm>
          <a:prstGeom prst="rect">
            <a:avLst/>
          </a:prstGeom>
          <a:noFill/>
        </p:spPr>
        <p:txBody>
          <a:bodyPr wrap="square" rtlCol="0">
            <a:spAutoFit/>
          </a:bodyPr>
          <a:lstStyle/>
          <a:p>
            <a:pPr algn="ctr"/>
            <a:r>
              <a:rPr lang="en-US" sz="4400" b="1" smtClean="0"/>
              <a:t>Creating </a:t>
            </a:r>
            <a:r>
              <a:rPr lang="en-US" sz="4400" b="1"/>
              <a:t>a </a:t>
            </a:r>
            <a:r>
              <a:rPr lang="en-US" sz="4400" b="1" smtClean="0"/>
              <a:t>Graph </a:t>
            </a:r>
          </a:p>
          <a:p>
            <a:pPr algn="ctr"/>
            <a:r>
              <a:rPr lang="en-US" sz="4400" b="1" smtClean="0"/>
              <a:t>Regression example </a:t>
            </a:r>
          </a:p>
          <a:p>
            <a:pPr algn="ctr"/>
            <a:r>
              <a:rPr lang="en-US" sz="4400" b="1" smtClean="0"/>
              <a:t>Gradient </a:t>
            </a:r>
            <a:r>
              <a:rPr lang="en-US" sz="4400" b="1"/>
              <a:t>Descent</a:t>
            </a:r>
          </a:p>
        </p:txBody>
      </p:sp>
    </p:spTree>
    <p:extLst>
      <p:ext uri="{BB962C8B-B14F-4D97-AF65-F5344CB8AC3E}">
        <p14:creationId xmlns:p14="http://schemas.microsoft.com/office/powerpoint/2010/main" val="4225434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81000"/>
            <a:ext cx="60198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381000"/>
            <a:ext cx="5850954"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096000" y="0"/>
            <a:ext cx="152400" cy="678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2922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7298"/>
            <a:ext cx="3657600"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858000" y="0"/>
            <a:ext cx="5181600" cy="3693319"/>
          </a:xfrm>
          <a:prstGeom prst="rect">
            <a:avLst/>
          </a:prstGeom>
          <a:noFill/>
        </p:spPr>
        <p:txBody>
          <a:bodyPr wrap="square" rtlCol="0">
            <a:spAutoFit/>
          </a:bodyPr>
          <a:lstStyle/>
          <a:p>
            <a:r>
              <a:rPr lang="en-US" smtClean="0"/>
              <a:t>how </a:t>
            </a:r>
            <a:r>
              <a:rPr lang="en-US"/>
              <a:t>study time affects </a:t>
            </a:r>
            <a:r>
              <a:rPr lang="en-US" smtClean="0"/>
              <a:t>grades?</a:t>
            </a:r>
          </a:p>
          <a:p>
            <a:endParaRPr lang="en-US"/>
          </a:p>
          <a:p>
            <a:r>
              <a:rPr lang="en-US" smtClean="0"/>
              <a:t>Apply </a:t>
            </a:r>
            <a:r>
              <a:rPr lang="en-US"/>
              <a:t>Linear regression in order to model the relationship between a dependent variables and independent variables. </a:t>
            </a:r>
            <a:endParaRPr lang="en-US" smtClean="0"/>
          </a:p>
          <a:p>
            <a:endParaRPr lang="en-US"/>
          </a:p>
          <a:p>
            <a:r>
              <a:rPr lang="en-US" smtClean="0"/>
              <a:t>To </a:t>
            </a:r>
            <a:r>
              <a:rPr lang="en-US"/>
              <a:t>do that we </a:t>
            </a:r>
            <a:r>
              <a:rPr lang="en-US" b="1" u="sng"/>
              <a:t>can draw a line that best fits to our dataset</a:t>
            </a:r>
            <a:r>
              <a:rPr lang="en-US"/>
              <a:t>. </a:t>
            </a:r>
            <a:endParaRPr lang="en-US" smtClean="0"/>
          </a:p>
          <a:p>
            <a:endParaRPr lang="en-US"/>
          </a:p>
          <a:p>
            <a:r>
              <a:rPr lang="en-US" smtClean="0"/>
              <a:t>In </a:t>
            </a:r>
            <a:r>
              <a:rPr lang="en-US"/>
              <a:t>that way, we can predict where the future points may be and we </a:t>
            </a:r>
            <a:r>
              <a:rPr lang="en-US" b="1" u="sng"/>
              <a:t>can also identify outliers</a:t>
            </a:r>
            <a:r>
              <a:rPr lang="en-US" u="sng"/>
              <a:t>.</a:t>
            </a:r>
          </a:p>
          <a:p>
            <a:endParaRPr 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4745" y="457200"/>
            <a:ext cx="3336925"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04800" y="3886200"/>
            <a:ext cx="4884737" cy="1477328"/>
          </a:xfrm>
          <a:prstGeom prst="rect">
            <a:avLst/>
          </a:prstGeom>
          <a:noFill/>
        </p:spPr>
        <p:txBody>
          <a:bodyPr wrap="square" rtlCol="0">
            <a:spAutoFit/>
          </a:bodyPr>
          <a:lstStyle/>
          <a:p>
            <a:r>
              <a:rPr lang="en-US" b="1" smtClean="0"/>
              <a:t>Problem</a:t>
            </a:r>
            <a:r>
              <a:rPr lang="en-US" smtClean="0"/>
              <a:t>:-</a:t>
            </a:r>
            <a:r>
              <a:rPr lang="en-US"/>
              <a:t> We can’t draw the line because the parameters </a:t>
            </a:r>
            <a:r>
              <a:rPr lang="en-US" b="1">
                <a:solidFill>
                  <a:srgbClr val="FF0000"/>
                </a:solidFill>
              </a:rPr>
              <a:t>w</a:t>
            </a:r>
            <a:r>
              <a:rPr lang="en-US"/>
              <a:t> and </a:t>
            </a:r>
            <a:r>
              <a:rPr lang="en-US" b="1">
                <a:solidFill>
                  <a:srgbClr val="FF0000"/>
                </a:solidFill>
              </a:rPr>
              <a:t>b</a:t>
            </a:r>
            <a:r>
              <a:rPr lang="en-US"/>
              <a:t> are unknown to us</a:t>
            </a:r>
            <a:r>
              <a:rPr lang="en-US" smtClean="0"/>
              <a:t>.</a:t>
            </a:r>
          </a:p>
          <a:p>
            <a:r>
              <a:rPr lang="en-US"/>
              <a:t>Therefore, the main goal of our analysis is to determine the values for w and b.  </a:t>
            </a:r>
            <a:endParaRPr lang="en-US" smtClean="0"/>
          </a:p>
          <a:p>
            <a:r>
              <a:rPr lang="en-US" smtClean="0"/>
              <a:t>First try </a:t>
            </a:r>
            <a:r>
              <a:rPr lang="en-US"/>
              <a:t>to guess them  </a:t>
            </a:r>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3208" y="3810000"/>
            <a:ext cx="2976802" cy="2804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0008" y="3983593"/>
            <a:ext cx="3924969"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0"/>
            <a:ext cx="349567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2406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895475"/>
            <a:ext cx="7650162" cy="2143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1981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609600"/>
            <a:ext cx="7802562"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0" y="0"/>
            <a:ext cx="3884024" cy="285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338" y="1981200"/>
            <a:ext cx="7478712"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57200" y="4343400"/>
            <a:ext cx="7086600" cy="1477328"/>
          </a:xfrm>
          <a:prstGeom prst="rect">
            <a:avLst/>
          </a:prstGeom>
          <a:noFill/>
        </p:spPr>
        <p:txBody>
          <a:bodyPr wrap="square" rtlCol="0">
            <a:spAutoFit/>
          </a:bodyPr>
          <a:lstStyle/>
          <a:p>
            <a:r>
              <a:rPr lang="en-US" smtClean="0"/>
              <a:t>To </a:t>
            </a:r>
            <a:r>
              <a:rPr lang="en-US"/>
              <a:t>see how the loss will change using different values of w.  </a:t>
            </a:r>
            <a:br>
              <a:rPr lang="en-US"/>
            </a:br>
            <a:r>
              <a:rPr lang="en-US"/>
              <a:t>w=0, w=1, w=2, w=3 and w=4. Then, we have calculated the mean of the loss. In statistics, this operation is called </a:t>
            </a:r>
            <a:r>
              <a:rPr lang="en-US" b="1"/>
              <a:t>Mean Squared Error</a:t>
            </a:r>
            <a:r>
              <a:rPr lang="en-US"/>
              <a:t> (</a:t>
            </a:r>
            <a:r>
              <a:rPr lang="en-US" b="1"/>
              <a:t>MSE</a:t>
            </a:r>
            <a:r>
              <a:rPr lang="en-US"/>
              <a:t>)</a:t>
            </a:r>
            <a:r>
              <a:rPr lang="en-US" baseline="30000"/>
              <a:t> </a:t>
            </a:r>
            <a:r>
              <a:rPr lang="en-US"/>
              <a:t>and it measures the average of the squares of the errors. </a:t>
            </a:r>
          </a:p>
        </p:txBody>
      </p:sp>
    </p:spTree>
    <p:extLst>
      <p:ext uri="{BB962C8B-B14F-4D97-AF65-F5344CB8AC3E}">
        <p14:creationId xmlns:p14="http://schemas.microsoft.com/office/powerpoint/2010/main" val="3259571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5879"/>
            <a:ext cx="6934200" cy="284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000" y="127907"/>
            <a:ext cx="327212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52400" y="4648200"/>
            <a:ext cx="11353800" cy="646331"/>
          </a:xfrm>
          <a:prstGeom prst="rect">
            <a:avLst/>
          </a:prstGeom>
          <a:noFill/>
        </p:spPr>
        <p:txBody>
          <a:bodyPr wrap="square" rtlCol="0">
            <a:spAutoFit/>
          </a:bodyPr>
          <a:lstStyle/>
          <a:p>
            <a:r>
              <a:rPr lang="en-US"/>
              <a:t> </a:t>
            </a:r>
            <a:r>
              <a:rPr lang="en-US" smtClean="0"/>
              <a:t>Therefor we require a algorithm </a:t>
            </a:r>
            <a:r>
              <a:rPr lang="en-US"/>
              <a:t>is to minimize the cost function and to find optimal values for w and b</a:t>
            </a:r>
            <a:r>
              <a:rPr lang="en-US" smtClean="0"/>
              <a:t>.</a:t>
            </a:r>
          </a:p>
          <a:p>
            <a:pPr algn="ctr"/>
            <a:r>
              <a:rPr lang="en-US" b="1" smtClean="0">
                <a:solidFill>
                  <a:srgbClr val="FF0000"/>
                </a:solidFill>
              </a:rPr>
              <a:t>solution:- Gradient Descent</a:t>
            </a:r>
            <a:endParaRPr lang="en-US" b="1">
              <a:solidFill>
                <a:srgbClr val="FF0000"/>
              </a:solidFill>
            </a:endParaRPr>
          </a:p>
        </p:txBody>
      </p:sp>
    </p:spTree>
    <p:extLst>
      <p:ext uri="{BB962C8B-B14F-4D97-AF65-F5344CB8AC3E}">
        <p14:creationId xmlns:p14="http://schemas.microsoft.com/office/powerpoint/2010/main" val="3299814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7707312"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609725"/>
            <a:ext cx="7735888" cy="454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3318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04800"/>
            <a:ext cx="10896600" cy="630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83640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04800"/>
            <a:ext cx="105156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4796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2695213"/>
            <a:ext cx="10591800" cy="769441"/>
          </a:xfrm>
          <a:prstGeom prst="rect">
            <a:avLst/>
          </a:prstGeom>
          <a:noFill/>
        </p:spPr>
        <p:txBody>
          <a:bodyPr wrap="square" rtlCol="0">
            <a:spAutoFit/>
          </a:bodyPr>
          <a:lstStyle/>
          <a:p>
            <a:pPr algn="ctr"/>
            <a:r>
              <a:rPr lang="en-US" sz="4400" b="1" smtClean="0"/>
              <a:t>TensorBoard</a:t>
            </a:r>
            <a:endParaRPr lang="en-US" sz="4400" b="1"/>
          </a:p>
        </p:txBody>
      </p:sp>
    </p:spTree>
    <p:extLst>
      <p:ext uri="{BB962C8B-B14F-4D97-AF65-F5344CB8AC3E}">
        <p14:creationId xmlns:p14="http://schemas.microsoft.com/office/powerpoint/2010/main" val="3743289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52400"/>
            <a:ext cx="11582400" cy="2585323"/>
          </a:xfrm>
          <a:prstGeom prst="rect">
            <a:avLst/>
          </a:prstGeom>
          <a:noFill/>
        </p:spPr>
        <p:txBody>
          <a:bodyPr wrap="square" rtlCol="0">
            <a:spAutoFit/>
          </a:bodyPr>
          <a:lstStyle/>
          <a:p>
            <a:pPr algn="l"/>
            <a:r>
              <a:rPr lang="en-US" smtClean="0"/>
              <a:t>In machine learning, to improve something you often need to be able to measure it. </a:t>
            </a:r>
            <a:r>
              <a:rPr lang="en-US" sz="1800" b="1" smtClean="0"/>
              <a:t>TensorBoard</a:t>
            </a:r>
            <a:r>
              <a:rPr lang="en-US" sz="1800" smtClean="0"/>
              <a:t> is a tool for providing the measurements and visualizations needed during the machine learning workflow</a:t>
            </a:r>
          </a:p>
          <a:p>
            <a:pPr algn="l"/>
            <a:endParaRPr lang="en-US" smtClean="0"/>
          </a:p>
          <a:p>
            <a:pPr marL="342900" indent="-342900" algn="l">
              <a:buFont typeface="Arial" panose="020B0604020202020204" pitchFamily="34" charset="0"/>
              <a:buChar char="•"/>
            </a:pPr>
            <a:r>
              <a:rPr lang="en-US" smtClean="0"/>
              <a:t>TensorFlow used for model development </a:t>
            </a:r>
          </a:p>
          <a:p>
            <a:pPr marL="342900" indent="-342900" algn="l">
              <a:buFont typeface="Arial" panose="020B0604020202020204" pitchFamily="34" charset="0"/>
              <a:buChar char="•"/>
            </a:pPr>
            <a:r>
              <a:rPr lang="en-US" smtClean="0"/>
              <a:t>TensorBoard is used for monitoring &amp; visualization.</a:t>
            </a:r>
            <a:endParaRPr lang="en-US" sz="1800" b="1"/>
          </a:p>
          <a:p>
            <a:pPr marL="342900" indent="-342900" algn="l">
              <a:buFont typeface="Arial" panose="020B0604020202020204" pitchFamily="34" charset="0"/>
              <a:buChar char="•"/>
            </a:pPr>
            <a:r>
              <a:rPr lang="en-US" sz="1800" smtClean="0"/>
              <a:t>TensorBoard</a:t>
            </a:r>
            <a:r>
              <a:rPr lang="en-US" sz="1800" b="1" smtClean="0"/>
              <a:t> </a:t>
            </a:r>
            <a:r>
              <a:rPr lang="en-US" smtClean="0"/>
              <a:t>enables </a:t>
            </a:r>
            <a:r>
              <a:rPr lang="en-US"/>
              <a:t>tracking experiment metrics like loss and accuracy, visualizing the model graph, projecting embeddings to a lower dimensional space, and much more</a:t>
            </a:r>
            <a:r>
              <a:rPr lang="en-US" smtClean="0"/>
              <a:t>.</a:t>
            </a:r>
            <a:endParaRPr lang="en-IN" smtClean="0"/>
          </a:p>
          <a:p>
            <a:pPr marL="342900" indent="-342900">
              <a:buFont typeface="Arial" panose="020B0604020202020204" pitchFamily="34" charset="0"/>
              <a:buChar char="•"/>
            </a:pPr>
            <a:r>
              <a:rPr lang="en-US"/>
              <a:t>TensorBoard is specifically designed to work with TensorFlow, but can be adapted for other frameworks as well.</a:t>
            </a:r>
            <a:endParaRPr lang="en-IN"/>
          </a:p>
        </p:txBody>
      </p:sp>
      <p:pic>
        <p:nvPicPr>
          <p:cNvPr id="4" name="Picture 3"/>
          <p:cNvPicPr>
            <a:picLocks noChangeAspect="1"/>
          </p:cNvPicPr>
          <p:nvPr/>
        </p:nvPicPr>
        <p:blipFill>
          <a:blip r:embed="rId2"/>
          <a:stretch>
            <a:fillRect/>
          </a:stretch>
        </p:blipFill>
        <p:spPr>
          <a:xfrm>
            <a:off x="1905000" y="3276600"/>
            <a:ext cx="8162925" cy="3495675"/>
          </a:xfrm>
          <a:prstGeom prst="rect">
            <a:avLst/>
          </a:prstGeom>
        </p:spPr>
      </p:pic>
    </p:spTree>
    <p:extLst>
      <p:ext uri="{BB962C8B-B14F-4D97-AF65-F5344CB8AC3E}">
        <p14:creationId xmlns:p14="http://schemas.microsoft.com/office/powerpoint/2010/main" val="1130798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4118231302"/>
              </p:ext>
            </p:extLst>
          </p:nvPr>
        </p:nvGraphicFramePr>
        <p:xfrm>
          <a:off x="609599" y="719666"/>
          <a:ext cx="10896601" cy="3937000"/>
        </p:xfrm>
        <a:graphic>
          <a:graphicData uri="http://schemas.openxmlformats.org/drawingml/2006/table">
            <a:tbl>
              <a:tblPr firstRow="1" bandRow="1">
                <a:tableStyleId>{5C22544A-7EE6-4342-B048-85BDC9FD1C3A}</a:tableStyleId>
              </a:tblPr>
              <a:tblGrid>
                <a:gridCol w="5091035">
                  <a:extLst>
                    <a:ext uri="{9D8B030D-6E8A-4147-A177-3AD203B41FA5}">
                      <a16:colId xmlns:a16="http://schemas.microsoft.com/office/drawing/2014/main" val="2269643665"/>
                    </a:ext>
                  </a:extLst>
                </a:gridCol>
                <a:gridCol w="5805566">
                  <a:extLst>
                    <a:ext uri="{9D8B030D-6E8A-4147-A177-3AD203B41FA5}">
                      <a16:colId xmlns:a16="http://schemas.microsoft.com/office/drawing/2014/main" val="495611920"/>
                    </a:ext>
                  </a:extLst>
                </a:gridCol>
              </a:tblGrid>
              <a:tr h="370840">
                <a:tc>
                  <a:txBody>
                    <a:bodyPr/>
                    <a:lstStyle/>
                    <a:p>
                      <a:r>
                        <a:rPr lang="en-IN" smtClean="0"/>
                        <a:t>Tensorflow</a:t>
                      </a:r>
                      <a:endParaRPr lang="en-IN"/>
                    </a:p>
                  </a:txBody>
                  <a:tcPr/>
                </a:tc>
                <a:tc>
                  <a:txBody>
                    <a:bodyPr/>
                    <a:lstStyle/>
                    <a:p>
                      <a:r>
                        <a:rPr lang="en-IN" smtClean="0"/>
                        <a:t>Tensorboard</a:t>
                      </a:r>
                      <a:endParaRPr lang="en-IN"/>
                    </a:p>
                  </a:txBody>
                  <a:tcPr/>
                </a:tc>
                <a:extLst>
                  <a:ext uri="{0D108BD9-81ED-4DB2-BD59-A6C34878D82A}">
                    <a16:rowId xmlns:a16="http://schemas.microsoft.com/office/drawing/2014/main" val="1773427252"/>
                  </a:ext>
                </a:extLst>
              </a:tr>
              <a:tr h="370840">
                <a:tc>
                  <a:txBody>
                    <a:bodyPr/>
                    <a:lstStyle/>
                    <a:p>
                      <a:r>
                        <a:rPr lang="en-US" b="0" i="0" smtClean="0">
                          <a:solidFill>
                            <a:schemeClr val="dk1"/>
                          </a:solidFill>
                          <a:effectLst/>
                          <a:latin typeface="+mn-lt"/>
                          <a:ea typeface="+mn-ea"/>
                          <a:cs typeface="+mn-cs"/>
                        </a:rPr>
                        <a:t>Open-source library and framework for building and training machine learning models (especially deep learning models).</a:t>
                      </a:r>
                      <a:endParaRPr lang="en-IN"/>
                    </a:p>
                  </a:txBody>
                  <a:tcPr/>
                </a:tc>
                <a:tc>
                  <a:txBody>
                    <a:bodyPr/>
                    <a:lstStyle/>
                    <a:p>
                      <a:r>
                        <a:rPr lang="en-US" b="0" i="0" smtClean="0">
                          <a:solidFill>
                            <a:schemeClr val="dk1"/>
                          </a:solidFill>
                          <a:effectLst/>
                          <a:latin typeface="+mn-lt"/>
                          <a:ea typeface="+mn-ea"/>
                          <a:cs typeface="+mn-cs"/>
                        </a:rPr>
                        <a:t>Visualization toolkit bundled with TensorFlow</a:t>
                      </a:r>
                      <a:r>
                        <a:rPr lang="en-US" b="0" i="0" baseline="0" smtClean="0">
                          <a:solidFill>
                            <a:schemeClr val="dk1"/>
                          </a:solidFill>
                          <a:effectLst/>
                          <a:latin typeface="+mn-lt"/>
                          <a:ea typeface="+mn-ea"/>
                          <a:cs typeface="+mn-cs"/>
                        </a:rPr>
                        <a:t> for</a:t>
                      </a:r>
                      <a:r>
                        <a:rPr lang="en-US" b="0" i="0" smtClean="0">
                          <a:solidFill>
                            <a:schemeClr val="dk1"/>
                          </a:solidFill>
                          <a:effectLst/>
                          <a:latin typeface="+mn-lt"/>
                          <a:ea typeface="+mn-ea"/>
                          <a:cs typeface="+mn-cs"/>
                        </a:rPr>
                        <a:t> Monitoring, debugging, and understanding TensorFlow models during development and training.</a:t>
                      </a:r>
                      <a:endParaRPr lang="en-IN"/>
                    </a:p>
                  </a:txBody>
                  <a:tcPr/>
                </a:tc>
                <a:extLst>
                  <a:ext uri="{0D108BD9-81ED-4DB2-BD59-A6C34878D82A}">
                    <a16:rowId xmlns:a16="http://schemas.microsoft.com/office/drawing/2014/main" val="2369980239"/>
                  </a:ext>
                </a:extLst>
              </a:tr>
              <a:tr h="370840">
                <a:tc>
                  <a:txBody>
                    <a:bodyPr/>
                    <a:lstStyle/>
                    <a:p>
                      <a:r>
                        <a:rPr lang="en-US" b="0" i="0" smtClean="0">
                          <a:solidFill>
                            <a:schemeClr val="dk1"/>
                          </a:solidFill>
                          <a:effectLst/>
                          <a:latin typeface="+mn-lt"/>
                          <a:ea typeface="+mn-ea"/>
                          <a:cs typeface="+mn-cs"/>
                        </a:rPr>
                        <a:t>- Supports various ML tasks</a:t>
                      </a:r>
                      <a:r>
                        <a:rPr lang="en-US" smtClean="0"/>
                        <a:t/>
                      </a:r>
                      <a:br>
                        <a:rPr lang="en-US" smtClean="0"/>
                      </a:br>
                      <a:r>
                        <a:rPr lang="en-US" b="0" i="0" smtClean="0">
                          <a:solidFill>
                            <a:schemeClr val="dk1"/>
                          </a:solidFill>
                          <a:effectLst/>
                          <a:latin typeface="+mn-lt"/>
                          <a:ea typeface="+mn-ea"/>
                          <a:cs typeface="+mn-cs"/>
                        </a:rPr>
                        <a:t>- Enables scalable training on CPUs, GPUs, and TPUs</a:t>
                      </a:r>
                      <a:r>
                        <a:rPr lang="en-US" smtClean="0"/>
                        <a:t/>
                      </a:r>
                      <a:br>
                        <a:rPr lang="en-US" smtClean="0"/>
                      </a:br>
                      <a:r>
                        <a:rPr lang="en-US" b="0" i="0" smtClean="0">
                          <a:solidFill>
                            <a:schemeClr val="dk1"/>
                          </a:solidFill>
                          <a:effectLst/>
                          <a:latin typeface="+mn-lt"/>
                          <a:ea typeface="+mn-ea"/>
                          <a:cs typeface="+mn-cs"/>
                        </a:rPr>
                        <a:t>- Utilizes data flow graphs</a:t>
                      </a:r>
                      <a:r>
                        <a:rPr lang="en-US" smtClean="0"/>
                        <a:t/>
                      </a:r>
                      <a:br>
                        <a:rPr lang="en-US" smtClean="0"/>
                      </a:br>
                      <a:r>
                        <a:rPr lang="en-US" b="0" i="0" smtClean="0">
                          <a:solidFill>
                            <a:schemeClr val="dk1"/>
                          </a:solidFill>
                          <a:effectLst/>
                          <a:latin typeface="+mn-lt"/>
                          <a:ea typeface="+mn-ea"/>
                          <a:cs typeface="+mn-cs"/>
                        </a:rPr>
                        <a:t>- Offers APIs for multiple languages</a:t>
                      </a:r>
                      <a:r>
                        <a:rPr lang="en-US" smtClean="0"/>
                        <a:t/>
                      </a:r>
                      <a:br>
                        <a:rPr lang="en-US" smtClean="0"/>
                      </a:br>
                      <a:r>
                        <a:rPr lang="en-US" b="0" i="0" smtClean="0">
                          <a:solidFill>
                            <a:schemeClr val="dk1"/>
                          </a:solidFill>
                          <a:effectLst/>
                          <a:latin typeface="+mn-lt"/>
                          <a:ea typeface="+mn-ea"/>
                          <a:cs typeface="+mn-cs"/>
                        </a:rPr>
                        <a:t>- Includes pre-built operations for common tasks</a:t>
                      </a:r>
                      <a:endParaRPr lang="en-IN"/>
                    </a:p>
                  </a:txBody>
                  <a:tcPr/>
                </a:tc>
                <a:tc>
                  <a:txBody>
                    <a:bodyPr/>
                    <a:lstStyle/>
                    <a:p>
                      <a:r>
                        <a:rPr lang="en-US" b="0" i="0" smtClean="0">
                          <a:solidFill>
                            <a:schemeClr val="dk1"/>
                          </a:solidFill>
                          <a:effectLst/>
                          <a:latin typeface="+mn-lt"/>
                          <a:ea typeface="+mn-ea"/>
                          <a:cs typeface="+mn-cs"/>
                        </a:rPr>
                        <a:t>- Tracks and visualizes metrics like loss and accuracy</a:t>
                      </a:r>
                      <a:r>
                        <a:rPr lang="en-US" smtClean="0"/>
                        <a:t/>
                      </a:r>
                      <a:br>
                        <a:rPr lang="en-US" smtClean="0"/>
                      </a:br>
                      <a:r>
                        <a:rPr lang="en-US" b="0" i="0" smtClean="0">
                          <a:solidFill>
                            <a:schemeClr val="dk1"/>
                          </a:solidFill>
                          <a:effectLst/>
                          <a:latin typeface="+mn-lt"/>
                          <a:ea typeface="+mn-ea"/>
                          <a:cs typeface="+mn-cs"/>
                        </a:rPr>
                        <a:t>- Visualizes the model graph</a:t>
                      </a:r>
                      <a:r>
                        <a:rPr lang="en-US" smtClean="0"/>
                        <a:t/>
                      </a:r>
                      <a:br>
                        <a:rPr lang="en-US" smtClean="0"/>
                      </a:br>
                      <a:r>
                        <a:rPr lang="en-US" b="0" i="0" smtClean="0">
                          <a:solidFill>
                            <a:schemeClr val="dk1"/>
                          </a:solidFill>
                          <a:effectLst/>
                          <a:latin typeface="+mn-lt"/>
                          <a:ea typeface="+mn-ea"/>
                          <a:cs typeface="+mn-cs"/>
                        </a:rPr>
                        <a:t>- Displays histograms and distributions of tensors</a:t>
                      </a:r>
                      <a:r>
                        <a:rPr lang="en-US" smtClean="0"/>
                        <a:t/>
                      </a:r>
                      <a:br>
                        <a:rPr lang="en-US" smtClean="0"/>
                      </a:br>
                      <a:r>
                        <a:rPr lang="en-US" b="0" i="0" smtClean="0">
                          <a:solidFill>
                            <a:schemeClr val="dk1"/>
                          </a:solidFill>
                          <a:effectLst/>
                          <a:latin typeface="+mn-lt"/>
                          <a:ea typeface="+mn-ea"/>
                          <a:cs typeface="+mn-cs"/>
                        </a:rPr>
                        <a:t>- Projects high-dimensional embeddings</a:t>
                      </a:r>
                      <a:r>
                        <a:rPr lang="en-US" smtClean="0"/>
                        <a:t/>
                      </a:r>
                      <a:br>
                        <a:rPr lang="en-US" smtClean="0"/>
                      </a:br>
                      <a:r>
                        <a:rPr lang="en-US" b="0" i="0" smtClean="0">
                          <a:solidFill>
                            <a:schemeClr val="dk1"/>
                          </a:solidFill>
                          <a:effectLst/>
                          <a:latin typeface="+mn-lt"/>
                          <a:ea typeface="+mn-ea"/>
                          <a:cs typeface="+mn-cs"/>
                        </a:rPr>
                        <a:t>- Shows images, text, and audio data</a:t>
                      </a:r>
                      <a:r>
                        <a:rPr lang="en-US" smtClean="0"/>
                        <a:t/>
                      </a:r>
                      <a:br>
                        <a:rPr lang="en-US" smtClean="0"/>
                      </a:br>
                      <a:r>
                        <a:rPr lang="en-US" b="0" i="0" smtClean="0">
                          <a:solidFill>
                            <a:schemeClr val="dk1"/>
                          </a:solidFill>
                          <a:effectLst/>
                          <a:latin typeface="+mn-lt"/>
                          <a:ea typeface="+mn-ea"/>
                          <a:cs typeface="+mn-cs"/>
                        </a:rPr>
                        <a:t>- Provides performance profiling</a:t>
                      </a:r>
                      <a:endParaRPr lang="en-IN"/>
                    </a:p>
                  </a:txBody>
                  <a:tcPr/>
                </a:tc>
                <a:extLst>
                  <a:ext uri="{0D108BD9-81ED-4DB2-BD59-A6C34878D82A}">
                    <a16:rowId xmlns:a16="http://schemas.microsoft.com/office/drawing/2014/main" val="39966988"/>
                  </a:ext>
                </a:extLst>
              </a:tr>
              <a:tr h="370840">
                <a:tc>
                  <a:txBody>
                    <a:bodyPr/>
                    <a:lstStyle/>
                    <a:p>
                      <a:r>
                        <a:rPr lang="en-US" b="0" i="0" smtClean="0">
                          <a:solidFill>
                            <a:schemeClr val="dk1"/>
                          </a:solidFill>
                          <a:effectLst/>
                          <a:latin typeface="+mn-lt"/>
                          <a:ea typeface="+mn-ea"/>
                          <a:cs typeface="+mn-cs"/>
                        </a:rPr>
                        <a:t>TensorFlow to create and run your machine learning models</a:t>
                      </a:r>
                      <a:endParaRPr lang="en-IN"/>
                    </a:p>
                  </a:txBody>
                  <a:tcPr/>
                </a:tc>
                <a:tc>
                  <a:txBody>
                    <a:bodyPr/>
                    <a:lstStyle/>
                    <a:p>
                      <a:r>
                        <a:rPr lang="en-US" b="0" i="0" smtClean="0">
                          <a:solidFill>
                            <a:schemeClr val="dk1"/>
                          </a:solidFill>
                          <a:effectLst/>
                          <a:latin typeface="+mn-lt"/>
                          <a:ea typeface="+mn-ea"/>
                          <a:cs typeface="+mn-cs"/>
                        </a:rPr>
                        <a:t>TensorBoard to observe and analyze what's happening during the training process and within the model's structure.</a:t>
                      </a:r>
                      <a:endParaRPr lang="en-IN"/>
                    </a:p>
                  </a:txBody>
                  <a:tcPr/>
                </a:tc>
                <a:extLst>
                  <a:ext uri="{0D108BD9-81ED-4DB2-BD59-A6C34878D82A}">
                    <a16:rowId xmlns:a16="http://schemas.microsoft.com/office/drawing/2014/main" val="3026387112"/>
                  </a:ext>
                </a:extLst>
              </a:tr>
            </a:tbl>
          </a:graphicData>
        </a:graphic>
      </p:graphicFrame>
      <p:sp>
        <p:nvSpPr>
          <p:cNvPr id="7" name="TextBox 6"/>
          <p:cNvSpPr txBox="1"/>
          <p:nvPr/>
        </p:nvSpPr>
        <p:spPr>
          <a:xfrm>
            <a:off x="990600" y="5410200"/>
            <a:ext cx="10287000" cy="646331"/>
          </a:xfrm>
          <a:prstGeom prst="rect">
            <a:avLst/>
          </a:prstGeom>
          <a:noFill/>
        </p:spPr>
        <p:txBody>
          <a:bodyPr wrap="square" rtlCol="0">
            <a:spAutoFit/>
          </a:bodyPr>
          <a:lstStyle/>
          <a:p>
            <a:r>
              <a:rPr lang="en-US"/>
              <a:t>TensorBoard is specifically designed to work with TensorFlow, but can be adapted for other frameworks as well</a:t>
            </a:r>
            <a:endParaRPr lang="en-IN"/>
          </a:p>
        </p:txBody>
      </p:sp>
    </p:spTree>
    <p:extLst>
      <p:ext uri="{BB962C8B-B14F-4D97-AF65-F5344CB8AC3E}">
        <p14:creationId xmlns:p14="http://schemas.microsoft.com/office/powerpoint/2010/main" val="332296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57400" y="152400"/>
            <a:ext cx="7086600" cy="304800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871602298"/>
              </p:ext>
            </p:extLst>
          </p:nvPr>
        </p:nvGraphicFramePr>
        <p:xfrm>
          <a:off x="25400" y="3429000"/>
          <a:ext cx="12090400" cy="3352800"/>
        </p:xfrm>
        <a:graphic>
          <a:graphicData uri="http://schemas.openxmlformats.org/drawingml/2006/table">
            <a:tbl>
              <a:tblPr firstRow="1" bandRow="1"/>
              <a:tblGrid>
                <a:gridCol w="5080000">
                  <a:extLst>
                    <a:ext uri="{9D8B030D-6E8A-4147-A177-3AD203B41FA5}">
                      <a16:colId xmlns:a16="http://schemas.microsoft.com/office/drawing/2014/main" val="1049235908"/>
                    </a:ext>
                  </a:extLst>
                </a:gridCol>
                <a:gridCol w="7010400">
                  <a:extLst>
                    <a:ext uri="{9D8B030D-6E8A-4147-A177-3AD203B41FA5}">
                      <a16:colId xmlns:a16="http://schemas.microsoft.com/office/drawing/2014/main" val="3738678858"/>
                    </a:ext>
                  </a:extLst>
                </a:gridCol>
              </a:tblGrid>
              <a:tr h="3352800">
                <a:tc>
                  <a:txBody>
                    <a:bodyPr/>
                    <a:lstStyle/>
                    <a:p>
                      <a:endParaRPr lang="en-IN"/>
                    </a:p>
                  </a:txBody>
                  <a:tcPr/>
                </a:tc>
                <a:tc>
                  <a:txBody>
                    <a:bodyPr/>
                    <a:lstStyle/>
                    <a:p>
                      <a:endParaRPr lang="en-IN"/>
                    </a:p>
                  </a:txBody>
                  <a:tcPr/>
                </a:tc>
                <a:extLst>
                  <a:ext uri="{0D108BD9-81ED-4DB2-BD59-A6C34878D82A}">
                    <a16:rowId xmlns:a16="http://schemas.microsoft.com/office/drawing/2014/main" val="2769567664"/>
                  </a:ext>
                </a:extLst>
              </a:tr>
            </a:tbl>
          </a:graphicData>
        </a:graphic>
      </p:graphicFrame>
      <p:pic>
        <p:nvPicPr>
          <p:cNvPr id="4" name="Picture 3"/>
          <p:cNvPicPr>
            <a:picLocks noChangeAspect="1"/>
          </p:cNvPicPr>
          <p:nvPr/>
        </p:nvPicPr>
        <p:blipFill>
          <a:blip r:embed="rId3"/>
          <a:stretch>
            <a:fillRect/>
          </a:stretch>
        </p:blipFill>
        <p:spPr>
          <a:xfrm>
            <a:off x="228600" y="3543300"/>
            <a:ext cx="4518025" cy="3124200"/>
          </a:xfrm>
          <a:prstGeom prst="rect">
            <a:avLst/>
          </a:prstGeom>
        </p:spPr>
      </p:pic>
      <p:pic>
        <p:nvPicPr>
          <p:cNvPr id="5" name="Picture 4"/>
          <p:cNvPicPr>
            <a:picLocks noChangeAspect="1"/>
          </p:cNvPicPr>
          <p:nvPr/>
        </p:nvPicPr>
        <p:blipFill>
          <a:blip r:embed="rId4"/>
          <a:stretch>
            <a:fillRect/>
          </a:stretch>
        </p:blipFill>
        <p:spPr>
          <a:xfrm>
            <a:off x="5170343" y="3457575"/>
            <a:ext cx="6869257" cy="3295650"/>
          </a:xfrm>
          <a:prstGeom prst="rect">
            <a:avLst/>
          </a:prstGeom>
        </p:spPr>
      </p:pic>
    </p:spTree>
    <p:extLst>
      <p:ext uri="{BB962C8B-B14F-4D97-AF65-F5344CB8AC3E}">
        <p14:creationId xmlns:p14="http://schemas.microsoft.com/office/powerpoint/2010/main" val="4077231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24025" y="1109662"/>
            <a:ext cx="8743950" cy="4638675"/>
          </a:xfrm>
          <a:prstGeom prst="rect">
            <a:avLst/>
          </a:prstGeom>
        </p:spPr>
      </p:pic>
    </p:spTree>
    <p:extLst>
      <p:ext uri="{BB962C8B-B14F-4D97-AF65-F5344CB8AC3E}">
        <p14:creationId xmlns:p14="http://schemas.microsoft.com/office/powerpoint/2010/main" val="1562793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2695213"/>
            <a:ext cx="10591800" cy="769441"/>
          </a:xfrm>
          <a:prstGeom prst="rect">
            <a:avLst/>
          </a:prstGeom>
          <a:noFill/>
        </p:spPr>
        <p:txBody>
          <a:bodyPr wrap="square" rtlCol="0">
            <a:spAutoFit/>
          </a:bodyPr>
          <a:lstStyle/>
          <a:p>
            <a:pPr algn="ctr"/>
            <a:r>
              <a:rPr lang="en-US" sz="4400" b="1" smtClean="0"/>
              <a:t>Modularity, Shared Variables</a:t>
            </a:r>
            <a:endParaRPr lang="en-US" sz="4400" b="1"/>
          </a:p>
        </p:txBody>
      </p:sp>
    </p:spTree>
    <p:extLst>
      <p:ext uri="{BB962C8B-B14F-4D97-AF65-F5344CB8AC3E}">
        <p14:creationId xmlns:p14="http://schemas.microsoft.com/office/powerpoint/2010/main" val="616986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0"/>
            <a:ext cx="11353800" cy="6001643"/>
          </a:xfrm>
          <a:prstGeom prst="rect">
            <a:avLst/>
          </a:prstGeom>
          <a:noFill/>
        </p:spPr>
        <p:txBody>
          <a:bodyPr wrap="square" rtlCol="0">
            <a:spAutoFit/>
          </a:bodyPr>
          <a:lstStyle/>
          <a:p>
            <a:r>
              <a:rPr lang="en-US" sz="2400" b="1" smtClean="0">
                <a:solidFill>
                  <a:srgbClr val="FF0000"/>
                </a:solidFill>
              </a:rPr>
              <a:t>Modularity</a:t>
            </a:r>
            <a:r>
              <a:rPr lang="en-US" smtClean="0"/>
              <a:t> </a:t>
            </a:r>
            <a:r>
              <a:rPr lang="en-US"/>
              <a:t>in neural networks involves structuring the network into distinct, interconnected sub-networks or modules, each potentially handling a specific aspect of the overall </a:t>
            </a:r>
            <a:r>
              <a:rPr lang="en-US" smtClean="0"/>
              <a:t>task</a:t>
            </a:r>
          </a:p>
          <a:p>
            <a:endParaRPr lang="en-IN" smtClean="0"/>
          </a:p>
          <a:p>
            <a:r>
              <a:rPr lang="en-US" smtClean="0"/>
              <a:t>A </a:t>
            </a:r>
            <a:r>
              <a:rPr lang="en-US" b="1" smtClean="0"/>
              <a:t>single ANN </a:t>
            </a:r>
            <a:r>
              <a:rPr lang="en-US" smtClean="0"/>
              <a:t>is many times not able to give a good </a:t>
            </a:r>
            <a:r>
              <a:rPr lang="en-US" b="1" smtClean="0"/>
              <a:t>performance</a:t>
            </a:r>
            <a:r>
              <a:rPr lang="en-US" smtClean="0"/>
              <a:t> as per the problem and requirements. We hence may need more than one ANN to solve the same problem. This is done by the use of Modular Neural Network (</a:t>
            </a:r>
            <a:r>
              <a:rPr lang="en-US" b="1" smtClean="0">
                <a:solidFill>
                  <a:srgbClr val="FF0000"/>
                </a:solidFill>
              </a:rPr>
              <a:t>MNN</a:t>
            </a:r>
            <a:r>
              <a:rPr lang="en-US" smtClean="0"/>
              <a:t>).</a:t>
            </a:r>
          </a:p>
          <a:p>
            <a:endParaRPr lang="en-US"/>
          </a:p>
          <a:p>
            <a:r>
              <a:rPr lang="en-US"/>
              <a:t>The term Modular Neural Network (MNN) is important because it represents a sophisticated approach to modeling complex problems through Artificial Intelligence (AI) and Machine Learning (ML</a:t>
            </a:r>
            <a:r>
              <a:rPr lang="en-US" smtClean="0"/>
              <a:t>).</a:t>
            </a:r>
          </a:p>
          <a:p>
            <a:endParaRPr lang="en-US"/>
          </a:p>
          <a:p>
            <a:r>
              <a:rPr lang="en-US" smtClean="0"/>
              <a:t>MNNs </a:t>
            </a:r>
            <a:r>
              <a:rPr lang="en-US"/>
              <a:t>comprise several independent and specialized neural network modules that work in unison to tackle specific sub-tasks</a:t>
            </a:r>
            <a:r>
              <a:rPr lang="en-US" smtClean="0"/>
              <a:t>.</a:t>
            </a:r>
          </a:p>
          <a:p>
            <a:endParaRPr lang="en-US"/>
          </a:p>
          <a:p>
            <a:r>
              <a:rPr lang="en-US" smtClean="0"/>
              <a:t>Each of the ANN represents a module and is responsible for solving some part of the problem. </a:t>
            </a:r>
          </a:p>
          <a:p>
            <a:endParaRPr lang="en-US"/>
          </a:p>
          <a:p>
            <a:r>
              <a:rPr lang="en-US" smtClean="0"/>
              <a:t>Hence the complete system may be said to have two parts that work in a </a:t>
            </a:r>
            <a:r>
              <a:rPr lang="en-US" b="1" smtClean="0">
                <a:solidFill>
                  <a:srgbClr val="FF0000"/>
                </a:solidFill>
              </a:rPr>
              <a:t>master slave mode</a:t>
            </a:r>
            <a:r>
              <a:rPr lang="en-US" smtClean="0"/>
              <a:t>. The first consists of an integrator that divides the problem and gives it to the various modules. Later this collects the responses of the individual modules and computes the final output of the system. The other part is the modules, each of which is an ANN. </a:t>
            </a:r>
          </a:p>
          <a:p>
            <a:endParaRPr lang="en-US"/>
          </a:p>
          <a:p>
            <a:endParaRPr lang="en-IN"/>
          </a:p>
        </p:txBody>
      </p:sp>
    </p:spTree>
    <p:extLst>
      <p:ext uri="{BB962C8B-B14F-4D97-AF65-F5344CB8AC3E}">
        <p14:creationId xmlns:p14="http://schemas.microsoft.com/office/powerpoint/2010/main" val="2963506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63945" y="76200"/>
            <a:ext cx="11582400" cy="2933700"/>
          </a:xfrm>
          <a:prstGeom prst="rect">
            <a:avLst/>
          </a:prstGeom>
        </p:spPr>
      </p:pic>
      <p:pic>
        <p:nvPicPr>
          <p:cNvPr id="5" name="Picture 4"/>
          <p:cNvPicPr>
            <a:picLocks noChangeAspect="1"/>
          </p:cNvPicPr>
          <p:nvPr/>
        </p:nvPicPr>
        <p:blipFill>
          <a:blip r:embed="rId3"/>
          <a:stretch>
            <a:fillRect/>
          </a:stretch>
        </p:blipFill>
        <p:spPr>
          <a:xfrm>
            <a:off x="152400" y="3657600"/>
            <a:ext cx="11506200" cy="3200400"/>
          </a:xfrm>
          <a:prstGeom prst="rect">
            <a:avLst/>
          </a:prstGeom>
        </p:spPr>
      </p:pic>
      <p:sp>
        <p:nvSpPr>
          <p:cNvPr id="6" name="Rectangle 5"/>
          <p:cNvSpPr/>
          <p:nvPr/>
        </p:nvSpPr>
        <p:spPr>
          <a:xfrm>
            <a:off x="0" y="3162300"/>
            <a:ext cx="12192000" cy="114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2133600" y="3288268"/>
            <a:ext cx="11506200" cy="369332"/>
          </a:xfrm>
          <a:prstGeom prst="rect">
            <a:avLst/>
          </a:prstGeom>
          <a:noFill/>
        </p:spPr>
        <p:txBody>
          <a:bodyPr wrap="square" rtlCol="0">
            <a:spAutoFit/>
          </a:bodyPr>
          <a:lstStyle/>
          <a:p>
            <a:r>
              <a:rPr lang="fr-FR" b="1" smtClean="0">
                <a:solidFill>
                  <a:srgbClr val="FF0000"/>
                </a:solidFill>
              </a:rPr>
              <a:t>Example:- Perception, navigation, decision in autonomous vehicle</a:t>
            </a:r>
            <a:endParaRPr lang="en-IN" b="1">
              <a:solidFill>
                <a:srgbClr val="FF0000"/>
              </a:solidFill>
            </a:endParaRPr>
          </a:p>
        </p:txBody>
      </p:sp>
    </p:spTree>
    <p:extLst>
      <p:ext uri="{BB962C8B-B14F-4D97-AF65-F5344CB8AC3E}">
        <p14:creationId xmlns:p14="http://schemas.microsoft.com/office/powerpoint/2010/main" val="3805089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20002"/>
            <a:ext cx="11811000" cy="6832640"/>
          </a:xfrm>
          <a:prstGeom prst="rect">
            <a:avLst/>
          </a:prstGeom>
          <a:noFill/>
        </p:spPr>
        <p:txBody>
          <a:bodyPr wrap="square" rtlCol="0">
            <a:spAutoFit/>
          </a:bodyPr>
          <a:lstStyle/>
          <a:p>
            <a:r>
              <a:rPr lang="en-US" sz="2400" b="1" smtClean="0">
                <a:solidFill>
                  <a:srgbClr val="FF0000"/>
                </a:solidFill>
              </a:rPr>
              <a:t>Applcations of MNN</a:t>
            </a:r>
          </a:p>
          <a:p>
            <a:endParaRPr lang="en-US"/>
          </a:p>
          <a:p>
            <a:r>
              <a:rPr lang="en-IN" b="1" smtClean="0"/>
              <a:t>1. </a:t>
            </a:r>
            <a:r>
              <a:rPr lang="en-IN" b="1" smtClean="0">
                <a:solidFill>
                  <a:srgbClr val="FF0000"/>
                </a:solidFill>
              </a:rPr>
              <a:t>Computer Vision</a:t>
            </a:r>
          </a:p>
          <a:p>
            <a:r>
              <a:rPr lang="en-IN" smtClean="0"/>
              <a:t>Modules specialized in </a:t>
            </a:r>
            <a:r>
              <a:rPr lang="en-IN" b="1" smtClean="0"/>
              <a:t>edge detection</a:t>
            </a:r>
            <a:r>
              <a:rPr lang="en-IN" smtClean="0"/>
              <a:t>, </a:t>
            </a:r>
            <a:r>
              <a:rPr lang="en-IN" b="1" smtClean="0"/>
              <a:t>feature extraction</a:t>
            </a:r>
            <a:r>
              <a:rPr lang="en-IN" smtClean="0"/>
              <a:t>, </a:t>
            </a:r>
            <a:r>
              <a:rPr lang="en-IN" b="1" smtClean="0"/>
              <a:t>object classification</a:t>
            </a:r>
            <a:r>
              <a:rPr lang="en-IN" smtClean="0"/>
              <a:t>, etc.</a:t>
            </a:r>
          </a:p>
          <a:p>
            <a:r>
              <a:rPr lang="en-IN" smtClean="0"/>
              <a:t>Combined in a modular ensemble for tasks like </a:t>
            </a:r>
            <a:r>
              <a:rPr lang="en-IN" b="1" smtClean="0"/>
              <a:t>image segmentation</a:t>
            </a:r>
            <a:r>
              <a:rPr lang="en-IN" smtClean="0"/>
              <a:t>, </a:t>
            </a:r>
            <a:r>
              <a:rPr lang="en-IN" b="1" smtClean="0"/>
              <a:t>facial recognition</a:t>
            </a:r>
            <a:r>
              <a:rPr lang="en-IN" smtClean="0"/>
              <a:t>, or </a:t>
            </a:r>
            <a:r>
              <a:rPr lang="en-IN" b="1" smtClean="0"/>
              <a:t>medical imaging analysis</a:t>
            </a:r>
            <a:r>
              <a:rPr lang="en-IN" smtClean="0"/>
              <a:t>.</a:t>
            </a:r>
            <a:br>
              <a:rPr lang="en-IN" smtClean="0"/>
            </a:br>
            <a:endParaRPr lang="en-IN" smtClean="0"/>
          </a:p>
          <a:p>
            <a:r>
              <a:rPr lang="en-IN" b="1" smtClean="0"/>
              <a:t>2. </a:t>
            </a:r>
            <a:r>
              <a:rPr lang="en-IN" b="1" smtClean="0">
                <a:solidFill>
                  <a:srgbClr val="FF0000"/>
                </a:solidFill>
              </a:rPr>
              <a:t>Natural Language Processing (NLP)</a:t>
            </a:r>
          </a:p>
          <a:p>
            <a:r>
              <a:rPr lang="en-IN" smtClean="0"/>
              <a:t>Different modules for </a:t>
            </a:r>
            <a:r>
              <a:rPr lang="en-IN" b="1" smtClean="0"/>
              <a:t>syntax parsing</a:t>
            </a:r>
            <a:r>
              <a:rPr lang="en-IN" smtClean="0"/>
              <a:t>, </a:t>
            </a:r>
            <a:r>
              <a:rPr lang="en-IN" b="1" smtClean="0"/>
              <a:t>semantic encoding</a:t>
            </a:r>
            <a:r>
              <a:rPr lang="en-IN" smtClean="0"/>
              <a:t>, </a:t>
            </a:r>
            <a:r>
              <a:rPr lang="en-IN" b="1" smtClean="0"/>
              <a:t>sentiment detection</a:t>
            </a:r>
            <a:r>
              <a:rPr lang="en-IN" smtClean="0"/>
              <a:t>, </a:t>
            </a:r>
            <a:r>
              <a:rPr lang="en-IN" b="1" smtClean="0"/>
              <a:t>translation</a:t>
            </a:r>
            <a:r>
              <a:rPr lang="en-IN" smtClean="0"/>
              <a:t>.</a:t>
            </a:r>
          </a:p>
          <a:p>
            <a:r>
              <a:rPr lang="en-IN" smtClean="0"/>
              <a:t>These modular sub-networks can be individually trained or fine-tuned and then stitched into a multitask NLP pipeline.</a:t>
            </a:r>
            <a:br>
              <a:rPr lang="en-IN" smtClean="0"/>
            </a:br>
            <a:endParaRPr lang="en-IN" smtClean="0"/>
          </a:p>
          <a:p>
            <a:r>
              <a:rPr lang="en-IN" b="1" smtClean="0"/>
              <a:t>3. </a:t>
            </a:r>
            <a:r>
              <a:rPr lang="en-IN" b="1" smtClean="0">
                <a:solidFill>
                  <a:srgbClr val="FF0000"/>
                </a:solidFill>
              </a:rPr>
              <a:t>Robotics &amp; Autonomous Agents</a:t>
            </a:r>
          </a:p>
          <a:p>
            <a:r>
              <a:rPr lang="en-IN" smtClean="0"/>
              <a:t>Modules for </a:t>
            </a:r>
            <a:r>
              <a:rPr lang="en-IN" b="1" smtClean="0"/>
              <a:t>perception</a:t>
            </a:r>
            <a:r>
              <a:rPr lang="en-IN" smtClean="0"/>
              <a:t>, </a:t>
            </a:r>
            <a:r>
              <a:rPr lang="en-IN" b="1" smtClean="0"/>
              <a:t>path planning</a:t>
            </a:r>
            <a:r>
              <a:rPr lang="en-IN" smtClean="0"/>
              <a:t>, </a:t>
            </a:r>
            <a:r>
              <a:rPr lang="en-IN" b="1" smtClean="0"/>
              <a:t>motor control</a:t>
            </a:r>
            <a:r>
              <a:rPr lang="en-IN" smtClean="0"/>
              <a:t>, </a:t>
            </a:r>
            <a:r>
              <a:rPr lang="en-IN" b="1" smtClean="0"/>
              <a:t>decision making</a:t>
            </a:r>
            <a:r>
              <a:rPr lang="en-IN" smtClean="0"/>
              <a:t>.</a:t>
            </a:r>
          </a:p>
          <a:p>
            <a:r>
              <a:rPr lang="en-IN" smtClean="0"/>
              <a:t>E.g. one module handles sensor fusion, another handles trajectory generation— all coordinated at runtime.</a:t>
            </a:r>
            <a:br>
              <a:rPr lang="en-IN" smtClean="0"/>
            </a:br>
            <a:endParaRPr lang="en-IN" smtClean="0"/>
          </a:p>
          <a:p>
            <a:r>
              <a:rPr lang="en-IN" b="1" smtClean="0"/>
              <a:t>4. </a:t>
            </a:r>
            <a:r>
              <a:rPr lang="en-IN" b="1" smtClean="0">
                <a:solidFill>
                  <a:srgbClr val="FF0000"/>
                </a:solidFill>
              </a:rPr>
              <a:t>Healthcare &amp; Medical Diagnosis</a:t>
            </a:r>
          </a:p>
          <a:p>
            <a:r>
              <a:rPr lang="en-IN" smtClean="0"/>
              <a:t>Modular networks analyze </a:t>
            </a:r>
            <a:r>
              <a:rPr lang="en-IN" b="1" smtClean="0"/>
              <a:t>diagnostic imaging</a:t>
            </a:r>
            <a:r>
              <a:rPr lang="en-IN" smtClean="0"/>
              <a:t>, </a:t>
            </a:r>
            <a:r>
              <a:rPr lang="en-IN" b="1" smtClean="0"/>
              <a:t>patient history</a:t>
            </a:r>
            <a:r>
              <a:rPr lang="en-IN" smtClean="0"/>
              <a:t>, </a:t>
            </a:r>
            <a:r>
              <a:rPr lang="en-IN" b="1" smtClean="0"/>
              <a:t>symptom profiles</a:t>
            </a:r>
            <a:r>
              <a:rPr lang="en-IN" smtClean="0"/>
              <a:t> separately.</a:t>
            </a:r>
          </a:p>
          <a:p>
            <a:r>
              <a:rPr lang="en-IN" smtClean="0"/>
              <a:t>Each module outputs disease predictions or treatment suggestions before integration.</a:t>
            </a:r>
            <a:br>
              <a:rPr lang="en-IN" smtClean="0"/>
            </a:br>
            <a:endParaRPr lang="en-IN" smtClean="0"/>
          </a:p>
          <a:p>
            <a:r>
              <a:rPr lang="en-IN" b="1" smtClean="0"/>
              <a:t>5. </a:t>
            </a:r>
            <a:r>
              <a:rPr lang="en-IN" b="1" smtClean="0">
                <a:solidFill>
                  <a:srgbClr val="FF0000"/>
                </a:solidFill>
              </a:rPr>
              <a:t>Financial Analysis &amp; Fraud Detection</a:t>
            </a:r>
          </a:p>
          <a:p>
            <a:r>
              <a:rPr lang="en-IN" smtClean="0"/>
              <a:t>Modules for </a:t>
            </a:r>
            <a:r>
              <a:rPr lang="en-IN" b="1" smtClean="0"/>
              <a:t>time-series forecasting</a:t>
            </a:r>
            <a:r>
              <a:rPr lang="en-IN" smtClean="0"/>
              <a:t>, </a:t>
            </a:r>
            <a:r>
              <a:rPr lang="en-IN" b="1" smtClean="0"/>
              <a:t>risk modeling</a:t>
            </a:r>
            <a:r>
              <a:rPr lang="en-IN" smtClean="0"/>
              <a:t>, </a:t>
            </a:r>
            <a:r>
              <a:rPr lang="en-IN" b="1" smtClean="0"/>
              <a:t>anomaly detection</a:t>
            </a:r>
            <a:r>
              <a:rPr lang="en-IN" smtClean="0"/>
              <a:t>.</a:t>
            </a:r>
          </a:p>
          <a:p>
            <a:r>
              <a:rPr lang="en-IN" smtClean="0"/>
              <a:t>Each subnetwork processes different aspects of financial data and combines outputs for decisions.</a:t>
            </a:r>
          </a:p>
          <a:p>
            <a:endParaRPr lang="en-IN"/>
          </a:p>
        </p:txBody>
      </p:sp>
    </p:spTree>
    <p:extLst>
      <p:ext uri="{BB962C8B-B14F-4D97-AF65-F5344CB8AC3E}">
        <p14:creationId xmlns:p14="http://schemas.microsoft.com/office/powerpoint/2010/main" val="2601209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00124126"/>
              </p:ext>
            </p:extLst>
          </p:nvPr>
        </p:nvGraphicFramePr>
        <p:xfrm>
          <a:off x="588963" y="609602"/>
          <a:ext cx="10202862" cy="5105398"/>
        </p:xfrm>
        <a:graphic>
          <a:graphicData uri="http://schemas.openxmlformats.org/drawingml/2006/table">
            <a:tbl>
              <a:tblPr/>
              <a:tblGrid>
                <a:gridCol w="5101431">
                  <a:extLst>
                    <a:ext uri="{9D8B030D-6E8A-4147-A177-3AD203B41FA5}">
                      <a16:colId xmlns:a16="http://schemas.microsoft.com/office/drawing/2014/main" val="197158388"/>
                    </a:ext>
                  </a:extLst>
                </a:gridCol>
                <a:gridCol w="5101431">
                  <a:extLst>
                    <a:ext uri="{9D8B030D-6E8A-4147-A177-3AD203B41FA5}">
                      <a16:colId xmlns:a16="http://schemas.microsoft.com/office/drawing/2014/main" val="3768847501"/>
                    </a:ext>
                  </a:extLst>
                </a:gridCol>
              </a:tblGrid>
              <a:tr h="756355">
                <a:tc>
                  <a:txBody>
                    <a:bodyPr/>
                    <a:lstStyle/>
                    <a:p>
                      <a:pPr marL="0" indent="0">
                        <a:buFont typeface="+mj-lt"/>
                        <a:buNone/>
                      </a:pPr>
                      <a:r>
                        <a:rPr lang="en-IN" sz="2400" b="1" smtClean="0">
                          <a:solidFill>
                            <a:srgbClr val="FF0000"/>
                          </a:solidFill>
                        </a:rPr>
                        <a:t>ADVANTAGES of MNN</a:t>
                      </a:r>
                      <a:endParaRPr lang="en-IN" sz="2400" b="1">
                        <a:solidFill>
                          <a:srgbClr val="FF0000"/>
                        </a:solidFill>
                      </a:endParaRPr>
                    </a:p>
                  </a:txBody>
                  <a:tcPr anchor="ctr">
                    <a:lnL>
                      <a:noFill/>
                    </a:lnL>
                    <a:lnR>
                      <a:noFill/>
                    </a:lnR>
                    <a:lnT>
                      <a:noFill/>
                    </a:lnT>
                    <a:lnB>
                      <a:noFill/>
                    </a:lnB>
                  </a:tcPr>
                </a:tc>
                <a:tc>
                  <a:txBody>
                    <a:bodyPr/>
                    <a:lstStyle/>
                    <a:p>
                      <a:pPr marL="0" indent="0">
                        <a:buFont typeface="+mj-lt"/>
                        <a:buNone/>
                      </a:pPr>
                      <a:endParaRPr lang="en-US"/>
                    </a:p>
                  </a:txBody>
                  <a:tcPr anchor="ctr">
                    <a:lnL>
                      <a:noFill/>
                    </a:lnL>
                    <a:lnR>
                      <a:noFill/>
                    </a:lnR>
                    <a:lnT>
                      <a:noFill/>
                    </a:lnT>
                    <a:lnB>
                      <a:noFill/>
                    </a:lnB>
                  </a:tcPr>
                </a:tc>
                <a:extLst>
                  <a:ext uri="{0D108BD9-81ED-4DB2-BD59-A6C34878D82A}">
                    <a16:rowId xmlns:a16="http://schemas.microsoft.com/office/drawing/2014/main" val="1373952611"/>
                  </a:ext>
                </a:extLst>
              </a:tr>
              <a:tr h="756355">
                <a:tc>
                  <a:txBody>
                    <a:bodyPr/>
                    <a:lstStyle/>
                    <a:p>
                      <a:pPr marL="0" indent="0">
                        <a:buFont typeface="+mj-lt"/>
                        <a:buNone/>
                      </a:pPr>
                      <a:r>
                        <a:rPr lang="en-IN" b="1" smtClean="0">
                          <a:solidFill>
                            <a:srgbClr val="FF0000"/>
                          </a:solidFill>
                        </a:rPr>
                        <a:t>1. Parallel </a:t>
                      </a:r>
                      <a:r>
                        <a:rPr lang="en-IN" b="1">
                          <a:solidFill>
                            <a:srgbClr val="FF0000"/>
                          </a:solidFill>
                        </a:rPr>
                        <a:t>sub‑task training</a:t>
                      </a:r>
                      <a:endParaRPr lang="en-IN">
                        <a:solidFill>
                          <a:srgbClr val="FF0000"/>
                        </a:solidFill>
                      </a:endParaRPr>
                    </a:p>
                  </a:txBody>
                  <a:tcPr anchor="ctr">
                    <a:lnL>
                      <a:noFill/>
                    </a:lnL>
                    <a:lnR>
                      <a:noFill/>
                    </a:lnR>
                    <a:lnT>
                      <a:noFill/>
                    </a:lnT>
                    <a:lnB>
                      <a:noFill/>
                    </a:lnB>
                  </a:tcPr>
                </a:tc>
                <a:tc>
                  <a:txBody>
                    <a:bodyPr/>
                    <a:lstStyle/>
                    <a:p>
                      <a:pPr marL="0" indent="0">
                        <a:buFont typeface="+mj-lt"/>
                        <a:buNone/>
                      </a:pPr>
                      <a:r>
                        <a:rPr lang="en-US"/>
                        <a:t>Each module (block) can be trained independently</a:t>
                      </a:r>
                    </a:p>
                  </a:txBody>
                  <a:tcPr anchor="ctr">
                    <a:lnL>
                      <a:noFill/>
                    </a:lnL>
                    <a:lnR>
                      <a:noFill/>
                    </a:lnR>
                    <a:lnT>
                      <a:noFill/>
                    </a:lnT>
                    <a:lnB>
                      <a:noFill/>
                    </a:lnB>
                  </a:tcPr>
                </a:tc>
                <a:extLst>
                  <a:ext uri="{0D108BD9-81ED-4DB2-BD59-A6C34878D82A}">
                    <a16:rowId xmlns:a16="http://schemas.microsoft.com/office/drawing/2014/main" val="1114225106"/>
                  </a:ext>
                </a:extLst>
              </a:tr>
              <a:tr h="756355">
                <a:tc>
                  <a:txBody>
                    <a:bodyPr/>
                    <a:lstStyle/>
                    <a:p>
                      <a:pPr marL="0" indent="0">
                        <a:buFont typeface="+mj-lt"/>
                        <a:buNone/>
                      </a:pPr>
                      <a:r>
                        <a:rPr lang="en-IN" b="1" smtClean="0">
                          <a:solidFill>
                            <a:srgbClr val="FF0000"/>
                          </a:solidFill>
                        </a:rPr>
                        <a:t>2. Specialization</a:t>
                      </a:r>
                      <a:endParaRPr lang="en-IN">
                        <a:solidFill>
                          <a:srgbClr val="FF0000"/>
                        </a:solidFill>
                      </a:endParaRPr>
                    </a:p>
                  </a:txBody>
                  <a:tcPr anchor="ctr">
                    <a:lnL>
                      <a:noFill/>
                    </a:lnL>
                    <a:lnR>
                      <a:noFill/>
                    </a:lnR>
                    <a:lnT>
                      <a:noFill/>
                    </a:lnT>
                    <a:lnB>
                      <a:noFill/>
                    </a:lnB>
                  </a:tcPr>
                </a:tc>
                <a:tc>
                  <a:txBody>
                    <a:bodyPr/>
                    <a:lstStyle/>
                    <a:p>
                      <a:pPr marL="0" indent="0">
                        <a:buFont typeface="+mj-lt"/>
                        <a:buNone/>
                      </a:pPr>
                      <a:r>
                        <a:rPr lang="en-US"/>
                        <a:t>Modules specialize in designated subtasks</a:t>
                      </a:r>
                    </a:p>
                  </a:txBody>
                  <a:tcPr anchor="ctr">
                    <a:lnL>
                      <a:noFill/>
                    </a:lnL>
                    <a:lnR>
                      <a:noFill/>
                    </a:lnR>
                    <a:lnT>
                      <a:noFill/>
                    </a:lnT>
                    <a:lnB>
                      <a:noFill/>
                    </a:lnB>
                  </a:tcPr>
                </a:tc>
                <a:extLst>
                  <a:ext uri="{0D108BD9-81ED-4DB2-BD59-A6C34878D82A}">
                    <a16:rowId xmlns:a16="http://schemas.microsoft.com/office/drawing/2014/main" val="1958425480"/>
                  </a:ext>
                </a:extLst>
              </a:tr>
              <a:tr h="756355">
                <a:tc>
                  <a:txBody>
                    <a:bodyPr/>
                    <a:lstStyle/>
                    <a:p>
                      <a:pPr marL="0" indent="0">
                        <a:buFont typeface="+mj-lt"/>
                        <a:buNone/>
                      </a:pPr>
                      <a:r>
                        <a:rPr lang="en-IN" b="1" smtClean="0">
                          <a:solidFill>
                            <a:srgbClr val="FF0000"/>
                          </a:solidFill>
                        </a:rPr>
                        <a:t>3. Reusability</a:t>
                      </a:r>
                      <a:endParaRPr lang="en-IN">
                        <a:solidFill>
                          <a:srgbClr val="FF0000"/>
                        </a:solidFill>
                      </a:endParaRPr>
                    </a:p>
                  </a:txBody>
                  <a:tcPr anchor="ctr">
                    <a:lnL>
                      <a:noFill/>
                    </a:lnL>
                    <a:lnR>
                      <a:noFill/>
                    </a:lnR>
                    <a:lnT>
                      <a:noFill/>
                    </a:lnT>
                    <a:lnB>
                      <a:noFill/>
                    </a:lnB>
                  </a:tcPr>
                </a:tc>
                <a:tc>
                  <a:txBody>
                    <a:bodyPr/>
                    <a:lstStyle/>
                    <a:p>
                      <a:pPr marL="0" indent="0">
                        <a:buFont typeface="+mj-lt"/>
                        <a:buNone/>
                      </a:pPr>
                      <a:r>
                        <a:rPr lang="en-US"/>
                        <a:t>Same module reused across different applications</a:t>
                      </a:r>
                    </a:p>
                  </a:txBody>
                  <a:tcPr anchor="ctr">
                    <a:lnL>
                      <a:noFill/>
                    </a:lnL>
                    <a:lnR>
                      <a:noFill/>
                    </a:lnR>
                    <a:lnT>
                      <a:noFill/>
                    </a:lnT>
                    <a:lnB>
                      <a:noFill/>
                    </a:lnB>
                  </a:tcPr>
                </a:tc>
                <a:extLst>
                  <a:ext uri="{0D108BD9-81ED-4DB2-BD59-A6C34878D82A}">
                    <a16:rowId xmlns:a16="http://schemas.microsoft.com/office/drawing/2014/main" val="1622625314"/>
                  </a:ext>
                </a:extLst>
              </a:tr>
              <a:tr h="756355">
                <a:tc>
                  <a:txBody>
                    <a:bodyPr/>
                    <a:lstStyle/>
                    <a:p>
                      <a:pPr marL="0" indent="0">
                        <a:buFont typeface="+mj-lt"/>
                        <a:buNone/>
                      </a:pPr>
                      <a:r>
                        <a:rPr lang="en-IN" b="1" smtClean="0">
                          <a:solidFill>
                            <a:srgbClr val="FF0000"/>
                          </a:solidFill>
                        </a:rPr>
                        <a:t>4. Scalability </a:t>
                      </a:r>
                      <a:r>
                        <a:rPr lang="en-IN" b="1">
                          <a:solidFill>
                            <a:srgbClr val="FF0000"/>
                          </a:solidFill>
                        </a:rPr>
                        <a:t>&amp; maintenance</a:t>
                      </a:r>
                      <a:endParaRPr lang="en-IN">
                        <a:solidFill>
                          <a:srgbClr val="FF0000"/>
                        </a:solidFill>
                      </a:endParaRPr>
                    </a:p>
                  </a:txBody>
                  <a:tcPr anchor="ctr">
                    <a:lnL>
                      <a:noFill/>
                    </a:lnL>
                    <a:lnR>
                      <a:noFill/>
                    </a:lnR>
                    <a:lnT>
                      <a:noFill/>
                    </a:lnT>
                    <a:lnB>
                      <a:noFill/>
                    </a:lnB>
                  </a:tcPr>
                </a:tc>
                <a:tc>
                  <a:txBody>
                    <a:bodyPr/>
                    <a:lstStyle/>
                    <a:p>
                      <a:pPr marL="0" indent="0">
                        <a:buFont typeface="+mj-lt"/>
                        <a:buNone/>
                      </a:pPr>
                      <a:r>
                        <a:rPr lang="en-US"/>
                        <a:t>Nodes or feeds can be added or replaced easily</a:t>
                      </a:r>
                    </a:p>
                  </a:txBody>
                  <a:tcPr anchor="ctr">
                    <a:lnL>
                      <a:noFill/>
                    </a:lnL>
                    <a:lnR>
                      <a:noFill/>
                    </a:lnR>
                    <a:lnT>
                      <a:noFill/>
                    </a:lnT>
                    <a:lnB>
                      <a:noFill/>
                    </a:lnB>
                  </a:tcPr>
                </a:tc>
                <a:extLst>
                  <a:ext uri="{0D108BD9-81ED-4DB2-BD59-A6C34878D82A}">
                    <a16:rowId xmlns:a16="http://schemas.microsoft.com/office/drawing/2014/main" val="3982286466"/>
                  </a:ext>
                </a:extLst>
              </a:tr>
              <a:tr h="1323623">
                <a:tc>
                  <a:txBody>
                    <a:bodyPr/>
                    <a:lstStyle/>
                    <a:p>
                      <a:pPr marL="0" indent="0">
                        <a:buFont typeface="+mj-lt"/>
                        <a:buNone/>
                      </a:pPr>
                      <a:r>
                        <a:rPr lang="en-IN" b="1" smtClean="0">
                          <a:solidFill>
                            <a:srgbClr val="FF0000"/>
                          </a:solidFill>
                        </a:rPr>
                        <a:t>5. Robustness </a:t>
                      </a:r>
                      <a:r>
                        <a:rPr lang="en-IN" b="1">
                          <a:solidFill>
                            <a:srgbClr val="FF0000"/>
                          </a:solidFill>
                        </a:rPr>
                        <a:t>&amp; fault isolation</a:t>
                      </a:r>
                      <a:endParaRPr lang="en-IN">
                        <a:solidFill>
                          <a:srgbClr val="FF0000"/>
                        </a:solidFill>
                      </a:endParaRPr>
                    </a:p>
                  </a:txBody>
                  <a:tcPr anchor="ctr">
                    <a:lnL>
                      <a:noFill/>
                    </a:lnL>
                    <a:lnR>
                      <a:noFill/>
                    </a:lnR>
                    <a:lnT>
                      <a:noFill/>
                    </a:lnT>
                    <a:lnB>
                      <a:noFill/>
                    </a:lnB>
                  </a:tcPr>
                </a:tc>
                <a:tc>
                  <a:txBody>
                    <a:bodyPr/>
                    <a:lstStyle/>
                    <a:p>
                      <a:pPr marL="0" indent="0">
                        <a:buFont typeface="+mj-lt"/>
                        <a:buNone/>
                      </a:pPr>
                      <a:r>
                        <a:rPr lang="en-US"/>
                        <a:t>Failure of one module doesn't collapse whole system</a:t>
                      </a:r>
                    </a:p>
                  </a:txBody>
                  <a:tcPr anchor="ctr">
                    <a:lnL>
                      <a:noFill/>
                    </a:lnL>
                    <a:lnR>
                      <a:noFill/>
                    </a:lnR>
                    <a:lnT>
                      <a:noFill/>
                    </a:lnT>
                    <a:lnB>
                      <a:noFill/>
                    </a:lnB>
                  </a:tcPr>
                </a:tc>
                <a:extLst>
                  <a:ext uri="{0D108BD9-81ED-4DB2-BD59-A6C34878D82A}">
                    <a16:rowId xmlns:a16="http://schemas.microsoft.com/office/drawing/2014/main" val="2114539142"/>
                  </a:ext>
                </a:extLst>
              </a:tr>
            </a:tbl>
          </a:graphicData>
        </a:graphic>
      </p:graphicFrame>
    </p:spTree>
    <p:extLst>
      <p:ext uri="{BB962C8B-B14F-4D97-AF65-F5344CB8AC3E}">
        <p14:creationId xmlns:p14="http://schemas.microsoft.com/office/powerpoint/2010/main" val="1606418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457200"/>
            <a:ext cx="11125200" cy="762000"/>
          </a:xfrm>
          <a:prstGeom prst="rect">
            <a:avLst/>
          </a:prstGeom>
          <a:noFill/>
        </p:spPr>
        <p:txBody>
          <a:bodyPr wrap="square" rtlCol="0">
            <a:spAutoFit/>
          </a:bodyPr>
          <a:lstStyle/>
          <a:p>
            <a:endParaRPr lang="en-IN"/>
          </a:p>
        </p:txBody>
      </p:sp>
      <p:sp>
        <p:nvSpPr>
          <p:cNvPr id="3" name="TextBox 2"/>
          <p:cNvSpPr txBox="1"/>
          <p:nvPr/>
        </p:nvSpPr>
        <p:spPr>
          <a:xfrm>
            <a:off x="152400" y="304800"/>
            <a:ext cx="11811000" cy="5447645"/>
          </a:xfrm>
          <a:prstGeom prst="rect">
            <a:avLst/>
          </a:prstGeom>
          <a:noFill/>
        </p:spPr>
        <p:txBody>
          <a:bodyPr wrap="square" rtlCol="0">
            <a:spAutoFit/>
          </a:bodyPr>
          <a:lstStyle/>
          <a:p>
            <a:r>
              <a:rPr lang="en-US" sz="2400" b="1" smtClean="0">
                <a:solidFill>
                  <a:srgbClr val="FF0000"/>
                </a:solidFill>
              </a:rPr>
              <a:t>Sharing Variables</a:t>
            </a:r>
          </a:p>
          <a:p>
            <a:endParaRPr lang="en-US" b="1" smtClean="0"/>
          </a:p>
          <a:p>
            <a:r>
              <a:rPr lang="en-US" b="1" smtClean="0"/>
              <a:t>Parameter sharing</a:t>
            </a:r>
            <a:r>
              <a:rPr lang="en-US" smtClean="0"/>
              <a:t> means </a:t>
            </a:r>
            <a:r>
              <a:rPr lang="en-US" b="1" smtClean="0"/>
              <a:t>using the same weights (and biases)</a:t>
            </a:r>
            <a:r>
              <a:rPr lang="en-US" smtClean="0"/>
              <a:t> across different parts of a neural network—such as different tasks, time steps, layers, or modules. This </a:t>
            </a:r>
            <a:r>
              <a:rPr lang="en-US" smtClean="0">
                <a:solidFill>
                  <a:srgbClr val="FF0000"/>
                </a:solidFill>
              </a:rPr>
              <a:t>reuses parameters</a:t>
            </a:r>
            <a:r>
              <a:rPr lang="en-US" smtClean="0"/>
              <a:t>, rather than creating separate copies—cutting down on memory, improving efficiency, and often generalizing better</a:t>
            </a:r>
          </a:p>
          <a:p>
            <a:endParaRPr lang="en-US"/>
          </a:p>
          <a:p>
            <a:r>
              <a:rPr lang="en-US" smtClean="0"/>
              <a:t>Layer </a:t>
            </a:r>
            <a:r>
              <a:rPr lang="en-US"/>
              <a:t>and Parameter Sharing techniques are </a:t>
            </a:r>
            <a:r>
              <a:rPr lang="en-US">
                <a:solidFill>
                  <a:srgbClr val="FF0000"/>
                </a:solidFill>
              </a:rPr>
              <a:t>powerful strategies used to reduce the size and computational complexity</a:t>
            </a:r>
            <a:r>
              <a:rPr lang="en-US"/>
              <a:t> of machine learning models, particularly large neural networks like language models. These methods work by reusing the same parameters or layers across different parts of the model, effectively decreasing the total number of unique parameters that need to be stored and computed. </a:t>
            </a:r>
            <a:endParaRPr lang="en-US" smtClean="0"/>
          </a:p>
          <a:p>
            <a:endParaRPr lang="en-US"/>
          </a:p>
          <a:p>
            <a:r>
              <a:rPr lang="en-US" smtClean="0"/>
              <a:t>This </a:t>
            </a:r>
            <a:r>
              <a:rPr lang="en-US"/>
              <a:t>approach not only </a:t>
            </a:r>
            <a:r>
              <a:rPr lang="en-US">
                <a:solidFill>
                  <a:srgbClr val="FF0000"/>
                </a:solidFill>
              </a:rPr>
              <a:t>reduces memory </a:t>
            </a:r>
            <a:r>
              <a:rPr lang="en-US"/>
              <a:t>usage but also </a:t>
            </a:r>
            <a:r>
              <a:rPr lang="en-US">
                <a:solidFill>
                  <a:srgbClr val="FF0000"/>
                </a:solidFill>
              </a:rPr>
              <a:t>enhances computational efficiency</a:t>
            </a:r>
            <a:r>
              <a:rPr lang="en-US"/>
              <a:t>, making it particularly valuable for resource-constrained environments</a:t>
            </a:r>
            <a:r>
              <a:rPr lang="en-US" smtClean="0"/>
              <a:t>.</a:t>
            </a:r>
          </a:p>
          <a:p>
            <a:endParaRPr lang="en-US"/>
          </a:p>
          <a:p>
            <a:r>
              <a:rPr lang="en-US" smtClean="0"/>
              <a:t>In the context of neural networks, shared variables refer to parameters, typically weights and biases, that are used by multiple layers or units within a network. This concept is crucial </a:t>
            </a:r>
            <a:r>
              <a:rPr lang="en-US" smtClean="0">
                <a:solidFill>
                  <a:srgbClr val="FF0000"/>
                </a:solidFill>
              </a:rPr>
              <a:t>for reducing the number of parameters to be learned, thereby decreasing computational cost and improving efficiency,</a:t>
            </a:r>
            <a:r>
              <a:rPr lang="en-US" smtClean="0"/>
              <a:t> especially in architectures like convolutional neural networks (CNNs) and recurrent neural networks (RNNs).</a:t>
            </a:r>
          </a:p>
          <a:p>
            <a:endParaRPr lang="en-IN"/>
          </a:p>
        </p:txBody>
      </p:sp>
    </p:spTree>
    <p:extLst>
      <p:ext uri="{BB962C8B-B14F-4D97-AF65-F5344CB8AC3E}">
        <p14:creationId xmlns:p14="http://schemas.microsoft.com/office/powerpoint/2010/main" val="36293261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76200"/>
            <a:ext cx="11811000" cy="6309420"/>
          </a:xfrm>
          <a:prstGeom prst="rect">
            <a:avLst/>
          </a:prstGeom>
          <a:noFill/>
        </p:spPr>
        <p:txBody>
          <a:bodyPr wrap="square" rtlCol="0">
            <a:spAutoFit/>
          </a:bodyPr>
          <a:lstStyle/>
          <a:p>
            <a:endParaRPr lang="en-US" sz="2000" b="1">
              <a:solidFill>
                <a:srgbClr val="FF0000"/>
              </a:solidFill>
            </a:endParaRPr>
          </a:p>
          <a:p>
            <a:r>
              <a:rPr lang="en-US"/>
              <a:t>Instead of having unique sets of weights for each layer or unit, shared variables allow multiple parts of the network to use the same set of </a:t>
            </a:r>
            <a:r>
              <a:rPr lang="en-US" smtClean="0"/>
              <a:t>parameters.This </a:t>
            </a:r>
            <a:r>
              <a:rPr lang="en-US"/>
              <a:t>means that the same set of weights or biases is applied to different parts of the input data, effectively creating multiple instances of the same transformation.</a:t>
            </a:r>
          </a:p>
          <a:p>
            <a:r>
              <a:rPr lang="en-US"/>
              <a:t>For instance, in a CNN, the same convolutional filter is applied to different locations in the input image using shared weights. </a:t>
            </a:r>
            <a:endParaRPr lang="en-US" smtClean="0"/>
          </a:p>
          <a:p>
            <a:endParaRPr lang="en-US" smtClean="0"/>
          </a:p>
          <a:p>
            <a:endParaRPr lang="en-US" smtClean="0"/>
          </a:p>
          <a:p>
            <a:r>
              <a:rPr lang="en-US" sz="2400" b="1" smtClean="0">
                <a:solidFill>
                  <a:srgbClr val="FF0000"/>
                </a:solidFill>
              </a:rPr>
              <a:t>Advantages:-</a:t>
            </a:r>
            <a:endParaRPr lang="en-US" sz="2400" b="1">
              <a:solidFill>
                <a:srgbClr val="FF0000"/>
              </a:solidFill>
            </a:endParaRPr>
          </a:p>
          <a:p>
            <a:r>
              <a:rPr lang="en-US" b="1"/>
              <a:t>Reduced Model Complexity:</a:t>
            </a:r>
            <a:endParaRPr lang="en-US"/>
          </a:p>
          <a:p>
            <a:r>
              <a:rPr lang="en-US"/>
              <a:t>By sharing parameters, the number of parameters to be learned is significantly reduced, leading to smaller and more efficient models.</a:t>
            </a:r>
          </a:p>
          <a:p>
            <a:r>
              <a:rPr lang="en-US" b="1"/>
              <a:t>Increased Generalization:</a:t>
            </a:r>
            <a:endParaRPr lang="en-US"/>
          </a:p>
          <a:p>
            <a:r>
              <a:rPr lang="en-US"/>
              <a:t>Shared variables can improve a model's ability to generalize to unseen data by learning more robust features that are not tied to specific locations in the input.</a:t>
            </a:r>
          </a:p>
          <a:p>
            <a:r>
              <a:rPr lang="en-US" b="1"/>
              <a:t>Improved Efficiency:</a:t>
            </a:r>
            <a:endParaRPr lang="en-US"/>
          </a:p>
          <a:p>
            <a:r>
              <a:rPr lang="en-US"/>
              <a:t>Training a model with shared variables is faster and requires less memory compared to a model with unique parameters for each layer or unit.</a:t>
            </a:r>
          </a:p>
          <a:p>
            <a:r>
              <a:rPr lang="en-US" b="1"/>
              <a:t>Feature Invariance:</a:t>
            </a:r>
            <a:endParaRPr lang="en-US"/>
          </a:p>
          <a:p>
            <a:r>
              <a:rPr lang="en-US"/>
              <a:t>In CNNs, shared weights make the network invariant to the location of features in the input image. </a:t>
            </a:r>
          </a:p>
          <a:p>
            <a:endParaRPr lang="en-US"/>
          </a:p>
          <a:p>
            <a:endParaRPr lang="en-IN"/>
          </a:p>
        </p:txBody>
      </p:sp>
    </p:spTree>
    <p:extLst>
      <p:ext uri="{BB962C8B-B14F-4D97-AF65-F5344CB8AC3E}">
        <p14:creationId xmlns:p14="http://schemas.microsoft.com/office/powerpoint/2010/main" val="2872554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miro.medium.com/v2/resize:fit:875/1*e_3GrFGsOxVBTUFKqDpIA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00228"/>
            <a:ext cx="8115300" cy="3057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04800" y="3157754"/>
            <a:ext cx="11430000" cy="3693319"/>
          </a:xfrm>
          <a:prstGeom prst="rect">
            <a:avLst/>
          </a:prstGeom>
          <a:noFill/>
        </p:spPr>
        <p:txBody>
          <a:bodyPr wrap="square" rtlCol="0">
            <a:spAutoFit/>
          </a:bodyPr>
          <a:lstStyle/>
          <a:p>
            <a:r>
              <a:rPr lang="en-US"/>
              <a:t>When classifying images, traditional neural networks struggle because each pixel is treated as an independent feature, which misses critical patterns in how pixels, interact</a:t>
            </a:r>
            <a:r>
              <a:rPr lang="en-US" smtClean="0"/>
              <a:t>.</a:t>
            </a:r>
          </a:p>
          <a:p>
            <a:endParaRPr lang="en-US"/>
          </a:p>
          <a:p>
            <a:endParaRPr lang="en-US" smtClean="0"/>
          </a:p>
          <a:p>
            <a:r>
              <a:rPr lang="en-US"/>
              <a:t>Suppose we start with an image that’s </a:t>
            </a:r>
            <a:r>
              <a:rPr lang="en-US" b="1"/>
              <a:t>224 x 224 pixels</a:t>
            </a:r>
            <a:r>
              <a:rPr lang="en-US"/>
              <a:t> with 3 color channels (RGB). If we fed it directly to a neural network without convolution, we’d need </a:t>
            </a:r>
            <a:r>
              <a:rPr lang="en-US" b="1"/>
              <a:t>224 x 224 x 3 = </a:t>
            </a:r>
            <a:r>
              <a:rPr lang="en-US" b="1">
                <a:solidFill>
                  <a:srgbClr val="FF0000"/>
                </a:solidFill>
              </a:rPr>
              <a:t>150,528 neurons</a:t>
            </a:r>
            <a:r>
              <a:rPr lang="en-US"/>
              <a:t> in the input layer.</a:t>
            </a:r>
          </a:p>
          <a:p>
            <a:endParaRPr lang="en-US" smtClean="0"/>
          </a:p>
          <a:p>
            <a:endParaRPr lang="en-US" smtClean="0"/>
          </a:p>
          <a:p>
            <a:r>
              <a:rPr lang="en-US" smtClean="0"/>
              <a:t>But </a:t>
            </a:r>
            <a:r>
              <a:rPr lang="en-US"/>
              <a:t>with a CNN, we can apply several </a:t>
            </a:r>
            <a:r>
              <a:rPr lang="en-US" b="1"/>
              <a:t>convolutional filters</a:t>
            </a:r>
            <a:r>
              <a:rPr lang="en-US"/>
              <a:t> that gradually reduce the size of the image’s data, capturing </a:t>
            </a:r>
            <a:r>
              <a:rPr lang="en-US" u="sng"/>
              <a:t>only the essential features</a:t>
            </a:r>
            <a:r>
              <a:rPr lang="en-US"/>
              <a:t>. By the time the image has passed through multiple convolutional layers, its data might be reduced to just </a:t>
            </a:r>
            <a:r>
              <a:rPr lang="en-US" b="1"/>
              <a:t>1 x 1 x 1000</a:t>
            </a:r>
            <a:r>
              <a:rPr lang="en-US"/>
              <a:t>. This final representation only needs </a:t>
            </a:r>
            <a:r>
              <a:rPr lang="en-US" b="1">
                <a:solidFill>
                  <a:srgbClr val="FF0000"/>
                </a:solidFill>
              </a:rPr>
              <a:t>1000 neurons</a:t>
            </a:r>
            <a:r>
              <a:rPr lang="en-US"/>
              <a:t> in the next layer, instead of 150,528.</a:t>
            </a:r>
          </a:p>
          <a:p>
            <a:endParaRPr lang="en-IN"/>
          </a:p>
        </p:txBody>
      </p:sp>
    </p:spTree>
    <p:extLst>
      <p:ext uri="{BB962C8B-B14F-4D97-AF65-F5344CB8AC3E}">
        <p14:creationId xmlns:p14="http://schemas.microsoft.com/office/powerpoint/2010/main" val="1937329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2695213"/>
            <a:ext cx="10591800" cy="769441"/>
          </a:xfrm>
          <a:prstGeom prst="rect">
            <a:avLst/>
          </a:prstGeom>
          <a:noFill/>
        </p:spPr>
        <p:txBody>
          <a:bodyPr wrap="square" rtlCol="0">
            <a:spAutoFit/>
          </a:bodyPr>
          <a:lstStyle/>
          <a:p>
            <a:pPr algn="ctr"/>
            <a:r>
              <a:rPr lang="en-US" sz="4400" b="1" smtClean="0"/>
              <a:t>Keras : Perceptron</a:t>
            </a:r>
            <a:endParaRPr lang="en-US" sz="4400" b="1"/>
          </a:p>
        </p:txBody>
      </p:sp>
    </p:spTree>
    <p:extLst>
      <p:ext uri="{BB962C8B-B14F-4D97-AF65-F5344CB8AC3E}">
        <p14:creationId xmlns:p14="http://schemas.microsoft.com/office/powerpoint/2010/main" val="3471934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52400"/>
            <a:ext cx="11963401" cy="4019550"/>
          </a:xfrm>
          <a:prstGeom prst="rect">
            <a:avLst/>
          </a:prstGeom>
        </p:spPr>
      </p:pic>
      <p:pic>
        <p:nvPicPr>
          <p:cNvPr id="3" name="Picture 2"/>
          <p:cNvPicPr>
            <a:picLocks noChangeAspect="1"/>
          </p:cNvPicPr>
          <p:nvPr/>
        </p:nvPicPr>
        <p:blipFill>
          <a:blip r:embed="rId3"/>
          <a:stretch>
            <a:fillRect/>
          </a:stretch>
        </p:blipFill>
        <p:spPr>
          <a:xfrm>
            <a:off x="471487" y="4171950"/>
            <a:ext cx="11020425" cy="2338387"/>
          </a:xfrm>
          <a:prstGeom prst="rect">
            <a:avLst/>
          </a:prstGeom>
        </p:spPr>
      </p:pic>
    </p:spTree>
    <p:extLst>
      <p:ext uri="{BB962C8B-B14F-4D97-AF65-F5344CB8AC3E}">
        <p14:creationId xmlns:p14="http://schemas.microsoft.com/office/powerpoint/2010/main" val="38082079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399" y="457200"/>
            <a:ext cx="11811001" cy="5943600"/>
          </a:xfrm>
          <a:prstGeom prst="rect">
            <a:avLst/>
          </a:prstGeom>
        </p:spPr>
      </p:pic>
    </p:spTree>
    <p:extLst>
      <p:ext uri="{BB962C8B-B14F-4D97-AF65-F5344CB8AC3E}">
        <p14:creationId xmlns:p14="http://schemas.microsoft.com/office/powerpoint/2010/main" val="28759593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91655" y="228600"/>
            <a:ext cx="11963400" cy="6429375"/>
          </a:xfrm>
          <a:prstGeom prst="rect">
            <a:avLst/>
          </a:prstGeom>
        </p:spPr>
      </p:pic>
    </p:spTree>
    <p:extLst>
      <p:ext uri="{BB962C8B-B14F-4D97-AF65-F5344CB8AC3E}">
        <p14:creationId xmlns:p14="http://schemas.microsoft.com/office/powerpoint/2010/main" val="1540700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09" y="304800"/>
            <a:ext cx="11887200" cy="6648450"/>
          </a:xfrm>
          <a:prstGeom prst="rect">
            <a:avLst/>
          </a:prstGeom>
        </p:spPr>
      </p:pic>
    </p:spTree>
    <p:extLst>
      <p:ext uri="{BB962C8B-B14F-4D97-AF65-F5344CB8AC3E}">
        <p14:creationId xmlns:p14="http://schemas.microsoft.com/office/powerpoint/2010/main" val="34519347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2695213"/>
            <a:ext cx="10591800" cy="769441"/>
          </a:xfrm>
          <a:prstGeom prst="rect">
            <a:avLst/>
          </a:prstGeom>
          <a:noFill/>
        </p:spPr>
        <p:txBody>
          <a:bodyPr wrap="square" rtlCol="0">
            <a:spAutoFit/>
          </a:bodyPr>
          <a:lstStyle/>
          <a:p>
            <a:pPr algn="ctr"/>
            <a:r>
              <a:rPr lang="en-US" sz="4400" b="1" smtClean="0"/>
              <a:t>Perceptron </a:t>
            </a:r>
            <a:r>
              <a:rPr lang="en-US" sz="4400" b="1"/>
              <a:t>XOR Gate</a:t>
            </a:r>
          </a:p>
        </p:txBody>
      </p:sp>
    </p:spTree>
    <p:extLst>
      <p:ext uri="{BB962C8B-B14F-4D97-AF65-F5344CB8AC3E}">
        <p14:creationId xmlns:p14="http://schemas.microsoft.com/office/powerpoint/2010/main" val="23285431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5218" y="247813"/>
            <a:ext cx="11506200" cy="6740307"/>
          </a:xfrm>
          <a:prstGeom prst="rect">
            <a:avLst/>
          </a:prstGeom>
          <a:noFill/>
        </p:spPr>
        <p:txBody>
          <a:bodyPr wrap="square" rtlCol="0">
            <a:spAutoFit/>
          </a:bodyPr>
          <a:lstStyle/>
          <a:p>
            <a:r>
              <a:rPr lang="en-US"/>
              <a:t>A </a:t>
            </a:r>
            <a:r>
              <a:rPr lang="en-US" b="1">
                <a:solidFill>
                  <a:srgbClr val="FF0000"/>
                </a:solidFill>
              </a:rPr>
              <a:t>neural network architecture </a:t>
            </a:r>
            <a:r>
              <a:rPr lang="en-US"/>
              <a:t>represents the structure and organization of an artificial neural network (ANN), which is a computational model inspired by the workings of </a:t>
            </a:r>
            <a:r>
              <a:rPr lang="en-US" smtClean="0"/>
              <a:t>a biological neural network.</a:t>
            </a:r>
            <a:r>
              <a:rPr lang="en-US"/>
              <a:t> </a:t>
            </a:r>
          </a:p>
          <a:p>
            <a:endParaRPr lang="en-US"/>
          </a:p>
          <a:p>
            <a:r>
              <a:rPr lang="en-US"/>
              <a:t>The architecture explains how data flows through the network, how neurons (units) are connected, and how the network learns and makes predictions. </a:t>
            </a:r>
          </a:p>
          <a:p>
            <a:r>
              <a:rPr lang="en-US"/>
              <a:t>Here are the </a:t>
            </a:r>
            <a:r>
              <a:rPr lang="en-US" b="1">
                <a:solidFill>
                  <a:srgbClr val="FF0000"/>
                </a:solidFill>
              </a:rPr>
              <a:t>key components </a:t>
            </a:r>
            <a:r>
              <a:rPr lang="en-US"/>
              <a:t>of a neural network architecture</a:t>
            </a:r>
            <a:r>
              <a:rPr lang="en-US" smtClean="0"/>
              <a:t>.</a:t>
            </a:r>
          </a:p>
          <a:p>
            <a:endParaRPr lang="en-US"/>
          </a:p>
          <a:p>
            <a:pPr marL="342900" indent="-342900">
              <a:buAutoNum type="arabicPeriod"/>
            </a:pPr>
            <a:r>
              <a:rPr lang="en-US" smtClean="0">
                <a:solidFill>
                  <a:srgbClr val="FF0000"/>
                </a:solidFill>
              </a:rPr>
              <a:t>Layers</a:t>
            </a:r>
            <a:r>
              <a:rPr lang="en-US">
                <a:solidFill>
                  <a:srgbClr val="FF0000"/>
                </a:solidFill>
              </a:rPr>
              <a:t>:</a:t>
            </a:r>
            <a:r>
              <a:rPr lang="en-US" b="1"/>
              <a:t> </a:t>
            </a:r>
            <a:r>
              <a:rPr lang="en-US"/>
              <a:t>Neural networks consist of layers of neurons, </a:t>
            </a:r>
            <a:endParaRPr lang="en-US" smtClean="0"/>
          </a:p>
          <a:p>
            <a:r>
              <a:rPr lang="en-US" smtClean="0"/>
              <a:t>which </a:t>
            </a:r>
            <a:r>
              <a:rPr lang="en-US"/>
              <a:t>include the input layers, hidden layers, and </a:t>
            </a:r>
            <a:endParaRPr lang="en-US" smtClean="0"/>
          </a:p>
          <a:p>
            <a:r>
              <a:rPr lang="en-US" smtClean="0"/>
              <a:t>output </a:t>
            </a:r>
            <a:r>
              <a:rPr lang="en-US"/>
              <a:t>layers.</a:t>
            </a:r>
          </a:p>
          <a:p>
            <a:r>
              <a:rPr lang="en-US" smtClean="0">
                <a:solidFill>
                  <a:srgbClr val="FF0000"/>
                </a:solidFill>
              </a:rPr>
              <a:t>2. Neurons </a:t>
            </a:r>
            <a:r>
              <a:rPr lang="en-US">
                <a:solidFill>
                  <a:srgbClr val="FF0000"/>
                </a:solidFill>
              </a:rPr>
              <a:t>(Nodes):</a:t>
            </a:r>
            <a:r>
              <a:rPr lang="en-US" b="1"/>
              <a:t> </a:t>
            </a:r>
            <a:r>
              <a:rPr lang="en-US"/>
              <a:t>Neurons are the basic computational </a:t>
            </a:r>
            <a:endParaRPr lang="en-US" smtClean="0"/>
          </a:p>
          <a:p>
            <a:r>
              <a:rPr lang="en-US" smtClean="0"/>
              <a:t>units that </a:t>
            </a:r>
            <a:r>
              <a:rPr lang="en-US"/>
              <a:t>perform a weighted sum of their inputs, </a:t>
            </a:r>
            <a:endParaRPr lang="en-US" smtClean="0"/>
          </a:p>
          <a:p>
            <a:r>
              <a:rPr lang="en-US" smtClean="0"/>
              <a:t>apply </a:t>
            </a:r>
            <a:r>
              <a:rPr lang="en-US"/>
              <a:t>a bias, and </a:t>
            </a:r>
            <a:r>
              <a:rPr lang="en-US" smtClean="0"/>
              <a:t>pass </a:t>
            </a:r>
            <a:r>
              <a:rPr lang="en-US"/>
              <a:t>the result through an </a:t>
            </a:r>
            <a:endParaRPr lang="en-US" smtClean="0"/>
          </a:p>
          <a:p>
            <a:r>
              <a:rPr lang="en-US" smtClean="0"/>
              <a:t>activation </a:t>
            </a:r>
            <a:r>
              <a:rPr lang="en-US"/>
              <a:t>function. </a:t>
            </a:r>
          </a:p>
          <a:p>
            <a:r>
              <a:rPr lang="en-US" smtClean="0">
                <a:solidFill>
                  <a:srgbClr val="FF0000"/>
                </a:solidFill>
              </a:rPr>
              <a:t>3. Weights </a:t>
            </a:r>
            <a:r>
              <a:rPr lang="en-US">
                <a:solidFill>
                  <a:srgbClr val="FF0000"/>
                </a:solidFill>
              </a:rPr>
              <a:t>and biases:</a:t>
            </a:r>
            <a:r>
              <a:rPr lang="en-US"/>
              <a:t> Weights represent the strength of </a:t>
            </a:r>
            <a:endParaRPr lang="en-US" smtClean="0"/>
          </a:p>
          <a:p>
            <a:r>
              <a:rPr lang="en-US" smtClean="0"/>
              <a:t>the connections </a:t>
            </a:r>
            <a:r>
              <a:rPr lang="en-US"/>
              <a:t>between neurons, and biases </a:t>
            </a:r>
            <a:endParaRPr lang="en-US" smtClean="0"/>
          </a:p>
          <a:p>
            <a:r>
              <a:rPr lang="en-US" smtClean="0"/>
              <a:t>allow </a:t>
            </a:r>
            <a:r>
              <a:rPr lang="en-US"/>
              <a:t>neurons to </a:t>
            </a:r>
            <a:r>
              <a:rPr lang="en-US" smtClean="0"/>
              <a:t>make </a:t>
            </a:r>
            <a:r>
              <a:rPr lang="en-US"/>
              <a:t>predictions even </a:t>
            </a:r>
            <a:r>
              <a:rPr lang="en-US" smtClean="0"/>
              <a:t>when</a:t>
            </a:r>
          </a:p>
          <a:p>
            <a:r>
              <a:rPr lang="en-US" smtClean="0"/>
              <a:t>all </a:t>
            </a:r>
            <a:r>
              <a:rPr lang="en-US"/>
              <a:t>inputs are zero. </a:t>
            </a:r>
          </a:p>
          <a:p>
            <a:r>
              <a:rPr lang="en-US" smtClean="0">
                <a:solidFill>
                  <a:srgbClr val="FF0000"/>
                </a:solidFill>
              </a:rPr>
              <a:t>4. Activation </a:t>
            </a:r>
            <a:r>
              <a:rPr lang="en-US">
                <a:solidFill>
                  <a:srgbClr val="FF0000"/>
                </a:solidFill>
              </a:rPr>
              <a:t>function: </a:t>
            </a:r>
            <a:r>
              <a:rPr lang="en-US"/>
              <a:t>Non-linear functions (like </a:t>
            </a:r>
            <a:r>
              <a:rPr lang="en-US" smtClean="0"/>
              <a:t>ReLU</a:t>
            </a:r>
          </a:p>
          <a:p>
            <a:r>
              <a:rPr lang="en-US" smtClean="0"/>
              <a:t> </a:t>
            </a:r>
            <a:r>
              <a:rPr lang="en-US"/>
              <a:t>and Sigmoid</a:t>
            </a:r>
            <a:r>
              <a:rPr lang="en-US" smtClean="0"/>
              <a:t>) </a:t>
            </a:r>
            <a:r>
              <a:rPr lang="en-US"/>
              <a:t>are used to introduce non-linearity </a:t>
            </a:r>
            <a:endParaRPr lang="en-US" smtClean="0"/>
          </a:p>
          <a:p>
            <a:r>
              <a:rPr lang="en-US" smtClean="0"/>
              <a:t>into </a:t>
            </a:r>
            <a:r>
              <a:rPr lang="en-US"/>
              <a:t>the network, enabling </a:t>
            </a:r>
            <a:r>
              <a:rPr lang="en-US" smtClean="0"/>
              <a:t>it </a:t>
            </a:r>
            <a:r>
              <a:rPr lang="en-US"/>
              <a:t>to model </a:t>
            </a:r>
            <a:r>
              <a:rPr lang="en-US" smtClean="0"/>
              <a:t>complex </a:t>
            </a:r>
            <a:r>
              <a:rPr lang="en-US"/>
              <a:t>relationships. </a:t>
            </a:r>
          </a:p>
          <a:p>
            <a:endParaRPr lang="en-US" smtClean="0"/>
          </a:p>
          <a:p>
            <a:endParaRPr lang="en-US" smtClean="0"/>
          </a:p>
          <a:p>
            <a:endParaRPr lang="en-US"/>
          </a:p>
        </p:txBody>
      </p:sp>
      <p:sp>
        <p:nvSpPr>
          <p:cNvPr id="3" name="AutoShape 2" descr="Neural networks: Architecture, applications, case studies, development and  implementa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001" y="1905000"/>
            <a:ext cx="5874582"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97053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1000"/>
            <a:ext cx="11049000" cy="5078313"/>
          </a:xfrm>
          <a:prstGeom prst="rect">
            <a:avLst/>
          </a:prstGeom>
          <a:noFill/>
        </p:spPr>
        <p:txBody>
          <a:bodyPr wrap="square" rtlCol="0">
            <a:spAutoFit/>
          </a:bodyPr>
          <a:lstStyle/>
          <a:p>
            <a:r>
              <a:rPr lang="en-US" smtClean="0"/>
              <a:t>The </a:t>
            </a:r>
            <a:r>
              <a:rPr lang="en-US" b="1" smtClean="0">
                <a:solidFill>
                  <a:srgbClr val="FF0000"/>
                </a:solidFill>
              </a:rPr>
              <a:t>neural network architecture defines its capabilities</a:t>
            </a:r>
            <a:r>
              <a:rPr lang="en-US" smtClean="0"/>
              <a:t>.</a:t>
            </a:r>
          </a:p>
          <a:p>
            <a:endParaRPr lang="en-US" smtClean="0"/>
          </a:p>
          <a:p>
            <a:r>
              <a:rPr lang="en-US" b="1" smtClean="0"/>
              <a:t>1. Model’s capacity</a:t>
            </a:r>
            <a:endParaRPr lang="en-US" smtClean="0"/>
          </a:p>
          <a:p>
            <a:r>
              <a:rPr lang="en-US" smtClean="0"/>
              <a:t>A model with high </a:t>
            </a:r>
            <a:r>
              <a:rPr lang="en-US" smtClean="0">
                <a:solidFill>
                  <a:srgbClr val="FF0000"/>
                </a:solidFill>
              </a:rPr>
              <a:t>depth </a:t>
            </a:r>
            <a:r>
              <a:rPr lang="en-US" smtClean="0"/>
              <a:t>(number of layers) and </a:t>
            </a:r>
            <a:r>
              <a:rPr lang="en-US" smtClean="0">
                <a:solidFill>
                  <a:srgbClr val="FF0000"/>
                </a:solidFill>
              </a:rPr>
              <a:t>width</a:t>
            </a:r>
            <a:r>
              <a:rPr lang="en-US" smtClean="0"/>
              <a:t> (number of neurons in each layer) can handle complex relationships. A network with few layers cannot handle tasks like image or speech recognition.</a:t>
            </a:r>
          </a:p>
          <a:p>
            <a:endParaRPr lang="en-US" b="1" smtClean="0"/>
          </a:p>
          <a:p>
            <a:r>
              <a:rPr lang="en-US" b="1" smtClean="0"/>
              <a:t>2. Efficiency</a:t>
            </a:r>
            <a:endParaRPr lang="en-US" smtClean="0"/>
          </a:p>
          <a:p>
            <a:r>
              <a:rPr lang="en-US" smtClean="0"/>
              <a:t>The neural network’s architecture affects the efficiency of the model. For instance, convolutional neural networks (CNNs) have lower computational costs compared to fully connected networks.</a:t>
            </a:r>
          </a:p>
          <a:p>
            <a:endParaRPr lang="en-US" b="1" smtClean="0"/>
          </a:p>
          <a:p>
            <a:r>
              <a:rPr lang="en-US" b="1" smtClean="0"/>
              <a:t>3. Optimization </a:t>
            </a:r>
            <a:endParaRPr lang="en-US" smtClean="0"/>
          </a:p>
          <a:p>
            <a:r>
              <a:rPr lang="en-US" smtClean="0"/>
              <a:t>The network’s structure affects its optimization. For instance, deeper networks may face issues like vanishing gradients, where the gradients become too small for effective learning in early layers.</a:t>
            </a:r>
          </a:p>
          <a:p>
            <a:endParaRPr lang="en-US" b="1" smtClean="0"/>
          </a:p>
          <a:p>
            <a:r>
              <a:rPr lang="en-US" b="1" smtClean="0"/>
              <a:t>4. Task-specific design</a:t>
            </a:r>
            <a:endParaRPr lang="en-US" smtClean="0"/>
          </a:p>
          <a:p>
            <a:r>
              <a:rPr lang="en-US" smtClean="0"/>
              <a:t>The architecture of networks can be tailored to specific tasks, such as CNNs for image classification  and RNNs for sequence prediction.</a:t>
            </a:r>
          </a:p>
          <a:p>
            <a:endParaRPr lang="en-US"/>
          </a:p>
        </p:txBody>
      </p:sp>
    </p:spTree>
    <p:extLst>
      <p:ext uri="{BB962C8B-B14F-4D97-AF65-F5344CB8AC3E}">
        <p14:creationId xmlns:p14="http://schemas.microsoft.com/office/powerpoint/2010/main" val="3172636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Role of Neural Networks in Comprehensive ML Strategies - Ksolv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457200"/>
            <a:ext cx="6267994" cy="518991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781800" y="304800"/>
            <a:ext cx="5181600" cy="6186309"/>
          </a:xfrm>
          <a:prstGeom prst="rect">
            <a:avLst/>
          </a:prstGeom>
          <a:noFill/>
        </p:spPr>
        <p:txBody>
          <a:bodyPr wrap="square" rtlCol="0">
            <a:spAutoFit/>
          </a:bodyPr>
          <a:lstStyle/>
          <a:p>
            <a:endParaRPr lang="en-US" b="1" smtClean="0"/>
          </a:p>
          <a:p>
            <a:r>
              <a:rPr lang="en-US" b="1" smtClean="0"/>
              <a:t>FNN:-</a:t>
            </a:r>
            <a:r>
              <a:rPr lang="en-US" smtClean="0"/>
              <a:t> It </a:t>
            </a:r>
            <a:r>
              <a:rPr lang="en-US"/>
              <a:t>consists of input, hidden, and output layers but lacks feedback loops. It is well-suited for many applications because of its straightforward structure, including regression and pattern recognition</a:t>
            </a:r>
            <a:r>
              <a:rPr lang="en-US" smtClean="0"/>
              <a:t>.</a:t>
            </a:r>
          </a:p>
          <a:p>
            <a:endParaRPr lang="en-US" smtClean="0"/>
          </a:p>
          <a:p>
            <a:endParaRPr lang="en-US" smtClean="0"/>
          </a:p>
          <a:p>
            <a:r>
              <a:rPr lang="en-US" b="1" smtClean="0"/>
              <a:t>CNN:-</a:t>
            </a:r>
            <a:r>
              <a:rPr lang="en-US" smtClean="0"/>
              <a:t> </a:t>
            </a:r>
            <a:r>
              <a:rPr lang="en-US"/>
              <a:t>is an artificial neural network algorithm specially designed for image processing.</a:t>
            </a:r>
          </a:p>
          <a:p>
            <a:endParaRPr lang="en-US" smtClean="0"/>
          </a:p>
          <a:p>
            <a:endParaRPr lang="en-US" smtClean="0"/>
          </a:p>
          <a:p>
            <a:r>
              <a:rPr lang="en-US" b="1" smtClean="0"/>
              <a:t>RNN:-</a:t>
            </a:r>
            <a:r>
              <a:rPr lang="en-US"/>
              <a:t> A recurrent neural network (RNN) is a type of artificial neural network designed for processing sequences of data</a:t>
            </a:r>
            <a:r>
              <a:rPr lang="en-US" smtClean="0"/>
              <a:t>.</a:t>
            </a:r>
          </a:p>
          <a:p>
            <a:endParaRPr lang="en-US" smtClean="0"/>
          </a:p>
          <a:p>
            <a:endParaRPr lang="en-US"/>
          </a:p>
          <a:p>
            <a:r>
              <a:rPr lang="en-US" b="1" smtClean="0"/>
              <a:t>MLP:- </a:t>
            </a:r>
            <a:r>
              <a:rPr lang="en-US" smtClean="0"/>
              <a:t> </a:t>
            </a:r>
            <a:r>
              <a:rPr lang="en-US"/>
              <a:t>is a type of feedforward neural network with three or more layers, including an input layer, one or more hidden layers, and an output layer. It uses nonlinear activation functions</a:t>
            </a:r>
            <a:r>
              <a:rPr lang="en-US" smtClean="0"/>
              <a:t>.</a:t>
            </a:r>
          </a:p>
          <a:p>
            <a:endParaRPr lang="en-US"/>
          </a:p>
        </p:txBody>
      </p:sp>
    </p:spTree>
    <p:extLst>
      <p:ext uri="{BB962C8B-B14F-4D97-AF65-F5344CB8AC3E}">
        <p14:creationId xmlns:p14="http://schemas.microsoft.com/office/powerpoint/2010/main" val="3500445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457200"/>
            <a:ext cx="11125200" cy="5909310"/>
          </a:xfrm>
          <a:prstGeom prst="rect">
            <a:avLst/>
          </a:prstGeom>
          <a:noFill/>
        </p:spPr>
        <p:txBody>
          <a:bodyPr wrap="square" rtlCol="0">
            <a:spAutoFit/>
          </a:bodyPr>
          <a:lstStyle/>
          <a:p>
            <a:r>
              <a:rPr lang="en-US" smtClean="0"/>
              <a:t>The </a:t>
            </a:r>
            <a:r>
              <a:rPr lang="en-US" b="1" smtClean="0"/>
              <a:t>Perceptron</a:t>
            </a:r>
            <a:r>
              <a:rPr lang="en-US" smtClean="0"/>
              <a:t> is a type of </a:t>
            </a:r>
            <a:r>
              <a:rPr lang="en-US" b="1" smtClean="0"/>
              <a:t>Feedforward Neural Network (FNN)</a:t>
            </a:r>
            <a:r>
              <a:rPr lang="en-US" smtClean="0"/>
              <a:t> — specifically, it's the </a:t>
            </a:r>
            <a:r>
              <a:rPr lang="en-US" b="1" smtClean="0"/>
              <a:t>simplest form</a:t>
            </a:r>
            <a:r>
              <a:rPr lang="en-US" smtClean="0"/>
              <a:t> of a neural network.</a:t>
            </a:r>
          </a:p>
          <a:p>
            <a:r>
              <a:rPr lang="en-US" smtClean="0"/>
              <a:t>A </a:t>
            </a:r>
            <a:r>
              <a:rPr lang="en-US" b="1" smtClean="0"/>
              <a:t>Perceptron</a:t>
            </a:r>
            <a:r>
              <a:rPr lang="en-US" smtClean="0"/>
              <a:t> is a </a:t>
            </a:r>
            <a:r>
              <a:rPr lang="en-US" b="1" smtClean="0"/>
              <a:t>single-layer neural network</a:t>
            </a:r>
            <a:r>
              <a:rPr lang="en-US" smtClean="0"/>
              <a:t> used primarily for </a:t>
            </a:r>
            <a:r>
              <a:rPr lang="en-US" b="1" smtClean="0"/>
              <a:t>binary classification</a:t>
            </a:r>
            <a:r>
              <a:rPr lang="en-US" smtClean="0"/>
              <a:t> problems.</a:t>
            </a:r>
          </a:p>
          <a:p>
            <a:r>
              <a:rPr lang="en-US" smtClean="0"/>
              <a:t>i.e, the </a:t>
            </a:r>
            <a:r>
              <a:rPr lang="en-US" b="1" smtClean="0"/>
              <a:t>basic perceptron</a:t>
            </a:r>
            <a:r>
              <a:rPr lang="en-US" smtClean="0"/>
              <a:t> can only solve </a:t>
            </a:r>
            <a:r>
              <a:rPr lang="en-US" b="1" smtClean="0"/>
              <a:t>linearly separable</a:t>
            </a:r>
            <a:r>
              <a:rPr lang="en-US" smtClean="0"/>
              <a:t> problems (like AND, OR).</a:t>
            </a:r>
          </a:p>
          <a:p>
            <a:r>
              <a:rPr lang="en-US" smtClean="0"/>
              <a:t>It </a:t>
            </a:r>
            <a:r>
              <a:rPr lang="en-US" b="1" smtClean="0"/>
              <a:t>cannot</a:t>
            </a:r>
            <a:r>
              <a:rPr lang="en-US" smtClean="0"/>
              <a:t> solve non-linear problems like </a:t>
            </a:r>
            <a:r>
              <a:rPr lang="en-US" b="1" smtClean="0"/>
              <a:t>XOR</a:t>
            </a:r>
            <a:r>
              <a:rPr lang="en-US" smtClean="0"/>
              <a:t>.</a:t>
            </a:r>
          </a:p>
          <a:p>
            <a:endParaRPr lang="en-US" smtClean="0"/>
          </a:p>
          <a:p>
            <a:endParaRPr lang="en-US"/>
          </a:p>
          <a:p>
            <a:endParaRPr lang="en-US" smtClean="0"/>
          </a:p>
          <a:p>
            <a:endParaRPr lang="en-US"/>
          </a:p>
          <a:p>
            <a:endParaRPr lang="en-US"/>
          </a:p>
          <a:p>
            <a:endParaRPr lang="en-US" smtClean="0"/>
          </a:p>
          <a:p>
            <a:endParaRPr lang="en-US" smtClean="0"/>
          </a:p>
          <a:p>
            <a:endParaRPr lang="en-US"/>
          </a:p>
          <a:p>
            <a:endParaRPr lang="en-US" smtClean="0"/>
          </a:p>
          <a:p>
            <a:endParaRPr lang="en-US"/>
          </a:p>
          <a:p>
            <a:endParaRPr lang="en-US" smtClean="0"/>
          </a:p>
          <a:p>
            <a:endParaRPr lang="en-US"/>
          </a:p>
          <a:p>
            <a:endParaRPr lang="en-US" smtClean="0"/>
          </a:p>
          <a:p>
            <a:r>
              <a:rPr lang="en-US" smtClean="0"/>
              <a:t>A </a:t>
            </a:r>
            <a:r>
              <a:rPr lang="en-US" b="1" smtClean="0"/>
              <a:t>Multi-Layer Perceptron (MLP)</a:t>
            </a:r>
            <a:r>
              <a:rPr lang="en-US" smtClean="0"/>
              <a:t> can solve </a:t>
            </a:r>
            <a:r>
              <a:rPr lang="en-US" b="1" smtClean="0"/>
              <a:t>non-linear</a:t>
            </a:r>
            <a:r>
              <a:rPr lang="en-US" smtClean="0"/>
              <a:t> problems using </a:t>
            </a:r>
            <a:r>
              <a:rPr lang="en-US" b="1" smtClean="0"/>
              <a:t>hidden layers</a:t>
            </a:r>
            <a:r>
              <a:rPr lang="en-US" smtClean="0"/>
              <a:t> and </a:t>
            </a:r>
            <a:r>
              <a:rPr lang="en-US" b="1" smtClean="0"/>
              <a:t>non-linear activations</a:t>
            </a:r>
            <a:r>
              <a:rPr lang="en-US" smtClean="0"/>
              <a:t>.</a:t>
            </a:r>
          </a:p>
          <a:p>
            <a:endParaRPr lang="en-US"/>
          </a:p>
        </p:txBody>
      </p:sp>
      <p:pic>
        <p:nvPicPr>
          <p:cNvPr id="3076" name="Picture 4" descr="Implementing the Perceptron Neural Network with Python - PyImageSear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682" y="2362200"/>
            <a:ext cx="10883436"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1347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1257" y="2838271"/>
            <a:ext cx="8382000" cy="1200329"/>
          </a:xfrm>
          <a:prstGeom prst="rect">
            <a:avLst/>
          </a:prstGeom>
          <a:noFill/>
        </p:spPr>
        <p:txBody>
          <a:bodyPr wrap="square" rtlCol="0">
            <a:spAutoFit/>
          </a:bodyPr>
          <a:lstStyle/>
          <a:p>
            <a:r>
              <a:rPr lang="en-US" smtClean="0">
                <a:solidFill>
                  <a:srgbClr val="FF0000"/>
                </a:solidFill>
              </a:rPr>
              <a:t>As XOR is non linear,it is not possible to draw a single line for given data differentiate the category of points, so to solve this problem following equation is used (perceptron rule for XOR)</a:t>
            </a:r>
          </a:p>
          <a:p>
            <a:endParaRPr lang="en-US"/>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3418272"/>
            <a:ext cx="384810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0791" y="4316730"/>
            <a:ext cx="481965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 y="4224993"/>
            <a:ext cx="5600700" cy="2394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790" y="0"/>
            <a:ext cx="10431463"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09756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644525"/>
            <a:ext cx="11506201" cy="557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36968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799" y="687388"/>
            <a:ext cx="10591801"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74674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1486" y="2286000"/>
            <a:ext cx="10591800" cy="1523494"/>
          </a:xfrm>
          <a:prstGeom prst="rect">
            <a:avLst/>
          </a:prstGeom>
          <a:noFill/>
        </p:spPr>
        <p:txBody>
          <a:bodyPr wrap="square" rtlCol="0">
            <a:spAutoFit/>
          </a:bodyPr>
          <a:lstStyle/>
          <a:p>
            <a:pPr marL="12700" algn="just">
              <a:lnSpc>
                <a:spcPct val="100000"/>
              </a:lnSpc>
              <a:spcBef>
                <a:spcPts val="600"/>
              </a:spcBef>
            </a:pPr>
            <a:r>
              <a:rPr lang="en-US" sz="4400" b="1" smtClean="0">
                <a:latin typeface="Times New Roman"/>
                <a:cs typeface="Times New Roman"/>
              </a:rPr>
              <a:t>Activation </a:t>
            </a:r>
            <a:r>
              <a:rPr lang="en-US" sz="4400" b="1" spc="-10" smtClean="0">
                <a:latin typeface="Times New Roman"/>
                <a:cs typeface="Times New Roman"/>
              </a:rPr>
              <a:t>Functions:</a:t>
            </a:r>
            <a:r>
              <a:rPr lang="en-US" sz="4400" b="1" spc="-125" smtClean="0">
                <a:latin typeface="Times New Roman"/>
                <a:cs typeface="Times New Roman"/>
              </a:rPr>
              <a:t> </a:t>
            </a:r>
          </a:p>
          <a:p>
            <a:pPr marL="12700" algn="just">
              <a:lnSpc>
                <a:spcPct val="100000"/>
              </a:lnSpc>
              <a:spcBef>
                <a:spcPts val="600"/>
              </a:spcBef>
            </a:pPr>
            <a:r>
              <a:rPr lang="en-US" sz="4400" smtClean="0">
                <a:latin typeface="Times New Roman"/>
                <a:cs typeface="Times New Roman"/>
              </a:rPr>
              <a:t>Sigmoid,</a:t>
            </a:r>
            <a:r>
              <a:rPr lang="en-US" sz="4400" spc="-65" smtClean="0">
                <a:latin typeface="Times New Roman"/>
                <a:cs typeface="Times New Roman"/>
              </a:rPr>
              <a:t> </a:t>
            </a:r>
            <a:r>
              <a:rPr lang="en-US" sz="4400" smtClean="0">
                <a:latin typeface="Times New Roman"/>
                <a:cs typeface="Times New Roman"/>
              </a:rPr>
              <a:t>ReLU,</a:t>
            </a:r>
            <a:r>
              <a:rPr lang="en-US" sz="4400" spc="-100" smtClean="0">
                <a:latin typeface="Times New Roman"/>
                <a:cs typeface="Times New Roman"/>
              </a:rPr>
              <a:t> </a:t>
            </a:r>
            <a:r>
              <a:rPr lang="en-US" sz="4400" smtClean="0">
                <a:latin typeface="Times New Roman"/>
                <a:cs typeface="Times New Roman"/>
              </a:rPr>
              <a:t>Hyperbolic</a:t>
            </a:r>
            <a:r>
              <a:rPr lang="en-US" sz="4400" spc="-70" smtClean="0">
                <a:latin typeface="Times New Roman"/>
                <a:cs typeface="Times New Roman"/>
              </a:rPr>
              <a:t> </a:t>
            </a:r>
            <a:r>
              <a:rPr lang="en-US" sz="4400" smtClean="0">
                <a:latin typeface="Times New Roman"/>
                <a:cs typeface="Times New Roman"/>
              </a:rPr>
              <a:t>Fns,</a:t>
            </a:r>
            <a:r>
              <a:rPr lang="en-US" sz="4400" spc="-130" smtClean="0">
                <a:latin typeface="Times New Roman"/>
                <a:cs typeface="Times New Roman"/>
              </a:rPr>
              <a:t> </a:t>
            </a:r>
            <a:r>
              <a:rPr lang="en-US" sz="4400" spc="-10" smtClean="0">
                <a:latin typeface="Times New Roman"/>
                <a:cs typeface="Times New Roman"/>
              </a:rPr>
              <a:t>Softmax</a:t>
            </a:r>
            <a:endParaRPr lang="en-US" sz="4400">
              <a:latin typeface="Times New Roman"/>
              <a:cs typeface="Times New Roman"/>
            </a:endParaRPr>
          </a:p>
        </p:txBody>
      </p:sp>
    </p:spTree>
    <p:extLst>
      <p:ext uri="{BB962C8B-B14F-4D97-AF65-F5344CB8AC3E}">
        <p14:creationId xmlns:p14="http://schemas.microsoft.com/office/powerpoint/2010/main" val="42201396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532" y="304800"/>
            <a:ext cx="11534775" cy="4121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823" y="1905000"/>
            <a:ext cx="5199017"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823" y="4572000"/>
            <a:ext cx="4791075"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33400" y="5181600"/>
            <a:ext cx="7162800" cy="1754326"/>
          </a:xfrm>
          <a:prstGeom prst="rect">
            <a:avLst/>
          </a:prstGeom>
          <a:noFill/>
        </p:spPr>
        <p:txBody>
          <a:bodyPr wrap="square" rtlCol="0">
            <a:spAutoFit/>
          </a:bodyPr>
          <a:lstStyle/>
          <a:p>
            <a:pPr marL="342900" indent="-342900">
              <a:buAutoNum type="arabicPeriod"/>
            </a:pPr>
            <a:r>
              <a:rPr lang="en-US" baseline="0" smtClean="0">
                <a:solidFill>
                  <a:srgbClr val="FF0000"/>
                </a:solidFill>
              </a:rPr>
              <a:t>Binary step Function</a:t>
            </a:r>
          </a:p>
          <a:p>
            <a:pPr marL="342900" indent="-342900">
              <a:buFontTx/>
              <a:buAutoNum type="arabicPeriod"/>
            </a:pPr>
            <a:r>
              <a:rPr lang="en-US" smtClean="0">
                <a:solidFill>
                  <a:srgbClr val="FF0000"/>
                </a:solidFill>
              </a:rPr>
              <a:t>Linear Activation</a:t>
            </a:r>
            <a:r>
              <a:rPr lang="en-US" baseline="0" smtClean="0">
                <a:solidFill>
                  <a:srgbClr val="FF0000"/>
                </a:solidFill>
              </a:rPr>
              <a:t>Function</a:t>
            </a:r>
          </a:p>
          <a:p>
            <a:pPr marL="342900" indent="-342900">
              <a:buFontTx/>
              <a:buAutoNum type="arabicPeriod"/>
            </a:pPr>
            <a:r>
              <a:rPr lang="en-US" smtClean="0">
                <a:solidFill>
                  <a:srgbClr val="FF0000"/>
                </a:solidFill>
              </a:rPr>
              <a:t>Non</a:t>
            </a:r>
            <a:r>
              <a:rPr lang="en-US" baseline="0" smtClean="0">
                <a:solidFill>
                  <a:srgbClr val="FF0000"/>
                </a:solidFill>
              </a:rPr>
              <a:t> </a:t>
            </a:r>
            <a:r>
              <a:rPr lang="en-US" smtClean="0">
                <a:solidFill>
                  <a:srgbClr val="FF0000"/>
                </a:solidFill>
              </a:rPr>
              <a:t>Linear Activation </a:t>
            </a:r>
            <a:r>
              <a:rPr lang="en-US" baseline="0" smtClean="0">
                <a:solidFill>
                  <a:srgbClr val="FF0000"/>
                </a:solidFill>
              </a:rPr>
              <a:t>Function</a:t>
            </a:r>
            <a:endParaRPr lang="en-US" smtClean="0">
              <a:solidFill>
                <a:srgbClr val="FF0000"/>
              </a:solidFill>
            </a:endParaRPr>
          </a:p>
          <a:p>
            <a:pPr marL="342900" indent="-342900">
              <a:buFontTx/>
              <a:buAutoNum type="arabicPeriod"/>
            </a:pPr>
            <a:endParaRPr lang="en-US" b="1" u="sng" smtClean="0">
              <a:solidFill>
                <a:srgbClr val="FF0000"/>
              </a:solidFill>
            </a:endParaRPr>
          </a:p>
          <a:p>
            <a:pPr marL="342900" indent="-342900">
              <a:buAutoNum type="arabicPeriod"/>
            </a:pPr>
            <a:endParaRPr lang="en-US" b="1" u="sng" smtClean="0">
              <a:solidFill>
                <a:srgbClr val="FF0000"/>
              </a:solidFill>
            </a:endParaRPr>
          </a:p>
          <a:p>
            <a:endParaRPr lang="en-US"/>
          </a:p>
        </p:txBody>
      </p:sp>
    </p:spTree>
    <p:extLst>
      <p:ext uri="{BB962C8B-B14F-4D97-AF65-F5344CB8AC3E}">
        <p14:creationId xmlns:p14="http://schemas.microsoft.com/office/powerpoint/2010/main" val="29987460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48090202"/>
              </p:ext>
            </p:extLst>
          </p:nvPr>
        </p:nvGraphicFramePr>
        <p:xfrm>
          <a:off x="533400" y="381000"/>
          <a:ext cx="10896600" cy="6217920"/>
        </p:xfrm>
        <a:graphic>
          <a:graphicData uri="http://schemas.openxmlformats.org/drawingml/2006/table">
            <a:tbl>
              <a:tblPr firstRow="1" bandRow="1"/>
              <a:tblGrid>
                <a:gridCol w="5448300">
                  <a:extLst>
                    <a:ext uri="{9D8B030D-6E8A-4147-A177-3AD203B41FA5}">
                      <a16:colId xmlns:a16="http://schemas.microsoft.com/office/drawing/2014/main" val="20000"/>
                    </a:ext>
                  </a:extLst>
                </a:gridCol>
                <a:gridCol w="5448300">
                  <a:extLst>
                    <a:ext uri="{9D8B030D-6E8A-4147-A177-3AD203B41FA5}">
                      <a16:colId xmlns:a16="http://schemas.microsoft.com/office/drawing/2014/main" val="20001"/>
                    </a:ext>
                  </a:extLst>
                </a:gridCol>
              </a:tblGrid>
              <a:tr h="370840">
                <a:tc>
                  <a:txBody>
                    <a:bodyPr/>
                    <a:lstStyle/>
                    <a:p>
                      <a:r>
                        <a:rPr lang="en-US" b="1" u="sng" baseline="0" smtClean="0">
                          <a:solidFill>
                            <a:srgbClr val="FF0000"/>
                          </a:solidFill>
                        </a:rPr>
                        <a:t>1. Binary step Function:-</a:t>
                      </a:r>
                      <a:endParaRPr lang="en-US" b="1" u="sng" smtClean="0">
                        <a:solidFill>
                          <a:srgbClr val="FF0000"/>
                        </a:solidFill>
                      </a:endParaRPr>
                    </a:p>
                    <a:p>
                      <a:r>
                        <a:rPr lang="en-US" smtClean="0"/>
                        <a:t>If the weighted</a:t>
                      </a:r>
                      <a:r>
                        <a:rPr lang="en-US" baseline="0" smtClean="0"/>
                        <a:t> sum of present neuron </a:t>
                      </a:r>
                    </a:p>
                    <a:p>
                      <a:r>
                        <a:rPr lang="en-US" baseline="0" smtClean="0"/>
                        <a:t>        is less than zero, neuron is activated</a:t>
                      </a:r>
                    </a:p>
                    <a:p>
                      <a:pPr marL="0" marR="0" indent="0" defTabSz="914400" eaLnBrk="1" fontAlgn="auto" latinLnBrk="0" hangingPunct="1">
                        <a:lnSpc>
                          <a:spcPct val="100000"/>
                        </a:lnSpc>
                        <a:spcBef>
                          <a:spcPts val="0"/>
                        </a:spcBef>
                        <a:spcAft>
                          <a:spcPts val="0"/>
                        </a:spcAft>
                        <a:buClrTx/>
                        <a:buSzTx/>
                        <a:buFontTx/>
                        <a:buNone/>
                        <a:tabLst/>
                        <a:defRPr/>
                      </a:pPr>
                      <a:r>
                        <a:rPr lang="en-US" baseline="0" smtClean="0"/>
                        <a:t>        is greater or equal to zero, neuron is not activated</a:t>
                      </a:r>
                    </a:p>
                    <a:p>
                      <a:endParaRPr lang="en-US" baseline="0" smtClean="0"/>
                    </a:p>
                    <a:p>
                      <a:endParaRPr lang="en-US" smtClean="0"/>
                    </a:p>
                    <a:p>
                      <a:endParaRPr lang="en-US" smtClean="0"/>
                    </a:p>
                    <a:p>
                      <a:r>
                        <a:rPr lang="en-US" b="1" u="sng" smtClean="0"/>
                        <a:t>Disadv:-</a:t>
                      </a:r>
                    </a:p>
                    <a:p>
                      <a:r>
                        <a:rPr lang="en-US" b="1" smtClean="0"/>
                        <a:t>-&gt;</a:t>
                      </a:r>
                      <a:r>
                        <a:rPr lang="en-US" smtClean="0"/>
                        <a:t>Cannot</a:t>
                      </a:r>
                      <a:r>
                        <a:rPr lang="en-US" baseline="0" smtClean="0"/>
                        <a:t> provide multi-value output</a:t>
                      </a:r>
                    </a:p>
                    <a:p>
                      <a:r>
                        <a:rPr lang="en-US" b="1" baseline="0" smtClean="0"/>
                        <a:t>-&gt;</a:t>
                      </a:r>
                      <a:r>
                        <a:rPr lang="en-US" baseline="0" smtClean="0"/>
                        <a:t>As Gradient is zero for Binary step function, backpropagation is not possible.</a:t>
                      </a:r>
                      <a:endParaRPr lang="en-US"/>
                    </a:p>
                  </a:txBody>
                  <a:tcPr/>
                </a:tc>
                <a:tc>
                  <a:txBody>
                    <a:bodyPr/>
                    <a:lstStyle/>
                    <a:p>
                      <a:r>
                        <a:rPr lang="en-US" b="1" u="sng" smtClean="0">
                          <a:solidFill>
                            <a:srgbClr val="FF0000"/>
                          </a:solidFill>
                        </a:rPr>
                        <a:t>2. Linear Activation/ No Activation/</a:t>
                      </a:r>
                      <a:r>
                        <a:rPr lang="en-US" b="1" u="sng" baseline="0" smtClean="0">
                          <a:solidFill>
                            <a:srgbClr val="FF0000"/>
                          </a:solidFill>
                        </a:rPr>
                        <a:t> Identity Function</a:t>
                      </a:r>
                      <a:r>
                        <a:rPr lang="en-US" b="1" u="sng" smtClean="0">
                          <a:solidFill>
                            <a:srgbClr val="FF0000"/>
                          </a:solidFill>
                        </a:rPr>
                        <a:t>:-</a:t>
                      </a:r>
                    </a:p>
                    <a:p>
                      <a:r>
                        <a:rPr lang="en-US" b="0" u="none" smtClean="0"/>
                        <a:t>Whatever</a:t>
                      </a:r>
                      <a:r>
                        <a:rPr lang="en-US" b="0" u="none" baseline="0" smtClean="0"/>
                        <a:t> weighted sum is there in present neuron will be transferred to next neuron.</a:t>
                      </a:r>
                    </a:p>
                    <a:p>
                      <a:endParaRPr lang="en-US" b="0" u="none" smtClean="0"/>
                    </a:p>
                    <a:p>
                      <a:endParaRPr lang="en-US" b="0" u="none" smtClean="0"/>
                    </a:p>
                    <a:p>
                      <a:endParaRPr lang="en-US" b="0" u="none" smtClean="0"/>
                    </a:p>
                    <a:p>
                      <a:endParaRPr lang="en-US" b="0" u="none" smtClean="0"/>
                    </a:p>
                    <a:p>
                      <a:r>
                        <a:rPr lang="en-US" b="1" u="sng" smtClean="0"/>
                        <a:t>Disadv:-</a:t>
                      </a:r>
                    </a:p>
                    <a:p>
                      <a:r>
                        <a:rPr lang="en-US" b="0" u="none" smtClean="0"/>
                        <a:t>-&gt;Backpropagation</a:t>
                      </a:r>
                      <a:r>
                        <a:rPr lang="en-US" b="0" u="none" baseline="0" smtClean="0"/>
                        <a:t> is not possible</a:t>
                      </a:r>
                    </a:p>
                    <a:p>
                      <a:r>
                        <a:rPr lang="en-US" b="0" u="none" baseline="0" smtClean="0"/>
                        <a:t>-&gt;cannot support multi layer Neural Networks</a:t>
                      </a:r>
                      <a:endParaRPr lang="en-US" b="0" u="none"/>
                    </a:p>
                  </a:txBody>
                  <a:tcPr/>
                </a:tc>
                <a:extLst>
                  <a:ext uri="{0D108BD9-81ED-4DB2-BD59-A6C34878D82A}">
                    <a16:rowId xmlns:a16="http://schemas.microsoft.com/office/drawing/2014/main" val="10000"/>
                  </a:ext>
                </a:extLst>
              </a:tr>
              <a:tr h="370840">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b="1" u="sng" smtClean="0">
                          <a:solidFill>
                            <a:srgbClr val="FF0000"/>
                          </a:solidFill>
                        </a:rPr>
                        <a:t>3. Non</a:t>
                      </a:r>
                      <a:r>
                        <a:rPr lang="en-US" b="1" u="sng" baseline="0" smtClean="0">
                          <a:solidFill>
                            <a:srgbClr val="FF0000"/>
                          </a:solidFill>
                        </a:rPr>
                        <a:t> </a:t>
                      </a:r>
                      <a:r>
                        <a:rPr lang="en-US" b="1" u="sng" smtClean="0">
                          <a:solidFill>
                            <a:srgbClr val="FF0000"/>
                          </a:solidFill>
                        </a:rPr>
                        <a:t>Linear Activation </a:t>
                      </a:r>
                      <a:r>
                        <a:rPr lang="en-US" b="1" u="sng" baseline="0" smtClean="0">
                          <a:solidFill>
                            <a:srgbClr val="FF0000"/>
                          </a:solidFill>
                        </a:rPr>
                        <a:t>Function</a:t>
                      </a:r>
                      <a:r>
                        <a:rPr lang="en-US" b="1" u="sng" smtClean="0">
                          <a:solidFill>
                            <a:srgbClr val="FF0000"/>
                          </a:solidFill>
                        </a:rPr>
                        <a:t>:-</a:t>
                      </a:r>
                    </a:p>
                    <a:p>
                      <a:endParaRPr lang="en-US" smtClean="0"/>
                    </a:p>
                    <a:p>
                      <a:endParaRPr lang="en-US" smtClean="0"/>
                    </a:p>
                    <a:p>
                      <a:r>
                        <a:rPr lang="en-US" b="1" u="sng" smtClean="0"/>
                        <a:t>Adv:-</a:t>
                      </a:r>
                    </a:p>
                    <a:p>
                      <a:r>
                        <a:rPr lang="en-US" b="0" u="none" smtClean="0"/>
                        <a:t>-&gt;</a:t>
                      </a:r>
                      <a:r>
                        <a:rPr lang="en-US" b="0" u="none" baseline="0" smtClean="0"/>
                        <a:t> Allows backpropagation</a:t>
                      </a:r>
                    </a:p>
                    <a:p>
                      <a:r>
                        <a:rPr lang="en-US" b="0" u="none" baseline="0" smtClean="0"/>
                        <a:t>-&gt; Allows multi-layer neural networks</a:t>
                      </a:r>
                      <a:endParaRPr lang="en-US" smtClean="0"/>
                    </a:p>
                    <a:p>
                      <a:endParaRPr lang="en-US" smtClean="0"/>
                    </a:p>
                    <a:p>
                      <a:endParaRPr lang="en-US" smtClean="0"/>
                    </a:p>
                    <a:p>
                      <a:endParaRPr lang="en-US" smtClean="0"/>
                    </a:p>
                    <a:p>
                      <a:endParaRPr lang="en-US" smtClean="0"/>
                    </a:p>
                    <a:p>
                      <a:endParaRPr lang="en-US"/>
                    </a:p>
                  </a:txBody>
                  <a:tcPr/>
                </a:tc>
                <a:tc>
                  <a:txBody>
                    <a:bodyPr/>
                    <a:lstStyle/>
                    <a:p>
                      <a:endParaRPr lang="en-US"/>
                    </a:p>
                  </a:txBody>
                  <a:tcPr/>
                </a:tc>
                <a:extLst>
                  <a:ext uri="{0D108BD9-81ED-4DB2-BD59-A6C34878D82A}">
                    <a16:rowId xmlns:a16="http://schemas.microsoft.com/office/drawing/2014/main" val="10001"/>
                  </a:ext>
                </a:extLst>
              </a:tr>
            </a:tbl>
          </a:graphicData>
        </a:graphic>
      </p:graphicFrame>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0"/>
            <a:ext cx="2057400" cy="68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371601"/>
            <a:ext cx="1524000" cy="609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6480" y="3886200"/>
            <a:ext cx="48768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ight Arrow 2"/>
          <p:cNvSpPr/>
          <p:nvPr/>
        </p:nvSpPr>
        <p:spPr>
          <a:xfrm>
            <a:off x="4038600" y="3928961"/>
            <a:ext cx="208788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4686300" y="3596642"/>
            <a:ext cx="1752600" cy="369332"/>
          </a:xfrm>
          <a:prstGeom prst="rect">
            <a:avLst/>
          </a:prstGeom>
          <a:noFill/>
        </p:spPr>
        <p:txBody>
          <a:bodyPr wrap="square" rtlCol="0">
            <a:spAutoFit/>
          </a:bodyPr>
          <a:lstStyle/>
          <a:p>
            <a:r>
              <a:rPr lang="en-US" b="1" smtClean="0"/>
              <a:t>Types</a:t>
            </a:r>
            <a:endParaRPr lang="en-US" b="1"/>
          </a:p>
        </p:txBody>
      </p:sp>
    </p:spTree>
    <p:extLst>
      <p:ext uri="{BB962C8B-B14F-4D97-AF65-F5344CB8AC3E}">
        <p14:creationId xmlns:p14="http://schemas.microsoft.com/office/powerpoint/2010/main" val="17030638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524000" y="6324600"/>
            <a:ext cx="3352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1524000" y="6433066"/>
            <a:ext cx="33528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99" y="1"/>
            <a:ext cx="11879263"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399" y="3813175"/>
            <a:ext cx="11955463" cy="3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57200" y="6248400"/>
            <a:ext cx="1524000" cy="369332"/>
          </a:xfrm>
          <a:prstGeom prst="rect">
            <a:avLst/>
          </a:prstGeom>
          <a:noFill/>
        </p:spPr>
        <p:txBody>
          <a:bodyPr wrap="square" rtlCol="0">
            <a:spAutoFit/>
          </a:bodyPr>
          <a:lstStyle/>
          <a:p>
            <a:r>
              <a:rPr lang="en-IN" b="1" u="sng" smtClean="0">
                <a:solidFill>
                  <a:srgbClr val="FF0000"/>
                </a:solidFill>
              </a:rPr>
              <a:t>DisAdv:-</a:t>
            </a:r>
            <a:endParaRPr lang="en-IN" b="1" u="sng">
              <a:solidFill>
                <a:srgbClr val="FF0000"/>
              </a:solidFill>
            </a:endParaRPr>
          </a:p>
        </p:txBody>
      </p:sp>
      <p:cxnSp>
        <p:nvCxnSpPr>
          <p:cNvPr id="3" name="Straight Connector 2"/>
          <p:cNvCxnSpPr/>
          <p:nvPr/>
        </p:nvCxnSpPr>
        <p:spPr>
          <a:xfrm>
            <a:off x="609600" y="6172200"/>
            <a:ext cx="3581400"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47800" y="6433066"/>
            <a:ext cx="3505200" cy="369332"/>
          </a:xfrm>
          <a:prstGeom prst="rect">
            <a:avLst/>
          </a:prstGeom>
          <a:noFill/>
        </p:spPr>
        <p:txBody>
          <a:bodyPr wrap="square" rtlCol="0">
            <a:spAutoFit/>
          </a:bodyPr>
          <a:lstStyle/>
          <a:p>
            <a:r>
              <a:rPr lang="en-IN" smtClean="0">
                <a:solidFill>
                  <a:srgbClr val="FF0000"/>
                </a:solidFill>
              </a:rPr>
              <a:t>Low gradient </a:t>
            </a:r>
            <a:r>
              <a:rPr lang="en-IN" smtClean="0">
                <a:solidFill>
                  <a:srgbClr val="FF0000"/>
                </a:solidFill>
                <a:sym typeface="Wingdings" panose="05000000000000000000" pitchFamily="2" charset="2"/>
              </a:rPr>
              <a:t>low learning rate</a:t>
            </a:r>
            <a:endParaRPr lang="en-IN">
              <a:solidFill>
                <a:srgbClr val="FF0000"/>
              </a:solidFill>
            </a:endParaRPr>
          </a:p>
        </p:txBody>
      </p:sp>
      <p:cxnSp>
        <p:nvCxnSpPr>
          <p:cNvPr id="10" name="Straight Connector 9"/>
          <p:cNvCxnSpPr/>
          <p:nvPr/>
        </p:nvCxnSpPr>
        <p:spPr>
          <a:xfrm flipH="1">
            <a:off x="1524000" y="6433066"/>
            <a:ext cx="33528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524000" y="6433066"/>
            <a:ext cx="0" cy="4249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4876800" y="6433066"/>
            <a:ext cx="0" cy="424934"/>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6515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13" y="26127"/>
            <a:ext cx="12041187" cy="3707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886200"/>
            <a:ext cx="105156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Connector 2"/>
          <p:cNvCxnSpPr/>
          <p:nvPr/>
        </p:nvCxnSpPr>
        <p:spPr>
          <a:xfrm>
            <a:off x="74613" y="3733801"/>
            <a:ext cx="120411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2743200" y="4191000"/>
            <a:ext cx="5334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28600" y="4800600"/>
            <a:ext cx="1524000" cy="369332"/>
          </a:xfrm>
          <a:prstGeom prst="rect">
            <a:avLst/>
          </a:prstGeom>
          <a:noFill/>
        </p:spPr>
        <p:txBody>
          <a:bodyPr wrap="square" rtlCol="0">
            <a:spAutoFit/>
          </a:bodyPr>
          <a:lstStyle/>
          <a:p>
            <a:r>
              <a:rPr lang="en-IN" b="1" u="sng" smtClean="0">
                <a:solidFill>
                  <a:srgbClr val="FF0000"/>
                </a:solidFill>
              </a:rPr>
              <a:t>DisAdv:-</a:t>
            </a:r>
            <a:endParaRPr lang="en-IN" b="1" u="sng">
              <a:solidFill>
                <a:srgbClr val="FF0000"/>
              </a:solidFill>
            </a:endParaRPr>
          </a:p>
        </p:txBody>
      </p:sp>
    </p:spTree>
    <p:extLst>
      <p:ext uri="{BB962C8B-B14F-4D97-AF65-F5344CB8AC3E}">
        <p14:creationId xmlns:p14="http://schemas.microsoft.com/office/powerpoint/2010/main" val="15691599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37" y="15242"/>
            <a:ext cx="12107863" cy="356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82" y="3297782"/>
            <a:ext cx="7696200" cy="1121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073" y="4953000"/>
            <a:ext cx="11049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Connector 2"/>
          <p:cNvCxnSpPr/>
          <p:nvPr/>
        </p:nvCxnSpPr>
        <p:spPr>
          <a:xfrm>
            <a:off x="152400" y="4572000"/>
            <a:ext cx="11277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52400" y="2895600"/>
            <a:ext cx="800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533400" y="4495800"/>
            <a:ext cx="2286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819400" y="5715000"/>
            <a:ext cx="23622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4800" y="2928449"/>
            <a:ext cx="1524000" cy="369332"/>
          </a:xfrm>
          <a:prstGeom prst="rect">
            <a:avLst/>
          </a:prstGeom>
          <a:noFill/>
        </p:spPr>
        <p:txBody>
          <a:bodyPr wrap="square" rtlCol="0">
            <a:spAutoFit/>
          </a:bodyPr>
          <a:lstStyle/>
          <a:p>
            <a:r>
              <a:rPr lang="en-IN" b="1" u="sng" smtClean="0">
                <a:solidFill>
                  <a:srgbClr val="FF0000"/>
                </a:solidFill>
              </a:rPr>
              <a:t>Adv:-</a:t>
            </a:r>
            <a:endParaRPr lang="en-IN" b="1" u="sng">
              <a:solidFill>
                <a:srgbClr val="FF0000"/>
              </a:solidFill>
            </a:endParaRPr>
          </a:p>
        </p:txBody>
      </p:sp>
      <p:sp>
        <p:nvSpPr>
          <p:cNvPr id="11" name="TextBox 10"/>
          <p:cNvSpPr txBox="1"/>
          <p:nvPr/>
        </p:nvSpPr>
        <p:spPr>
          <a:xfrm>
            <a:off x="274782" y="4572000"/>
            <a:ext cx="1524000" cy="369332"/>
          </a:xfrm>
          <a:prstGeom prst="rect">
            <a:avLst/>
          </a:prstGeom>
          <a:noFill/>
        </p:spPr>
        <p:txBody>
          <a:bodyPr wrap="square" rtlCol="0">
            <a:spAutoFit/>
          </a:bodyPr>
          <a:lstStyle/>
          <a:p>
            <a:r>
              <a:rPr lang="en-IN" b="1" u="sng" smtClean="0">
                <a:solidFill>
                  <a:srgbClr val="FF0000"/>
                </a:solidFill>
              </a:rPr>
              <a:t>DisAdv:-</a:t>
            </a:r>
            <a:endParaRPr lang="en-IN" b="1" u="sng">
              <a:solidFill>
                <a:srgbClr val="FF0000"/>
              </a:solidFill>
            </a:endParaRPr>
          </a:p>
        </p:txBody>
      </p:sp>
    </p:spTree>
    <p:extLst>
      <p:ext uri="{BB962C8B-B14F-4D97-AF65-F5344CB8AC3E}">
        <p14:creationId xmlns:p14="http://schemas.microsoft.com/office/powerpoint/2010/main" val="32130774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3" y="0"/>
            <a:ext cx="12022137"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013" y="3252284"/>
            <a:ext cx="11583987" cy="788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013" y="4953000"/>
            <a:ext cx="11355387"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Connector 2"/>
          <p:cNvCxnSpPr/>
          <p:nvPr/>
        </p:nvCxnSpPr>
        <p:spPr>
          <a:xfrm>
            <a:off x="28303" y="4267200"/>
            <a:ext cx="120221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2590800" y="3581400"/>
            <a:ext cx="33528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5943600" y="5181600"/>
            <a:ext cx="28194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54013" y="2754867"/>
            <a:ext cx="1524000" cy="369332"/>
          </a:xfrm>
          <a:prstGeom prst="rect">
            <a:avLst/>
          </a:prstGeom>
          <a:noFill/>
        </p:spPr>
        <p:txBody>
          <a:bodyPr wrap="square" rtlCol="0">
            <a:spAutoFit/>
          </a:bodyPr>
          <a:lstStyle/>
          <a:p>
            <a:r>
              <a:rPr lang="en-IN" b="1" u="sng" smtClean="0">
                <a:solidFill>
                  <a:srgbClr val="FF0000"/>
                </a:solidFill>
              </a:rPr>
              <a:t>Adv:-</a:t>
            </a:r>
            <a:endParaRPr lang="en-IN" b="1" u="sng">
              <a:solidFill>
                <a:srgbClr val="FF0000"/>
              </a:solidFill>
            </a:endParaRPr>
          </a:p>
        </p:txBody>
      </p:sp>
      <p:sp>
        <p:nvSpPr>
          <p:cNvPr id="9" name="TextBox 8"/>
          <p:cNvSpPr txBox="1"/>
          <p:nvPr/>
        </p:nvSpPr>
        <p:spPr>
          <a:xfrm>
            <a:off x="342468" y="4388489"/>
            <a:ext cx="1524000" cy="369332"/>
          </a:xfrm>
          <a:prstGeom prst="rect">
            <a:avLst/>
          </a:prstGeom>
          <a:noFill/>
        </p:spPr>
        <p:txBody>
          <a:bodyPr wrap="square" rtlCol="0">
            <a:spAutoFit/>
          </a:bodyPr>
          <a:lstStyle/>
          <a:p>
            <a:r>
              <a:rPr lang="en-IN" b="1" u="sng" smtClean="0">
                <a:solidFill>
                  <a:srgbClr val="FF0000"/>
                </a:solidFill>
              </a:rPr>
              <a:t>DisAdv:-</a:t>
            </a:r>
            <a:endParaRPr lang="en-IN" b="1" u="sng">
              <a:solidFill>
                <a:srgbClr val="FF0000"/>
              </a:solidFill>
            </a:endParaRPr>
          </a:p>
        </p:txBody>
      </p:sp>
    </p:spTree>
    <p:extLst>
      <p:ext uri="{BB962C8B-B14F-4D97-AF65-F5344CB8AC3E}">
        <p14:creationId xmlns:p14="http://schemas.microsoft.com/office/powerpoint/2010/main" val="31601390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304800" y="228601"/>
            <a:ext cx="10877550" cy="4114799"/>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390101384"/>
              </p:ext>
            </p:extLst>
          </p:nvPr>
        </p:nvGraphicFramePr>
        <p:xfrm>
          <a:off x="2652280" y="5562600"/>
          <a:ext cx="8518525" cy="1249363"/>
        </p:xfrm>
        <a:graphic>
          <a:graphicData uri="http://schemas.openxmlformats.org/presentationml/2006/ole">
            <mc:AlternateContent xmlns:mc="http://schemas.openxmlformats.org/markup-compatibility/2006">
              <mc:Choice xmlns:v="urn:schemas-microsoft-com:vml" Requires="v">
                <p:oleObj spid="_x0000_s1031" name="Bitmap Image" r:id="rId5" imgW="8519040" imgH="1249560" progId="Paint.Picture">
                  <p:embed/>
                </p:oleObj>
              </mc:Choice>
              <mc:Fallback>
                <p:oleObj name="Bitmap Image" r:id="rId5" imgW="8519040" imgH="1249560" progId="Paint.Picture">
                  <p:embed/>
                  <p:pic>
                    <p:nvPicPr>
                      <p:cNvPr id="0" name=""/>
                      <p:cNvPicPr/>
                      <p:nvPr/>
                    </p:nvPicPr>
                    <p:blipFill>
                      <a:blip r:embed="rId6"/>
                      <a:stretch>
                        <a:fillRect/>
                      </a:stretch>
                    </p:blipFill>
                    <p:spPr>
                      <a:xfrm>
                        <a:off x="2652280" y="5562600"/>
                        <a:ext cx="8518525" cy="1249363"/>
                      </a:xfrm>
                      <a:prstGeom prst="rect">
                        <a:avLst/>
                      </a:prstGeom>
                    </p:spPr>
                  </p:pic>
                </p:oleObj>
              </mc:Fallback>
            </mc:AlternateContent>
          </a:graphicData>
        </a:graphic>
      </p:graphicFrame>
      <p:sp>
        <p:nvSpPr>
          <p:cNvPr id="4" name="TextBox 3"/>
          <p:cNvSpPr txBox="1"/>
          <p:nvPr/>
        </p:nvSpPr>
        <p:spPr>
          <a:xfrm>
            <a:off x="762000" y="5867400"/>
            <a:ext cx="1524000" cy="369332"/>
          </a:xfrm>
          <a:prstGeom prst="rect">
            <a:avLst/>
          </a:prstGeom>
          <a:noFill/>
        </p:spPr>
        <p:txBody>
          <a:bodyPr wrap="square" rtlCol="0">
            <a:spAutoFit/>
          </a:bodyPr>
          <a:lstStyle/>
          <a:p>
            <a:r>
              <a:rPr lang="en-IN" b="1" u="sng" smtClean="0">
                <a:solidFill>
                  <a:srgbClr val="FF0000"/>
                </a:solidFill>
              </a:rPr>
              <a:t>DisAdv:-</a:t>
            </a:r>
            <a:endParaRPr lang="en-IN" b="1" u="sng">
              <a:solidFill>
                <a:srgbClr val="FF0000"/>
              </a:solidFill>
            </a:endParaRPr>
          </a:p>
        </p:txBody>
      </p:sp>
      <p:pic>
        <p:nvPicPr>
          <p:cNvPr id="5" name="Picture 4"/>
          <p:cNvPicPr>
            <a:picLocks noChangeAspect="1"/>
          </p:cNvPicPr>
          <p:nvPr/>
        </p:nvPicPr>
        <p:blipFill>
          <a:blip r:embed="rId7"/>
          <a:stretch>
            <a:fillRect/>
          </a:stretch>
        </p:blipFill>
        <p:spPr>
          <a:xfrm>
            <a:off x="2654589" y="4648200"/>
            <a:ext cx="5467350" cy="762001"/>
          </a:xfrm>
          <a:prstGeom prst="rect">
            <a:avLst/>
          </a:prstGeom>
        </p:spPr>
      </p:pic>
      <p:sp>
        <p:nvSpPr>
          <p:cNvPr id="6" name="TextBox 5"/>
          <p:cNvSpPr txBox="1"/>
          <p:nvPr/>
        </p:nvSpPr>
        <p:spPr>
          <a:xfrm>
            <a:off x="768927" y="4844534"/>
            <a:ext cx="1524000" cy="369332"/>
          </a:xfrm>
          <a:prstGeom prst="rect">
            <a:avLst/>
          </a:prstGeom>
          <a:noFill/>
        </p:spPr>
        <p:txBody>
          <a:bodyPr wrap="square" rtlCol="0">
            <a:spAutoFit/>
          </a:bodyPr>
          <a:lstStyle/>
          <a:p>
            <a:r>
              <a:rPr lang="en-IN" b="1" u="sng" smtClean="0">
                <a:solidFill>
                  <a:srgbClr val="FF0000"/>
                </a:solidFill>
              </a:rPr>
              <a:t>Adv:-</a:t>
            </a:r>
            <a:endParaRPr lang="en-IN" b="1" u="sng">
              <a:solidFill>
                <a:srgbClr val="FF0000"/>
              </a:solidFill>
            </a:endParaRPr>
          </a:p>
        </p:txBody>
      </p:sp>
    </p:spTree>
    <p:extLst>
      <p:ext uri="{BB962C8B-B14F-4D97-AF65-F5344CB8AC3E}">
        <p14:creationId xmlns:p14="http://schemas.microsoft.com/office/powerpoint/2010/main" val="28401842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57225" y="652462"/>
            <a:ext cx="10877550" cy="5553075"/>
          </a:xfrm>
          <a:prstGeom prst="rect">
            <a:avLst/>
          </a:prstGeom>
        </p:spPr>
      </p:pic>
    </p:spTree>
    <p:extLst>
      <p:ext uri="{BB962C8B-B14F-4D97-AF65-F5344CB8AC3E}">
        <p14:creationId xmlns:p14="http://schemas.microsoft.com/office/powerpoint/2010/main" val="27682362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7201" y="380999"/>
            <a:ext cx="11430000" cy="6334125"/>
          </a:xfrm>
          <a:prstGeom prst="rect">
            <a:avLst/>
          </a:prstGeom>
        </p:spPr>
      </p:pic>
    </p:spTree>
    <p:extLst>
      <p:ext uri="{BB962C8B-B14F-4D97-AF65-F5344CB8AC3E}">
        <p14:creationId xmlns:p14="http://schemas.microsoft.com/office/powerpoint/2010/main" val="4178235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697</TotalTime>
  <Words>2362</Words>
  <Application>Microsoft Office PowerPoint</Application>
  <PresentationFormat>Widescreen</PresentationFormat>
  <Paragraphs>326</Paragraphs>
  <Slides>60</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67" baseType="lpstr">
      <vt:lpstr>Arial</vt:lpstr>
      <vt:lpstr>Arial MT</vt:lpstr>
      <vt:lpstr>Calibri</vt:lpstr>
      <vt:lpstr>Times New Roman</vt:lpstr>
      <vt:lpstr>Wingdings</vt:lpstr>
      <vt:lpstr>Office Theme</vt:lpstr>
      <vt:lpstr>Paintbrush Picture</vt:lpstr>
      <vt:lpstr>PowerPoint Presentation</vt:lpstr>
      <vt:lpstr>PowerPoint Presentation</vt:lpstr>
      <vt:lpstr>TensorFlow is basically a software library for numerical computation using data flow graphs where:</vt:lpstr>
      <vt:lpstr>PowerPoint Presentation</vt:lpstr>
      <vt:lpstr>Features of TensorFlow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dc:creator>
  <cp:lastModifiedBy>Bunny</cp:lastModifiedBy>
  <cp:revision>180</cp:revision>
  <dcterms:created xsi:type="dcterms:W3CDTF">2025-07-07T08:16:34Z</dcterms:created>
  <dcterms:modified xsi:type="dcterms:W3CDTF">2025-07-27T19:46:54Z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2024-11-18T00:00:00Z</vt:filetime>
  </property>
  <property fmtid="{D5CDD505-2E9C-101B-9397-08002B2CF9AE}" pid="3" name="Creator">
    <vt:lpwstr>Microsoft® PowerPoint® 2010</vt:lpwstr>
  </property>
  <property fmtid="{D5CDD505-2E9C-101B-9397-08002B2CF9AE}" pid="4" name="LastSaved">
    <vt:filetime>2025-07-07T00:00:00Z</vt:filetime>
  </property>
  <property fmtid="{D5CDD505-2E9C-101B-9397-08002B2CF9AE}" pid="5" name="Producer">
    <vt:lpwstr>Microsoft® PowerPoint® 2010</vt:lpwstr>
  </property>
</Properties>
</file>