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69" r:id="rId4"/>
    <p:sldId id="270" r:id="rId5"/>
    <p:sldId id="271" r:id="rId6"/>
    <p:sldId id="272" r:id="rId7"/>
    <p:sldId id="273" r:id="rId8"/>
    <p:sldId id="274" r:id="rId9"/>
    <p:sldId id="275" r:id="rId10"/>
    <p:sldId id="261" r:id="rId11"/>
    <p:sldId id="262" r:id="rId12"/>
    <p:sldId id="259" r:id="rId13"/>
    <p:sldId id="263" r:id="rId14"/>
    <p:sldId id="264" r:id="rId15"/>
    <p:sldId id="265" r:id="rId16"/>
    <p:sldId id="266" r:id="rId17"/>
    <p:sldId id="267" r:id="rId18"/>
    <p:sldId id="281" r:id="rId19"/>
    <p:sldId id="276" r:id="rId20"/>
    <p:sldId id="278" r:id="rId21"/>
    <p:sldId id="279" r:id="rId22"/>
    <p:sldId id="277" r:id="rId23"/>
    <p:sldId id="280" r:id="rId24"/>
    <p:sldId id="282" r:id="rId25"/>
    <p:sldId id="283" r:id="rId26"/>
    <p:sldId id="284" r:id="rId27"/>
    <p:sldId id="285" r:id="rId28"/>
    <p:sldId id="286" r:id="rId29"/>
    <p:sldId id="287" r:id="rId30"/>
    <p:sldId id="288" r:id="rId31"/>
    <p:sldId id="289" r:id="rId32"/>
    <p:sldId id="290" r:id="rId33"/>
    <p:sldId id="292" r:id="rId34"/>
    <p:sldId id="297" r:id="rId35"/>
    <p:sldId id="291" r:id="rId36"/>
    <p:sldId id="293" r:id="rId37"/>
    <p:sldId id="298" r:id="rId38"/>
    <p:sldId id="299" r:id="rId39"/>
    <p:sldId id="294" r:id="rId40"/>
    <p:sldId id="295" r:id="rId41"/>
    <p:sldId id="296" r:id="rId42"/>
    <p:sldId id="300" r:id="rId43"/>
    <p:sldId id="301" r:id="rId44"/>
    <p:sldId id="303" r:id="rId45"/>
    <p:sldId id="304" r:id="rId46"/>
    <p:sldId id="302" r:id="rId47"/>
    <p:sldId id="307" r:id="rId48"/>
    <p:sldId id="306" r:id="rId49"/>
    <p:sldId id="305" r:id="rId50"/>
    <p:sldId id="308" r:id="rId51"/>
    <p:sldId id="330" r:id="rId52"/>
    <p:sldId id="313" r:id="rId53"/>
    <p:sldId id="331" r:id="rId54"/>
    <p:sldId id="312" r:id="rId55"/>
    <p:sldId id="311" r:id="rId56"/>
    <p:sldId id="309" r:id="rId57"/>
    <p:sldId id="325" r:id="rId58"/>
    <p:sldId id="328" r:id="rId59"/>
    <p:sldId id="329" r:id="rId60"/>
    <p:sldId id="314" r:id="rId61"/>
    <p:sldId id="315" r:id="rId62"/>
    <p:sldId id="316" r:id="rId63"/>
    <p:sldId id="326" r:id="rId64"/>
    <p:sldId id="317" r:id="rId65"/>
    <p:sldId id="318" r:id="rId66"/>
    <p:sldId id="319" r:id="rId67"/>
    <p:sldId id="320" r:id="rId68"/>
    <p:sldId id="321" r:id="rId69"/>
    <p:sldId id="327" r:id="rId70"/>
    <p:sldId id="322" r:id="rId71"/>
    <p:sldId id="323" r:id="rId72"/>
    <p:sldId id="324"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5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AABB6C2-A7CE-4B7B-A2CC-01E10985EDDD}" type="datetimeFigureOut">
              <a:rPr lang="en-IN" smtClean="0"/>
              <a:t>03-07-2025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F0E977-5137-4116-B7EB-2D9BAC6C13B0}" type="slidenum">
              <a:rPr lang="en-IN" smtClean="0"/>
              <a:t>‹#›</a:t>
            </a:fld>
            <a:endParaRPr lang="en-IN"/>
          </a:p>
        </p:txBody>
      </p:sp>
    </p:spTree>
    <p:extLst>
      <p:ext uri="{BB962C8B-B14F-4D97-AF65-F5344CB8AC3E}">
        <p14:creationId xmlns:p14="http://schemas.microsoft.com/office/powerpoint/2010/main" val="906965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AABB6C2-A7CE-4B7B-A2CC-01E10985EDDD}" type="datetimeFigureOut">
              <a:rPr lang="en-IN" smtClean="0"/>
              <a:t>03-07-2025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F0E977-5137-4116-B7EB-2D9BAC6C13B0}" type="slidenum">
              <a:rPr lang="en-IN" smtClean="0"/>
              <a:t>‹#›</a:t>
            </a:fld>
            <a:endParaRPr lang="en-IN"/>
          </a:p>
        </p:txBody>
      </p:sp>
    </p:spTree>
    <p:extLst>
      <p:ext uri="{BB962C8B-B14F-4D97-AF65-F5344CB8AC3E}">
        <p14:creationId xmlns:p14="http://schemas.microsoft.com/office/powerpoint/2010/main" val="3797720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AABB6C2-A7CE-4B7B-A2CC-01E10985EDDD}" type="datetimeFigureOut">
              <a:rPr lang="en-IN" smtClean="0"/>
              <a:t>03-07-2025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F0E977-5137-4116-B7EB-2D9BAC6C13B0}" type="slidenum">
              <a:rPr lang="en-IN" smtClean="0"/>
              <a:t>‹#›</a:t>
            </a:fld>
            <a:endParaRPr lang="en-IN"/>
          </a:p>
        </p:txBody>
      </p:sp>
    </p:spTree>
    <p:extLst>
      <p:ext uri="{BB962C8B-B14F-4D97-AF65-F5344CB8AC3E}">
        <p14:creationId xmlns:p14="http://schemas.microsoft.com/office/powerpoint/2010/main" val="3205057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AABB6C2-A7CE-4B7B-A2CC-01E10985EDDD}" type="datetimeFigureOut">
              <a:rPr lang="en-IN" smtClean="0"/>
              <a:t>03-07-2025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3F0E977-5137-4116-B7EB-2D9BAC6C13B0}" type="slidenum">
              <a:rPr lang="en-IN" smtClean="0"/>
              <a:t>‹#›</a:t>
            </a:fld>
            <a:endParaRPr lang="en-IN"/>
          </a:p>
        </p:txBody>
      </p:sp>
    </p:spTree>
    <p:extLst>
      <p:ext uri="{BB962C8B-B14F-4D97-AF65-F5344CB8AC3E}">
        <p14:creationId xmlns:p14="http://schemas.microsoft.com/office/powerpoint/2010/main" val="3171930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AABB6C2-A7CE-4B7B-A2CC-01E10985EDDD}" type="datetimeFigureOut">
              <a:rPr lang="en-IN" smtClean="0"/>
              <a:t>03-07-2025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3F0E977-5137-4116-B7EB-2D9BAC6C13B0}" type="slidenum">
              <a:rPr lang="en-IN" smtClean="0"/>
              <a:t>‹#›</a:t>
            </a:fld>
            <a:endParaRPr lang="en-IN"/>
          </a:p>
        </p:txBody>
      </p:sp>
    </p:spTree>
    <p:extLst>
      <p:ext uri="{BB962C8B-B14F-4D97-AF65-F5344CB8AC3E}">
        <p14:creationId xmlns:p14="http://schemas.microsoft.com/office/powerpoint/2010/main" val="4008372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AABB6C2-A7CE-4B7B-A2CC-01E10985EDDD}" type="datetimeFigureOut">
              <a:rPr lang="en-IN" smtClean="0"/>
              <a:t>03-07-2025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3F0E977-5137-4116-B7EB-2D9BAC6C13B0}" type="slidenum">
              <a:rPr lang="en-IN" smtClean="0"/>
              <a:t>‹#›</a:t>
            </a:fld>
            <a:endParaRPr lang="en-IN"/>
          </a:p>
        </p:txBody>
      </p:sp>
    </p:spTree>
    <p:extLst>
      <p:ext uri="{BB962C8B-B14F-4D97-AF65-F5344CB8AC3E}">
        <p14:creationId xmlns:p14="http://schemas.microsoft.com/office/powerpoint/2010/main" val="2264476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ABB6C2-A7CE-4B7B-A2CC-01E10985EDDD}" type="datetimeFigureOut">
              <a:rPr lang="en-IN" smtClean="0"/>
              <a:t>03-07-2025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3F0E977-5137-4116-B7EB-2D9BAC6C13B0}" type="slidenum">
              <a:rPr lang="en-IN" smtClean="0"/>
              <a:t>‹#›</a:t>
            </a:fld>
            <a:endParaRPr lang="en-IN"/>
          </a:p>
        </p:txBody>
      </p:sp>
    </p:spTree>
    <p:extLst>
      <p:ext uri="{BB962C8B-B14F-4D97-AF65-F5344CB8AC3E}">
        <p14:creationId xmlns:p14="http://schemas.microsoft.com/office/powerpoint/2010/main" val="3457295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AABB6C2-A7CE-4B7B-A2CC-01E10985EDDD}" type="datetimeFigureOut">
              <a:rPr lang="en-IN" smtClean="0"/>
              <a:t>03-07-2025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3F0E977-5137-4116-B7EB-2D9BAC6C13B0}" type="slidenum">
              <a:rPr lang="en-IN" smtClean="0"/>
              <a:t>‹#›</a:t>
            </a:fld>
            <a:endParaRPr lang="en-IN"/>
          </a:p>
        </p:txBody>
      </p:sp>
    </p:spTree>
    <p:extLst>
      <p:ext uri="{BB962C8B-B14F-4D97-AF65-F5344CB8AC3E}">
        <p14:creationId xmlns:p14="http://schemas.microsoft.com/office/powerpoint/2010/main" val="443619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AABB6C2-A7CE-4B7B-A2CC-01E10985EDDD}" type="datetimeFigureOut">
              <a:rPr lang="en-IN" smtClean="0"/>
              <a:t>03-07-2025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3F0E977-5137-4116-B7EB-2D9BAC6C13B0}" type="slidenum">
              <a:rPr lang="en-IN" smtClean="0"/>
              <a:t>‹#›</a:t>
            </a:fld>
            <a:endParaRPr lang="en-IN"/>
          </a:p>
        </p:txBody>
      </p:sp>
    </p:spTree>
    <p:extLst>
      <p:ext uri="{BB962C8B-B14F-4D97-AF65-F5344CB8AC3E}">
        <p14:creationId xmlns:p14="http://schemas.microsoft.com/office/powerpoint/2010/main" val="1145222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AABB6C2-A7CE-4B7B-A2CC-01E10985EDDD}" type="datetimeFigureOut">
              <a:rPr lang="en-IN" smtClean="0"/>
              <a:t>03-07-2025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F0E977-5137-4116-B7EB-2D9BAC6C13B0}" type="slidenum">
              <a:rPr lang="en-IN" smtClean="0"/>
              <a:t>‹#›</a:t>
            </a:fld>
            <a:endParaRPr lang="en-IN"/>
          </a:p>
        </p:txBody>
      </p:sp>
    </p:spTree>
    <p:extLst>
      <p:ext uri="{BB962C8B-B14F-4D97-AF65-F5344CB8AC3E}">
        <p14:creationId xmlns:p14="http://schemas.microsoft.com/office/powerpoint/2010/main" val="905673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AABB6C2-A7CE-4B7B-A2CC-01E10985EDDD}" type="datetimeFigureOut">
              <a:rPr lang="en-IN" smtClean="0"/>
              <a:t>03-07-2025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F0E977-5137-4116-B7EB-2D9BAC6C13B0}" type="slidenum">
              <a:rPr lang="en-IN" smtClean="0"/>
              <a:t>‹#›</a:t>
            </a:fld>
            <a:endParaRPr lang="en-IN"/>
          </a:p>
        </p:txBody>
      </p:sp>
    </p:spTree>
    <p:extLst>
      <p:ext uri="{BB962C8B-B14F-4D97-AF65-F5344CB8AC3E}">
        <p14:creationId xmlns:p14="http://schemas.microsoft.com/office/powerpoint/2010/main" val="3220413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ABB6C2-A7CE-4B7B-A2CC-01E10985EDDD}" type="datetimeFigureOut">
              <a:rPr lang="en-IN" smtClean="0"/>
              <a:t>03-07-2025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F0E977-5137-4116-B7EB-2D9BAC6C13B0}" type="slidenum">
              <a:rPr lang="en-IN" smtClean="0"/>
              <a:t>‹#›</a:t>
            </a:fld>
            <a:endParaRPr lang="en-IN"/>
          </a:p>
        </p:txBody>
      </p:sp>
    </p:spTree>
    <p:extLst>
      <p:ext uri="{BB962C8B-B14F-4D97-AF65-F5344CB8AC3E}">
        <p14:creationId xmlns:p14="http://schemas.microsoft.com/office/powerpoint/2010/main" val="29944982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multi-layer-perceptron-learning-in-tensorflow/" TargetMode="External"/><Relationship Id="rId2" Type="http://schemas.openxmlformats.org/officeDocument/2006/relationships/hyperlink" Target="https://www.geeksforgeeks.org/what-is-perceptron-the-simplest-artificial-neural-network/" TargetMode="External"/><Relationship Id="rId1" Type="http://schemas.openxmlformats.org/officeDocument/2006/relationships/slideLayout" Target="../slideLayouts/slideLayout1.xml"/><Relationship Id="rId4" Type="http://schemas.openxmlformats.org/officeDocument/2006/relationships/hyperlink" Target="https://www.geeksforgeeks.org/backpropagation-in-neural-network/"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www.geeksforgeeks.org/introduction-convolution-neural-network/" TargetMode="External"/><Relationship Id="rId7" Type="http://schemas.openxmlformats.org/officeDocument/2006/relationships/hyperlink" Target="https://www.geeksforgeeks.org/getting-started-with-transformers/" TargetMode="External"/><Relationship Id="rId2" Type="http://schemas.openxmlformats.org/officeDocument/2006/relationships/hyperlink" Target="https://www.geeksforgeeks.org/feedforward-neural-network/" TargetMode="External"/><Relationship Id="rId1" Type="http://schemas.openxmlformats.org/officeDocument/2006/relationships/slideLayout" Target="../slideLayouts/slideLayout1.xml"/><Relationship Id="rId6" Type="http://schemas.openxmlformats.org/officeDocument/2006/relationships/hyperlink" Target="https://www.geeksforgeeks.org/auto-encoders/" TargetMode="External"/><Relationship Id="rId5" Type="http://schemas.openxmlformats.org/officeDocument/2006/relationships/hyperlink" Target="https://www.geeksforgeeks.org/generative-adversarial-network-gan/" TargetMode="External"/><Relationship Id="rId4" Type="http://schemas.openxmlformats.org/officeDocument/2006/relationships/hyperlink" Target="https://www.geeksforgeeks.org/introduction-to-recurrent-neural-network/"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s://deepai.org/machine-learning-glossary-and-terms/decision-tree" TargetMode="External"/><Relationship Id="rId2" Type="http://schemas.openxmlformats.org/officeDocument/2006/relationships/hyperlink" Target="https://deepai.org/machine-learning-glossary-and-terms/epoch" TargetMode="External"/><Relationship Id="rId1" Type="http://schemas.openxmlformats.org/officeDocument/2006/relationships/slideLayout" Target="../slideLayouts/slideLayout2.xml"/><Relationship Id="rId4" Type="http://schemas.openxmlformats.org/officeDocument/2006/relationships/hyperlink" Target="https://deepai.org/machine-learning-glossary-and-terms/k-means" TargetMode="Externa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47.png"/></Relationships>
</file>

<file path=ppt/slides/_rels/slide4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hyperlink" Target="https://www.analyticsvidhya.com/blog/2021/02/cost-function-is-no-rocket-science/" TargetMode="External"/><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5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91589" y="357187"/>
            <a:ext cx="11767329" cy="6143625"/>
          </a:xfrm>
          <a:prstGeom prst="rect">
            <a:avLst/>
          </a:prstGeom>
        </p:spPr>
      </p:pic>
    </p:spTree>
    <p:extLst>
      <p:ext uri="{BB962C8B-B14F-4D97-AF65-F5344CB8AC3E}">
        <p14:creationId xmlns:p14="http://schemas.microsoft.com/office/powerpoint/2010/main" val="1840309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8606" y="566057"/>
            <a:ext cx="10798628" cy="1477328"/>
          </a:xfrm>
          <a:prstGeom prst="rect">
            <a:avLst/>
          </a:prstGeom>
          <a:noFill/>
        </p:spPr>
        <p:txBody>
          <a:bodyPr wrap="square" rtlCol="0">
            <a:spAutoFit/>
          </a:bodyPr>
          <a:lstStyle/>
          <a:p>
            <a:r>
              <a:rPr lang="en-US" smtClean="0"/>
              <a:t>Deep learning is a specific kind of machine learning. </a:t>
            </a:r>
          </a:p>
          <a:p>
            <a:endParaRPr lang="en-US" smtClean="0"/>
          </a:p>
          <a:p>
            <a:r>
              <a:rPr lang="en-US" smtClean="0"/>
              <a:t>In order to understand deep learning well, one must have a solid understanding of the basic principles of machine learning.</a:t>
            </a:r>
          </a:p>
          <a:p>
            <a:endParaRPr lang="en-IN"/>
          </a:p>
        </p:txBody>
      </p:sp>
      <p:pic>
        <p:nvPicPr>
          <p:cNvPr id="4" name="Picture 3"/>
          <p:cNvPicPr>
            <a:picLocks noChangeAspect="1"/>
          </p:cNvPicPr>
          <p:nvPr/>
        </p:nvPicPr>
        <p:blipFill>
          <a:blip r:embed="rId2"/>
          <a:stretch>
            <a:fillRect/>
          </a:stretch>
        </p:blipFill>
        <p:spPr>
          <a:xfrm>
            <a:off x="361950" y="2202588"/>
            <a:ext cx="11830050" cy="4333875"/>
          </a:xfrm>
          <a:prstGeom prst="rect">
            <a:avLst/>
          </a:prstGeom>
        </p:spPr>
      </p:pic>
    </p:spTree>
    <p:extLst>
      <p:ext uri="{BB962C8B-B14F-4D97-AF65-F5344CB8AC3E}">
        <p14:creationId xmlns:p14="http://schemas.microsoft.com/office/powerpoint/2010/main" val="3465392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Difference Between Ai Vs Machine Learning Vs Deep Learning 44 Off -  Otosec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7328" y="793720"/>
            <a:ext cx="10052099" cy="5909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4083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6" name="Picture 6" descr="History of Neural Networ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409" y="898192"/>
            <a:ext cx="12192000" cy="5724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9678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000013001"/>
              </p:ext>
            </p:extLst>
          </p:nvPr>
        </p:nvGraphicFramePr>
        <p:xfrm>
          <a:off x="2032000" y="719666"/>
          <a:ext cx="8128000" cy="6035040"/>
        </p:xfrm>
        <a:graphic>
          <a:graphicData uri="http://schemas.openxmlformats.org/drawingml/2006/table">
            <a:tbl>
              <a:tblPr firstRow="1" bandRow="1"/>
              <a:tblGrid>
                <a:gridCol w="8128000">
                  <a:extLst>
                    <a:ext uri="{9D8B030D-6E8A-4147-A177-3AD203B41FA5}">
                      <a16:colId xmlns:a16="http://schemas.microsoft.com/office/drawing/2014/main" val="20000"/>
                    </a:ext>
                  </a:extLst>
                </a:gridCol>
              </a:tblGrid>
              <a:tr h="370840">
                <a:tc>
                  <a:txBody>
                    <a:bodyPr/>
                    <a:lstStyle/>
                    <a:p>
                      <a:pPr algn="ctr"/>
                      <a:endParaRPr lang="en-US" sz="1800" b="0" i="0" kern="1200" smtClean="0">
                        <a:solidFill>
                          <a:schemeClr val="tx1"/>
                        </a:solidFill>
                        <a:effectLst/>
                        <a:latin typeface="+mn-lt"/>
                        <a:ea typeface="+mn-ea"/>
                        <a:cs typeface="+mn-cs"/>
                      </a:endParaRPr>
                    </a:p>
                    <a:p>
                      <a:pPr algn="ctr"/>
                      <a:r>
                        <a:rPr lang="en-US" sz="1800" b="0" i="0" kern="1200" smtClean="0">
                          <a:solidFill>
                            <a:schemeClr val="tx1"/>
                          </a:solidFill>
                          <a:effectLst/>
                          <a:latin typeface="+mn-lt"/>
                          <a:ea typeface="+mn-ea"/>
                          <a:cs typeface="+mn-cs"/>
                        </a:rPr>
                        <a:t> </a:t>
                      </a:r>
                      <a:r>
                        <a:rPr lang="en-US" sz="1800" b="1" i="0" u="sng" kern="1200" smtClean="0">
                          <a:solidFill>
                            <a:schemeClr val="tx1"/>
                          </a:solidFill>
                          <a:effectLst/>
                          <a:latin typeface="+mn-lt"/>
                          <a:ea typeface="+mn-ea"/>
                          <a:cs typeface="+mn-cs"/>
                          <a:hlinkClick r:id="rId2"/>
                        </a:rPr>
                        <a:t>perCNN</a:t>
                      </a:r>
                      <a:r>
                        <a:rPr lang="en-US" sz="1800" b="1" i="0" u="sng" kern="1200" baseline="0" smtClean="0">
                          <a:solidFill>
                            <a:schemeClr val="tx1"/>
                          </a:solidFill>
                          <a:effectLst/>
                          <a:latin typeface="+mn-lt"/>
                          <a:ea typeface="+mn-ea"/>
                          <a:cs typeface="+mn-cs"/>
                          <a:hlinkClick r:id="rId2"/>
                        </a:rPr>
                        <a:t> &amp; RNN </a:t>
                      </a:r>
                      <a:r>
                        <a:rPr lang="en-US" sz="1800" b="1" i="0" u="sng" kern="1200" smtClean="0">
                          <a:solidFill>
                            <a:schemeClr val="tx1"/>
                          </a:solidFill>
                          <a:effectLst/>
                          <a:latin typeface="+mn-lt"/>
                          <a:ea typeface="+mn-ea"/>
                          <a:cs typeface="+mn-cs"/>
                          <a:hlinkClick r:id="rId2"/>
                        </a:rPr>
                        <a:t>ceptron</a:t>
                      </a:r>
                      <a:r>
                        <a:rPr lang="en-US" sz="1800" b="0" i="0" kern="1200" smtClean="0">
                          <a:solidFill>
                            <a:schemeClr val="tx1"/>
                          </a:solidFill>
                          <a:effectLst/>
                          <a:latin typeface="+mn-lt"/>
                          <a:ea typeface="+mn-ea"/>
                          <a:cs typeface="+mn-cs"/>
                        </a:rPr>
                        <a:t>, </a:t>
                      </a:r>
                    </a:p>
                    <a:p>
                      <a:pPr algn="ctr"/>
                      <a:r>
                        <a:rPr lang="en-US" sz="1800" b="0" i="0" kern="1200" smtClean="0">
                          <a:solidFill>
                            <a:schemeClr val="tx1"/>
                          </a:solidFill>
                          <a:effectLst/>
                          <a:latin typeface="+mn-lt"/>
                          <a:ea typeface="+mn-ea"/>
                          <a:cs typeface="+mn-cs"/>
                        </a:rPr>
                        <a:t>a </a:t>
                      </a:r>
                      <a:r>
                        <a:rPr lang="en-US" sz="1800" b="0" i="0" kern="1200" dirty="0" smtClean="0">
                          <a:solidFill>
                            <a:schemeClr val="tx1"/>
                          </a:solidFill>
                          <a:effectLst/>
                          <a:latin typeface="+mn-lt"/>
                          <a:ea typeface="+mn-ea"/>
                          <a:cs typeface="+mn-cs"/>
                        </a:rPr>
                        <a:t>single-layer neural network introduced in the 1950s. </a:t>
                      </a:r>
                    </a:p>
                    <a:p>
                      <a:pPr algn="ctr"/>
                      <a:r>
                        <a:rPr lang="en-US" sz="1800" b="0" i="0" kern="1200" dirty="0" smtClean="0">
                          <a:solidFill>
                            <a:schemeClr val="tx1"/>
                          </a:solidFill>
                          <a:effectLst/>
                          <a:latin typeface="+mn-lt"/>
                          <a:ea typeface="+mn-ea"/>
                          <a:cs typeface="+mn-cs"/>
                        </a:rPr>
                        <a:t>only solve linearly </a:t>
                      </a:r>
                      <a:r>
                        <a:rPr lang="en-US" sz="1800" b="0" i="0" kern="1200" smtClean="0">
                          <a:solidFill>
                            <a:schemeClr val="tx1"/>
                          </a:solidFill>
                          <a:effectLst/>
                          <a:latin typeface="+mn-lt"/>
                          <a:ea typeface="+mn-ea"/>
                          <a:cs typeface="+mn-cs"/>
                        </a:rPr>
                        <a:t>separable problems</a:t>
                      </a:r>
                    </a:p>
                    <a:p>
                      <a:pPr algn="ctr"/>
                      <a:endParaRPr lang="en-US" sz="1800" b="0" i="0" kern="1200" smtClean="0">
                        <a:solidFill>
                          <a:schemeClr val="tx1"/>
                        </a:solidFill>
                        <a:effectLst/>
                        <a:latin typeface="+mn-lt"/>
                        <a:ea typeface="+mn-ea"/>
                        <a:cs typeface="+mn-cs"/>
                      </a:endParaRPr>
                    </a:p>
                    <a:p>
                      <a:pPr algn="ctr"/>
                      <a:endParaRPr lang="en-US" dirty="0"/>
                    </a:p>
                  </a:txBody>
                  <a:tcPr/>
                </a:tc>
                <a:extLst>
                  <a:ext uri="{0D108BD9-81ED-4DB2-BD59-A6C34878D82A}">
                    <a16:rowId xmlns:a16="http://schemas.microsoft.com/office/drawing/2014/main" val="10000"/>
                  </a:ext>
                </a:extLst>
              </a:tr>
              <a:tr h="370840">
                <a:tc>
                  <a:txBody>
                    <a:bodyPr/>
                    <a:lstStyle/>
                    <a:p>
                      <a:pPr algn="ctr"/>
                      <a:endParaRPr lang="en-US" sz="1800" b="0" i="0" kern="1200" smtClean="0">
                        <a:solidFill>
                          <a:schemeClr val="tx1"/>
                        </a:solidFill>
                        <a:effectLst/>
                        <a:latin typeface="+mn-lt"/>
                        <a:ea typeface="+mn-ea"/>
                        <a:cs typeface="+mn-cs"/>
                      </a:endParaRPr>
                    </a:p>
                    <a:p>
                      <a:pPr algn="ctr"/>
                      <a:r>
                        <a:rPr lang="en-US" sz="1800" b="0" i="0" kern="1200" smtClean="0">
                          <a:solidFill>
                            <a:schemeClr val="tx1"/>
                          </a:solidFill>
                          <a:effectLst/>
                          <a:latin typeface="+mn-lt"/>
                          <a:ea typeface="+mn-ea"/>
                          <a:cs typeface="+mn-cs"/>
                        </a:rPr>
                        <a:t> </a:t>
                      </a:r>
                      <a:r>
                        <a:rPr lang="en-US" sz="1800" b="1" i="0" u="sng" kern="1200" smtClean="0">
                          <a:solidFill>
                            <a:schemeClr val="tx1"/>
                          </a:solidFill>
                          <a:effectLst/>
                          <a:latin typeface="+mn-lt"/>
                          <a:ea typeface="+mn-ea"/>
                          <a:cs typeface="+mn-cs"/>
                          <a:hlinkClick r:id="rId3"/>
                        </a:rPr>
                        <a:t>Multi-Layer </a:t>
                      </a:r>
                      <a:r>
                        <a:rPr lang="en-US" sz="1800" b="1" i="0" u="sng" kern="1200" dirty="0" err="1" smtClean="0">
                          <a:solidFill>
                            <a:schemeClr val="tx1"/>
                          </a:solidFill>
                          <a:effectLst/>
                          <a:latin typeface="+mn-lt"/>
                          <a:ea typeface="+mn-ea"/>
                          <a:cs typeface="+mn-cs"/>
                          <a:hlinkClick r:id="rId3"/>
                        </a:rPr>
                        <a:t>Perceptrons</a:t>
                      </a:r>
                      <a:r>
                        <a:rPr lang="en-US" sz="1800" b="1" i="0" u="sng" kern="1200" dirty="0" smtClean="0">
                          <a:solidFill>
                            <a:schemeClr val="tx1"/>
                          </a:solidFill>
                          <a:effectLst/>
                          <a:latin typeface="+mn-lt"/>
                          <a:ea typeface="+mn-ea"/>
                          <a:cs typeface="+mn-cs"/>
                          <a:hlinkClick r:id="rId3"/>
                        </a:rPr>
                        <a:t> (</a:t>
                      </a:r>
                      <a:r>
                        <a:rPr lang="en-US" sz="1800" b="1" i="0" u="sng" kern="1200" smtClean="0">
                          <a:solidFill>
                            <a:schemeClr val="tx1"/>
                          </a:solidFill>
                          <a:effectLst/>
                          <a:latin typeface="+mn-lt"/>
                          <a:ea typeface="+mn-ea"/>
                          <a:cs typeface="+mn-cs"/>
                          <a:hlinkClick r:id="rId3"/>
                        </a:rPr>
                        <a:t>MLPs)</a:t>
                      </a:r>
                      <a:r>
                        <a:rPr lang="en-US" sz="1800" b="1" i="0" u="sng" kern="1200" smtClean="0">
                          <a:solidFill>
                            <a:schemeClr val="tx1"/>
                          </a:solidFill>
                          <a:effectLst/>
                          <a:latin typeface="+mn-lt"/>
                          <a:ea typeface="+mn-ea"/>
                          <a:cs typeface="+mn-cs"/>
                        </a:rPr>
                        <a:t>,</a:t>
                      </a:r>
                    </a:p>
                    <a:p>
                      <a:pPr algn="ctr"/>
                      <a:r>
                        <a:rPr lang="en-US" sz="1800" b="0" i="0" kern="1200" smtClean="0">
                          <a:solidFill>
                            <a:schemeClr val="tx1"/>
                          </a:solidFill>
                          <a:effectLst/>
                          <a:latin typeface="+mn-lt"/>
                          <a:ea typeface="+mn-ea"/>
                          <a:cs typeface="+mn-cs"/>
                        </a:rPr>
                        <a:t> </a:t>
                      </a:r>
                      <a:r>
                        <a:rPr lang="en-US" sz="1800" b="0" i="0" kern="1200" dirty="0" smtClean="0">
                          <a:solidFill>
                            <a:schemeClr val="tx1"/>
                          </a:solidFill>
                          <a:effectLst/>
                          <a:latin typeface="+mn-lt"/>
                          <a:ea typeface="+mn-ea"/>
                          <a:cs typeface="+mn-cs"/>
                        </a:rPr>
                        <a:t>It introduced hidden layers and non-linear activation functions.</a:t>
                      </a:r>
                    </a:p>
                    <a:p>
                      <a:pPr algn="ctr"/>
                      <a:r>
                        <a:rPr lang="en-US" sz="1800" b="0" i="0" kern="1200" dirty="0" smtClean="0">
                          <a:solidFill>
                            <a:schemeClr val="tx1"/>
                          </a:solidFill>
                          <a:effectLst/>
                          <a:latin typeface="+mn-lt"/>
                          <a:ea typeface="+mn-ea"/>
                          <a:cs typeface="+mn-cs"/>
                        </a:rPr>
                        <a:t> uses </a:t>
                      </a:r>
                      <a:r>
                        <a:rPr lang="en-US" sz="1800" b="1" i="0" u="sng" kern="1200" dirty="0" err="1" smtClean="0">
                          <a:solidFill>
                            <a:schemeClr val="tx1"/>
                          </a:solidFill>
                          <a:effectLst/>
                          <a:latin typeface="+mn-lt"/>
                          <a:ea typeface="+mn-ea"/>
                          <a:cs typeface="+mn-cs"/>
                          <a:hlinkClick r:id="rId4"/>
                        </a:rPr>
                        <a:t>backpropagation</a:t>
                      </a:r>
                      <a:r>
                        <a:rPr lang="en-US" sz="1800" b="0" i="0" kern="1200" dirty="0" smtClean="0">
                          <a:solidFill>
                            <a:schemeClr val="tx1"/>
                          </a:solidFill>
                          <a:effectLst/>
                          <a:latin typeface="+mn-lt"/>
                          <a:ea typeface="+mn-ea"/>
                          <a:cs typeface="+mn-cs"/>
                        </a:rPr>
                        <a:t> could model complex, </a:t>
                      </a:r>
                      <a:r>
                        <a:rPr lang="en-US" sz="1800" b="0" i="0" kern="1200" smtClean="0">
                          <a:solidFill>
                            <a:schemeClr val="tx1"/>
                          </a:solidFill>
                          <a:effectLst/>
                          <a:latin typeface="+mn-lt"/>
                          <a:ea typeface="+mn-ea"/>
                          <a:cs typeface="+mn-cs"/>
                        </a:rPr>
                        <a:t>non-linear relationships</a:t>
                      </a:r>
                    </a:p>
                    <a:p>
                      <a:pPr algn="ctr"/>
                      <a:endParaRPr lang="en-US" sz="1800" b="0" i="0" kern="1200" smtClean="0">
                        <a:solidFill>
                          <a:schemeClr val="tx1"/>
                        </a:solidFill>
                        <a:effectLst/>
                        <a:latin typeface="+mn-lt"/>
                        <a:ea typeface="+mn-ea"/>
                        <a:cs typeface="+mn-cs"/>
                      </a:endParaRPr>
                    </a:p>
                    <a:p>
                      <a:pPr algn="ctr"/>
                      <a:endParaRPr lang="en-US" sz="1800" b="0" i="0" kern="1200" smtClean="0">
                        <a:solidFill>
                          <a:schemeClr val="tx1"/>
                        </a:solidFill>
                        <a:effectLst/>
                        <a:latin typeface="+mn-lt"/>
                        <a:ea typeface="+mn-ea"/>
                        <a:cs typeface="+mn-cs"/>
                      </a:endParaRPr>
                    </a:p>
                    <a:p>
                      <a:pPr algn="ctr"/>
                      <a:endParaRPr lang="en-US" dirty="0"/>
                    </a:p>
                  </a:txBody>
                  <a:tcPr/>
                </a:tc>
                <a:extLst>
                  <a:ext uri="{0D108BD9-81ED-4DB2-BD59-A6C34878D82A}">
                    <a16:rowId xmlns:a16="http://schemas.microsoft.com/office/drawing/2014/main" val="10001"/>
                  </a:ext>
                </a:extLst>
              </a:tr>
              <a:tr h="370840">
                <a:tc>
                  <a:txBody>
                    <a:bodyPr/>
                    <a:lstStyle/>
                    <a:p>
                      <a:pPr algn="ctr"/>
                      <a:r>
                        <a:rPr lang="en-US" sz="1800" b="0" i="0" kern="1200" smtClean="0">
                          <a:solidFill>
                            <a:schemeClr val="tx1"/>
                          </a:solidFill>
                          <a:effectLst/>
                          <a:latin typeface="+mn-lt"/>
                          <a:ea typeface="+mn-ea"/>
                          <a:cs typeface="+mn-cs"/>
                        </a:rPr>
                        <a:t> </a:t>
                      </a:r>
                    </a:p>
                    <a:p>
                      <a:pPr algn="ctr"/>
                      <a:r>
                        <a:rPr lang="en-US" sz="1800" b="1" i="0" u="sng" kern="1200" smtClean="0">
                          <a:solidFill>
                            <a:schemeClr val="tx1"/>
                          </a:solidFill>
                          <a:effectLst/>
                          <a:latin typeface="+mn-lt"/>
                          <a:ea typeface="+mn-ea"/>
                          <a:cs typeface="+mn-cs"/>
                          <a:hlinkClick r:id="rId2"/>
                        </a:rPr>
                        <a:t>CNN</a:t>
                      </a:r>
                      <a:r>
                        <a:rPr lang="en-US" sz="1800" b="1" i="0" u="sng" kern="1200" baseline="0" smtClean="0">
                          <a:solidFill>
                            <a:schemeClr val="tx1"/>
                          </a:solidFill>
                          <a:effectLst/>
                          <a:latin typeface="+mn-lt"/>
                          <a:ea typeface="+mn-ea"/>
                          <a:cs typeface="+mn-cs"/>
                          <a:hlinkClick r:id="rId2"/>
                        </a:rPr>
                        <a:t> &amp; RNN </a:t>
                      </a:r>
                      <a:endParaRPr lang="en-US" sz="1800" b="1" i="0" u="sng" kern="1200" baseline="0" smtClean="0">
                        <a:solidFill>
                          <a:schemeClr val="tx1"/>
                        </a:solidFill>
                        <a:effectLst/>
                        <a:latin typeface="+mn-lt"/>
                        <a:ea typeface="+mn-ea"/>
                        <a:cs typeface="+mn-cs"/>
                      </a:endParaRPr>
                    </a:p>
                    <a:p>
                      <a:pPr algn="ctr"/>
                      <a:endParaRPr lang="en-US" sz="1800" b="0" i="0" kern="1200" smtClean="0">
                        <a:solidFill>
                          <a:schemeClr val="tx1"/>
                        </a:solidFill>
                        <a:effectLst/>
                        <a:latin typeface="+mn-lt"/>
                        <a:ea typeface="+mn-ea"/>
                        <a:cs typeface="+mn-cs"/>
                      </a:endParaRPr>
                    </a:p>
                    <a:p>
                      <a:pPr algn="ctr"/>
                      <a:r>
                        <a:rPr lang="en-US" sz="1800" b="0" i="0" kern="1200" smtClean="0">
                          <a:solidFill>
                            <a:schemeClr val="tx1"/>
                          </a:solidFill>
                          <a:effectLst/>
                          <a:latin typeface="+mn-lt"/>
                          <a:ea typeface="+mn-ea"/>
                          <a:cs typeface="+mn-cs"/>
                        </a:rPr>
                        <a:t>CNNs (Convolutional Neural Networks) and RNNs (Recurrent Neural Networks) are both types of neural networks, but they are designed for different types of data and tasks. CNNs are primarily used for processing spatial data, like images, while RNNs excel at handling sequential data, such as text or time series. </a:t>
                      </a:r>
                    </a:p>
                    <a:p>
                      <a:pPr algn="ctr"/>
                      <a:endParaRPr lang="en-US"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809053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150003" y="2353733"/>
            <a:ext cx="7629525" cy="3810000"/>
          </a:xfrm>
          <a:prstGeom prst="rect">
            <a:avLst/>
          </a:prstGeom>
        </p:spPr>
      </p:pic>
      <p:sp>
        <p:nvSpPr>
          <p:cNvPr id="4" name="TextBox 3"/>
          <p:cNvSpPr txBox="1"/>
          <p:nvPr/>
        </p:nvSpPr>
        <p:spPr>
          <a:xfrm>
            <a:off x="1651000" y="668867"/>
            <a:ext cx="8627533" cy="1200329"/>
          </a:xfrm>
          <a:prstGeom prst="rect">
            <a:avLst/>
          </a:prstGeom>
          <a:noFill/>
        </p:spPr>
        <p:txBody>
          <a:bodyPr wrap="square" rtlCol="0">
            <a:spAutoFit/>
          </a:bodyPr>
          <a:lstStyle/>
          <a:p>
            <a:r>
              <a:rPr lang="en-US" dirty="0"/>
              <a:t>Deep Learning is transforming the way machines understand, learn and interact with complex data. Deep learning mimics neural networks of the human brain, it enables computers to autonomously uncover patterns and make informed decisions from vast amounts of unstructured data</a:t>
            </a:r>
          </a:p>
        </p:txBody>
      </p:sp>
    </p:spTree>
    <p:extLst>
      <p:ext uri="{BB962C8B-B14F-4D97-AF65-F5344CB8AC3E}">
        <p14:creationId xmlns:p14="http://schemas.microsoft.com/office/powerpoint/2010/main" val="1387974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10733" y="643467"/>
            <a:ext cx="8754534" cy="923330"/>
          </a:xfrm>
          <a:prstGeom prst="rect">
            <a:avLst/>
          </a:prstGeom>
          <a:noFill/>
        </p:spPr>
        <p:txBody>
          <a:bodyPr wrap="square" rtlCol="0">
            <a:spAutoFit/>
          </a:bodyPr>
          <a:lstStyle/>
          <a:p>
            <a:r>
              <a:rPr lang="en-US" dirty="0"/>
              <a:t>In a deep neural network the </a:t>
            </a:r>
            <a:r>
              <a:rPr lang="en-US" b="1" dirty="0"/>
              <a:t>input layer</a:t>
            </a:r>
            <a:r>
              <a:rPr lang="en-US" dirty="0"/>
              <a:t> receives data which passes through </a:t>
            </a:r>
            <a:r>
              <a:rPr lang="en-US" b="1" dirty="0"/>
              <a:t>hidden layers</a:t>
            </a:r>
            <a:r>
              <a:rPr lang="en-US" dirty="0"/>
              <a:t> that transform the data using nonlinear functions. The final </a:t>
            </a:r>
            <a:r>
              <a:rPr lang="en-US" b="1" dirty="0"/>
              <a:t>output layer</a:t>
            </a:r>
            <a:r>
              <a:rPr lang="en-US" dirty="0"/>
              <a:t> generates the model’s prediction.</a:t>
            </a:r>
          </a:p>
        </p:txBody>
      </p:sp>
      <p:pic>
        <p:nvPicPr>
          <p:cNvPr id="2050" name="Picture 2" descr="Fully Connected Artificial Neural Network - Geeksforgee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3175" y="1416579"/>
            <a:ext cx="5048250" cy="448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5109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nvPr>
        </p:nvGraphicFramePr>
        <p:xfrm>
          <a:off x="575733" y="0"/>
          <a:ext cx="11099800" cy="6131560"/>
        </p:xfrm>
        <a:graphic>
          <a:graphicData uri="http://schemas.openxmlformats.org/drawingml/2006/table">
            <a:tbl>
              <a:tblPr firstRow="1" bandRow="1"/>
              <a:tblGrid>
                <a:gridCol w="11099800">
                  <a:extLst>
                    <a:ext uri="{9D8B030D-6E8A-4147-A177-3AD203B41FA5}">
                      <a16:colId xmlns:a16="http://schemas.microsoft.com/office/drawing/2014/main" val="20000"/>
                    </a:ext>
                  </a:extLst>
                </a:gridCol>
              </a:tblGrid>
              <a:tr h="370840">
                <a:tc>
                  <a:txBody>
                    <a:bodyPr/>
                    <a:lstStyle/>
                    <a:p>
                      <a:r>
                        <a:rPr lang="en-US" b="1" dirty="0" smtClean="0"/>
                        <a:t>TYPES of NEURAL NETWORKS</a:t>
                      </a:r>
                      <a:endParaRPr lang="en-US" b="1" dirty="0"/>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i="0" u="sng" kern="1200" dirty="0" err="1" smtClean="0">
                          <a:solidFill>
                            <a:schemeClr val="tx1"/>
                          </a:solidFill>
                          <a:effectLst/>
                          <a:latin typeface="+mn-lt"/>
                          <a:ea typeface="+mn-ea"/>
                          <a:cs typeface="+mn-cs"/>
                          <a:hlinkClick r:id="rId2"/>
                        </a:rPr>
                        <a:t>Feedforward</a:t>
                      </a:r>
                      <a:r>
                        <a:rPr lang="en-US" sz="1800" b="1" i="0" u="sng" kern="1200" dirty="0" smtClean="0">
                          <a:solidFill>
                            <a:schemeClr val="tx1"/>
                          </a:solidFill>
                          <a:effectLst/>
                          <a:latin typeface="+mn-lt"/>
                          <a:ea typeface="+mn-ea"/>
                          <a:cs typeface="+mn-cs"/>
                          <a:hlinkClick r:id="rId2"/>
                        </a:rPr>
                        <a:t> neural networks (FNNs)</a:t>
                      </a:r>
                      <a:r>
                        <a:rPr lang="en-US" sz="1800" b="0" i="0" kern="1200" dirty="0" smtClean="0">
                          <a:solidFill>
                            <a:schemeClr val="tx1"/>
                          </a:solidFill>
                          <a:effectLst/>
                          <a:latin typeface="+mn-lt"/>
                          <a:ea typeface="+mn-ea"/>
                          <a:cs typeface="+mn-cs"/>
                        </a:rPr>
                        <a:t> are the simplest type of ANN, </a:t>
                      </a:r>
                    </a:p>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smtClean="0">
                          <a:solidFill>
                            <a:schemeClr val="tx1"/>
                          </a:solidFill>
                          <a:effectLst/>
                          <a:latin typeface="+mn-lt"/>
                          <a:ea typeface="+mn-ea"/>
                          <a:cs typeface="+mn-cs"/>
                        </a:rPr>
                        <a:t>data flows in one direction from input to output. </a:t>
                      </a:r>
                    </a:p>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smtClean="0">
                          <a:solidFill>
                            <a:schemeClr val="tx1"/>
                          </a:solidFill>
                          <a:effectLst/>
                          <a:latin typeface="+mn-lt"/>
                          <a:ea typeface="+mn-ea"/>
                          <a:cs typeface="+mn-cs"/>
                        </a:rPr>
                        <a:t>used for basic tasks like classification.</a:t>
                      </a:r>
                    </a:p>
                    <a:p>
                      <a:endParaRPr lang="en-US"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i="0" u="sng" kern="1200" dirty="0" smtClean="0">
                          <a:solidFill>
                            <a:schemeClr val="tx1"/>
                          </a:solidFill>
                          <a:effectLst/>
                          <a:latin typeface="+mn-lt"/>
                          <a:ea typeface="+mn-ea"/>
                          <a:cs typeface="+mn-cs"/>
                          <a:hlinkClick r:id="rId3"/>
                        </a:rPr>
                        <a:t>Convolutional Neural Networks (CNNs)</a:t>
                      </a:r>
                      <a:r>
                        <a:rPr lang="en-US" sz="1800" b="0" i="0" kern="1200" dirty="0" smtClean="0">
                          <a:solidFill>
                            <a:schemeClr val="tx1"/>
                          </a:solidFill>
                          <a:effectLst/>
                          <a:latin typeface="+mn-lt"/>
                          <a:ea typeface="+mn-ea"/>
                          <a:cs typeface="+mn-cs"/>
                        </a:rPr>
                        <a:t> are specialized for processing grid-like data, such as images. </a:t>
                      </a:r>
                    </a:p>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smtClean="0">
                          <a:solidFill>
                            <a:schemeClr val="tx1"/>
                          </a:solidFill>
                          <a:effectLst/>
                          <a:latin typeface="+mn-lt"/>
                          <a:ea typeface="+mn-ea"/>
                          <a:cs typeface="+mn-cs"/>
                        </a:rPr>
                        <a:t>CNNs use convolutional layers to detect spatial hierarchies, making them ideal for computer vision tasks.</a:t>
                      </a:r>
                    </a:p>
                    <a:p>
                      <a:endParaRPr lang="en-US" dirty="0"/>
                    </a:p>
                  </a:txBody>
                  <a:tcPr/>
                </a:tc>
                <a:extLst>
                  <a:ext uri="{0D108BD9-81ED-4DB2-BD59-A6C34878D82A}">
                    <a16:rowId xmlns:a16="http://schemas.microsoft.com/office/drawing/2014/main" val="10002"/>
                  </a:ext>
                </a:extLst>
              </a:tr>
              <a:tr h="370840">
                <a:tc>
                  <a:txBody>
                    <a:bodyPr/>
                    <a:lstStyle/>
                    <a:p>
                      <a:r>
                        <a:rPr lang="en-US" sz="1800" b="1" i="0" u="sng" kern="1200" dirty="0" smtClean="0">
                          <a:solidFill>
                            <a:schemeClr val="tx1"/>
                          </a:solidFill>
                          <a:effectLst/>
                          <a:latin typeface="+mn-lt"/>
                          <a:ea typeface="+mn-ea"/>
                          <a:cs typeface="+mn-cs"/>
                          <a:hlinkClick r:id="rId4"/>
                        </a:rPr>
                        <a:t>Recurrent Neural Networks (RNNs)</a:t>
                      </a:r>
                      <a:r>
                        <a:rPr lang="en-US" sz="1800" b="1" i="0" kern="1200" dirty="0" smtClean="0">
                          <a:solidFill>
                            <a:schemeClr val="tx1"/>
                          </a:solidFill>
                          <a:effectLst/>
                          <a:latin typeface="+mn-lt"/>
                          <a:ea typeface="+mn-ea"/>
                          <a:cs typeface="+mn-cs"/>
                        </a:rPr>
                        <a:t> </a:t>
                      </a:r>
                      <a:r>
                        <a:rPr lang="en-US" sz="1800" b="0" i="0" kern="1200" dirty="0" smtClean="0">
                          <a:solidFill>
                            <a:schemeClr val="tx1"/>
                          </a:solidFill>
                          <a:effectLst/>
                          <a:latin typeface="+mn-lt"/>
                          <a:ea typeface="+mn-ea"/>
                          <a:cs typeface="+mn-cs"/>
                        </a:rPr>
                        <a:t>are able to process sequential data, such as time series and natural language. RNNs have loops to retain information over time, enabling applications like language modeling and speech recognition.</a:t>
                      </a:r>
                      <a:endParaRPr lang="en-US"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i="0" u="sng" kern="1200" dirty="0" smtClean="0">
                          <a:solidFill>
                            <a:schemeClr val="tx1"/>
                          </a:solidFill>
                          <a:effectLst/>
                          <a:latin typeface="+mn-lt"/>
                          <a:ea typeface="+mn-ea"/>
                          <a:cs typeface="+mn-cs"/>
                          <a:hlinkClick r:id="rId5"/>
                        </a:rPr>
                        <a:t>Generative Adversarial Networks (GANs)</a:t>
                      </a:r>
                      <a:r>
                        <a:rPr lang="en-US" sz="1800" b="0" i="0" kern="1200" dirty="0" smtClean="0">
                          <a:solidFill>
                            <a:schemeClr val="tx1"/>
                          </a:solidFill>
                          <a:effectLst/>
                          <a:latin typeface="+mn-lt"/>
                          <a:ea typeface="+mn-ea"/>
                          <a:cs typeface="+mn-cs"/>
                        </a:rPr>
                        <a:t> consist of two networks—a generator and a discriminator—that compete to create realistic data. GANs are widely used for image generation, style transfer and data augmentation.</a:t>
                      </a:r>
                    </a:p>
                    <a:p>
                      <a:endParaRPr lang="en-US" dirty="0"/>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i="0" u="sng" kern="1200" dirty="0" err="1" smtClean="0">
                          <a:solidFill>
                            <a:schemeClr val="tx1"/>
                          </a:solidFill>
                          <a:effectLst/>
                          <a:latin typeface="+mn-lt"/>
                          <a:ea typeface="+mn-ea"/>
                          <a:cs typeface="+mn-cs"/>
                          <a:hlinkClick r:id="rId6"/>
                        </a:rPr>
                        <a:t>Autoencoders</a:t>
                      </a:r>
                      <a:r>
                        <a:rPr lang="en-US" sz="1800" b="0" i="0" kern="1200" dirty="0" smtClean="0">
                          <a:solidFill>
                            <a:schemeClr val="tx1"/>
                          </a:solidFill>
                          <a:effectLst/>
                          <a:latin typeface="+mn-lt"/>
                          <a:ea typeface="+mn-ea"/>
                          <a:cs typeface="+mn-cs"/>
                        </a:rPr>
                        <a:t> are unsupervised networks that learn efficient data encodings. They compress input data into a latent representation and reconstruct it, useful for dimensionality reduction and anomaly detection.</a:t>
                      </a:r>
                    </a:p>
                    <a:p>
                      <a:endParaRPr lang="en-US" dirty="0"/>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i="0" u="sng" kern="1200" dirty="0" smtClean="0">
                          <a:solidFill>
                            <a:schemeClr val="tx1"/>
                          </a:solidFill>
                          <a:effectLst/>
                          <a:latin typeface="+mn-lt"/>
                          <a:ea typeface="+mn-ea"/>
                          <a:cs typeface="+mn-cs"/>
                          <a:hlinkClick r:id="rId7"/>
                        </a:rPr>
                        <a:t>Transformer Networks</a:t>
                      </a:r>
                      <a:r>
                        <a:rPr lang="en-US" sz="1800" b="0" i="0" kern="1200" dirty="0" smtClean="0">
                          <a:solidFill>
                            <a:schemeClr val="tx1"/>
                          </a:solidFill>
                          <a:effectLst/>
                          <a:latin typeface="+mn-lt"/>
                          <a:ea typeface="+mn-ea"/>
                          <a:cs typeface="+mn-cs"/>
                        </a:rPr>
                        <a:t> has revolutionized NLP with self-attention mechanisms. Transformers excel at tasks like translation, text generation and sentiment analysis, powering models like GPT and BERT.</a:t>
                      </a:r>
                    </a:p>
                    <a:p>
                      <a:endParaRPr lang="en-US"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784064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Deep learning applicat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6933" y="177800"/>
            <a:ext cx="8525934" cy="6536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7599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62446" y="418012"/>
            <a:ext cx="10215154" cy="6124754"/>
          </a:xfrm>
          <a:prstGeom prst="rect">
            <a:avLst/>
          </a:prstGeom>
          <a:solidFill>
            <a:schemeClr val="accent2"/>
          </a:solidFill>
        </p:spPr>
        <p:txBody>
          <a:bodyPr wrap="square" rtlCol="0">
            <a:spAutoFit/>
          </a:bodyPr>
          <a:lstStyle/>
          <a:p>
            <a:endParaRPr lang="en-IN" smtClean="0"/>
          </a:p>
          <a:p>
            <a:endParaRPr lang="en-IN"/>
          </a:p>
          <a:p>
            <a:endParaRPr lang="en-IN" smtClean="0"/>
          </a:p>
          <a:p>
            <a:endParaRPr lang="en-IN"/>
          </a:p>
          <a:p>
            <a:endParaRPr lang="en-IN" smtClean="0"/>
          </a:p>
          <a:p>
            <a:endParaRPr lang="en-IN"/>
          </a:p>
          <a:p>
            <a:endParaRPr lang="en-IN" smtClean="0"/>
          </a:p>
          <a:p>
            <a:endParaRPr lang="en-IN"/>
          </a:p>
          <a:p>
            <a:endParaRPr lang="en-IN" smtClean="0"/>
          </a:p>
          <a:p>
            <a:endParaRPr lang="en-IN"/>
          </a:p>
          <a:p>
            <a:endParaRPr lang="en-IN"/>
          </a:p>
          <a:p>
            <a:pPr algn="ctr"/>
            <a:r>
              <a:rPr lang="en-IN" sz="3200" b="1" smtClean="0"/>
              <a:t>Learning Algorithms</a:t>
            </a:r>
          </a:p>
          <a:p>
            <a:endParaRPr lang="en-IN"/>
          </a:p>
          <a:p>
            <a:endParaRPr lang="en-IN" smtClean="0"/>
          </a:p>
          <a:p>
            <a:endParaRPr lang="en-IN"/>
          </a:p>
          <a:p>
            <a:endParaRPr lang="en-IN" smtClean="0"/>
          </a:p>
          <a:p>
            <a:endParaRPr lang="en-IN" smtClean="0"/>
          </a:p>
          <a:p>
            <a:endParaRPr lang="en-IN"/>
          </a:p>
          <a:p>
            <a:endParaRPr lang="en-IN" smtClean="0"/>
          </a:p>
          <a:p>
            <a:endParaRPr lang="en-IN"/>
          </a:p>
          <a:p>
            <a:endParaRPr lang="en-IN"/>
          </a:p>
        </p:txBody>
      </p:sp>
    </p:spTree>
    <p:extLst>
      <p:ext uri="{BB962C8B-B14F-4D97-AF65-F5344CB8AC3E}">
        <p14:creationId xmlns:p14="http://schemas.microsoft.com/office/powerpoint/2010/main" val="355491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78971" y="5199017"/>
            <a:ext cx="1724298" cy="696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p:cNvSpPr/>
          <p:nvPr/>
        </p:nvSpPr>
        <p:spPr>
          <a:xfrm>
            <a:off x="478971" y="1271451"/>
            <a:ext cx="1724298" cy="6183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p:cNvSpPr/>
          <p:nvPr/>
        </p:nvSpPr>
        <p:spPr>
          <a:xfrm>
            <a:off x="478971" y="2725783"/>
            <a:ext cx="1724298" cy="7402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p:cNvSpPr txBox="1"/>
          <p:nvPr/>
        </p:nvSpPr>
        <p:spPr>
          <a:xfrm>
            <a:off x="478971" y="714103"/>
            <a:ext cx="11530149" cy="7478970"/>
          </a:xfrm>
          <a:prstGeom prst="rect">
            <a:avLst/>
          </a:prstGeom>
          <a:noFill/>
        </p:spPr>
        <p:txBody>
          <a:bodyPr wrap="square" rtlCol="0">
            <a:spAutoFit/>
          </a:bodyPr>
          <a:lstStyle/>
          <a:p>
            <a:r>
              <a:rPr lang="en-US" sz="2000" smtClean="0">
                <a:latin typeface="Times New Roman" panose="02020603050405020304" pitchFamily="18" charset="0"/>
                <a:cs typeface="Times New Roman" panose="02020603050405020304" pitchFamily="18" charset="0"/>
              </a:rPr>
              <a:t>A machine learning algorithm is an algorithm that is able to learn from data</a:t>
            </a:r>
          </a:p>
          <a:p>
            <a:endParaRPr lang="en-US" sz="2000">
              <a:latin typeface="Times New Roman" panose="02020603050405020304" pitchFamily="18" charset="0"/>
              <a:cs typeface="Times New Roman" panose="02020603050405020304" pitchFamily="18" charset="0"/>
            </a:endParaRPr>
          </a:p>
          <a:p>
            <a:r>
              <a:rPr lang="en-IN" sz="2000" b="1" u="sng" smtClean="0">
                <a:latin typeface="Times New Roman" panose="02020603050405020304" pitchFamily="18" charset="0"/>
                <a:cs typeface="Times New Roman" panose="02020603050405020304" pitchFamily="18" charset="0"/>
              </a:rPr>
              <a:t>Learning </a:t>
            </a:r>
            <a:r>
              <a:rPr lang="en-IN" sz="2000" smtClean="0">
                <a:latin typeface="Times New Roman" panose="02020603050405020304" pitchFamily="18" charset="0"/>
                <a:cs typeface="Times New Roman" panose="02020603050405020304" pitchFamily="18" charset="0"/>
              </a:rPr>
              <a:t>          definition as given by Mitchell (1997)</a:t>
            </a:r>
          </a:p>
          <a:p>
            <a:endParaRPr lang="en-IN" sz="2000" smtClean="0">
              <a:latin typeface="Times New Roman" panose="02020603050405020304" pitchFamily="18" charset="0"/>
              <a:cs typeface="Times New Roman" panose="02020603050405020304" pitchFamily="18" charset="0"/>
            </a:endParaRPr>
          </a:p>
          <a:p>
            <a:r>
              <a:rPr lang="en-US" sz="2000" b="1" smtClean="0">
                <a:latin typeface="Times New Roman" panose="02020603050405020304" pitchFamily="18" charset="0"/>
                <a:cs typeface="Times New Roman" panose="02020603050405020304" pitchFamily="18" charset="0"/>
              </a:rPr>
              <a:t>“A computer program is said to learn from experience E with respect to some class of tasks T and performance measure P, if its performance at tasks in T, as measured by P, improves with experience E.”</a:t>
            </a:r>
          </a:p>
          <a:p>
            <a:endParaRPr lang="en-US" sz="2000">
              <a:latin typeface="Times New Roman" panose="02020603050405020304" pitchFamily="18" charset="0"/>
              <a:cs typeface="Times New Roman" panose="02020603050405020304" pitchFamily="18" charset="0"/>
            </a:endParaRPr>
          </a:p>
          <a:p>
            <a:r>
              <a:rPr lang="en-US" sz="2000" b="1" u="sng" smtClean="0"/>
              <a:t>The Task, T </a:t>
            </a:r>
          </a:p>
          <a:p>
            <a:endParaRPr lang="en-US" sz="2000" smtClean="0"/>
          </a:p>
          <a:p>
            <a:r>
              <a:rPr lang="en-US" sz="2000" smtClean="0"/>
              <a:t>Machine learning allows us to tackle tasks that are too difficult to solve with fixed programs written and designed by human beings</a:t>
            </a:r>
          </a:p>
          <a:p>
            <a:endParaRPr lang="en-US" sz="2000" smtClean="0"/>
          </a:p>
          <a:p>
            <a:r>
              <a:rPr lang="en-US" sz="2000" smtClean="0"/>
              <a:t>Machine learning tasks are usually described in terms of how the machine learning system should process an example. </a:t>
            </a:r>
          </a:p>
          <a:p>
            <a:endParaRPr lang="en-US" sz="2000" smtClean="0"/>
          </a:p>
          <a:p>
            <a:r>
              <a:rPr lang="en-US" sz="2000" b="1" u="sng" smtClean="0"/>
              <a:t>An example /</a:t>
            </a:r>
            <a:r>
              <a:rPr lang="en-IN" sz="2000" smtClean="0"/>
              <a:t> </a:t>
            </a:r>
          </a:p>
          <a:p>
            <a:r>
              <a:rPr lang="en-IN" sz="2000" b="1" smtClean="0"/>
              <a:t>data points.</a:t>
            </a:r>
            <a:endParaRPr lang="en-US" sz="2000" b="1" u="sng" smtClean="0"/>
          </a:p>
          <a:p>
            <a:r>
              <a:rPr lang="en-US" sz="2000" smtClean="0"/>
              <a:t>is a collection of features that have been quantitatively measured from some object or event that we want the machine learning system to process. We typically represent an example as a vector x ∈ Rn where each entry xi of the vector is another feature. </a:t>
            </a:r>
          </a:p>
          <a:p>
            <a:r>
              <a:rPr lang="en-US" sz="2000" smtClean="0"/>
              <a:t>For example, the features of an image are usually the values of the pixels in the image.</a:t>
            </a:r>
          </a:p>
          <a:p>
            <a:endParaRPr lang="en-US" sz="2000"/>
          </a:p>
          <a:p>
            <a:endParaRPr lang="en-US" sz="2000" smtClean="0"/>
          </a:p>
          <a:p>
            <a:endParaRPr lang="en-IN"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0144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7977" y="426720"/>
            <a:ext cx="11303726" cy="5632311"/>
          </a:xfrm>
          <a:prstGeom prst="rect">
            <a:avLst/>
          </a:prstGeom>
          <a:noFill/>
        </p:spPr>
        <p:txBody>
          <a:bodyPr wrap="square" rtlCol="0">
            <a:spAutoFit/>
          </a:bodyPr>
          <a:lstStyle/>
          <a:p>
            <a:r>
              <a:rPr lang="en-US" b="1" smtClean="0"/>
              <a:t> </a:t>
            </a:r>
            <a:r>
              <a:rPr lang="en-US" sz="3600" b="1"/>
              <a:t>kinds of </a:t>
            </a:r>
            <a:r>
              <a:rPr lang="en-US" sz="3600" b="1" smtClean="0"/>
              <a:t>tasks</a:t>
            </a:r>
          </a:p>
          <a:p>
            <a:r>
              <a:rPr lang="en-US" b="1" smtClean="0"/>
              <a:t>1. Classification: </a:t>
            </a:r>
          </a:p>
          <a:p>
            <a:r>
              <a:rPr lang="en-US" smtClean="0"/>
              <a:t>In this type of task, the computer program is asked to specify which of k categories some input belongs to. To solve this task, the learning algorithm is usually produce a function </a:t>
            </a:r>
            <a:r>
              <a:rPr lang="en-US" b="1" smtClean="0"/>
              <a:t>f : Rn → {1, . . . , k}. </a:t>
            </a:r>
          </a:p>
          <a:p>
            <a:endParaRPr lang="en-US"/>
          </a:p>
          <a:p>
            <a:r>
              <a:rPr lang="en-US" smtClean="0"/>
              <a:t>In order to solve the classification task, the learning algorithm only has to define a </a:t>
            </a:r>
            <a:r>
              <a:rPr lang="en-US" b="1" smtClean="0"/>
              <a:t>single function </a:t>
            </a:r>
            <a:r>
              <a:rPr lang="en-US" smtClean="0"/>
              <a:t>mapping from a vector input to a categorical output. </a:t>
            </a:r>
          </a:p>
          <a:p>
            <a:r>
              <a:rPr lang="en-IN" b="1" smtClean="0"/>
              <a:t>Ex:-</a:t>
            </a:r>
            <a:r>
              <a:rPr lang="en-IN" smtClean="0"/>
              <a:t>object recognition, </a:t>
            </a:r>
            <a:r>
              <a:rPr lang="en-US" smtClean="0"/>
              <a:t>PR2 robot is able to act as a waiter that can recognize different kinds of drinks and deliver them to people on command</a:t>
            </a:r>
          </a:p>
          <a:p>
            <a:endParaRPr lang="en-IN" smtClean="0"/>
          </a:p>
          <a:p>
            <a:r>
              <a:rPr lang="en-IN" b="1" smtClean="0"/>
              <a:t>2. Classification with missing inputs:</a:t>
            </a:r>
          </a:p>
          <a:p>
            <a:r>
              <a:rPr lang="en-US" smtClean="0"/>
              <a:t>When some of the inputs may be missing, rather than providing a single classification function, the learning algorithm must learn a </a:t>
            </a:r>
            <a:r>
              <a:rPr lang="en-US" b="1" smtClean="0"/>
              <a:t>set of functions</a:t>
            </a:r>
            <a:r>
              <a:rPr lang="en-US" smtClean="0"/>
              <a:t>. Each function corresponds to classifying x with a different subset of its inputs missing.</a:t>
            </a:r>
          </a:p>
          <a:p>
            <a:r>
              <a:rPr lang="en-IN" b="1" smtClean="0"/>
              <a:t>Ex:- </a:t>
            </a:r>
            <a:r>
              <a:rPr lang="en-IN" smtClean="0"/>
              <a:t>medical diagnosis</a:t>
            </a:r>
          </a:p>
          <a:p>
            <a:endParaRPr lang="en-IN" smtClean="0"/>
          </a:p>
          <a:p>
            <a:r>
              <a:rPr lang="en-IN" b="1" smtClean="0"/>
              <a:t>3. Regression:</a:t>
            </a:r>
          </a:p>
          <a:p>
            <a:r>
              <a:rPr lang="en-US" smtClean="0"/>
              <a:t>In this type of task, the computer program is asked to predict a numerical value given some input. To solve this task, the learning algorithm is asked to output a function f : Rn → R. </a:t>
            </a:r>
          </a:p>
          <a:p>
            <a:r>
              <a:rPr lang="en-US" b="1" smtClean="0"/>
              <a:t>Ex:- </a:t>
            </a:r>
            <a:r>
              <a:rPr lang="en-US" smtClean="0"/>
              <a:t>prediction of the expected claim amount that an insured person will make (used to set insurance premiums)</a:t>
            </a:r>
            <a:endParaRPr lang="en-IN" b="1"/>
          </a:p>
        </p:txBody>
      </p:sp>
    </p:spTree>
    <p:extLst>
      <p:ext uri="{BB962C8B-B14F-4D97-AF65-F5344CB8AC3E}">
        <p14:creationId xmlns:p14="http://schemas.microsoft.com/office/powerpoint/2010/main" val="37918876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8309" y="653143"/>
            <a:ext cx="11303725" cy="6186309"/>
          </a:xfrm>
          <a:prstGeom prst="rect">
            <a:avLst/>
          </a:prstGeom>
          <a:noFill/>
        </p:spPr>
        <p:txBody>
          <a:bodyPr wrap="square" rtlCol="0">
            <a:spAutoFit/>
          </a:bodyPr>
          <a:lstStyle/>
          <a:p>
            <a:r>
              <a:rPr lang="en-IN" b="1" smtClean="0"/>
              <a:t>3. Transcription:</a:t>
            </a:r>
          </a:p>
          <a:p>
            <a:r>
              <a:rPr lang="en-US" smtClean="0"/>
              <a:t>In this type of task, the machine learning system is asked to observe a relatively unstructured representation of some kind of data and transcribe it into discrete, textual form. For example, in optical character recognition, the computer program is shown a photograph containing an image of text and is asked to return this text in the form of a sequence of characters</a:t>
            </a:r>
          </a:p>
          <a:p>
            <a:r>
              <a:rPr lang="en-US" b="1" smtClean="0"/>
              <a:t>Ex:-</a:t>
            </a:r>
            <a:r>
              <a:rPr lang="en-IN" smtClean="0"/>
              <a:t>Google Street View, speech recognition</a:t>
            </a:r>
          </a:p>
          <a:p>
            <a:endParaRPr lang="en-IN" b="1"/>
          </a:p>
          <a:p>
            <a:r>
              <a:rPr lang="en-IN" b="1" smtClean="0"/>
              <a:t>4. Machine translation:</a:t>
            </a:r>
          </a:p>
          <a:p>
            <a:r>
              <a:rPr lang="en-US" smtClean="0"/>
              <a:t>In a machine translation task, the input already consists of a sequence of symbols in some language, and the computer program must convert this into a sequence of symbols in another language.</a:t>
            </a:r>
          </a:p>
          <a:p>
            <a:r>
              <a:rPr lang="en-US" b="1" smtClean="0"/>
              <a:t>Ex:-</a:t>
            </a:r>
            <a:r>
              <a:rPr lang="en-US" smtClean="0"/>
              <a:t>natural languages tasks , such as translating from English to French</a:t>
            </a:r>
          </a:p>
          <a:p>
            <a:endParaRPr lang="en-US" b="1"/>
          </a:p>
          <a:p>
            <a:r>
              <a:rPr lang="en-US" b="1" smtClean="0"/>
              <a:t>5. </a:t>
            </a:r>
            <a:r>
              <a:rPr lang="en-IN" b="1" smtClean="0"/>
              <a:t>Structured output:</a:t>
            </a:r>
          </a:p>
          <a:p>
            <a:r>
              <a:rPr lang="en-US" smtClean="0"/>
              <a:t>Structured output tasks involve any task where the output is a vector with important relationships between the different elements.</a:t>
            </a:r>
          </a:p>
          <a:p>
            <a:r>
              <a:rPr lang="en-US" b="1" smtClean="0"/>
              <a:t>Ex:-</a:t>
            </a:r>
            <a:r>
              <a:rPr lang="en-US" smtClean="0"/>
              <a:t>parsing—mapping a natural language sentence into a tree that describes its grammatical structure and tagging nodes of the trees as being verbs, nouns, or adverbs, and so on</a:t>
            </a:r>
          </a:p>
          <a:p>
            <a:endParaRPr lang="en-US" b="1"/>
          </a:p>
          <a:p>
            <a:r>
              <a:rPr lang="en-US" b="1" smtClean="0"/>
              <a:t>6. </a:t>
            </a:r>
            <a:r>
              <a:rPr lang="en-IN" b="1" smtClean="0"/>
              <a:t>Anomaly detection:</a:t>
            </a:r>
          </a:p>
          <a:p>
            <a:r>
              <a:rPr lang="en-US" smtClean="0"/>
              <a:t>In this type of task, the computer program sifts through a set of events or objects, and flags some of them as being unusual or atypical.</a:t>
            </a:r>
          </a:p>
          <a:p>
            <a:r>
              <a:rPr lang="en-US" b="1" smtClean="0"/>
              <a:t>Ex:-</a:t>
            </a:r>
            <a:r>
              <a:rPr lang="en-IN" smtClean="0"/>
              <a:t>credit card fraud detection</a:t>
            </a:r>
            <a:endParaRPr lang="en-IN" b="1"/>
          </a:p>
        </p:txBody>
      </p:sp>
    </p:spTree>
    <p:extLst>
      <p:ext uri="{BB962C8B-B14F-4D97-AF65-F5344CB8AC3E}">
        <p14:creationId xmlns:p14="http://schemas.microsoft.com/office/powerpoint/2010/main" val="2348081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8309" y="653143"/>
            <a:ext cx="11303725" cy="6463308"/>
          </a:xfrm>
          <a:prstGeom prst="rect">
            <a:avLst/>
          </a:prstGeom>
          <a:noFill/>
        </p:spPr>
        <p:txBody>
          <a:bodyPr wrap="square" rtlCol="0">
            <a:spAutoFit/>
          </a:bodyPr>
          <a:lstStyle/>
          <a:p>
            <a:r>
              <a:rPr lang="en-US" b="1" smtClean="0"/>
              <a:t>7. </a:t>
            </a:r>
            <a:r>
              <a:rPr lang="en-IN" b="1" smtClean="0"/>
              <a:t>Synthesis and sampling:</a:t>
            </a:r>
          </a:p>
          <a:p>
            <a:r>
              <a:rPr lang="en-US" smtClean="0"/>
              <a:t>In this type of task, the machine learning algorithm is asked to generate new examples that are similar to those in the training data.</a:t>
            </a:r>
          </a:p>
          <a:p>
            <a:r>
              <a:rPr lang="en-US" b="1" smtClean="0"/>
              <a:t>Ex:- </a:t>
            </a:r>
            <a:r>
              <a:rPr lang="en-US" smtClean="0"/>
              <a:t>For example, video games can automatically generate textures for large objects or landscapes, rather than requiring an artist to manually label each pixel</a:t>
            </a:r>
          </a:p>
          <a:p>
            <a:endParaRPr lang="en-IN" b="1" smtClean="0"/>
          </a:p>
          <a:p>
            <a:r>
              <a:rPr lang="en-IN" b="1" smtClean="0"/>
              <a:t>8. Imputation of missing values:</a:t>
            </a:r>
          </a:p>
          <a:p>
            <a:r>
              <a:rPr lang="en-US" smtClean="0"/>
              <a:t>In this type of task, the machine learning algorithm is given a new example x ∈ Rn, but with some entries xi of x missing. The algorithm must provide a prediction of the values of the missing entries.</a:t>
            </a:r>
          </a:p>
          <a:p>
            <a:r>
              <a:rPr lang="en-US" b="1" smtClean="0"/>
              <a:t>Ex:- </a:t>
            </a:r>
          </a:p>
          <a:p>
            <a:endParaRPr lang="en-IN" b="1" smtClean="0"/>
          </a:p>
          <a:p>
            <a:r>
              <a:rPr lang="en-IN" b="1" smtClean="0"/>
              <a:t>9. Denoising:</a:t>
            </a:r>
          </a:p>
          <a:p>
            <a:r>
              <a:rPr lang="en-US" smtClean="0"/>
              <a:t>In this type of task, the machine learning algorithm is given in input a corrupted example x˜ ∈ Rn obtained by an unknown corruption process from a clean example x ∈ Rn. The learner must predict the clean example x from its corrupted version x˜, or more generally predict the conditional probability distribution p(x | x˜).</a:t>
            </a:r>
          </a:p>
          <a:p>
            <a:endParaRPr lang="en-IN" b="1" smtClean="0"/>
          </a:p>
          <a:p>
            <a:r>
              <a:rPr lang="en-IN" b="1" smtClean="0"/>
              <a:t>10. </a:t>
            </a:r>
            <a:r>
              <a:rPr lang="en-US" b="1" smtClean="0"/>
              <a:t>Density estimation or probability mass function estimation:</a:t>
            </a:r>
          </a:p>
          <a:p>
            <a:r>
              <a:rPr lang="en-US" smtClean="0"/>
              <a:t>In the density estimation problem, the machine learning algorithm is asked to learn a function pmodel : Rn → R, where pmodel(x) can be interpreted as a probability density function (if x is continuous) or a probability mass function (if x is discrete) on the space that the examples were drawn from.</a:t>
            </a:r>
          </a:p>
          <a:p>
            <a:endParaRPr lang="en-US" b="1" smtClean="0"/>
          </a:p>
          <a:p>
            <a:endParaRPr lang="en-US" smtClean="0"/>
          </a:p>
          <a:p>
            <a:endParaRPr lang="en-IN"/>
          </a:p>
        </p:txBody>
      </p:sp>
    </p:spTree>
    <p:extLst>
      <p:ext uri="{BB962C8B-B14F-4D97-AF65-F5344CB8AC3E}">
        <p14:creationId xmlns:p14="http://schemas.microsoft.com/office/powerpoint/2010/main" val="7651984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461554" y="566057"/>
            <a:ext cx="3309257" cy="6705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p:cNvSpPr/>
          <p:nvPr/>
        </p:nvSpPr>
        <p:spPr>
          <a:xfrm>
            <a:off x="330925" y="2804160"/>
            <a:ext cx="1471749" cy="5573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566057" y="722811"/>
            <a:ext cx="11234057" cy="6186309"/>
          </a:xfrm>
          <a:prstGeom prst="rect">
            <a:avLst/>
          </a:prstGeom>
          <a:noFill/>
        </p:spPr>
        <p:txBody>
          <a:bodyPr wrap="square" rtlCol="0">
            <a:spAutoFit/>
          </a:bodyPr>
          <a:lstStyle/>
          <a:p>
            <a:r>
              <a:rPr lang="en-US" b="1" u="sng" smtClean="0"/>
              <a:t>The Performance Measure, P</a:t>
            </a:r>
          </a:p>
          <a:p>
            <a:r>
              <a:rPr lang="en-US" b="1" u="sng" smtClean="0"/>
              <a:t> </a:t>
            </a:r>
          </a:p>
          <a:p>
            <a:r>
              <a:rPr lang="en-US" smtClean="0"/>
              <a:t>In order to evaluate the abilities of a machine learning algorithm, we must design a quantitative measure of its performance. Usually this performance measure P is specific to the task T being carried out by the system.</a:t>
            </a:r>
          </a:p>
          <a:p>
            <a:endParaRPr lang="en-US"/>
          </a:p>
          <a:p>
            <a:r>
              <a:rPr lang="en-US" smtClean="0"/>
              <a:t>For tasks such as classification, classification with missing inputs, and transcription, we often </a:t>
            </a:r>
            <a:r>
              <a:rPr lang="en-US" b="1" smtClean="0"/>
              <a:t>measure the accuracy of the model. </a:t>
            </a:r>
          </a:p>
          <a:p>
            <a:endParaRPr lang="en-US"/>
          </a:p>
          <a:p>
            <a:r>
              <a:rPr lang="en-US" b="1" u="sng" smtClean="0"/>
              <a:t>Accuracy</a:t>
            </a:r>
            <a:r>
              <a:rPr lang="en-US" b="1" smtClean="0"/>
              <a:t>       </a:t>
            </a:r>
            <a:r>
              <a:rPr lang="en-US" smtClean="0"/>
              <a:t>is the proportion of examples for which the model produces the correct output. </a:t>
            </a:r>
          </a:p>
          <a:p>
            <a:endParaRPr lang="en-US"/>
          </a:p>
          <a:p>
            <a:r>
              <a:rPr lang="en-US" smtClean="0"/>
              <a:t>We can also obtain equivalent information by </a:t>
            </a:r>
            <a:r>
              <a:rPr lang="en-US" b="1" smtClean="0"/>
              <a:t>measuring the error rate</a:t>
            </a:r>
            <a:r>
              <a:rPr lang="en-US" smtClean="0"/>
              <a:t>, the proportion of examples for which the model produces an incorrect output. We often refer to the error rate as the expected 0-1 loss. The 0-1 loss on a particular example is 0 if it is correctly classified and 1 if it is not.</a:t>
            </a:r>
          </a:p>
          <a:p>
            <a:endParaRPr lang="en-US"/>
          </a:p>
          <a:p>
            <a:endParaRPr lang="en-US" smtClean="0"/>
          </a:p>
          <a:p>
            <a:r>
              <a:rPr lang="en-US" smtClean="0"/>
              <a:t>For tasks such as density estimation, </a:t>
            </a:r>
            <a:r>
              <a:rPr lang="en-US" b="1" smtClean="0"/>
              <a:t>average log-probability  </a:t>
            </a:r>
            <a:r>
              <a:rPr lang="en-US" smtClean="0"/>
              <a:t>is used to measure the accuracy of the model, a metric that gives the model a continuous-valued score for each example. </a:t>
            </a:r>
          </a:p>
          <a:p>
            <a:endParaRPr lang="en-US"/>
          </a:p>
          <a:p>
            <a:r>
              <a:rPr lang="en-US" smtClean="0"/>
              <a:t>How well the machine learning algorithm performs on data that it has not seen before. We therefore evaluate these performance measures using a </a:t>
            </a:r>
            <a:r>
              <a:rPr lang="en-US" b="1" smtClean="0"/>
              <a:t>test set </a:t>
            </a:r>
            <a:r>
              <a:rPr lang="en-US" smtClean="0"/>
              <a:t>of data that is separate from the data used for training the machine learning system.</a:t>
            </a:r>
          </a:p>
          <a:p>
            <a:endParaRPr lang="en-IN"/>
          </a:p>
        </p:txBody>
      </p:sp>
    </p:spTree>
    <p:extLst>
      <p:ext uri="{BB962C8B-B14F-4D97-AF65-F5344CB8AC3E}">
        <p14:creationId xmlns:p14="http://schemas.microsoft.com/office/powerpoint/2010/main" val="21884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331695" y="371475"/>
            <a:ext cx="11322424" cy="6115050"/>
          </a:xfrm>
          <a:prstGeom prst="rect">
            <a:avLst/>
          </a:prstGeom>
        </p:spPr>
      </p:pic>
    </p:spTree>
    <p:extLst>
      <p:ext uri="{BB962C8B-B14F-4D97-AF65-F5344CB8AC3E}">
        <p14:creationId xmlns:p14="http://schemas.microsoft.com/office/powerpoint/2010/main" val="4278535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5835" y="668711"/>
            <a:ext cx="11627223" cy="4391025"/>
          </a:xfrm>
          <a:prstGeom prst="rect">
            <a:avLst/>
          </a:prstGeom>
        </p:spPr>
      </p:pic>
    </p:spTree>
    <p:extLst>
      <p:ext uri="{BB962C8B-B14F-4D97-AF65-F5344CB8AC3E}">
        <p14:creationId xmlns:p14="http://schemas.microsoft.com/office/powerpoint/2010/main" val="1288482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62446" y="418012"/>
            <a:ext cx="10215154" cy="6124754"/>
          </a:xfrm>
          <a:prstGeom prst="rect">
            <a:avLst/>
          </a:prstGeom>
          <a:solidFill>
            <a:schemeClr val="accent2"/>
          </a:solidFill>
        </p:spPr>
        <p:txBody>
          <a:bodyPr wrap="square" rtlCol="0">
            <a:spAutoFit/>
          </a:bodyPr>
          <a:lstStyle/>
          <a:p>
            <a:endParaRPr lang="en-IN" smtClean="0"/>
          </a:p>
          <a:p>
            <a:endParaRPr lang="en-IN"/>
          </a:p>
          <a:p>
            <a:endParaRPr lang="en-IN" smtClean="0"/>
          </a:p>
          <a:p>
            <a:endParaRPr lang="en-IN"/>
          </a:p>
          <a:p>
            <a:endParaRPr lang="en-IN" smtClean="0"/>
          </a:p>
          <a:p>
            <a:endParaRPr lang="en-IN"/>
          </a:p>
          <a:p>
            <a:endParaRPr lang="en-IN" smtClean="0"/>
          </a:p>
          <a:p>
            <a:endParaRPr lang="en-IN"/>
          </a:p>
          <a:p>
            <a:endParaRPr lang="en-IN" smtClean="0"/>
          </a:p>
          <a:p>
            <a:endParaRPr lang="en-IN"/>
          </a:p>
          <a:p>
            <a:endParaRPr lang="en-IN"/>
          </a:p>
          <a:p>
            <a:pPr algn="ctr"/>
            <a:r>
              <a:rPr lang="en-IN" sz="3200" b="1" smtClean="0"/>
              <a:t>Capacity, Overfitting &amp; Underfitting </a:t>
            </a:r>
          </a:p>
          <a:p>
            <a:endParaRPr lang="en-IN"/>
          </a:p>
          <a:p>
            <a:endParaRPr lang="en-IN" smtClean="0"/>
          </a:p>
          <a:p>
            <a:endParaRPr lang="en-IN"/>
          </a:p>
          <a:p>
            <a:endParaRPr lang="en-IN" smtClean="0"/>
          </a:p>
          <a:p>
            <a:endParaRPr lang="en-IN" smtClean="0"/>
          </a:p>
          <a:p>
            <a:endParaRPr lang="en-IN"/>
          </a:p>
          <a:p>
            <a:endParaRPr lang="en-IN" smtClean="0"/>
          </a:p>
          <a:p>
            <a:endParaRPr lang="en-IN"/>
          </a:p>
          <a:p>
            <a:endParaRPr lang="en-IN"/>
          </a:p>
        </p:txBody>
      </p:sp>
    </p:spTree>
    <p:extLst>
      <p:ext uri="{BB962C8B-B14F-4D97-AF65-F5344CB8AC3E}">
        <p14:creationId xmlns:p14="http://schemas.microsoft.com/office/powerpoint/2010/main" val="39848180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74134" y="0"/>
            <a:ext cx="11557000" cy="1477328"/>
          </a:xfrm>
          <a:prstGeom prst="rect">
            <a:avLst/>
          </a:prstGeom>
          <a:noFill/>
        </p:spPr>
        <p:txBody>
          <a:bodyPr wrap="square" rtlCol="0">
            <a:spAutoFit/>
          </a:bodyPr>
          <a:lstStyle/>
          <a:p>
            <a:r>
              <a:rPr lang="en-US" dirty="0"/>
              <a:t>The ability to perform well on previously unobserved inputs is called </a:t>
            </a:r>
            <a:r>
              <a:rPr lang="en-US" b="1" u="sng" dirty="0"/>
              <a:t>generalization</a:t>
            </a:r>
            <a:r>
              <a:rPr lang="en-US" dirty="0" smtClean="0"/>
              <a:t>.</a:t>
            </a:r>
          </a:p>
          <a:p>
            <a:endParaRPr lang="en-US" dirty="0"/>
          </a:p>
          <a:p>
            <a:r>
              <a:rPr lang="en-US" dirty="0" smtClean="0"/>
              <a:t>There are two types of error measures in  ML</a:t>
            </a:r>
          </a:p>
          <a:p>
            <a:endParaRPr lang="en-US" dirty="0" smtClean="0"/>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275926420"/>
              </p:ext>
            </p:extLst>
          </p:nvPr>
        </p:nvGraphicFramePr>
        <p:xfrm>
          <a:off x="624661" y="931574"/>
          <a:ext cx="10447866" cy="2199640"/>
        </p:xfrm>
        <a:graphic>
          <a:graphicData uri="http://schemas.openxmlformats.org/drawingml/2006/table">
            <a:tbl>
              <a:tblPr firstRow="1" bandRow="1"/>
              <a:tblGrid>
                <a:gridCol w="5223933">
                  <a:extLst>
                    <a:ext uri="{9D8B030D-6E8A-4147-A177-3AD203B41FA5}">
                      <a16:colId xmlns:a16="http://schemas.microsoft.com/office/drawing/2014/main" val="20000"/>
                    </a:ext>
                  </a:extLst>
                </a:gridCol>
                <a:gridCol w="5223933">
                  <a:extLst>
                    <a:ext uri="{9D8B030D-6E8A-4147-A177-3AD203B41FA5}">
                      <a16:colId xmlns:a16="http://schemas.microsoft.com/office/drawing/2014/main" val="20001"/>
                    </a:ext>
                  </a:extLst>
                </a:gridCol>
              </a:tblGrid>
              <a:tr h="370840">
                <a:tc>
                  <a:txBody>
                    <a:bodyPr/>
                    <a:lstStyle/>
                    <a:p>
                      <a:r>
                        <a:rPr lang="en-US" b="1" dirty="0" smtClean="0"/>
                        <a:t>Training</a:t>
                      </a:r>
                      <a:r>
                        <a:rPr lang="en-US" b="1" baseline="0" dirty="0" smtClean="0"/>
                        <a:t> </a:t>
                      </a:r>
                      <a:r>
                        <a:rPr lang="en-US" b="1" dirty="0" smtClean="0"/>
                        <a:t>Error </a:t>
                      </a:r>
                      <a:endParaRPr lang="en-US" b="1" dirty="0"/>
                    </a:p>
                  </a:txBody>
                  <a:tcPr/>
                </a:tc>
                <a:tc>
                  <a:txBody>
                    <a:bodyPr/>
                    <a:lstStyle/>
                    <a:p>
                      <a:r>
                        <a:rPr lang="en-US" b="1" dirty="0" smtClean="0"/>
                        <a:t>Test / </a:t>
                      </a:r>
                      <a:r>
                        <a:rPr lang="en-US" b="1" dirty="0" err="1" smtClean="0"/>
                        <a:t>Generaralization</a:t>
                      </a:r>
                      <a:r>
                        <a:rPr lang="en-US" b="1" dirty="0" smtClean="0"/>
                        <a:t> Error</a:t>
                      </a:r>
                      <a:endParaRPr lang="en-US" b="1" dirty="0"/>
                    </a:p>
                  </a:txBody>
                  <a:tcPr/>
                </a:tc>
                <a:extLst>
                  <a:ext uri="{0D108BD9-81ED-4DB2-BD59-A6C34878D82A}">
                    <a16:rowId xmlns:a16="http://schemas.microsoft.com/office/drawing/2014/main" val="10000"/>
                  </a:ext>
                </a:extLst>
              </a:tr>
              <a:tr h="370840">
                <a:tc>
                  <a:txBody>
                    <a:bodyPr/>
                    <a:lstStyle/>
                    <a:p>
                      <a:r>
                        <a:rPr lang="en-US" dirty="0" smtClean="0"/>
                        <a:t>error measure on the training set called the training error</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error measure on the test set called the test error, </a:t>
                      </a:r>
                      <a:endParaRPr lang="en-US"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a:t>
                      </a:r>
                      <a:r>
                        <a:rPr lang="en-US" baseline="0" dirty="0" smtClean="0"/>
                        <a:t> the model by </a:t>
                      </a:r>
                      <a:r>
                        <a:rPr lang="en-US" dirty="0" smtClean="0"/>
                        <a:t>reducing training error</a:t>
                      </a:r>
                    </a:p>
                    <a:p>
                      <a:endParaRPr lang="en-US" dirty="0" smtClean="0"/>
                    </a:p>
                    <a:p>
                      <a:endParaRPr lang="en-US" dirty="0" smtClean="0"/>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reduce this test error</a:t>
                      </a:r>
                    </a:p>
                    <a:p>
                      <a:endParaRPr lang="en-US" dirty="0"/>
                    </a:p>
                  </a:txBody>
                  <a:tcPr/>
                </a:tc>
                <a:extLst>
                  <a:ext uri="{0D108BD9-81ED-4DB2-BD59-A6C34878D82A}">
                    <a16:rowId xmlns:a16="http://schemas.microsoft.com/office/drawing/2014/main" val="10002"/>
                  </a:ext>
                </a:extLst>
              </a:tr>
            </a:tbl>
          </a:graphicData>
        </a:graphic>
      </p:graphicFrame>
      <p:pic>
        <p:nvPicPr>
          <p:cNvPr id="6" name="Picture 5"/>
          <p:cNvPicPr>
            <a:picLocks noChangeAspect="1"/>
          </p:cNvPicPr>
          <p:nvPr/>
        </p:nvPicPr>
        <p:blipFill>
          <a:blip r:embed="rId2"/>
          <a:stretch>
            <a:fillRect/>
          </a:stretch>
        </p:blipFill>
        <p:spPr>
          <a:xfrm>
            <a:off x="878661" y="2221765"/>
            <a:ext cx="4067743" cy="876422"/>
          </a:xfrm>
          <a:prstGeom prst="rect">
            <a:avLst/>
          </a:prstGeom>
        </p:spPr>
      </p:pic>
      <p:pic>
        <p:nvPicPr>
          <p:cNvPr id="7" name="Picture 6"/>
          <p:cNvPicPr>
            <a:picLocks noChangeAspect="1"/>
          </p:cNvPicPr>
          <p:nvPr/>
        </p:nvPicPr>
        <p:blipFill>
          <a:blip r:embed="rId3"/>
          <a:stretch>
            <a:fillRect/>
          </a:stretch>
        </p:blipFill>
        <p:spPr>
          <a:xfrm>
            <a:off x="6102638" y="2331759"/>
            <a:ext cx="3458058" cy="704948"/>
          </a:xfrm>
          <a:prstGeom prst="rect">
            <a:avLst/>
          </a:prstGeom>
        </p:spPr>
      </p:pic>
      <p:sp>
        <p:nvSpPr>
          <p:cNvPr id="8" name="TextBox 7"/>
          <p:cNvSpPr txBox="1"/>
          <p:nvPr/>
        </p:nvSpPr>
        <p:spPr>
          <a:xfrm>
            <a:off x="556035" y="3242734"/>
            <a:ext cx="11093206" cy="4247317"/>
          </a:xfrm>
          <a:prstGeom prst="rect">
            <a:avLst/>
          </a:prstGeom>
          <a:noFill/>
        </p:spPr>
        <p:txBody>
          <a:bodyPr wrap="square" rtlCol="0">
            <a:spAutoFit/>
          </a:bodyPr>
          <a:lstStyle/>
          <a:p>
            <a:r>
              <a:rPr lang="en-US" b="1" dirty="0" smtClean="0"/>
              <a:t>NOTE:- </a:t>
            </a:r>
            <a:r>
              <a:rPr lang="en-US" dirty="0" smtClean="0"/>
              <a:t>The </a:t>
            </a:r>
            <a:r>
              <a:rPr lang="en-US" b="1" dirty="0" smtClean="0"/>
              <a:t>relation between training </a:t>
            </a:r>
            <a:r>
              <a:rPr lang="en-US" b="1" dirty="0"/>
              <a:t>and test error </a:t>
            </a:r>
            <a:r>
              <a:rPr lang="en-US" dirty="0"/>
              <a:t>is that the expected training error of a randomly selected model is equal to the expected test error of that model. </a:t>
            </a:r>
            <a:endParaRPr lang="en-US" b="1" dirty="0" smtClean="0">
              <a:solidFill>
                <a:srgbClr val="FF0000"/>
              </a:solidFill>
            </a:endParaRPr>
          </a:p>
          <a:p>
            <a:endParaRPr lang="en-US" b="1" dirty="0">
              <a:solidFill>
                <a:srgbClr val="FF0000"/>
              </a:solidFill>
            </a:endParaRPr>
          </a:p>
          <a:p>
            <a:r>
              <a:rPr lang="en-US" b="1" dirty="0" smtClean="0">
                <a:solidFill>
                  <a:srgbClr val="FF0000"/>
                </a:solidFill>
              </a:rPr>
              <a:t>How </a:t>
            </a:r>
            <a:r>
              <a:rPr lang="en-US" b="1" dirty="0">
                <a:solidFill>
                  <a:srgbClr val="FF0000"/>
                </a:solidFill>
              </a:rPr>
              <a:t>can we affect performance on the test set when we get to observe only the training set</a:t>
            </a:r>
            <a:r>
              <a:rPr lang="en-US" b="1" dirty="0" smtClean="0">
                <a:solidFill>
                  <a:srgbClr val="FF0000"/>
                </a:solidFill>
              </a:rPr>
              <a:t>?</a:t>
            </a:r>
          </a:p>
          <a:p>
            <a:r>
              <a:rPr lang="en-US" b="1" dirty="0" err="1" smtClean="0">
                <a:solidFill>
                  <a:srgbClr val="FF0000"/>
                </a:solidFill>
              </a:rPr>
              <a:t>Ans</a:t>
            </a:r>
            <a:r>
              <a:rPr lang="en-US" b="1" dirty="0" smtClean="0">
                <a:solidFill>
                  <a:srgbClr val="FF0000"/>
                </a:solidFill>
              </a:rPr>
              <a:t>:- </a:t>
            </a:r>
            <a:r>
              <a:rPr lang="en-US" dirty="0"/>
              <a:t>statistical learning </a:t>
            </a:r>
            <a:r>
              <a:rPr lang="en-US" dirty="0" smtClean="0"/>
              <a:t>theory</a:t>
            </a:r>
          </a:p>
          <a:p>
            <a:endParaRPr lang="en-US" b="1" dirty="0">
              <a:solidFill>
                <a:srgbClr val="FF0000"/>
              </a:solidFill>
            </a:endParaRPr>
          </a:p>
          <a:p>
            <a:r>
              <a:rPr lang="en-US" dirty="0"/>
              <a:t>The train and test data are generated by a probability distribution over datasets called the </a:t>
            </a:r>
            <a:r>
              <a:rPr lang="en-US" b="1" dirty="0"/>
              <a:t>data generating process</a:t>
            </a:r>
            <a:r>
              <a:rPr lang="en-US" dirty="0" smtClean="0"/>
              <a:t>.</a:t>
            </a:r>
          </a:p>
          <a:p>
            <a:endParaRPr lang="en-US" dirty="0"/>
          </a:p>
          <a:p>
            <a:r>
              <a:rPr lang="en-US" dirty="0"/>
              <a:t>As per </a:t>
            </a:r>
            <a:r>
              <a:rPr lang="en-US" b="1" dirty="0" err="1">
                <a:solidFill>
                  <a:srgbClr val="FF0000"/>
                </a:solidFill>
              </a:rPr>
              <a:t>i.i.d</a:t>
            </a:r>
            <a:r>
              <a:rPr lang="en-US" b="1" dirty="0">
                <a:solidFill>
                  <a:srgbClr val="FF0000"/>
                </a:solidFill>
              </a:rPr>
              <a:t>. assumptions </a:t>
            </a:r>
            <a:r>
              <a:rPr lang="en-US" dirty="0" smtClean="0"/>
              <a:t>we assume </a:t>
            </a:r>
            <a:r>
              <a:rPr lang="en-US" dirty="0"/>
              <a:t>that the examples in each dataset are </a:t>
            </a:r>
            <a:r>
              <a:rPr lang="en-US" b="1" dirty="0"/>
              <a:t>independent</a:t>
            </a:r>
            <a:r>
              <a:rPr lang="en-US" dirty="0"/>
              <a:t> from each other, and that the train set and test set are </a:t>
            </a:r>
            <a:r>
              <a:rPr lang="en-US" b="1" dirty="0"/>
              <a:t>identically distributed</a:t>
            </a:r>
            <a:r>
              <a:rPr lang="en-US" dirty="0"/>
              <a:t>, drawn from the </a:t>
            </a:r>
            <a:r>
              <a:rPr lang="en-US" b="1" dirty="0"/>
              <a:t>same probability distribution </a:t>
            </a:r>
            <a:r>
              <a:rPr lang="en-US" dirty="0"/>
              <a:t>as each other</a:t>
            </a:r>
            <a:r>
              <a:rPr lang="en-US" dirty="0" smtClean="0"/>
              <a:t>.</a:t>
            </a:r>
          </a:p>
          <a:p>
            <a:endParaRPr lang="en-US" dirty="0"/>
          </a:p>
          <a:p>
            <a:r>
              <a:rPr lang="en-US" dirty="0"/>
              <a:t>The same distribution is then used to generate every train example and every test example. We call that shared underlying distribution the data generating distribution, denoted </a:t>
            </a:r>
            <a:r>
              <a:rPr lang="en-US" b="1" i="1" dirty="0" err="1"/>
              <a:t>pdata</a:t>
            </a:r>
            <a:r>
              <a:rPr lang="en-US" dirty="0"/>
              <a:t>.</a:t>
            </a:r>
            <a:endParaRPr lang="en-US" dirty="0" smtClean="0"/>
          </a:p>
          <a:p>
            <a:endParaRPr lang="en-US" b="1" dirty="0">
              <a:solidFill>
                <a:srgbClr val="FF0000"/>
              </a:solidFill>
            </a:endParaRPr>
          </a:p>
          <a:p>
            <a:endParaRPr lang="en-US" b="1" dirty="0">
              <a:solidFill>
                <a:srgbClr val="FF0000"/>
              </a:solidFill>
            </a:endParaRPr>
          </a:p>
        </p:txBody>
      </p:sp>
    </p:spTree>
    <p:extLst>
      <p:ext uri="{BB962C8B-B14F-4D97-AF65-F5344CB8AC3E}">
        <p14:creationId xmlns:p14="http://schemas.microsoft.com/office/powerpoint/2010/main" val="3157829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8733" y="237067"/>
            <a:ext cx="11438467" cy="2308324"/>
          </a:xfrm>
          <a:prstGeom prst="rect">
            <a:avLst/>
          </a:prstGeom>
          <a:noFill/>
        </p:spPr>
        <p:txBody>
          <a:bodyPr wrap="square" rtlCol="0">
            <a:spAutoFit/>
          </a:bodyPr>
          <a:lstStyle/>
          <a:p>
            <a:r>
              <a:rPr lang="en-US" dirty="0"/>
              <a:t>The factors determining how well a machine learning algorithm will perform are its ability to</a:t>
            </a:r>
            <a:r>
              <a:rPr lang="en-US" dirty="0" smtClean="0"/>
              <a:t>:</a:t>
            </a:r>
          </a:p>
          <a:p>
            <a:r>
              <a:rPr lang="en-US" dirty="0" smtClean="0"/>
              <a:t>1</a:t>
            </a:r>
            <a:r>
              <a:rPr lang="en-US" dirty="0"/>
              <a:t>. Make the training error small. </a:t>
            </a:r>
            <a:endParaRPr lang="en-US" dirty="0" smtClean="0"/>
          </a:p>
          <a:p>
            <a:r>
              <a:rPr lang="en-US" dirty="0" smtClean="0"/>
              <a:t>2</a:t>
            </a:r>
            <a:r>
              <a:rPr lang="en-US" dirty="0"/>
              <a:t>. Make the gap between training and test error small</a:t>
            </a:r>
            <a:r>
              <a:rPr lang="en-US" dirty="0" smtClean="0"/>
              <a:t>.</a:t>
            </a:r>
          </a:p>
          <a:p>
            <a:endParaRPr lang="en-US" dirty="0" smtClean="0"/>
          </a:p>
          <a:p>
            <a:r>
              <a:rPr lang="en-US" dirty="0"/>
              <a:t>These two factors correspond to the two central challenges in machine learning</a:t>
            </a:r>
            <a:r>
              <a:rPr lang="en-US" b="1" dirty="0"/>
              <a:t>: </a:t>
            </a:r>
            <a:r>
              <a:rPr lang="en-US" b="1" dirty="0" err="1"/>
              <a:t>underfitting</a:t>
            </a:r>
            <a:r>
              <a:rPr lang="en-US" b="1" dirty="0"/>
              <a:t> and </a:t>
            </a:r>
            <a:r>
              <a:rPr lang="en-US" b="1" dirty="0" err="1"/>
              <a:t>overfitting</a:t>
            </a:r>
            <a:r>
              <a:rPr lang="en-US" dirty="0" smtClean="0"/>
              <a:t>.</a:t>
            </a:r>
          </a:p>
          <a:p>
            <a:endParaRPr lang="en-US" dirty="0"/>
          </a:p>
          <a:p>
            <a:r>
              <a:rPr lang="en-US" dirty="0" smtClean="0"/>
              <a:t> </a:t>
            </a:r>
          </a:p>
          <a:p>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3004664667"/>
              </p:ext>
            </p:extLst>
          </p:nvPr>
        </p:nvGraphicFramePr>
        <p:xfrm>
          <a:off x="939800" y="1803711"/>
          <a:ext cx="8128000" cy="4851400"/>
        </p:xfrm>
        <a:graphic>
          <a:graphicData uri="http://schemas.openxmlformats.org/drawingml/2006/table">
            <a:tbl>
              <a:tblPr firstRow="1" bandRow="1"/>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r>
                        <a:rPr lang="en-US" b="1" dirty="0" err="1" smtClean="0"/>
                        <a:t>Underfitting</a:t>
                      </a:r>
                      <a:endParaRPr lang="en-US" b="1" dirty="0"/>
                    </a:p>
                  </a:txBody>
                  <a:tcPr/>
                </a:tc>
                <a:tc>
                  <a:txBody>
                    <a:bodyPr/>
                    <a:lstStyle/>
                    <a:p>
                      <a:r>
                        <a:rPr lang="en-US" b="1" dirty="0" err="1" smtClean="0"/>
                        <a:t>Overfitting</a:t>
                      </a:r>
                      <a:endParaRPr lang="en-US" b="1" dirty="0"/>
                    </a:p>
                  </a:txBody>
                  <a:tcPr/>
                </a:tc>
                <a:extLst>
                  <a:ext uri="{0D108BD9-81ED-4DB2-BD59-A6C34878D82A}">
                    <a16:rowId xmlns:a16="http://schemas.microsoft.com/office/drawing/2014/main" val="10000"/>
                  </a:ext>
                </a:extLst>
              </a:tr>
              <a:tr h="370840">
                <a:tc>
                  <a:txBody>
                    <a:bodyPr/>
                    <a:lstStyle/>
                    <a:p>
                      <a:r>
                        <a:rPr lang="en-US" sz="1800" b="0" i="0" kern="1200" dirty="0" smtClean="0">
                          <a:solidFill>
                            <a:schemeClr val="tx1"/>
                          </a:solidFill>
                          <a:effectLst/>
                          <a:latin typeface="+mn-lt"/>
                          <a:ea typeface="+mn-ea"/>
                          <a:cs typeface="+mn-cs"/>
                        </a:rPr>
                        <a:t>In </a:t>
                      </a:r>
                      <a:r>
                        <a:rPr lang="en-US" sz="1800" b="0" i="0" kern="1200" dirty="0" err="1" smtClean="0">
                          <a:solidFill>
                            <a:schemeClr val="tx1"/>
                          </a:solidFill>
                          <a:effectLst/>
                          <a:latin typeface="+mn-lt"/>
                          <a:ea typeface="+mn-ea"/>
                          <a:cs typeface="+mn-cs"/>
                        </a:rPr>
                        <a:t>underfitting</a:t>
                      </a:r>
                      <a:r>
                        <a:rPr lang="en-US" sz="1800" b="0" i="0" kern="1200" dirty="0" smtClean="0">
                          <a:solidFill>
                            <a:schemeClr val="tx1"/>
                          </a:solidFill>
                          <a:effectLst/>
                          <a:latin typeface="+mn-lt"/>
                          <a:ea typeface="+mn-ea"/>
                          <a:cs typeface="+mn-cs"/>
                        </a:rPr>
                        <a:t>, the machine learning model is not able to capture the underlying trend of the data.</a:t>
                      </a:r>
                      <a:endParaRPr lang="en-US" dirty="0"/>
                    </a:p>
                  </a:txBody>
                  <a:tcPr/>
                </a:tc>
                <a:tc>
                  <a:txBody>
                    <a:bodyPr/>
                    <a:lstStyle/>
                    <a:p>
                      <a:r>
                        <a:rPr lang="en-US" sz="1800" b="0" i="0" kern="1200" dirty="0" err="1" smtClean="0">
                          <a:solidFill>
                            <a:schemeClr val="tx1"/>
                          </a:solidFill>
                          <a:effectLst/>
                          <a:latin typeface="+mn-lt"/>
                          <a:ea typeface="+mn-ea"/>
                          <a:cs typeface="+mn-cs"/>
                        </a:rPr>
                        <a:t>Overfitting</a:t>
                      </a:r>
                      <a:r>
                        <a:rPr lang="en-US" sz="1800" b="0" i="0" kern="1200" dirty="0" smtClean="0">
                          <a:solidFill>
                            <a:schemeClr val="tx1"/>
                          </a:solidFill>
                          <a:effectLst/>
                          <a:latin typeface="+mn-lt"/>
                          <a:ea typeface="+mn-ea"/>
                          <a:cs typeface="+mn-cs"/>
                        </a:rPr>
                        <a:t> refers to a scenario when the </a:t>
                      </a:r>
                      <a:r>
                        <a:rPr lang="en-US" sz="1800" b="0" i="0" u="sng" kern="1200" dirty="0" smtClean="0">
                          <a:solidFill>
                            <a:schemeClr val="tx1"/>
                          </a:solidFill>
                          <a:effectLst/>
                          <a:latin typeface="+mn-lt"/>
                          <a:ea typeface="+mn-ea"/>
                          <a:cs typeface="+mn-cs"/>
                        </a:rPr>
                        <a:t>model tries to cover all the data points </a:t>
                      </a:r>
                      <a:r>
                        <a:rPr lang="en-US" sz="1800" b="0" i="0" kern="1200" dirty="0" smtClean="0">
                          <a:solidFill>
                            <a:schemeClr val="tx1"/>
                          </a:solidFill>
                          <a:effectLst/>
                          <a:latin typeface="+mn-lt"/>
                          <a:ea typeface="+mn-ea"/>
                          <a:cs typeface="+mn-cs"/>
                        </a:rPr>
                        <a:t>present in the given dataset. As a result, the model starts caching noise and inaccurate values present in the dataset and then reduces the efficiency and accuracy of the model</a:t>
                      </a:r>
                    </a:p>
                    <a:p>
                      <a:endParaRPr lang="en-US" sz="1800" b="0" i="0" kern="1200" dirty="0" smtClean="0">
                        <a:solidFill>
                          <a:schemeClr val="tx1"/>
                        </a:solidFill>
                        <a:effectLst/>
                        <a:latin typeface="+mn-lt"/>
                        <a:ea typeface="+mn-ea"/>
                        <a:cs typeface="+mn-cs"/>
                      </a:endParaRP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a:p>
                  </a:txBody>
                  <a:tcPr/>
                </a:tc>
                <a:extLst>
                  <a:ext uri="{0D108BD9-81ED-4DB2-BD59-A6C34878D82A}">
                    <a16:rowId xmlns:a16="http://schemas.microsoft.com/office/drawing/2014/main" val="10001"/>
                  </a:ext>
                </a:extLst>
              </a:tr>
            </a:tbl>
          </a:graphicData>
        </a:graphic>
      </p:graphicFrame>
      <p:pic>
        <p:nvPicPr>
          <p:cNvPr id="4" name="Picture 3"/>
          <p:cNvPicPr>
            <a:picLocks noChangeAspect="1"/>
          </p:cNvPicPr>
          <p:nvPr/>
        </p:nvPicPr>
        <p:blipFill>
          <a:blip r:embed="rId2"/>
          <a:stretch>
            <a:fillRect/>
          </a:stretch>
        </p:blipFill>
        <p:spPr>
          <a:xfrm>
            <a:off x="5053250" y="4294716"/>
            <a:ext cx="3933057" cy="2216150"/>
          </a:xfrm>
          <a:prstGeom prst="rect">
            <a:avLst/>
          </a:prstGeom>
        </p:spPr>
      </p:pic>
      <p:pic>
        <p:nvPicPr>
          <p:cNvPr id="5" name="Picture 4"/>
          <p:cNvPicPr>
            <a:picLocks noChangeAspect="1"/>
          </p:cNvPicPr>
          <p:nvPr/>
        </p:nvPicPr>
        <p:blipFill>
          <a:blip r:embed="rId3"/>
          <a:stretch>
            <a:fillRect/>
          </a:stretch>
        </p:blipFill>
        <p:spPr>
          <a:xfrm>
            <a:off x="1157287" y="4294716"/>
            <a:ext cx="3546682" cy="2216150"/>
          </a:xfrm>
          <a:prstGeom prst="rect">
            <a:avLst/>
          </a:prstGeom>
        </p:spPr>
      </p:pic>
    </p:spTree>
    <p:extLst>
      <p:ext uri="{BB962C8B-B14F-4D97-AF65-F5344CB8AC3E}">
        <p14:creationId xmlns:p14="http://schemas.microsoft.com/office/powerpoint/2010/main" val="30185125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1734" y="211667"/>
            <a:ext cx="11345334" cy="5632311"/>
          </a:xfrm>
          <a:prstGeom prst="rect">
            <a:avLst/>
          </a:prstGeom>
          <a:noFill/>
        </p:spPr>
        <p:txBody>
          <a:bodyPr wrap="square" rtlCol="0">
            <a:spAutoFit/>
          </a:bodyPr>
          <a:lstStyle/>
          <a:p>
            <a:r>
              <a:rPr lang="en-US" dirty="0"/>
              <a:t>We can control whether a model is more likely to </a:t>
            </a:r>
            <a:r>
              <a:rPr lang="en-US" dirty="0" err="1"/>
              <a:t>overfit</a:t>
            </a:r>
            <a:r>
              <a:rPr lang="en-US" dirty="0"/>
              <a:t> or </a:t>
            </a:r>
            <a:r>
              <a:rPr lang="en-US" dirty="0" err="1"/>
              <a:t>underfit</a:t>
            </a:r>
            <a:r>
              <a:rPr lang="en-US" dirty="0"/>
              <a:t> by altering its </a:t>
            </a:r>
            <a:r>
              <a:rPr lang="en-US" b="1" dirty="0"/>
              <a:t>capacity</a:t>
            </a:r>
            <a:r>
              <a:rPr lang="en-US" dirty="0" smtClean="0"/>
              <a:t>.</a:t>
            </a:r>
          </a:p>
          <a:p>
            <a:r>
              <a:rPr lang="en-US" dirty="0" smtClean="0"/>
              <a:t>Model’s </a:t>
            </a:r>
            <a:r>
              <a:rPr lang="en-US" b="1" u="sng" dirty="0"/>
              <a:t>capacity</a:t>
            </a:r>
            <a:r>
              <a:rPr lang="en-US" dirty="0"/>
              <a:t> is its ability to fit a wide variety </a:t>
            </a:r>
            <a:r>
              <a:rPr lang="en-US" dirty="0" smtClean="0"/>
              <a:t>of functions.</a:t>
            </a:r>
          </a:p>
          <a:p>
            <a:r>
              <a:rPr lang="en-US" b="1" u="sng" dirty="0" smtClean="0">
                <a:solidFill>
                  <a:srgbClr val="FF0000"/>
                </a:solidFill>
              </a:rPr>
              <a:t>NOTE:-</a:t>
            </a:r>
          </a:p>
          <a:p>
            <a:r>
              <a:rPr lang="en-US" dirty="0" smtClean="0"/>
              <a:t>Models </a:t>
            </a:r>
            <a:r>
              <a:rPr lang="en-US" dirty="0"/>
              <a:t>with low capacity may struggle to fit the training set. </a:t>
            </a:r>
            <a:endParaRPr lang="en-US" dirty="0" smtClean="0"/>
          </a:p>
          <a:p>
            <a:r>
              <a:rPr lang="en-US" dirty="0" smtClean="0"/>
              <a:t>Models </a:t>
            </a:r>
            <a:r>
              <a:rPr lang="en-US" dirty="0"/>
              <a:t>with high capacity can </a:t>
            </a:r>
            <a:r>
              <a:rPr lang="en-US" dirty="0" err="1"/>
              <a:t>overfit</a:t>
            </a:r>
            <a:r>
              <a:rPr lang="en-US" dirty="0"/>
              <a:t> by memorizing properties of the training set that do not serve them well </a:t>
            </a:r>
            <a:r>
              <a:rPr lang="en-US" dirty="0" smtClean="0"/>
              <a:t>test set</a:t>
            </a:r>
          </a:p>
          <a:p>
            <a:endParaRPr lang="en-US" dirty="0"/>
          </a:p>
          <a:p>
            <a:r>
              <a:rPr lang="en-US" dirty="0"/>
              <a:t>One way to control the capacity of a learning algorithm is by choosing its hypothesis space, the set of functions that the learning algorithm is allowed to select as being the </a:t>
            </a:r>
            <a:r>
              <a:rPr lang="en-US" dirty="0" smtClean="0"/>
              <a:t>solution</a:t>
            </a:r>
          </a:p>
          <a:p>
            <a:endParaRPr lang="en-US" dirty="0"/>
          </a:p>
          <a:p>
            <a:r>
              <a:rPr lang="en-US" dirty="0"/>
              <a:t>For example, the linear regression algorithm has the set of all linear functions of its input as its hypothesis space. </a:t>
            </a:r>
            <a:endParaRPr lang="en-US" dirty="0" smtClean="0"/>
          </a:p>
          <a:p>
            <a:endParaRPr lang="en-US" dirty="0" smtClean="0"/>
          </a:p>
          <a:p>
            <a:r>
              <a:rPr lang="en-US" dirty="0" smtClean="0"/>
              <a:t>The linear </a:t>
            </a:r>
            <a:r>
              <a:rPr lang="en-US" dirty="0"/>
              <a:t>function is unable to capture the curvature in the true underlying problem, so it </a:t>
            </a:r>
            <a:r>
              <a:rPr lang="en-US" dirty="0" err="1"/>
              <a:t>underfits</a:t>
            </a:r>
            <a:r>
              <a:rPr lang="en-US" dirty="0" smtClean="0"/>
              <a:t>.</a:t>
            </a:r>
          </a:p>
          <a:p>
            <a:r>
              <a:rPr lang="en-US" b="1" dirty="0" smtClean="0"/>
              <a:t>To increase the capacity </a:t>
            </a:r>
            <a:r>
              <a:rPr lang="en-US" dirty="0" smtClean="0"/>
              <a:t>of the model for </a:t>
            </a:r>
            <a:r>
              <a:rPr lang="en-US" dirty="0"/>
              <a:t>linear </a:t>
            </a:r>
            <a:r>
              <a:rPr lang="en-US" dirty="0" smtClean="0"/>
              <a:t>regression, we </a:t>
            </a:r>
            <a:r>
              <a:rPr lang="en-US" b="1" dirty="0" smtClean="0"/>
              <a:t>include </a:t>
            </a:r>
            <a:r>
              <a:rPr lang="en-US" b="1" dirty="0"/>
              <a:t>polynomials, rather than just linear functions, in its hypothesis space. </a:t>
            </a:r>
          </a:p>
          <a:p>
            <a:endParaRPr lang="en-US" dirty="0" smtClean="0"/>
          </a:p>
          <a:p>
            <a:endParaRPr lang="en-US" dirty="0"/>
          </a:p>
          <a:p>
            <a:endParaRPr lang="en-US" dirty="0" smtClean="0"/>
          </a:p>
          <a:p>
            <a:endParaRPr lang="en-US" dirty="0" smtClean="0"/>
          </a:p>
          <a:p>
            <a:endParaRPr lang="en-US" dirty="0" smtClean="0"/>
          </a:p>
          <a:p>
            <a:endParaRPr lang="en-US" dirty="0"/>
          </a:p>
        </p:txBody>
      </p:sp>
      <p:pic>
        <p:nvPicPr>
          <p:cNvPr id="3" name="Picture 2"/>
          <p:cNvPicPr>
            <a:picLocks noChangeAspect="1"/>
          </p:cNvPicPr>
          <p:nvPr/>
        </p:nvPicPr>
        <p:blipFill>
          <a:blip r:embed="rId2"/>
          <a:stretch>
            <a:fillRect/>
          </a:stretch>
        </p:blipFill>
        <p:spPr>
          <a:xfrm>
            <a:off x="321734" y="4355452"/>
            <a:ext cx="10802858" cy="1769189"/>
          </a:xfrm>
          <a:prstGeom prst="rect">
            <a:avLst/>
          </a:prstGeom>
        </p:spPr>
      </p:pic>
    </p:spTree>
    <p:extLst>
      <p:ext uri="{BB962C8B-B14F-4D97-AF65-F5344CB8AC3E}">
        <p14:creationId xmlns:p14="http://schemas.microsoft.com/office/powerpoint/2010/main" val="819349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6467" y="313267"/>
            <a:ext cx="11319933" cy="6186309"/>
          </a:xfrm>
          <a:prstGeom prst="rect">
            <a:avLst/>
          </a:prstGeom>
          <a:noFill/>
        </p:spPr>
        <p:txBody>
          <a:bodyPr wrap="square" rtlCol="0">
            <a:spAutoFit/>
          </a:bodyPr>
          <a:lstStyle/>
          <a:p>
            <a:r>
              <a:rPr lang="en-US" dirty="0"/>
              <a:t>Models </a:t>
            </a:r>
            <a:r>
              <a:rPr lang="en-US" b="1" dirty="0"/>
              <a:t>with insufficient capacity </a:t>
            </a:r>
            <a:r>
              <a:rPr lang="en-US" dirty="0"/>
              <a:t>are unable to solve complex </a:t>
            </a:r>
            <a:r>
              <a:rPr lang="en-US" dirty="0" smtClean="0"/>
              <a:t>tasks (</a:t>
            </a:r>
            <a:r>
              <a:rPr lang="en-US" b="1" dirty="0" err="1" smtClean="0"/>
              <a:t>underfit</a:t>
            </a:r>
            <a:r>
              <a:rPr lang="en-US" dirty="0" smtClean="0"/>
              <a:t>). </a:t>
            </a:r>
            <a:r>
              <a:rPr lang="en-US" dirty="0"/>
              <a:t>Models </a:t>
            </a:r>
            <a:r>
              <a:rPr lang="en-US" b="1" dirty="0"/>
              <a:t>with high capacity </a:t>
            </a:r>
            <a:r>
              <a:rPr lang="en-US" dirty="0"/>
              <a:t>can solve complex tasks, but when their capacity is higher than needed to solve the present task they may </a:t>
            </a:r>
            <a:r>
              <a:rPr lang="en-US" b="1" dirty="0" err="1"/>
              <a:t>overfit</a:t>
            </a:r>
            <a:r>
              <a:rPr lang="en-US" dirty="0" smtClean="0"/>
              <a:t>.</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pic>
        <p:nvPicPr>
          <p:cNvPr id="3" name="Picture 2"/>
          <p:cNvPicPr>
            <a:picLocks noChangeAspect="1"/>
          </p:cNvPicPr>
          <p:nvPr/>
        </p:nvPicPr>
        <p:blipFill>
          <a:blip r:embed="rId2"/>
          <a:stretch>
            <a:fillRect/>
          </a:stretch>
        </p:blipFill>
        <p:spPr>
          <a:xfrm>
            <a:off x="516466" y="1938867"/>
            <a:ext cx="10888133" cy="5060762"/>
          </a:xfrm>
          <a:prstGeom prst="rect">
            <a:avLst/>
          </a:prstGeom>
        </p:spPr>
      </p:pic>
      <p:pic>
        <p:nvPicPr>
          <p:cNvPr id="4" name="Picture 3"/>
          <p:cNvPicPr>
            <a:picLocks noChangeAspect="1"/>
          </p:cNvPicPr>
          <p:nvPr/>
        </p:nvPicPr>
        <p:blipFill>
          <a:blip r:embed="rId3"/>
          <a:stretch>
            <a:fillRect/>
          </a:stretch>
        </p:blipFill>
        <p:spPr>
          <a:xfrm>
            <a:off x="516465" y="964154"/>
            <a:ext cx="11060184" cy="974713"/>
          </a:xfrm>
          <a:prstGeom prst="rect">
            <a:avLst/>
          </a:prstGeom>
        </p:spPr>
      </p:pic>
    </p:spTree>
    <p:extLst>
      <p:ext uri="{BB962C8B-B14F-4D97-AF65-F5344CB8AC3E}">
        <p14:creationId xmlns:p14="http://schemas.microsoft.com/office/powerpoint/2010/main" val="29004999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98722" y="712273"/>
            <a:ext cx="11114782" cy="6145727"/>
          </a:xfrm>
          <a:prstGeom prst="rect">
            <a:avLst/>
          </a:prstGeom>
        </p:spPr>
      </p:pic>
      <p:sp>
        <p:nvSpPr>
          <p:cNvPr id="5" name="TextBox 4"/>
          <p:cNvSpPr txBox="1"/>
          <p:nvPr/>
        </p:nvSpPr>
        <p:spPr>
          <a:xfrm>
            <a:off x="567267" y="152400"/>
            <a:ext cx="9135533" cy="369332"/>
          </a:xfrm>
          <a:prstGeom prst="rect">
            <a:avLst/>
          </a:prstGeom>
          <a:noFill/>
        </p:spPr>
        <p:txBody>
          <a:bodyPr wrap="square" rtlCol="0">
            <a:spAutoFit/>
          </a:bodyPr>
          <a:lstStyle/>
          <a:p>
            <a:r>
              <a:rPr lang="en-US" b="1" u="sng" dirty="0" smtClean="0">
                <a:solidFill>
                  <a:srgbClr val="FF0000"/>
                </a:solidFill>
              </a:rPr>
              <a:t>Relation between Capacity and Generalization Error</a:t>
            </a:r>
            <a:endParaRPr lang="en-US" b="1" u="sng" dirty="0">
              <a:solidFill>
                <a:srgbClr val="FF0000"/>
              </a:solidFill>
            </a:endParaRPr>
          </a:p>
        </p:txBody>
      </p:sp>
    </p:spTree>
    <p:extLst>
      <p:ext uri="{BB962C8B-B14F-4D97-AF65-F5344CB8AC3E}">
        <p14:creationId xmlns:p14="http://schemas.microsoft.com/office/powerpoint/2010/main" val="2529614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75503" y="387178"/>
            <a:ext cx="11104605" cy="5909310"/>
          </a:xfrm>
          <a:prstGeom prst="rect">
            <a:avLst/>
          </a:prstGeom>
          <a:noFill/>
        </p:spPr>
        <p:txBody>
          <a:bodyPr wrap="square" rtlCol="0">
            <a:spAutoFit/>
          </a:bodyPr>
          <a:lstStyle/>
          <a:p>
            <a:r>
              <a:rPr lang="en-US" b="1"/>
              <a:t>The No Free Lunch </a:t>
            </a:r>
            <a:r>
              <a:rPr lang="en-US" b="1" smtClean="0"/>
              <a:t>Theorem</a:t>
            </a:r>
          </a:p>
          <a:p>
            <a:endParaRPr lang="en-US" smtClean="0"/>
          </a:p>
          <a:p>
            <a:endParaRPr lang="en-US"/>
          </a:p>
          <a:p>
            <a:r>
              <a:rPr lang="en-US" i="1"/>
              <a:t>There are </a:t>
            </a:r>
            <a:r>
              <a:rPr lang="en-US" b="1" i="1"/>
              <a:t>two No Free Lunch (NFL) theorems in general:</a:t>
            </a:r>
            <a:r>
              <a:rPr lang="en-US" i="1"/>
              <a:t> one for machine learning and one for search and optimization. These two theorems are connected and are frequently combined into a single general postulate (the folklore theorem</a:t>
            </a:r>
            <a:r>
              <a:rPr lang="en-US" i="1" smtClean="0"/>
              <a:t>).</a:t>
            </a:r>
          </a:p>
          <a:p>
            <a:endParaRPr lang="en-US" i="1"/>
          </a:p>
          <a:p>
            <a:endParaRPr lang="en-US" i="1" smtClean="0"/>
          </a:p>
          <a:p>
            <a:endParaRPr lang="en-US" i="1"/>
          </a:p>
          <a:p>
            <a:endParaRPr lang="en-US" i="1" smtClean="0"/>
          </a:p>
          <a:p>
            <a:endParaRPr lang="en-US" i="1"/>
          </a:p>
          <a:p>
            <a:endParaRPr lang="en-US" i="1" smtClean="0"/>
          </a:p>
          <a:p>
            <a:endParaRPr lang="en-US" i="1"/>
          </a:p>
          <a:p>
            <a:endParaRPr lang="en-US" i="1" smtClean="0"/>
          </a:p>
          <a:p>
            <a:endParaRPr lang="en-US" i="1"/>
          </a:p>
          <a:p>
            <a:endParaRPr lang="en-US" i="1" smtClean="0"/>
          </a:p>
          <a:p>
            <a:endParaRPr lang="en-US" i="1"/>
          </a:p>
          <a:p>
            <a:endParaRPr lang="en-US" i="1" smtClean="0"/>
          </a:p>
          <a:p>
            <a:endParaRPr lang="en-US" i="1"/>
          </a:p>
          <a:p>
            <a:endParaRPr lang="en-US" i="1" smtClean="0"/>
          </a:p>
          <a:p>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29080001"/>
              </p:ext>
            </p:extLst>
          </p:nvPr>
        </p:nvGraphicFramePr>
        <p:xfrm>
          <a:off x="771609" y="2342520"/>
          <a:ext cx="10621320" cy="3657600"/>
        </p:xfrm>
        <a:graphic>
          <a:graphicData uri="http://schemas.openxmlformats.org/drawingml/2006/table">
            <a:tbl>
              <a:tblPr firstRow="1" bandRow="1"/>
              <a:tblGrid>
                <a:gridCol w="5310660">
                  <a:extLst>
                    <a:ext uri="{9D8B030D-6E8A-4147-A177-3AD203B41FA5}">
                      <a16:colId xmlns:a16="http://schemas.microsoft.com/office/drawing/2014/main" val="20000"/>
                    </a:ext>
                  </a:extLst>
                </a:gridCol>
                <a:gridCol w="5310660">
                  <a:extLst>
                    <a:ext uri="{9D8B030D-6E8A-4147-A177-3AD203B41FA5}">
                      <a16:colId xmlns:a16="http://schemas.microsoft.com/office/drawing/2014/main" val="20001"/>
                    </a:ext>
                  </a:extLst>
                </a:gridCol>
              </a:tblGrid>
              <a:tr h="370840">
                <a:tc>
                  <a:txBody>
                    <a:bodyPr/>
                    <a:lstStyle/>
                    <a:p>
                      <a:r>
                        <a:rPr lang="en-US" sz="1800" b="0" i="0" kern="1200" smtClean="0">
                          <a:solidFill>
                            <a:schemeClr val="tx1"/>
                          </a:solidFill>
                          <a:effectLst/>
                          <a:latin typeface="+mn-lt"/>
                          <a:ea typeface="+mn-ea"/>
                          <a:cs typeface="+mn-cs"/>
                        </a:rPr>
                        <a:t>According to the “No Free Lunch” theory, there is no one model that works best for every situation.</a:t>
                      </a:r>
                    </a:p>
                    <a:p>
                      <a:endParaRPr lang="en-US" sz="1800" b="0" i="0" kern="1200" smtClean="0">
                        <a:solidFill>
                          <a:schemeClr val="tx1"/>
                        </a:solidFill>
                        <a:effectLst/>
                        <a:latin typeface="+mn-lt"/>
                        <a:ea typeface="+mn-ea"/>
                        <a:cs typeface="+mn-cs"/>
                      </a:endParaRPr>
                    </a:p>
                    <a:p>
                      <a:endParaRPr lang="en-US" sz="1800" b="0" i="0" kern="1200" smtClean="0">
                        <a:solidFill>
                          <a:schemeClr val="tx1"/>
                        </a:solidFill>
                        <a:effectLst/>
                        <a:latin typeface="+mn-lt"/>
                        <a:ea typeface="+mn-ea"/>
                        <a:cs typeface="+mn-cs"/>
                      </a:endParaRPr>
                    </a:p>
                    <a:p>
                      <a:endParaRPr lang="en-US" smtClean="0"/>
                    </a:p>
                    <a:p>
                      <a:endParaRPr lang="en-US" smtClean="0"/>
                    </a:p>
                    <a:p>
                      <a:endParaRPr lang="en-US" smtClean="0"/>
                    </a:p>
                    <a:p>
                      <a:endParaRPr lang="en-US" smtClean="0"/>
                    </a:p>
                    <a:p>
                      <a:endParaRPr lang="en-US" smtClean="0"/>
                    </a:p>
                    <a:p>
                      <a:endParaRPr lang="en-US" smtClean="0"/>
                    </a:p>
                    <a:p>
                      <a:endParaRPr lang="en-US" smtClean="0"/>
                    </a:p>
                    <a:p>
                      <a:endParaRPr lang="en-US" smtClean="0"/>
                    </a:p>
                    <a:p>
                      <a:endParaRPr lang="en-US"/>
                    </a:p>
                  </a:txBody>
                  <a:tcPr/>
                </a:tc>
                <a:tc>
                  <a:txBody>
                    <a:bodyPr/>
                    <a:lstStyle/>
                    <a:p>
                      <a:r>
                        <a:rPr lang="en-US" sz="1800" b="1" i="0" kern="1200" smtClean="0">
                          <a:solidFill>
                            <a:schemeClr val="tx1"/>
                          </a:solidFill>
                          <a:effectLst/>
                          <a:latin typeface="+mn-lt"/>
                          <a:ea typeface="+mn-ea"/>
                          <a:cs typeface="+mn-cs"/>
                        </a:rPr>
                        <a:t>According to the “No Free Lunch” theorem,</a:t>
                      </a:r>
                      <a:r>
                        <a:rPr lang="en-US" sz="1800" b="0" i="0" kern="1200" smtClean="0">
                          <a:solidFill>
                            <a:schemeClr val="tx1"/>
                          </a:solidFill>
                          <a:effectLst/>
                          <a:latin typeface="+mn-lt"/>
                          <a:ea typeface="+mn-ea"/>
                          <a:cs typeface="+mn-cs"/>
                        </a:rPr>
                        <a:t> all optimization methods perform equally well when averaged over all optimization tasks without re-sampling. </a:t>
                      </a:r>
                      <a:endParaRPr lang="en-US"/>
                    </a:p>
                  </a:txBody>
                  <a:tcPr/>
                </a:tc>
                <a:extLst>
                  <a:ext uri="{0D108BD9-81ED-4DB2-BD59-A6C34878D82A}">
                    <a16:rowId xmlns:a16="http://schemas.microsoft.com/office/drawing/2014/main" val="10000"/>
                  </a:ext>
                </a:extLst>
              </a:tr>
            </a:tbl>
          </a:graphicData>
        </a:graphic>
      </p:graphicFrame>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0876" y="3059369"/>
            <a:ext cx="3986084" cy="2471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96466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24674" y="0"/>
            <a:ext cx="11353520" cy="4119811"/>
          </a:xfrm>
          <a:prstGeom prst="rect">
            <a:avLst/>
          </a:prstGeom>
        </p:spPr>
      </p:pic>
      <p:graphicFrame>
        <p:nvGraphicFramePr>
          <p:cNvPr id="4" name="Table 3"/>
          <p:cNvGraphicFramePr>
            <a:graphicFrameLocks noGrp="1"/>
          </p:cNvGraphicFramePr>
          <p:nvPr>
            <p:extLst/>
          </p:nvPr>
        </p:nvGraphicFramePr>
        <p:xfrm>
          <a:off x="638628" y="4629815"/>
          <a:ext cx="11039566" cy="2286000"/>
        </p:xfrm>
        <a:graphic>
          <a:graphicData uri="http://schemas.openxmlformats.org/drawingml/2006/table">
            <a:tbl>
              <a:tblPr firstRow="1" bandRow="1"/>
              <a:tblGrid>
                <a:gridCol w="5519783">
                  <a:extLst>
                    <a:ext uri="{9D8B030D-6E8A-4147-A177-3AD203B41FA5}">
                      <a16:colId xmlns:a16="http://schemas.microsoft.com/office/drawing/2014/main" val="375816610"/>
                    </a:ext>
                  </a:extLst>
                </a:gridCol>
                <a:gridCol w="5519783">
                  <a:extLst>
                    <a:ext uri="{9D8B030D-6E8A-4147-A177-3AD203B41FA5}">
                      <a16:colId xmlns:a16="http://schemas.microsoft.com/office/drawing/2014/main" val="890871700"/>
                    </a:ext>
                  </a:extLst>
                </a:gridCol>
              </a:tblGrid>
              <a:tr h="370840">
                <a:tc>
                  <a:txBody>
                    <a:bodyPr/>
                    <a:lstStyle/>
                    <a:p>
                      <a:endParaRPr lang="en-IN" smtClean="0"/>
                    </a:p>
                    <a:p>
                      <a:endParaRPr lang="en-IN" smtClean="0"/>
                    </a:p>
                    <a:p>
                      <a:endParaRPr lang="en-IN" smtClean="0"/>
                    </a:p>
                    <a:p>
                      <a:endParaRPr lang="en-IN" smtClean="0"/>
                    </a:p>
                    <a:p>
                      <a:endParaRPr lang="en-IN" smtClean="0"/>
                    </a:p>
                    <a:p>
                      <a:endParaRPr lang="en-IN" smtClean="0"/>
                    </a:p>
                    <a:p>
                      <a:endParaRPr lang="en-IN" smtClean="0"/>
                    </a:p>
                    <a:p>
                      <a:endParaRPr lang="en-IN"/>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smtClean="0">
                          <a:solidFill>
                            <a:srgbClr val="FF0000"/>
                          </a:solidFill>
                        </a:rPr>
                        <a:t>Regularization helps prevent overfitting by penalizing large weights.</a:t>
                      </a:r>
                      <a:r>
                        <a:rPr lang="en-US" smtClean="0"/>
                        <a:t> So that</a:t>
                      </a:r>
                      <a:r>
                        <a:rPr lang="en-US" baseline="0" smtClean="0"/>
                        <a:t> while training model doesnot memorize the things instead it lears form data.</a:t>
                      </a:r>
                      <a:endParaRPr lang="en-US"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mtClean="0"/>
                        <a:t>The </a:t>
                      </a:r>
                      <a:r>
                        <a:rPr lang="en-US" b="1" smtClean="0">
                          <a:solidFill>
                            <a:srgbClr val="FF0000"/>
                          </a:solidFill>
                        </a:rPr>
                        <a:t>hyperparameter λ</a:t>
                      </a:r>
                      <a:r>
                        <a:rPr lang="en-US" smtClean="0"/>
                        <a:t> determines the trade-off between fitting</a:t>
                      </a:r>
                      <a:r>
                        <a:rPr lang="en-US" baseline="0" smtClean="0"/>
                        <a:t> the training data </a:t>
                      </a:r>
                      <a:r>
                        <a:rPr lang="en-US" smtClean="0"/>
                        <a:t>and keeping the model simple.</a:t>
                      </a:r>
                    </a:p>
                    <a:p>
                      <a:endParaRPr lang="en-IN"/>
                    </a:p>
                  </a:txBody>
                  <a:tcPr/>
                </a:tc>
                <a:extLst>
                  <a:ext uri="{0D108BD9-81ED-4DB2-BD59-A6C34878D82A}">
                    <a16:rowId xmlns:a16="http://schemas.microsoft.com/office/drawing/2014/main" val="929614102"/>
                  </a:ext>
                </a:extLst>
              </a:tr>
            </a:tbl>
          </a:graphicData>
        </a:graphic>
      </p:graphicFrame>
      <p:pic>
        <p:nvPicPr>
          <p:cNvPr id="5" name="Picture 4"/>
          <p:cNvPicPr>
            <a:picLocks noChangeAspect="1"/>
          </p:cNvPicPr>
          <p:nvPr/>
        </p:nvPicPr>
        <p:blipFill>
          <a:blip r:embed="rId3"/>
          <a:stretch>
            <a:fillRect/>
          </a:stretch>
        </p:blipFill>
        <p:spPr>
          <a:xfrm>
            <a:off x="638628" y="4653627"/>
            <a:ext cx="5492206" cy="2238375"/>
          </a:xfrm>
          <a:prstGeom prst="rect">
            <a:avLst/>
          </a:prstGeom>
        </p:spPr>
      </p:pic>
      <p:sp>
        <p:nvSpPr>
          <p:cNvPr id="6" name="TextBox 5"/>
          <p:cNvSpPr txBox="1"/>
          <p:nvPr/>
        </p:nvSpPr>
        <p:spPr>
          <a:xfrm>
            <a:off x="324674" y="4119811"/>
            <a:ext cx="11353520" cy="369332"/>
          </a:xfrm>
          <a:prstGeom prst="rect">
            <a:avLst/>
          </a:prstGeom>
          <a:noFill/>
        </p:spPr>
        <p:txBody>
          <a:bodyPr wrap="square" rtlCol="0">
            <a:spAutoFit/>
          </a:bodyPr>
          <a:lstStyle/>
          <a:p>
            <a:r>
              <a:rPr lang="en-IN" smtClean="0"/>
              <a:t>Regularization </a:t>
            </a:r>
            <a:endParaRPr lang="en-IN"/>
          </a:p>
        </p:txBody>
      </p:sp>
    </p:spTree>
    <p:extLst>
      <p:ext uri="{BB962C8B-B14F-4D97-AF65-F5344CB8AC3E}">
        <p14:creationId xmlns:p14="http://schemas.microsoft.com/office/powerpoint/2010/main" val="42827645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62446" y="418012"/>
            <a:ext cx="10215154" cy="6124754"/>
          </a:xfrm>
          <a:prstGeom prst="rect">
            <a:avLst/>
          </a:prstGeom>
          <a:solidFill>
            <a:schemeClr val="accent2"/>
          </a:solidFill>
        </p:spPr>
        <p:txBody>
          <a:bodyPr wrap="square" rtlCol="0">
            <a:spAutoFit/>
          </a:bodyPr>
          <a:lstStyle/>
          <a:p>
            <a:endParaRPr lang="en-IN" smtClean="0"/>
          </a:p>
          <a:p>
            <a:endParaRPr lang="en-IN"/>
          </a:p>
          <a:p>
            <a:endParaRPr lang="en-IN" smtClean="0"/>
          </a:p>
          <a:p>
            <a:endParaRPr lang="en-IN"/>
          </a:p>
          <a:p>
            <a:endParaRPr lang="en-IN" smtClean="0"/>
          </a:p>
          <a:p>
            <a:endParaRPr lang="en-IN"/>
          </a:p>
          <a:p>
            <a:endParaRPr lang="en-IN" smtClean="0"/>
          </a:p>
          <a:p>
            <a:endParaRPr lang="en-IN"/>
          </a:p>
          <a:p>
            <a:endParaRPr lang="en-IN" smtClean="0"/>
          </a:p>
          <a:p>
            <a:endParaRPr lang="en-IN"/>
          </a:p>
          <a:p>
            <a:endParaRPr lang="en-IN"/>
          </a:p>
          <a:p>
            <a:pPr algn="ctr"/>
            <a:r>
              <a:rPr lang="en-IN" sz="3200" b="1" smtClean="0"/>
              <a:t>Hyperparameters &amp; Validation sets</a:t>
            </a:r>
          </a:p>
          <a:p>
            <a:endParaRPr lang="en-IN"/>
          </a:p>
          <a:p>
            <a:endParaRPr lang="en-IN" smtClean="0"/>
          </a:p>
          <a:p>
            <a:endParaRPr lang="en-IN"/>
          </a:p>
          <a:p>
            <a:endParaRPr lang="en-IN" smtClean="0"/>
          </a:p>
          <a:p>
            <a:endParaRPr lang="en-IN" smtClean="0"/>
          </a:p>
          <a:p>
            <a:endParaRPr lang="en-IN"/>
          </a:p>
          <a:p>
            <a:endParaRPr lang="en-IN" smtClean="0"/>
          </a:p>
          <a:p>
            <a:endParaRPr lang="en-IN"/>
          </a:p>
          <a:p>
            <a:endParaRPr lang="en-IN"/>
          </a:p>
        </p:txBody>
      </p:sp>
    </p:spTree>
    <p:extLst>
      <p:ext uri="{BB962C8B-B14F-4D97-AF65-F5344CB8AC3E}">
        <p14:creationId xmlns:p14="http://schemas.microsoft.com/office/powerpoint/2010/main" val="259299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6096000" y="3979817"/>
            <a:ext cx="5503817" cy="207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p:cNvSpPr txBox="1"/>
          <p:nvPr/>
        </p:nvSpPr>
        <p:spPr>
          <a:xfrm>
            <a:off x="6191794" y="4145280"/>
            <a:ext cx="5242560" cy="1754326"/>
          </a:xfrm>
          <a:prstGeom prst="rect">
            <a:avLst/>
          </a:prstGeom>
          <a:noFill/>
        </p:spPr>
        <p:txBody>
          <a:bodyPr wrap="square" rtlCol="0">
            <a:spAutoFit/>
          </a:bodyPr>
          <a:lstStyle/>
          <a:p>
            <a:r>
              <a:rPr lang="en-US"/>
              <a:t>Dividing our data into three separate sets is a crucial step in machine learning. </a:t>
            </a:r>
            <a:endParaRPr lang="en-US" smtClean="0"/>
          </a:p>
          <a:p>
            <a:endParaRPr lang="en-US"/>
          </a:p>
          <a:p>
            <a:r>
              <a:rPr lang="en-US" b="1" smtClean="0">
                <a:solidFill>
                  <a:srgbClr val="FF0000"/>
                </a:solidFill>
              </a:rPr>
              <a:t>This </a:t>
            </a:r>
            <a:r>
              <a:rPr lang="en-US" b="1">
                <a:solidFill>
                  <a:srgbClr val="FF0000"/>
                </a:solidFill>
              </a:rPr>
              <a:t>approach ensures that our model doesn’t become overly </a:t>
            </a:r>
            <a:r>
              <a:rPr lang="en-US" b="1" smtClean="0">
                <a:solidFill>
                  <a:srgbClr val="FF0000"/>
                </a:solidFill>
              </a:rPr>
              <a:t>specialized (overfitted) </a:t>
            </a:r>
            <a:r>
              <a:rPr lang="en-US" b="1">
                <a:solidFill>
                  <a:srgbClr val="FF0000"/>
                </a:solidFill>
              </a:rPr>
              <a:t>to the training data,</a:t>
            </a:r>
            <a:r>
              <a:rPr lang="en-US"/>
              <a:t> allowing it to perform well on unseen data.</a:t>
            </a:r>
            <a:endParaRPr lang="en-IN"/>
          </a:p>
        </p:txBody>
      </p:sp>
      <p:pic>
        <p:nvPicPr>
          <p:cNvPr id="2052" name="Picture 4" descr="Different Types of Cross-Validations in Machine Lear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6" y="2733675"/>
            <a:ext cx="5313408" cy="389354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549321" y="0"/>
            <a:ext cx="10448925" cy="2733675"/>
          </a:xfrm>
          <a:prstGeom prst="rect">
            <a:avLst/>
          </a:prstGeom>
        </p:spPr>
      </p:pic>
    </p:spTree>
    <p:extLst>
      <p:ext uri="{BB962C8B-B14F-4D97-AF65-F5344CB8AC3E}">
        <p14:creationId xmlns:p14="http://schemas.microsoft.com/office/powerpoint/2010/main" val="17821797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30925" y="121920"/>
            <a:ext cx="11303725" cy="3693319"/>
          </a:xfrm>
          <a:prstGeom prst="rect">
            <a:avLst/>
          </a:prstGeom>
          <a:noFill/>
        </p:spPr>
        <p:txBody>
          <a:bodyPr wrap="square" rtlCol="0">
            <a:spAutoFit/>
          </a:bodyPr>
          <a:lstStyle/>
          <a:p>
            <a:r>
              <a:rPr lang="en-US"/>
              <a:t>In machine learning, hyperparameters are settings that are configured before the training process begins, controlling how the model learns. They are external to the model itself and are not learned during training, unlike model parameters</a:t>
            </a:r>
            <a:r>
              <a:rPr lang="en-US" smtClean="0"/>
              <a:t>.</a:t>
            </a:r>
          </a:p>
          <a:p>
            <a:endParaRPr lang="en-US"/>
          </a:p>
          <a:p>
            <a:r>
              <a:rPr lang="en-US" smtClean="0"/>
              <a:t>Finding </a:t>
            </a:r>
            <a:r>
              <a:rPr lang="en-US"/>
              <a:t>the right hyperparameter values is crucial for model performance. This process is called hyperparameter tuning or optimization, and it aims to find the best configuration of hyperparameters for a specific task. </a:t>
            </a:r>
            <a:endParaRPr lang="en-US" smtClean="0"/>
          </a:p>
          <a:p>
            <a:endParaRPr lang="en-US"/>
          </a:p>
          <a:p>
            <a:r>
              <a:rPr lang="en-US" smtClean="0"/>
              <a:t>V</a:t>
            </a:r>
            <a:r>
              <a:rPr lang="en-US"/>
              <a:t>arious techniques like grid search, random search, or Bayesian optimization are used to find optimal hyperparameters. </a:t>
            </a:r>
            <a:endParaRPr lang="en-US" smtClean="0"/>
          </a:p>
          <a:p>
            <a:endParaRPr lang="en-US"/>
          </a:p>
          <a:p>
            <a:endParaRPr lang="en-US" smtClean="0"/>
          </a:p>
          <a:p>
            <a:endParaRPr lang="en-US"/>
          </a:p>
          <a:p>
            <a:endParaRPr lang="en-IN"/>
          </a:p>
        </p:txBody>
      </p:sp>
      <p:graphicFrame>
        <p:nvGraphicFramePr>
          <p:cNvPr id="7" name="Table 6"/>
          <p:cNvGraphicFramePr>
            <a:graphicFrameLocks noGrp="1"/>
          </p:cNvGraphicFramePr>
          <p:nvPr>
            <p:extLst/>
          </p:nvPr>
        </p:nvGraphicFramePr>
        <p:xfrm>
          <a:off x="371564" y="2774889"/>
          <a:ext cx="11222446" cy="4206240"/>
        </p:xfrm>
        <a:graphic>
          <a:graphicData uri="http://schemas.openxmlformats.org/drawingml/2006/table">
            <a:tbl>
              <a:tblPr firstRow="1" bandRow="1"/>
              <a:tblGrid>
                <a:gridCol w="5611223">
                  <a:extLst>
                    <a:ext uri="{9D8B030D-6E8A-4147-A177-3AD203B41FA5}">
                      <a16:colId xmlns:a16="http://schemas.microsoft.com/office/drawing/2014/main" val="2730601420"/>
                    </a:ext>
                  </a:extLst>
                </a:gridCol>
                <a:gridCol w="5611223">
                  <a:extLst>
                    <a:ext uri="{9D8B030D-6E8A-4147-A177-3AD203B41FA5}">
                      <a16:colId xmlns:a16="http://schemas.microsoft.com/office/drawing/2014/main" val="420225063"/>
                    </a:ext>
                  </a:extLst>
                </a:gridCol>
              </a:tblGrid>
              <a:tr h="1483602">
                <a:tc>
                  <a:txBody>
                    <a:bodyPr/>
                    <a:lstStyle/>
                    <a:p>
                      <a:pPr fontAlgn="ctr"/>
                      <a:r>
                        <a:rPr lang="en-US" sz="1800" b="0" i="0" kern="1200" smtClean="0">
                          <a:solidFill>
                            <a:schemeClr val="tx1"/>
                          </a:solidFill>
                          <a:effectLst/>
                          <a:latin typeface="+mn-lt"/>
                          <a:ea typeface="+mn-ea"/>
                          <a:cs typeface="+mn-cs"/>
                        </a:rPr>
                        <a:t> </a:t>
                      </a:r>
                      <a:r>
                        <a:rPr lang="en-US" sz="1800" b="1" i="0" kern="1200" smtClean="0">
                          <a:solidFill>
                            <a:srgbClr val="FF0000"/>
                          </a:solidFill>
                          <a:effectLst/>
                          <a:latin typeface="+mn-lt"/>
                          <a:ea typeface="+mn-ea"/>
                          <a:cs typeface="+mn-cs"/>
                        </a:rPr>
                        <a:t>parameters</a:t>
                      </a:r>
                      <a:r>
                        <a:rPr lang="en-US" sz="1800" b="0" i="0" kern="1200" smtClean="0">
                          <a:solidFill>
                            <a:schemeClr val="tx1"/>
                          </a:solidFill>
                          <a:effectLst/>
                          <a:latin typeface="+mn-lt"/>
                          <a:ea typeface="+mn-ea"/>
                          <a:cs typeface="+mn-cs"/>
                        </a:rPr>
                        <a:t> are internal model values learned from data during training (like weights in a neural network), </a:t>
                      </a:r>
                      <a:br>
                        <a:rPr lang="en-US" sz="1800" b="0" i="0" kern="1200" smtClean="0">
                          <a:solidFill>
                            <a:schemeClr val="tx1"/>
                          </a:solidFill>
                          <a:effectLst/>
                          <a:latin typeface="+mn-lt"/>
                          <a:ea typeface="+mn-ea"/>
                          <a:cs typeface="+mn-cs"/>
                        </a:rPr>
                      </a:br>
                      <a:endParaRPr lang="en-US" sz="1800" b="0" i="0" kern="1200" smtClean="0">
                        <a:solidFill>
                          <a:schemeClr val="tx1"/>
                        </a:solidFill>
                        <a:effectLst/>
                        <a:latin typeface="+mn-lt"/>
                        <a:ea typeface="+mn-ea"/>
                        <a:cs typeface="+mn-cs"/>
                      </a:endParaRPr>
                    </a:p>
                    <a:p>
                      <a:pPr fontAlgn="ctr"/>
                      <a:endParaRPr lang="en-US" sz="1800" b="0" i="0" kern="1200" smtClean="0">
                        <a:solidFill>
                          <a:schemeClr val="tx1"/>
                        </a:solidFill>
                        <a:effectLst/>
                        <a:latin typeface="+mn-lt"/>
                        <a:ea typeface="+mn-ea"/>
                        <a:cs typeface="+mn-cs"/>
                      </a:endParaRPr>
                    </a:p>
                    <a:p>
                      <a:pPr fontAlgn="ctr"/>
                      <a:r>
                        <a:rPr lang="en-US" sz="1800" b="0" i="0" kern="1200" smtClean="0">
                          <a:solidFill>
                            <a:schemeClr val="tx1"/>
                          </a:solidFill>
                          <a:effectLst/>
                          <a:latin typeface="+mn-lt"/>
                          <a:ea typeface="+mn-ea"/>
                          <a:cs typeface="+mn-cs"/>
                        </a:rPr>
                        <a:t>These parameters are tunable and can directly affect model prediction.</a:t>
                      </a:r>
                    </a:p>
                    <a:p>
                      <a:pPr fontAlgn="ctr"/>
                      <a:endParaRPr lang="en-US" sz="1800" b="0" i="0" kern="1200" smtClean="0">
                        <a:solidFill>
                          <a:schemeClr val="tx1"/>
                        </a:solidFill>
                        <a:effectLst/>
                        <a:latin typeface="+mn-lt"/>
                        <a:ea typeface="+mn-ea"/>
                        <a:cs typeface="+mn-cs"/>
                      </a:endParaRPr>
                    </a:p>
                    <a:p>
                      <a:pPr fontAlgn="ctr"/>
                      <a:r>
                        <a:rPr lang="en-US" sz="1800" b="0" i="0" kern="1200" smtClean="0">
                          <a:solidFill>
                            <a:schemeClr val="tx1"/>
                          </a:solidFill>
                          <a:effectLst/>
                          <a:latin typeface="+mn-lt"/>
                          <a:ea typeface="+mn-ea"/>
                          <a:cs typeface="+mn-cs"/>
                        </a:rPr>
                        <a:t>Ex:-</a:t>
                      </a:r>
                    </a:p>
                    <a:p>
                      <a:pPr fontAlgn="ctr"/>
                      <a:r>
                        <a:rPr lang="en-US" sz="1800" b="0" i="0" kern="1200" smtClean="0">
                          <a:solidFill>
                            <a:schemeClr val="tx1"/>
                          </a:solidFill>
                          <a:effectLst/>
                          <a:latin typeface="+mn-lt"/>
                          <a:ea typeface="+mn-ea"/>
                          <a:cs typeface="+mn-cs"/>
                        </a:rPr>
                        <a:t>Weights in neural networks</a:t>
                      </a:r>
                    </a:p>
                    <a:p>
                      <a:pPr fontAlgn="ctr"/>
                      <a:r>
                        <a:rPr lang="en-US" sz="1800" b="0" i="0" kern="1200" smtClean="0">
                          <a:solidFill>
                            <a:schemeClr val="tx1"/>
                          </a:solidFill>
                          <a:effectLst/>
                          <a:latin typeface="+mn-lt"/>
                          <a:ea typeface="+mn-ea"/>
                          <a:cs typeface="+mn-cs"/>
                        </a:rPr>
                        <a:t>Coefficients in linear regression</a:t>
                      </a:r>
                    </a:p>
                  </a:txBody>
                  <a:tcPr/>
                </a:tc>
                <a:tc>
                  <a:txBody>
                    <a:bodyPr/>
                    <a:lstStyle/>
                    <a:p>
                      <a:r>
                        <a:rPr lang="en-US" sz="1800" b="1" i="0" kern="1200" smtClean="0">
                          <a:solidFill>
                            <a:srgbClr val="FF0000"/>
                          </a:solidFill>
                          <a:effectLst/>
                          <a:latin typeface="+mn-lt"/>
                          <a:ea typeface="+mn-ea"/>
                          <a:cs typeface="+mn-cs"/>
                        </a:rPr>
                        <a:t>hyperparameters</a:t>
                      </a:r>
                      <a:r>
                        <a:rPr lang="en-US" sz="1800" b="0" i="0" kern="1200" smtClean="0">
                          <a:solidFill>
                            <a:schemeClr val="tx1"/>
                          </a:solidFill>
                          <a:effectLst/>
                          <a:latin typeface="+mn-lt"/>
                          <a:ea typeface="+mn-ea"/>
                          <a:cs typeface="+mn-cs"/>
                        </a:rPr>
                        <a:t> are external settings that control the learning process itself, chosen before training (like the learning rate). </a:t>
                      </a:r>
                    </a:p>
                    <a:p>
                      <a:endParaRPr lang="en-US" sz="1800" b="0" i="0" kern="1200" smtClean="0">
                        <a:solidFill>
                          <a:schemeClr val="tx1"/>
                        </a:solidFill>
                        <a:effectLst/>
                        <a:latin typeface="+mn-lt"/>
                        <a:ea typeface="+mn-ea"/>
                        <a:cs typeface="+mn-cs"/>
                      </a:endParaRPr>
                    </a:p>
                    <a:p>
                      <a:r>
                        <a:rPr lang="en-US" sz="1800" b="0" i="0" kern="1200" smtClean="0">
                          <a:solidFill>
                            <a:schemeClr val="tx1"/>
                          </a:solidFill>
                          <a:effectLst/>
                          <a:latin typeface="+mn-lt"/>
                          <a:ea typeface="+mn-ea"/>
                          <a:cs typeface="+mn-cs"/>
                        </a:rPr>
                        <a:t>These hyperparameters are tunable and can directly affect how well a model trains. </a:t>
                      </a:r>
                    </a:p>
                    <a:p>
                      <a:endParaRPr lang="en-US" sz="1800" b="0" i="0" kern="1200" smtClean="0">
                        <a:solidFill>
                          <a:schemeClr val="tx1"/>
                        </a:solidFill>
                        <a:effectLst/>
                        <a:latin typeface="+mn-lt"/>
                        <a:ea typeface="+mn-ea"/>
                        <a:cs typeface="+mn-cs"/>
                      </a:endParaRPr>
                    </a:p>
                    <a:p>
                      <a:r>
                        <a:rPr lang="en-US" sz="1800" b="0" i="0" kern="1200" smtClean="0">
                          <a:solidFill>
                            <a:schemeClr val="tx1"/>
                          </a:solidFill>
                          <a:effectLst/>
                          <a:latin typeface="+mn-lt"/>
                          <a:ea typeface="+mn-ea"/>
                          <a:cs typeface="+mn-cs"/>
                        </a:rPr>
                        <a:t>Ex:-</a:t>
                      </a:r>
                    </a:p>
                    <a:p>
                      <a:pPr rtl="0" fontAlgn="base"/>
                      <a:r>
                        <a:rPr lang="en-US" sz="1800" b="0" i="0" u="none" strike="noStrike" kern="1200" smtClean="0">
                          <a:solidFill>
                            <a:schemeClr val="tx1"/>
                          </a:solidFill>
                          <a:effectLst/>
                          <a:latin typeface="+mn-lt"/>
                          <a:ea typeface="+mn-ea"/>
                          <a:cs typeface="+mn-cs"/>
                        </a:rPr>
                        <a:t>Learning Rate</a:t>
                      </a:r>
                    </a:p>
                    <a:p>
                      <a:pPr rtl="0" fontAlgn="base"/>
                      <a:r>
                        <a:rPr lang="en-US" sz="1800" b="0" i="0" u="none" strike="noStrike" kern="1200" smtClean="0">
                          <a:solidFill>
                            <a:schemeClr val="tx1"/>
                          </a:solidFill>
                          <a:effectLst/>
                          <a:latin typeface="+mn-lt"/>
                          <a:ea typeface="+mn-ea"/>
                          <a:cs typeface="+mn-cs"/>
                        </a:rPr>
                        <a:t>Number of </a:t>
                      </a:r>
                      <a:r>
                        <a:rPr lang="en-US" sz="1800" b="0" i="0" u="none" strike="noStrike" kern="1200" smtClean="0">
                          <a:solidFill>
                            <a:schemeClr val="tx1"/>
                          </a:solidFill>
                          <a:effectLst/>
                          <a:latin typeface="+mn-lt"/>
                          <a:ea typeface="+mn-ea"/>
                          <a:cs typeface="+mn-cs"/>
                          <a:hlinkClick r:id="rId2"/>
                        </a:rPr>
                        <a:t>Epochs</a:t>
                      </a:r>
                      <a:endParaRPr lang="en-US" sz="1800" b="0" i="0" u="none" strike="noStrike" kern="1200" smtClean="0">
                        <a:solidFill>
                          <a:schemeClr val="tx1"/>
                        </a:solidFill>
                        <a:effectLst/>
                        <a:latin typeface="+mn-lt"/>
                        <a:ea typeface="+mn-ea"/>
                        <a:cs typeface="+mn-cs"/>
                      </a:endParaRPr>
                    </a:p>
                    <a:p>
                      <a:pPr rtl="0" fontAlgn="base"/>
                      <a:r>
                        <a:rPr lang="en-US" sz="1800" b="0" i="0" u="none" strike="noStrike" kern="1200" smtClean="0">
                          <a:solidFill>
                            <a:schemeClr val="tx1"/>
                          </a:solidFill>
                          <a:effectLst/>
                          <a:latin typeface="+mn-lt"/>
                          <a:ea typeface="+mn-ea"/>
                          <a:cs typeface="+mn-cs"/>
                        </a:rPr>
                        <a:t>Momentum</a:t>
                      </a:r>
                    </a:p>
                    <a:p>
                      <a:pPr rtl="0" fontAlgn="base"/>
                      <a:r>
                        <a:rPr lang="en-US" sz="1800" b="0" i="0" u="none" strike="noStrike" kern="1200" smtClean="0">
                          <a:solidFill>
                            <a:schemeClr val="tx1"/>
                          </a:solidFill>
                          <a:effectLst/>
                          <a:latin typeface="+mn-lt"/>
                          <a:ea typeface="+mn-ea"/>
                          <a:cs typeface="+mn-cs"/>
                        </a:rPr>
                        <a:t>Regularization constant</a:t>
                      </a:r>
                    </a:p>
                    <a:p>
                      <a:pPr rtl="0" fontAlgn="base"/>
                      <a:r>
                        <a:rPr lang="en-US" sz="1800" b="0" i="0" u="none" strike="noStrike" kern="1200" smtClean="0">
                          <a:solidFill>
                            <a:schemeClr val="tx1"/>
                          </a:solidFill>
                          <a:effectLst/>
                          <a:latin typeface="+mn-lt"/>
                          <a:ea typeface="+mn-ea"/>
                          <a:cs typeface="+mn-cs"/>
                        </a:rPr>
                        <a:t>Number of branches in a </a:t>
                      </a:r>
                      <a:r>
                        <a:rPr lang="en-US" sz="1800" b="0" i="0" u="none" strike="noStrike" kern="1200" smtClean="0">
                          <a:solidFill>
                            <a:schemeClr val="tx1"/>
                          </a:solidFill>
                          <a:effectLst/>
                          <a:latin typeface="+mn-lt"/>
                          <a:ea typeface="+mn-ea"/>
                          <a:cs typeface="+mn-cs"/>
                          <a:hlinkClick r:id="rId3"/>
                        </a:rPr>
                        <a:t>decision tree</a:t>
                      </a:r>
                      <a:endParaRPr lang="en-US" sz="1800" b="0" i="0" u="none" strike="noStrike" kern="1200" smtClean="0">
                        <a:solidFill>
                          <a:schemeClr val="tx1"/>
                        </a:solidFill>
                        <a:effectLst/>
                        <a:latin typeface="+mn-lt"/>
                        <a:ea typeface="+mn-ea"/>
                        <a:cs typeface="+mn-cs"/>
                      </a:endParaRPr>
                    </a:p>
                    <a:p>
                      <a:pPr rtl="0" fontAlgn="base"/>
                      <a:r>
                        <a:rPr lang="en-US" sz="1800" b="0" i="0" u="none" strike="noStrike" kern="1200" smtClean="0">
                          <a:solidFill>
                            <a:schemeClr val="tx1"/>
                          </a:solidFill>
                          <a:effectLst/>
                          <a:latin typeface="+mn-lt"/>
                          <a:ea typeface="+mn-ea"/>
                          <a:cs typeface="+mn-cs"/>
                        </a:rPr>
                        <a:t>Number of clusters in a clustering algorithm (like </a:t>
                      </a:r>
                      <a:r>
                        <a:rPr lang="en-US" sz="1800" b="0" i="0" u="none" strike="noStrike" kern="1200" smtClean="0">
                          <a:solidFill>
                            <a:schemeClr val="tx1"/>
                          </a:solidFill>
                          <a:effectLst/>
                          <a:latin typeface="+mn-lt"/>
                          <a:ea typeface="+mn-ea"/>
                          <a:cs typeface="+mn-cs"/>
                          <a:hlinkClick r:id="rId4"/>
                        </a:rPr>
                        <a:t>k-means</a:t>
                      </a:r>
                      <a:r>
                        <a:rPr lang="en-US" sz="1800" b="0" i="0" u="none" strike="noStrike" kern="1200" smtClean="0">
                          <a:solidFill>
                            <a:schemeClr val="tx1"/>
                          </a:solidFill>
                          <a:effectLst/>
                          <a:latin typeface="+mn-lt"/>
                          <a:ea typeface="+mn-ea"/>
                          <a:cs typeface="+mn-cs"/>
                        </a:rPr>
                        <a:t>)</a:t>
                      </a:r>
                    </a:p>
                    <a:p>
                      <a:endParaRPr lang="en-IN"/>
                    </a:p>
                  </a:txBody>
                  <a:tcPr/>
                </a:tc>
                <a:extLst>
                  <a:ext uri="{0D108BD9-81ED-4DB2-BD59-A6C34878D82A}">
                    <a16:rowId xmlns:a16="http://schemas.microsoft.com/office/drawing/2014/main" val="1727400324"/>
                  </a:ext>
                </a:extLst>
              </a:tr>
            </a:tbl>
          </a:graphicData>
        </a:graphic>
      </p:graphicFrame>
    </p:spTree>
    <p:extLst>
      <p:ext uri="{BB962C8B-B14F-4D97-AF65-F5344CB8AC3E}">
        <p14:creationId xmlns:p14="http://schemas.microsoft.com/office/powerpoint/2010/main" val="16034190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8113" y="87358"/>
            <a:ext cx="11447845" cy="5921556"/>
          </a:xfrm>
          <a:prstGeom prst="rect">
            <a:avLst/>
          </a:prstGeom>
        </p:spPr>
      </p:pic>
    </p:spTree>
    <p:extLst>
      <p:ext uri="{BB962C8B-B14F-4D97-AF65-F5344CB8AC3E}">
        <p14:creationId xmlns:p14="http://schemas.microsoft.com/office/powerpoint/2010/main" val="39768970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4643" y="92897"/>
            <a:ext cx="11766869" cy="5902699"/>
          </a:xfrm>
          <a:prstGeom prst="rect">
            <a:avLst/>
          </a:prstGeom>
        </p:spPr>
      </p:pic>
    </p:spTree>
    <p:extLst>
      <p:ext uri="{BB962C8B-B14F-4D97-AF65-F5344CB8AC3E}">
        <p14:creationId xmlns:p14="http://schemas.microsoft.com/office/powerpoint/2010/main" val="2368382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60960"/>
            <a:ext cx="11834949" cy="2862322"/>
          </a:xfrm>
          <a:prstGeom prst="rect">
            <a:avLst/>
          </a:prstGeom>
          <a:noFill/>
        </p:spPr>
        <p:txBody>
          <a:bodyPr wrap="square" rtlCol="0">
            <a:spAutoFit/>
          </a:bodyPr>
          <a:lstStyle/>
          <a:p>
            <a:r>
              <a:rPr lang="en-US"/>
              <a:t>In the polynomial regression </a:t>
            </a:r>
            <a:r>
              <a:rPr lang="en-US" smtClean="0"/>
              <a:t>there </a:t>
            </a:r>
            <a:r>
              <a:rPr lang="en-US"/>
              <a:t>is a </a:t>
            </a:r>
            <a:r>
              <a:rPr lang="en-US" smtClean="0"/>
              <a:t>single  hyperparameter</a:t>
            </a:r>
            <a:r>
              <a:rPr lang="en-US"/>
              <a:t>: the degree of the polynomial, which acts as a </a:t>
            </a:r>
            <a:r>
              <a:rPr lang="en-US" b="1"/>
              <a:t>capacity </a:t>
            </a:r>
            <a:r>
              <a:rPr lang="en-US" smtClean="0"/>
              <a:t>hyperparameter. The </a:t>
            </a:r>
            <a:r>
              <a:rPr lang="en-US"/>
              <a:t>λ value used to control the strength of weight decay is </a:t>
            </a:r>
            <a:r>
              <a:rPr lang="en-US" smtClean="0"/>
              <a:t>another </a:t>
            </a:r>
            <a:r>
              <a:rPr lang="en-IN" smtClean="0"/>
              <a:t>example </a:t>
            </a:r>
            <a:r>
              <a:rPr lang="en-IN"/>
              <a:t>of a hyperparameter</a:t>
            </a:r>
            <a:r>
              <a:rPr lang="en-IN" smtClean="0"/>
              <a:t>.</a:t>
            </a:r>
          </a:p>
          <a:p>
            <a:endParaRPr lang="en-IN"/>
          </a:p>
          <a:p>
            <a:r>
              <a:rPr lang="en-US"/>
              <a:t>Sometimes a setting is chosen to be a hyperparameter that the learning </a:t>
            </a:r>
            <a:r>
              <a:rPr lang="en-US" smtClean="0"/>
              <a:t>algorithm does </a:t>
            </a:r>
            <a:r>
              <a:rPr lang="en-US"/>
              <a:t>not learn because it is difficult to </a:t>
            </a:r>
            <a:r>
              <a:rPr lang="en-US" smtClean="0"/>
              <a:t>optimize.If </a:t>
            </a:r>
            <a:r>
              <a:rPr lang="en-US"/>
              <a:t>learned on the training set, such hyperparameters </a:t>
            </a:r>
            <a:r>
              <a:rPr lang="en-US" smtClean="0"/>
              <a:t>would always </a:t>
            </a:r>
            <a:r>
              <a:rPr lang="en-US"/>
              <a:t>choose the maximum possible model capacity, resulting in </a:t>
            </a:r>
            <a:r>
              <a:rPr lang="en-US" smtClean="0"/>
              <a:t>overfitting.</a:t>
            </a:r>
          </a:p>
          <a:p>
            <a:endParaRPr lang="en-US"/>
          </a:p>
          <a:p>
            <a:r>
              <a:rPr lang="en-US">
                <a:solidFill>
                  <a:srgbClr val="FF0000"/>
                </a:solidFill>
              </a:rPr>
              <a:t>To solve this problem, we need a </a:t>
            </a:r>
            <a:r>
              <a:rPr lang="en-US" b="1">
                <a:solidFill>
                  <a:srgbClr val="FF0000"/>
                </a:solidFill>
              </a:rPr>
              <a:t>validation set </a:t>
            </a:r>
            <a:r>
              <a:rPr lang="en-US">
                <a:solidFill>
                  <a:srgbClr val="FF0000"/>
                </a:solidFill>
              </a:rPr>
              <a:t>of examples that the </a:t>
            </a:r>
            <a:r>
              <a:rPr lang="en-US" smtClean="0">
                <a:solidFill>
                  <a:srgbClr val="FF0000"/>
                </a:solidFill>
              </a:rPr>
              <a:t>training </a:t>
            </a:r>
            <a:r>
              <a:rPr lang="en-IN" smtClean="0">
                <a:solidFill>
                  <a:srgbClr val="FF0000"/>
                </a:solidFill>
              </a:rPr>
              <a:t>algorithm </a:t>
            </a:r>
            <a:r>
              <a:rPr lang="en-IN">
                <a:solidFill>
                  <a:srgbClr val="FF0000"/>
                </a:solidFill>
              </a:rPr>
              <a:t>does not observe</a:t>
            </a:r>
            <a:r>
              <a:rPr lang="en-IN" smtClean="0">
                <a:solidFill>
                  <a:srgbClr val="FF0000"/>
                </a:solidFill>
              </a:rPr>
              <a:t>.</a:t>
            </a:r>
          </a:p>
          <a:p>
            <a:endParaRPr lang="en-IN">
              <a:solidFill>
                <a:srgbClr val="FF0000"/>
              </a:solidFill>
            </a:endParaRPr>
          </a:p>
          <a:p>
            <a:endParaRPr lang="en-IN">
              <a:solidFill>
                <a:srgbClr val="FF0000"/>
              </a:solidFill>
            </a:endParaRPr>
          </a:p>
        </p:txBody>
      </p:sp>
      <p:pic>
        <p:nvPicPr>
          <p:cNvPr id="6" name="Picture 4" descr="Different Types of Cross-Validations in Machine Lear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171" y="2494190"/>
            <a:ext cx="5948542" cy="404594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6678884" y="3778499"/>
            <a:ext cx="5059680" cy="2585323"/>
          </a:xfrm>
          <a:prstGeom prst="rect">
            <a:avLst/>
          </a:prstGeom>
          <a:solidFill>
            <a:schemeClr val="accent2">
              <a:lumMod val="40000"/>
              <a:lumOff val="60000"/>
            </a:schemeClr>
          </a:solidFill>
        </p:spPr>
        <p:txBody>
          <a:bodyPr wrap="square" rtlCol="0">
            <a:spAutoFit/>
          </a:bodyPr>
          <a:lstStyle/>
          <a:p>
            <a:r>
              <a:rPr lang="en-IN" b="1" smtClean="0"/>
              <a:t>Example:-</a:t>
            </a:r>
          </a:p>
          <a:p>
            <a:r>
              <a:rPr lang="en-IN" smtClean="0"/>
              <a:t>If 8000 records are in training set</a:t>
            </a:r>
          </a:p>
          <a:p>
            <a:endParaRPr lang="en-IN" smtClean="0"/>
          </a:p>
          <a:p>
            <a:r>
              <a:rPr lang="en-IN" smtClean="0"/>
              <a:t>And cross validation is given as 5 </a:t>
            </a:r>
          </a:p>
          <a:p>
            <a:endParaRPr lang="en-IN" smtClean="0"/>
          </a:p>
          <a:p>
            <a:r>
              <a:rPr lang="en-IN" smtClean="0"/>
              <a:t>Then 8000/5 = 1600</a:t>
            </a:r>
          </a:p>
          <a:p>
            <a:endParaRPr lang="en-IN"/>
          </a:p>
          <a:p>
            <a:r>
              <a:rPr lang="en-IN" smtClean="0"/>
              <a:t>So 1600 records from training set are copied into the validation set.</a:t>
            </a:r>
            <a:endParaRPr lang="en-IN"/>
          </a:p>
        </p:txBody>
      </p:sp>
    </p:spTree>
    <p:extLst>
      <p:ext uri="{BB962C8B-B14F-4D97-AF65-F5344CB8AC3E}">
        <p14:creationId xmlns:p14="http://schemas.microsoft.com/office/powerpoint/2010/main" val="7206239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3841" y="313509"/>
            <a:ext cx="10972800" cy="923330"/>
          </a:xfrm>
          <a:prstGeom prst="rect">
            <a:avLst/>
          </a:prstGeom>
          <a:noFill/>
        </p:spPr>
        <p:txBody>
          <a:bodyPr wrap="square" rtlCol="0">
            <a:spAutoFit/>
          </a:bodyPr>
          <a:lstStyle/>
          <a:p>
            <a:endParaRPr lang="en-US">
              <a:solidFill>
                <a:srgbClr val="FF0000"/>
              </a:solidFill>
            </a:endParaRPr>
          </a:p>
          <a:p>
            <a:endParaRPr lang="en-US">
              <a:solidFill>
                <a:srgbClr val="FF0000"/>
              </a:solidFill>
            </a:endParaRPr>
          </a:p>
          <a:p>
            <a:endParaRPr lang="en-IN"/>
          </a:p>
        </p:txBody>
      </p:sp>
      <p:sp>
        <p:nvSpPr>
          <p:cNvPr id="5" name="TextBox 4"/>
          <p:cNvSpPr txBox="1"/>
          <p:nvPr/>
        </p:nvSpPr>
        <p:spPr>
          <a:xfrm>
            <a:off x="609600" y="775174"/>
            <a:ext cx="5120641" cy="1477328"/>
          </a:xfrm>
          <a:prstGeom prst="rect">
            <a:avLst/>
          </a:prstGeom>
          <a:noFill/>
        </p:spPr>
        <p:txBody>
          <a:bodyPr wrap="square" rtlCol="0">
            <a:spAutoFit/>
          </a:bodyPr>
          <a:lstStyle/>
          <a:p>
            <a:r>
              <a:rPr lang="en-US" b="1"/>
              <a:t>Problem:- </a:t>
            </a:r>
            <a:r>
              <a:rPr lang="en-US"/>
              <a:t>The flaw with evaluating a predictive model on training data is that it doesn't tell you how well the model generalizes to new, unseen data.</a:t>
            </a:r>
          </a:p>
          <a:p>
            <a:r>
              <a:rPr lang="en-US" b="1"/>
              <a:t>Solution :- </a:t>
            </a:r>
            <a:r>
              <a:rPr lang="en-US">
                <a:solidFill>
                  <a:srgbClr val="FF0000"/>
                </a:solidFill>
              </a:rPr>
              <a:t>validation sets</a:t>
            </a:r>
          </a:p>
          <a:p>
            <a:endParaRPr lang="en-IN"/>
          </a:p>
        </p:txBody>
      </p:sp>
      <p:sp>
        <p:nvSpPr>
          <p:cNvPr id="8" name="TextBox 7"/>
          <p:cNvSpPr txBox="1"/>
          <p:nvPr/>
        </p:nvSpPr>
        <p:spPr>
          <a:xfrm>
            <a:off x="5129349" y="3526971"/>
            <a:ext cx="6888480" cy="2862322"/>
          </a:xfrm>
          <a:prstGeom prst="rect">
            <a:avLst/>
          </a:prstGeom>
          <a:noFill/>
        </p:spPr>
        <p:txBody>
          <a:bodyPr wrap="square" rtlCol="0">
            <a:spAutoFit/>
          </a:bodyPr>
          <a:lstStyle/>
          <a:p>
            <a:r>
              <a:rPr lang="en-IN"/>
              <a:t>While training the model we will compare the model on training set accuracy &amp;  validation set accuracy</a:t>
            </a:r>
            <a:r>
              <a:rPr lang="en-IN" smtClean="0"/>
              <a:t>.</a:t>
            </a:r>
          </a:p>
          <a:p>
            <a:endParaRPr lang="en-IN"/>
          </a:p>
          <a:p>
            <a:r>
              <a:rPr lang="en-IN">
                <a:solidFill>
                  <a:srgbClr val="FF0000"/>
                </a:solidFill>
              </a:rPr>
              <a:t>Initially both accuracies are same </a:t>
            </a:r>
            <a:r>
              <a:rPr lang="en-IN" smtClean="0">
                <a:solidFill>
                  <a:srgbClr val="FF0000"/>
                </a:solidFill>
              </a:rPr>
              <a:t>approximately , so training  </a:t>
            </a:r>
            <a:r>
              <a:rPr lang="en-IN">
                <a:solidFill>
                  <a:srgbClr val="FF0000"/>
                </a:solidFill>
              </a:rPr>
              <a:t>the model will be </a:t>
            </a:r>
            <a:r>
              <a:rPr lang="en-IN" b="1">
                <a:solidFill>
                  <a:srgbClr val="FF0000"/>
                </a:solidFill>
              </a:rPr>
              <a:t>continued</a:t>
            </a:r>
            <a:r>
              <a:rPr lang="en-IN" smtClean="0">
                <a:solidFill>
                  <a:srgbClr val="FF0000"/>
                </a:solidFill>
              </a:rPr>
              <a:t>.</a:t>
            </a:r>
          </a:p>
          <a:p>
            <a:endParaRPr lang="en-IN">
              <a:solidFill>
                <a:srgbClr val="FF0000"/>
              </a:solidFill>
            </a:endParaRPr>
          </a:p>
          <a:p>
            <a:r>
              <a:rPr lang="en-IN">
                <a:solidFill>
                  <a:srgbClr val="FF0000"/>
                </a:solidFill>
              </a:rPr>
              <a:t>But </a:t>
            </a:r>
            <a:r>
              <a:rPr lang="en-US">
                <a:solidFill>
                  <a:srgbClr val="FF0000"/>
                </a:solidFill>
              </a:rPr>
              <a:t>there will be a point where the accuracy on the training data increases, while the accuracy on the test data starts to decrease, at that point you </a:t>
            </a:r>
            <a:r>
              <a:rPr lang="en-US" b="1">
                <a:solidFill>
                  <a:srgbClr val="FF0000"/>
                </a:solidFill>
              </a:rPr>
              <a:t>stop training the model</a:t>
            </a:r>
            <a:r>
              <a:rPr lang="en-US">
                <a:solidFill>
                  <a:srgbClr val="FF0000"/>
                </a:solidFill>
              </a:rPr>
              <a:t>.</a:t>
            </a:r>
            <a:endParaRPr lang="en-IN">
              <a:solidFill>
                <a:srgbClr val="FF0000"/>
              </a:solidFill>
            </a:endParaRPr>
          </a:p>
          <a:p>
            <a:endParaRPr lang="en-IN"/>
          </a:p>
        </p:txBody>
      </p:sp>
      <p:pic>
        <p:nvPicPr>
          <p:cNvPr id="9" name="Picture 8"/>
          <p:cNvPicPr>
            <a:picLocks noChangeAspect="1"/>
          </p:cNvPicPr>
          <p:nvPr/>
        </p:nvPicPr>
        <p:blipFill>
          <a:blip r:embed="rId2"/>
          <a:stretch>
            <a:fillRect/>
          </a:stretch>
        </p:blipFill>
        <p:spPr>
          <a:xfrm>
            <a:off x="373243" y="3796936"/>
            <a:ext cx="4767137" cy="2786743"/>
          </a:xfrm>
          <a:prstGeom prst="rect">
            <a:avLst/>
          </a:prstGeom>
        </p:spPr>
      </p:pic>
      <p:pic>
        <p:nvPicPr>
          <p:cNvPr id="11" name="Picture 4" descr="Validation and Learning Curve with Overfitting and Underfitt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9736" y="78422"/>
            <a:ext cx="4763589" cy="2983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68879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62446" y="418012"/>
            <a:ext cx="10215154" cy="6124754"/>
          </a:xfrm>
          <a:prstGeom prst="rect">
            <a:avLst/>
          </a:prstGeom>
          <a:solidFill>
            <a:schemeClr val="accent2"/>
          </a:solidFill>
        </p:spPr>
        <p:txBody>
          <a:bodyPr wrap="square" rtlCol="0">
            <a:spAutoFit/>
          </a:bodyPr>
          <a:lstStyle/>
          <a:p>
            <a:endParaRPr lang="en-IN" smtClean="0"/>
          </a:p>
          <a:p>
            <a:endParaRPr lang="en-IN"/>
          </a:p>
          <a:p>
            <a:endParaRPr lang="en-IN" smtClean="0"/>
          </a:p>
          <a:p>
            <a:endParaRPr lang="en-IN"/>
          </a:p>
          <a:p>
            <a:endParaRPr lang="en-IN" smtClean="0"/>
          </a:p>
          <a:p>
            <a:endParaRPr lang="en-IN"/>
          </a:p>
          <a:p>
            <a:endParaRPr lang="en-IN" smtClean="0"/>
          </a:p>
          <a:p>
            <a:endParaRPr lang="en-IN"/>
          </a:p>
          <a:p>
            <a:endParaRPr lang="en-IN" smtClean="0"/>
          </a:p>
          <a:p>
            <a:endParaRPr lang="en-IN"/>
          </a:p>
          <a:p>
            <a:endParaRPr lang="en-IN"/>
          </a:p>
          <a:p>
            <a:pPr algn="ctr"/>
            <a:r>
              <a:rPr lang="en-IN" sz="3200" b="1" smtClean="0"/>
              <a:t>Bias &amp; Variance</a:t>
            </a:r>
          </a:p>
          <a:p>
            <a:endParaRPr lang="en-IN"/>
          </a:p>
          <a:p>
            <a:endParaRPr lang="en-IN" smtClean="0"/>
          </a:p>
          <a:p>
            <a:endParaRPr lang="en-IN"/>
          </a:p>
          <a:p>
            <a:endParaRPr lang="en-IN" smtClean="0"/>
          </a:p>
          <a:p>
            <a:endParaRPr lang="en-IN" smtClean="0"/>
          </a:p>
          <a:p>
            <a:endParaRPr lang="en-IN"/>
          </a:p>
          <a:p>
            <a:endParaRPr lang="en-IN" smtClean="0"/>
          </a:p>
          <a:p>
            <a:endParaRPr lang="en-IN"/>
          </a:p>
          <a:p>
            <a:endParaRPr lang="en-IN"/>
          </a:p>
        </p:txBody>
      </p:sp>
    </p:spTree>
    <p:extLst>
      <p:ext uri="{BB962C8B-B14F-4D97-AF65-F5344CB8AC3E}">
        <p14:creationId xmlns:p14="http://schemas.microsoft.com/office/powerpoint/2010/main" val="35687297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04800" y="347255"/>
            <a:ext cx="11681051" cy="6283949"/>
          </a:xfrm>
          <a:prstGeom prst="rect">
            <a:avLst/>
          </a:prstGeom>
        </p:spPr>
      </p:pic>
    </p:spTree>
    <p:extLst>
      <p:ext uri="{BB962C8B-B14F-4D97-AF65-F5344CB8AC3E}">
        <p14:creationId xmlns:p14="http://schemas.microsoft.com/office/powerpoint/2010/main" val="39993518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946469" y="117107"/>
            <a:ext cx="6897188" cy="9115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p:cNvSpPr txBox="1"/>
          <p:nvPr/>
        </p:nvSpPr>
        <p:spPr>
          <a:xfrm>
            <a:off x="243841" y="313509"/>
            <a:ext cx="10972800" cy="923330"/>
          </a:xfrm>
          <a:prstGeom prst="rect">
            <a:avLst/>
          </a:prstGeom>
          <a:noFill/>
        </p:spPr>
        <p:txBody>
          <a:bodyPr wrap="square" rtlCol="0">
            <a:spAutoFit/>
          </a:bodyPr>
          <a:lstStyle/>
          <a:p>
            <a:endParaRPr lang="en-US">
              <a:solidFill>
                <a:srgbClr val="FF0000"/>
              </a:solidFill>
            </a:endParaRPr>
          </a:p>
          <a:p>
            <a:endParaRPr lang="en-US">
              <a:solidFill>
                <a:srgbClr val="FF0000"/>
              </a:solidFill>
            </a:endParaRPr>
          </a:p>
          <a:p>
            <a:endParaRPr lang="en-IN"/>
          </a:p>
        </p:txBody>
      </p:sp>
      <p:pic>
        <p:nvPicPr>
          <p:cNvPr id="2" name="Picture 1"/>
          <p:cNvPicPr>
            <a:picLocks noChangeAspect="1"/>
          </p:cNvPicPr>
          <p:nvPr/>
        </p:nvPicPr>
        <p:blipFill>
          <a:blip r:embed="rId2"/>
          <a:stretch>
            <a:fillRect/>
          </a:stretch>
        </p:blipFill>
        <p:spPr>
          <a:xfrm>
            <a:off x="0" y="0"/>
            <a:ext cx="5019675" cy="1028700"/>
          </a:xfrm>
          <a:prstGeom prst="rect">
            <a:avLst/>
          </a:prstGeom>
        </p:spPr>
      </p:pic>
      <p:pic>
        <p:nvPicPr>
          <p:cNvPr id="3" name="Picture 2"/>
          <p:cNvPicPr>
            <a:picLocks noChangeAspect="1"/>
          </p:cNvPicPr>
          <p:nvPr/>
        </p:nvPicPr>
        <p:blipFill>
          <a:blip r:embed="rId3"/>
          <a:stretch>
            <a:fillRect/>
          </a:stretch>
        </p:blipFill>
        <p:spPr>
          <a:xfrm>
            <a:off x="1657895" y="5734050"/>
            <a:ext cx="4533900" cy="1123950"/>
          </a:xfrm>
          <a:prstGeom prst="rect">
            <a:avLst/>
          </a:prstGeom>
        </p:spPr>
      </p:pic>
      <p:pic>
        <p:nvPicPr>
          <p:cNvPr id="5" name="Picture 4"/>
          <p:cNvPicPr>
            <a:picLocks noChangeAspect="1"/>
          </p:cNvPicPr>
          <p:nvPr/>
        </p:nvPicPr>
        <p:blipFill>
          <a:blip r:embed="rId4"/>
          <a:stretch>
            <a:fillRect/>
          </a:stretch>
        </p:blipFill>
        <p:spPr>
          <a:xfrm>
            <a:off x="156755" y="1028700"/>
            <a:ext cx="11599816" cy="4605745"/>
          </a:xfrm>
          <a:prstGeom prst="rect">
            <a:avLst/>
          </a:prstGeom>
        </p:spPr>
      </p:pic>
      <p:sp>
        <p:nvSpPr>
          <p:cNvPr id="6" name="TextBox 5"/>
          <p:cNvSpPr txBox="1"/>
          <p:nvPr/>
        </p:nvSpPr>
        <p:spPr>
          <a:xfrm>
            <a:off x="6148251" y="0"/>
            <a:ext cx="5765075" cy="1107996"/>
          </a:xfrm>
          <a:prstGeom prst="rect">
            <a:avLst/>
          </a:prstGeom>
          <a:noFill/>
        </p:spPr>
        <p:txBody>
          <a:bodyPr wrap="square" rtlCol="0">
            <a:spAutoFit/>
          </a:bodyPr>
          <a:lstStyle/>
          <a:p>
            <a:r>
              <a:rPr lang="en-IN" sz="6600" u="sng" smtClean="0">
                <a:solidFill>
                  <a:srgbClr val="FF0000"/>
                </a:solidFill>
              </a:rPr>
              <a:t>Scenario</a:t>
            </a:r>
            <a:endParaRPr lang="en-IN" sz="6600" u="sng">
              <a:solidFill>
                <a:srgbClr val="FF0000"/>
              </a:solidFill>
            </a:endParaRPr>
          </a:p>
        </p:txBody>
      </p:sp>
    </p:spTree>
    <p:extLst>
      <p:ext uri="{BB962C8B-B14F-4D97-AF65-F5344CB8AC3E}">
        <p14:creationId xmlns:p14="http://schemas.microsoft.com/office/powerpoint/2010/main" val="41358822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8042" y="1590403"/>
            <a:ext cx="4960348" cy="3782786"/>
          </a:xfrm>
          <a:prstGeom prst="rect">
            <a:avLst/>
          </a:prstGeom>
        </p:spPr>
      </p:pic>
      <p:pic>
        <p:nvPicPr>
          <p:cNvPr id="5" name="Picture 4"/>
          <p:cNvPicPr>
            <a:picLocks noChangeAspect="1"/>
          </p:cNvPicPr>
          <p:nvPr/>
        </p:nvPicPr>
        <p:blipFill>
          <a:blip r:embed="rId3"/>
          <a:stretch>
            <a:fillRect/>
          </a:stretch>
        </p:blipFill>
        <p:spPr>
          <a:xfrm>
            <a:off x="5303520" y="1663337"/>
            <a:ext cx="6623685" cy="3709852"/>
          </a:xfrm>
          <a:prstGeom prst="rect">
            <a:avLst/>
          </a:prstGeom>
        </p:spPr>
      </p:pic>
      <p:sp>
        <p:nvSpPr>
          <p:cNvPr id="6" name="TextBox 5"/>
          <p:cNvSpPr txBox="1"/>
          <p:nvPr/>
        </p:nvSpPr>
        <p:spPr>
          <a:xfrm>
            <a:off x="1907178" y="820962"/>
            <a:ext cx="3396342" cy="769441"/>
          </a:xfrm>
          <a:prstGeom prst="rect">
            <a:avLst/>
          </a:prstGeom>
          <a:noFill/>
        </p:spPr>
        <p:txBody>
          <a:bodyPr wrap="square" rtlCol="0">
            <a:spAutoFit/>
          </a:bodyPr>
          <a:lstStyle/>
          <a:p>
            <a:r>
              <a:rPr lang="en-IN" sz="4400" b="1" u="sng" smtClean="0">
                <a:solidFill>
                  <a:srgbClr val="FF0000"/>
                </a:solidFill>
              </a:rPr>
              <a:t>BIAS</a:t>
            </a:r>
            <a:endParaRPr lang="en-IN" sz="4400" b="1" u="sng">
              <a:solidFill>
                <a:srgbClr val="FF0000"/>
              </a:solidFill>
            </a:endParaRPr>
          </a:p>
        </p:txBody>
      </p:sp>
      <p:sp>
        <p:nvSpPr>
          <p:cNvPr id="7" name="TextBox 6"/>
          <p:cNvSpPr txBox="1"/>
          <p:nvPr/>
        </p:nvSpPr>
        <p:spPr>
          <a:xfrm>
            <a:off x="7027817" y="882517"/>
            <a:ext cx="2804160" cy="707886"/>
          </a:xfrm>
          <a:prstGeom prst="rect">
            <a:avLst/>
          </a:prstGeom>
          <a:noFill/>
        </p:spPr>
        <p:txBody>
          <a:bodyPr wrap="square" rtlCol="0">
            <a:spAutoFit/>
          </a:bodyPr>
          <a:lstStyle/>
          <a:p>
            <a:r>
              <a:rPr lang="en-IN" sz="4000" b="1" u="sng" smtClean="0">
                <a:solidFill>
                  <a:srgbClr val="FF0000"/>
                </a:solidFill>
              </a:rPr>
              <a:t>VARIANCE</a:t>
            </a:r>
            <a:endParaRPr lang="en-IN" sz="4000" b="1" u="sng">
              <a:solidFill>
                <a:srgbClr val="FF0000"/>
              </a:solidFill>
            </a:endParaRPr>
          </a:p>
        </p:txBody>
      </p:sp>
      <p:sp>
        <p:nvSpPr>
          <p:cNvPr id="2" name="TextBox 1"/>
          <p:cNvSpPr txBox="1"/>
          <p:nvPr/>
        </p:nvSpPr>
        <p:spPr>
          <a:xfrm>
            <a:off x="108042" y="5599611"/>
            <a:ext cx="5030015" cy="1158240"/>
          </a:xfrm>
          <a:prstGeom prst="rect">
            <a:avLst/>
          </a:prstGeom>
          <a:noFill/>
        </p:spPr>
        <p:txBody>
          <a:bodyPr wrap="square" rtlCol="0">
            <a:spAutoFit/>
          </a:bodyPr>
          <a:lstStyle/>
          <a:p>
            <a:endParaRPr lang="en-IN"/>
          </a:p>
        </p:txBody>
      </p:sp>
    </p:spTree>
    <p:extLst>
      <p:ext uri="{BB962C8B-B14F-4D97-AF65-F5344CB8AC3E}">
        <p14:creationId xmlns:p14="http://schemas.microsoft.com/office/powerpoint/2010/main" val="403807186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35428" y="878126"/>
            <a:ext cx="10628387" cy="5374628"/>
          </a:xfrm>
          <a:prstGeom prst="rect">
            <a:avLst/>
          </a:prstGeom>
        </p:spPr>
      </p:pic>
    </p:spTree>
    <p:extLst>
      <p:ext uri="{BB962C8B-B14F-4D97-AF65-F5344CB8AC3E}">
        <p14:creationId xmlns:p14="http://schemas.microsoft.com/office/powerpoint/2010/main" val="10631257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426804" y="365125"/>
            <a:ext cx="11536820" cy="6166304"/>
          </a:xfrm>
          <a:prstGeom prst="rect">
            <a:avLst/>
          </a:prstGeom>
        </p:spPr>
      </p:pic>
    </p:spTree>
    <p:extLst>
      <p:ext uri="{BB962C8B-B14F-4D97-AF65-F5344CB8AC3E}">
        <p14:creationId xmlns:p14="http://schemas.microsoft.com/office/powerpoint/2010/main" val="38122650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90810" y="0"/>
            <a:ext cx="11001375" cy="4724400"/>
          </a:xfrm>
          <a:prstGeom prst="rect">
            <a:avLst/>
          </a:prstGeom>
        </p:spPr>
      </p:pic>
      <p:sp>
        <p:nvSpPr>
          <p:cNvPr id="4" name="TextBox 3"/>
          <p:cNvSpPr txBox="1"/>
          <p:nvPr/>
        </p:nvSpPr>
        <p:spPr>
          <a:xfrm>
            <a:off x="1872343" y="5294812"/>
            <a:ext cx="10516825" cy="707886"/>
          </a:xfrm>
          <a:prstGeom prst="rect">
            <a:avLst/>
          </a:prstGeom>
          <a:noFill/>
        </p:spPr>
        <p:txBody>
          <a:bodyPr wrap="square" rtlCol="0">
            <a:spAutoFit/>
          </a:bodyPr>
          <a:lstStyle/>
          <a:p>
            <a:r>
              <a:rPr lang="en-IN" sz="4000" b="1" smtClean="0">
                <a:solidFill>
                  <a:srgbClr val="FF0000"/>
                </a:solidFill>
              </a:rPr>
              <a:t>With Training set , squiggy line fit is best</a:t>
            </a:r>
            <a:endParaRPr lang="en-IN" sz="4000" b="1">
              <a:solidFill>
                <a:srgbClr val="FF0000"/>
              </a:solidFill>
            </a:endParaRPr>
          </a:p>
        </p:txBody>
      </p:sp>
    </p:spTree>
    <p:extLst>
      <p:ext uri="{BB962C8B-B14F-4D97-AF65-F5344CB8AC3E}">
        <p14:creationId xmlns:p14="http://schemas.microsoft.com/office/powerpoint/2010/main" val="13267205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39115" y="0"/>
            <a:ext cx="10991850" cy="4410075"/>
          </a:xfrm>
          <a:prstGeom prst="rect">
            <a:avLst/>
          </a:prstGeom>
        </p:spPr>
      </p:pic>
      <p:sp>
        <p:nvSpPr>
          <p:cNvPr id="4" name="TextBox 3"/>
          <p:cNvSpPr txBox="1"/>
          <p:nvPr/>
        </p:nvSpPr>
        <p:spPr>
          <a:xfrm>
            <a:off x="1628503" y="5207726"/>
            <a:ext cx="8691154" cy="707886"/>
          </a:xfrm>
          <a:prstGeom prst="rect">
            <a:avLst/>
          </a:prstGeom>
          <a:noFill/>
        </p:spPr>
        <p:txBody>
          <a:bodyPr wrap="square" rtlCol="0">
            <a:spAutoFit/>
          </a:bodyPr>
          <a:lstStyle/>
          <a:p>
            <a:r>
              <a:rPr lang="en-IN" sz="4000" b="1" smtClean="0">
                <a:solidFill>
                  <a:srgbClr val="FF0000"/>
                </a:solidFill>
              </a:rPr>
              <a:t>With testing set , Straight is the best fit</a:t>
            </a:r>
            <a:endParaRPr lang="en-IN" sz="4000" b="1">
              <a:solidFill>
                <a:srgbClr val="FF0000"/>
              </a:solidFill>
            </a:endParaRPr>
          </a:p>
        </p:txBody>
      </p:sp>
    </p:spTree>
    <p:extLst>
      <p:ext uri="{BB962C8B-B14F-4D97-AF65-F5344CB8AC3E}">
        <p14:creationId xmlns:p14="http://schemas.microsoft.com/office/powerpoint/2010/main" val="26573852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5947954" y="74430"/>
            <a:ext cx="6085931" cy="2525409"/>
          </a:xfrm>
          <a:prstGeom prst="rect">
            <a:avLst/>
          </a:prstGeom>
        </p:spPr>
      </p:pic>
      <p:pic>
        <p:nvPicPr>
          <p:cNvPr id="6" name="Picture 5"/>
          <p:cNvPicPr>
            <a:picLocks noChangeAspect="1"/>
          </p:cNvPicPr>
          <p:nvPr/>
        </p:nvPicPr>
        <p:blipFill>
          <a:blip r:embed="rId3"/>
          <a:stretch>
            <a:fillRect/>
          </a:stretch>
        </p:blipFill>
        <p:spPr>
          <a:xfrm>
            <a:off x="6017623" y="2760618"/>
            <a:ext cx="6174377" cy="2731576"/>
          </a:xfrm>
          <a:prstGeom prst="rect">
            <a:avLst/>
          </a:prstGeom>
        </p:spPr>
      </p:pic>
      <p:sp>
        <p:nvSpPr>
          <p:cNvPr id="7" name="TextBox 6"/>
          <p:cNvSpPr txBox="1"/>
          <p:nvPr/>
        </p:nvSpPr>
        <p:spPr>
          <a:xfrm>
            <a:off x="6039037" y="5914515"/>
            <a:ext cx="6879771" cy="370114"/>
          </a:xfrm>
          <a:prstGeom prst="rect">
            <a:avLst/>
          </a:prstGeom>
          <a:noFill/>
        </p:spPr>
        <p:txBody>
          <a:bodyPr wrap="square" rtlCol="0">
            <a:spAutoFit/>
          </a:bodyPr>
          <a:lstStyle/>
          <a:p>
            <a:r>
              <a:rPr lang="en-IN" b="1" smtClean="0">
                <a:solidFill>
                  <a:srgbClr val="FF0000"/>
                </a:solidFill>
              </a:rPr>
              <a:t>Squiggly lines Sometimes predicts good sometimes bad</a:t>
            </a:r>
            <a:endParaRPr lang="en-IN" b="1">
              <a:solidFill>
                <a:srgbClr val="FF0000"/>
              </a:solidFill>
            </a:endParaRPr>
          </a:p>
        </p:txBody>
      </p:sp>
      <p:pic>
        <p:nvPicPr>
          <p:cNvPr id="8" name="Picture 7"/>
          <p:cNvPicPr>
            <a:picLocks noChangeAspect="1"/>
          </p:cNvPicPr>
          <p:nvPr/>
        </p:nvPicPr>
        <p:blipFill>
          <a:blip r:embed="rId4"/>
          <a:stretch>
            <a:fillRect/>
          </a:stretch>
        </p:blipFill>
        <p:spPr>
          <a:xfrm>
            <a:off x="165462" y="0"/>
            <a:ext cx="4824549" cy="2664823"/>
          </a:xfrm>
          <a:prstGeom prst="rect">
            <a:avLst/>
          </a:prstGeom>
        </p:spPr>
      </p:pic>
      <p:pic>
        <p:nvPicPr>
          <p:cNvPr id="9" name="Picture 8"/>
          <p:cNvPicPr>
            <a:picLocks noChangeAspect="1"/>
          </p:cNvPicPr>
          <p:nvPr/>
        </p:nvPicPr>
        <p:blipFill>
          <a:blip r:embed="rId5"/>
          <a:stretch>
            <a:fillRect/>
          </a:stretch>
        </p:blipFill>
        <p:spPr>
          <a:xfrm>
            <a:off x="60960" y="2696743"/>
            <a:ext cx="5177603" cy="2795451"/>
          </a:xfrm>
          <a:prstGeom prst="rect">
            <a:avLst/>
          </a:prstGeom>
        </p:spPr>
      </p:pic>
      <p:cxnSp>
        <p:nvCxnSpPr>
          <p:cNvPr id="11" name="Straight Connector 10"/>
          <p:cNvCxnSpPr/>
          <p:nvPr/>
        </p:nvCxnSpPr>
        <p:spPr>
          <a:xfrm>
            <a:off x="5686697" y="74430"/>
            <a:ext cx="34834" cy="678357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65462" y="5915297"/>
            <a:ext cx="5425441" cy="369332"/>
          </a:xfrm>
          <a:prstGeom prst="rect">
            <a:avLst/>
          </a:prstGeom>
          <a:noFill/>
        </p:spPr>
        <p:txBody>
          <a:bodyPr wrap="square" rtlCol="0">
            <a:spAutoFit/>
          </a:bodyPr>
          <a:lstStyle/>
          <a:p>
            <a:r>
              <a:rPr lang="en-IN" b="1" smtClean="0">
                <a:solidFill>
                  <a:srgbClr val="FF0000"/>
                </a:solidFill>
              </a:rPr>
              <a:t>Stringht line gives consistently good predictions</a:t>
            </a:r>
            <a:endParaRPr lang="en-IN" b="1">
              <a:solidFill>
                <a:srgbClr val="FF0000"/>
              </a:solidFill>
            </a:endParaRPr>
          </a:p>
        </p:txBody>
      </p:sp>
    </p:spTree>
    <p:extLst>
      <p:ext uri="{BB962C8B-B14F-4D97-AF65-F5344CB8AC3E}">
        <p14:creationId xmlns:p14="http://schemas.microsoft.com/office/powerpoint/2010/main" val="15992931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62446" y="418012"/>
            <a:ext cx="10215154" cy="6124754"/>
          </a:xfrm>
          <a:prstGeom prst="rect">
            <a:avLst/>
          </a:prstGeom>
          <a:solidFill>
            <a:schemeClr val="accent2"/>
          </a:solidFill>
        </p:spPr>
        <p:txBody>
          <a:bodyPr wrap="square" rtlCol="0">
            <a:spAutoFit/>
          </a:bodyPr>
          <a:lstStyle/>
          <a:p>
            <a:endParaRPr lang="en-IN" smtClean="0"/>
          </a:p>
          <a:p>
            <a:endParaRPr lang="en-IN"/>
          </a:p>
          <a:p>
            <a:endParaRPr lang="en-IN" smtClean="0"/>
          </a:p>
          <a:p>
            <a:endParaRPr lang="en-IN"/>
          </a:p>
          <a:p>
            <a:endParaRPr lang="en-IN" smtClean="0"/>
          </a:p>
          <a:p>
            <a:endParaRPr lang="en-IN"/>
          </a:p>
          <a:p>
            <a:endParaRPr lang="en-IN" smtClean="0"/>
          </a:p>
          <a:p>
            <a:endParaRPr lang="en-IN"/>
          </a:p>
          <a:p>
            <a:endParaRPr lang="en-IN" smtClean="0"/>
          </a:p>
          <a:p>
            <a:endParaRPr lang="en-IN"/>
          </a:p>
          <a:p>
            <a:endParaRPr lang="en-IN"/>
          </a:p>
          <a:p>
            <a:pPr algn="ctr"/>
            <a:r>
              <a:rPr lang="en-IN" sz="3200" b="1" smtClean="0"/>
              <a:t>Maximum Likelihood Estimation</a:t>
            </a:r>
          </a:p>
          <a:p>
            <a:endParaRPr lang="en-IN"/>
          </a:p>
          <a:p>
            <a:endParaRPr lang="en-IN" smtClean="0"/>
          </a:p>
          <a:p>
            <a:endParaRPr lang="en-IN"/>
          </a:p>
          <a:p>
            <a:endParaRPr lang="en-IN" smtClean="0"/>
          </a:p>
          <a:p>
            <a:endParaRPr lang="en-IN" smtClean="0"/>
          </a:p>
          <a:p>
            <a:endParaRPr lang="en-IN"/>
          </a:p>
          <a:p>
            <a:endParaRPr lang="en-IN" smtClean="0"/>
          </a:p>
          <a:p>
            <a:endParaRPr lang="en-IN"/>
          </a:p>
          <a:p>
            <a:endParaRPr lang="en-IN"/>
          </a:p>
        </p:txBody>
      </p:sp>
    </p:spTree>
    <p:extLst>
      <p:ext uri="{BB962C8B-B14F-4D97-AF65-F5344CB8AC3E}">
        <p14:creationId xmlns:p14="http://schemas.microsoft.com/office/powerpoint/2010/main" val="25502110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7976" y="0"/>
            <a:ext cx="11042468" cy="369332"/>
          </a:xfrm>
          <a:prstGeom prst="rect">
            <a:avLst/>
          </a:prstGeom>
          <a:noFill/>
        </p:spPr>
        <p:txBody>
          <a:bodyPr wrap="square" rtlCol="0">
            <a:spAutoFit/>
          </a:bodyPr>
          <a:lstStyle/>
          <a:p>
            <a:pPr algn="ctr"/>
            <a:r>
              <a:rPr lang="en-IN" b="1" smtClean="0">
                <a:solidFill>
                  <a:srgbClr val="FF0000"/>
                </a:solidFill>
              </a:rPr>
              <a:t>“In statistics probability is not likelihood”</a:t>
            </a:r>
            <a:endParaRPr lang="en-IN" b="1">
              <a:solidFill>
                <a:srgbClr val="FF00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424017412"/>
              </p:ext>
            </p:extLst>
          </p:nvPr>
        </p:nvGraphicFramePr>
        <p:xfrm>
          <a:off x="687976" y="369332"/>
          <a:ext cx="11199224" cy="6223000"/>
        </p:xfrm>
        <a:graphic>
          <a:graphicData uri="http://schemas.openxmlformats.org/drawingml/2006/table">
            <a:tbl>
              <a:tblPr firstRow="1" bandRow="1"/>
              <a:tblGrid>
                <a:gridCol w="5599612">
                  <a:extLst>
                    <a:ext uri="{9D8B030D-6E8A-4147-A177-3AD203B41FA5}">
                      <a16:colId xmlns:a16="http://schemas.microsoft.com/office/drawing/2014/main" val="120175355"/>
                    </a:ext>
                  </a:extLst>
                </a:gridCol>
                <a:gridCol w="5599612">
                  <a:extLst>
                    <a:ext uri="{9D8B030D-6E8A-4147-A177-3AD203B41FA5}">
                      <a16:colId xmlns:a16="http://schemas.microsoft.com/office/drawing/2014/main" val="1136309446"/>
                    </a:ext>
                  </a:extLst>
                </a:gridCol>
              </a:tblGrid>
              <a:tr h="370840">
                <a:tc>
                  <a:txBody>
                    <a:bodyPr/>
                    <a:lstStyle/>
                    <a:p>
                      <a:pPr algn="ctr"/>
                      <a:r>
                        <a:rPr lang="en-IN" b="1" smtClean="0"/>
                        <a:t>Probability</a:t>
                      </a:r>
                      <a:endParaRPr lang="en-IN" b="1"/>
                    </a:p>
                  </a:txBody>
                  <a:tcPr/>
                </a:tc>
                <a:tc>
                  <a:txBody>
                    <a:bodyPr/>
                    <a:lstStyle/>
                    <a:p>
                      <a:pPr algn="ctr"/>
                      <a:r>
                        <a:rPr lang="en-IN" b="1" smtClean="0"/>
                        <a:t>Likelihood</a:t>
                      </a:r>
                      <a:endParaRPr lang="en-IN" b="1"/>
                    </a:p>
                  </a:txBody>
                  <a:tcPr/>
                </a:tc>
                <a:extLst>
                  <a:ext uri="{0D108BD9-81ED-4DB2-BD59-A6C34878D82A}">
                    <a16:rowId xmlns:a16="http://schemas.microsoft.com/office/drawing/2014/main" val="307165276"/>
                  </a:ext>
                </a:extLst>
              </a:tr>
              <a:tr h="370840">
                <a:tc>
                  <a:txBody>
                    <a:bodyPr/>
                    <a:lstStyle/>
                    <a:p>
                      <a:endParaRPr lang="en-IN" smtClean="0"/>
                    </a:p>
                    <a:p>
                      <a:endParaRPr lang="en-IN" smtClean="0"/>
                    </a:p>
                    <a:p>
                      <a:endParaRPr lang="en-IN" smtClean="0"/>
                    </a:p>
                    <a:p>
                      <a:endParaRPr lang="en-IN" smtClean="0"/>
                    </a:p>
                    <a:p>
                      <a:endParaRPr lang="en-IN" smtClean="0"/>
                    </a:p>
                    <a:p>
                      <a:endParaRPr lang="en-IN" smtClean="0"/>
                    </a:p>
                    <a:p>
                      <a:endParaRPr lang="en-IN" smtClean="0"/>
                    </a:p>
                    <a:p>
                      <a:endParaRPr lang="en-IN" smtClean="0"/>
                    </a:p>
                    <a:p>
                      <a:endParaRPr lang="en-IN" smtClean="0"/>
                    </a:p>
                    <a:p>
                      <a:endParaRPr lang="en-IN" smtClean="0"/>
                    </a:p>
                    <a:p>
                      <a:endParaRPr lang="en-IN" smtClean="0"/>
                    </a:p>
                    <a:p>
                      <a:endParaRPr lang="en-IN" smtClean="0"/>
                    </a:p>
                    <a:p>
                      <a:endParaRPr lang="en-IN" smtClean="0"/>
                    </a:p>
                    <a:p>
                      <a:endParaRPr lang="en-IN" smtClean="0"/>
                    </a:p>
                    <a:p>
                      <a:r>
                        <a:rPr lang="en-IN" smtClean="0"/>
                        <a:t>Probability of a mouse weighing</a:t>
                      </a:r>
                      <a:r>
                        <a:rPr lang="en-IN" baseline="0" smtClean="0"/>
                        <a:t> between 32 &amp; 34 grams given standard deviation 2.5 </a:t>
                      </a:r>
                      <a:endParaRPr lang="en-IN" smtClean="0"/>
                    </a:p>
                    <a:p>
                      <a:endParaRPr lang="en-IN" smtClean="0"/>
                    </a:p>
                    <a:p>
                      <a:endParaRPr lang="en-IN" smtClean="0"/>
                    </a:p>
                    <a:p>
                      <a:endParaRPr lang="en-IN" smtClean="0"/>
                    </a:p>
                    <a:p>
                      <a:endParaRPr lang="en-IN" smtClean="0"/>
                    </a:p>
                    <a:p>
                      <a:endParaRPr lang="en-IN"/>
                    </a:p>
                  </a:txBody>
                  <a:tcPr/>
                </a:tc>
                <a:tc>
                  <a:txBody>
                    <a:bodyPr/>
                    <a:lstStyle/>
                    <a:p>
                      <a:endParaRPr lang="en-IN"/>
                    </a:p>
                  </a:txBody>
                  <a:tcPr/>
                </a:tc>
                <a:extLst>
                  <a:ext uri="{0D108BD9-81ED-4DB2-BD59-A6C34878D82A}">
                    <a16:rowId xmlns:a16="http://schemas.microsoft.com/office/drawing/2014/main" val="966679483"/>
                  </a:ext>
                </a:extLst>
              </a:tr>
            </a:tbl>
          </a:graphicData>
        </a:graphic>
      </p:graphicFrame>
      <p:pic>
        <p:nvPicPr>
          <p:cNvPr id="5" name="Picture 4"/>
          <p:cNvPicPr>
            <a:picLocks noChangeAspect="1"/>
          </p:cNvPicPr>
          <p:nvPr/>
        </p:nvPicPr>
        <p:blipFill>
          <a:blip r:embed="rId2"/>
          <a:stretch>
            <a:fillRect/>
          </a:stretch>
        </p:blipFill>
        <p:spPr>
          <a:xfrm>
            <a:off x="893579" y="5441224"/>
            <a:ext cx="4927146" cy="1085850"/>
          </a:xfrm>
          <a:prstGeom prst="rect">
            <a:avLst/>
          </a:prstGeom>
        </p:spPr>
      </p:pic>
      <p:pic>
        <p:nvPicPr>
          <p:cNvPr id="6" name="Picture 5"/>
          <p:cNvPicPr>
            <a:picLocks noChangeAspect="1"/>
          </p:cNvPicPr>
          <p:nvPr/>
        </p:nvPicPr>
        <p:blipFill>
          <a:blip r:embed="rId3"/>
          <a:stretch>
            <a:fillRect/>
          </a:stretch>
        </p:blipFill>
        <p:spPr>
          <a:xfrm>
            <a:off x="792478" y="838895"/>
            <a:ext cx="5338355" cy="3585482"/>
          </a:xfrm>
          <a:prstGeom prst="rect">
            <a:avLst/>
          </a:prstGeom>
        </p:spPr>
      </p:pic>
      <p:pic>
        <p:nvPicPr>
          <p:cNvPr id="7" name="Picture 6"/>
          <p:cNvPicPr>
            <a:picLocks noChangeAspect="1"/>
          </p:cNvPicPr>
          <p:nvPr/>
        </p:nvPicPr>
        <p:blipFill>
          <a:blip r:embed="rId4"/>
          <a:stretch>
            <a:fillRect/>
          </a:stretch>
        </p:blipFill>
        <p:spPr>
          <a:xfrm>
            <a:off x="6452098" y="838895"/>
            <a:ext cx="5113837" cy="3324225"/>
          </a:xfrm>
          <a:prstGeom prst="rect">
            <a:avLst/>
          </a:prstGeom>
        </p:spPr>
      </p:pic>
      <p:pic>
        <p:nvPicPr>
          <p:cNvPr id="9" name="Picture 8"/>
          <p:cNvPicPr>
            <a:picLocks noChangeAspect="1"/>
          </p:cNvPicPr>
          <p:nvPr/>
        </p:nvPicPr>
        <p:blipFill>
          <a:blip r:embed="rId5"/>
          <a:stretch>
            <a:fillRect/>
          </a:stretch>
        </p:blipFill>
        <p:spPr>
          <a:xfrm>
            <a:off x="6390321" y="5336449"/>
            <a:ext cx="5237389" cy="1190625"/>
          </a:xfrm>
          <a:prstGeom prst="rect">
            <a:avLst/>
          </a:prstGeom>
        </p:spPr>
      </p:pic>
      <p:sp>
        <p:nvSpPr>
          <p:cNvPr id="10" name="TextBox 9"/>
          <p:cNvSpPr txBox="1"/>
          <p:nvPr/>
        </p:nvSpPr>
        <p:spPr>
          <a:xfrm>
            <a:off x="6390321" y="4528457"/>
            <a:ext cx="5340123" cy="923330"/>
          </a:xfrm>
          <a:prstGeom prst="rect">
            <a:avLst/>
          </a:prstGeom>
          <a:noFill/>
        </p:spPr>
        <p:txBody>
          <a:bodyPr wrap="square" rtlCol="0">
            <a:spAutoFit/>
          </a:bodyPr>
          <a:lstStyle/>
          <a:p>
            <a:r>
              <a:rPr lang="en-IN" smtClean="0"/>
              <a:t>Likelihood of a distribution with mean=32 &amp; standard deviation =2.5 given weight of mouse is 34 grams is 0.12 </a:t>
            </a:r>
            <a:endParaRPr lang="en-IN"/>
          </a:p>
        </p:txBody>
      </p:sp>
    </p:spTree>
    <p:extLst>
      <p:ext uri="{BB962C8B-B14F-4D97-AF65-F5344CB8AC3E}">
        <p14:creationId xmlns:p14="http://schemas.microsoft.com/office/powerpoint/2010/main" val="41612730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964432826"/>
              </p:ext>
            </p:extLst>
          </p:nvPr>
        </p:nvGraphicFramePr>
        <p:xfrm>
          <a:off x="505097" y="144900"/>
          <a:ext cx="11016344" cy="6771640"/>
        </p:xfrm>
        <a:graphic>
          <a:graphicData uri="http://schemas.openxmlformats.org/drawingml/2006/table">
            <a:tbl>
              <a:tblPr firstRow="1" bandRow="1"/>
              <a:tblGrid>
                <a:gridCol w="5508172">
                  <a:extLst>
                    <a:ext uri="{9D8B030D-6E8A-4147-A177-3AD203B41FA5}">
                      <a16:colId xmlns:a16="http://schemas.microsoft.com/office/drawing/2014/main" val="3948700631"/>
                    </a:ext>
                  </a:extLst>
                </a:gridCol>
                <a:gridCol w="5508172">
                  <a:extLst>
                    <a:ext uri="{9D8B030D-6E8A-4147-A177-3AD203B41FA5}">
                      <a16:colId xmlns:a16="http://schemas.microsoft.com/office/drawing/2014/main" val="933497201"/>
                    </a:ext>
                  </a:extLst>
                </a:gridCol>
              </a:tblGrid>
              <a:tr h="370840">
                <a:tc>
                  <a:txBody>
                    <a:bodyPr/>
                    <a:lstStyle/>
                    <a:p>
                      <a:pPr algn="ctr"/>
                      <a:r>
                        <a:rPr lang="en-IN" b="1" smtClean="0"/>
                        <a:t>Probability</a:t>
                      </a:r>
                      <a:endParaRPr lang="en-IN" b="1"/>
                    </a:p>
                  </a:txBody>
                  <a:tcPr/>
                </a:tc>
                <a:tc>
                  <a:txBody>
                    <a:bodyPr/>
                    <a:lstStyle/>
                    <a:p>
                      <a:pPr algn="ctr"/>
                      <a:r>
                        <a:rPr lang="en-IN" b="1" smtClean="0"/>
                        <a:t>Likelihood</a:t>
                      </a:r>
                      <a:endParaRPr lang="en-IN" b="1"/>
                    </a:p>
                  </a:txBody>
                  <a:tcPr/>
                </a:tc>
                <a:extLst>
                  <a:ext uri="{0D108BD9-81ED-4DB2-BD59-A6C34878D82A}">
                    <a16:rowId xmlns:a16="http://schemas.microsoft.com/office/drawing/2014/main" val="288201141"/>
                  </a:ext>
                </a:extLst>
              </a:tr>
              <a:tr h="370840">
                <a:tc>
                  <a:txBody>
                    <a:bodyPr/>
                    <a:lstStyle/>
                    <a:p>
                      <a:endParaRPr lang="en-IN" smtClean="0"/>
                    </a:p>
                    <a:p>
                      <a:endParaRPr lang="en-IN" smtClean="0"/>
                    </a:p>
                    <a:p>
                      <a:endParaRPr lang="en-IN" smtClean="0"/>
                    </a:p>
                    <a:p>
                      <a:endParaRPr lang="en-IN" smtClean="0"/>
                    </a:p>
                    <a:p>
                      <a:endParaRPr lang="en-IN" smtClean="0"/>
                    </a:p>
                    <a:p>
                      <a:endParaRPr lang="en-IN" smtClean="0"/>
                    </a:p>
                    <a:p>
                      <a:endParaRPr lang="en-IN" smtClean="0"/>
                    </a:p>
                    <a:p>
                      <a:endParaRPr lang="en-IN" smtClean="0"/>
                    </a:p>
                    <a:p>
                      <a:endParaRPr lang="en-IN" smtClean="0"/>
                    </a:p>
                    <a:p>
                      <a:endParaRPr lang="en-IN" smtClean="0"/>
                    </a:p>
                    <a:p>
                      <a:endParaRPr lang="en-IN" smtClean="0"/>
                    </a:p>
                    <a:p>
                      <a:endParaRPr lang="en-IN" smtClean="0"/>
                    </a:p>
                    <a:p>
                      <a:endParaRPr lang="en-IN" smtClean="0"/>
                    </a:p>
                    <a:p>
                      <a:endParaRPr lang="en-IN" smtClean="0"/>
                    </a:p>
                    <a:p>
                      <a:endParaRPr lang="en-IN" smtClean="0"/>
                    </a:p>
                    <a:p>
                      <a:endParaRPr lang="en-IN" smtClean="0"/>
                    </a:p>
                    <a:p>
                      <a:endParaRPr lang="en-IN" smtClean="0"/>
                    </a:p>
                    <a:p>
                      <a:endParaRPr lang="en-IN" smtClean="0"/>
                    </a:p>
                    <a:p>
                      <a:endParaRPr lang="en-IN" smtClean="0"/>
                    </a:p>
                    <a:p>
                      <a:endParaRPr lang="en-IN" smtClean="0"/>
                    </a:p>
                    <a:p>
                      <a:endParaRPr lang="en-IN" smtClean="0"/>
                    </a:p>
                    <a:p>
                      <a:endParaRPr lang="en-IN" smtClean="0"/>
                    </a:p>
                    <a:p>
                      <a:endParaRPr lang="en-IN"/>
                    </a:p>
                  </a:txBody>
                  <a:tcPr/>
                </a:tc>
                <a:tc>
                  <a:txBody>
                    <a:bodyPr/>
                    <a:lstStyle/>
                    <a:p>
                      <a:endParaRPr lang="en-IN"/>
                    </a:p>
                  </a:txBody>
                  <a:tcPr/>
                </a:tc>
                <a:extLst>
                  <a:ext uri="{0D108BD9-81ED-4DB2-BD59-A6C34878D82A}">
                    <a16:rowId xmlns:a16="http://schemas.microsoft.com/office/drawing/2014/main" val="670500715"/>
                  </a:ext>
                </a:extLst>
              </a:tr>
            </a:tbl>
          </a:graphicData>
        </a:graphic>
      </p:graphicFrame>
      <p:pic>
        <p:nvPicPr>
          <p:cNvPr id="3" name="Picture 2"/>
          <p:cNvPicPr>
            <a:picLocks noChangeAspect="1"/>
          </p:cNvPicPr>
          <p:nvPr/>
        </p:nvPicPr>
        <p:blipFill>
          <a:blip r:embed="rId2"/>
          <a:stretch>
            <a:fillRect/>
          </a:stretch>
        </p:blipFill>
        <p:spPr>
          <a:xfrm>
            <a:off x="651510" y="4181475"/>
            <a:ext cx="5218067" cy="2676525"/>
          </a:xfrm>
          <a:prstGeom prst="rect">
            <a:avLst/>
          </a:prstGeom>
        </p:spPr>
      </p:pic>
      <p:pic>
        <p:nvPicPr>
          <p:cNvPr id="6" name="Content Placeholder 3"/>
          <p:cNvPicPr>
            <a:picLocks noChangeAspect="1"/>
          </p:cNvPicPr>
          <p:nvPr/>
        </p:nvPicPr>
        <p:blipFill>
          <a:blip r:embed="rId3"/>
          <a:stretch>
            <a:fillRect/>
          </a:stretch>
        </p:blipFill>
        <p:spPr>
          <a:xfrm>
            <a:off x="6232070" y="4328689"/>
            <a:ext cx="5188131" cy="2307640"/>
          </a:xfrm>
          <a:prstGeom prst="rect">
            <a:avLst/>
          </a:prstGeom>
        </p:spPr>
      </p:pic>
      <p:sp>
        <p:nvSpPr>
          <p:cNvPr id="8" name="TextBox 7"/>
          <p:cNvSpPr txBox="1"/>
          <p:nvPr/>
        </p:nvSpPr>
        <p:spPr>
          <a:xfrm>
            <a:off x="6136005" y="3648891"/>
            <a:ext cx="5284196" cy="369332"/>
          </a:xfrm>
          <a:prstGeom prst="rect">
            <a:avLst/>
          </a:prstGeom>
          <a:solidFill>
            <a:schemeClr val="accent2"/>
          </a:solidFill>
        </p:spPr>
        <p:txBody>
          <a:bodyPr wrap="square" rtlCol="0">
            <a:spAutoFit/>
          </a:bodyPr>
          <a:lstStyle/>
          <a:p>
            <a:r>
              <a:rPr lang="en-IN" b="1" smtClean="0"/>
              <a:t>“Here shape &amp; location of distribution is modified”</a:t>
            </a:r>
            <a:endParaRPr lang="en-IN" b="1"/>
          </a:p>
        </p:txBody>
      </p:sp>
      <p:sp>
        <p:nvSpPr>
          <p:cNvPr id="9" name="TextBox 8"/>
          <p:cNvSpPr txBox="1"/>
          <p:nvPr/>
        </p:nvSpPr>
        <p:spPr>
          <a:xfrm>
            <a:off x="651510" y="3561806"/>
            <a:ext cx="5043896" cy="369332"/>
          </a:xfrm>
          <a:prstGeom prst="rect">
            <a:avLst/>
          </a:prstGeom>
          <a:noFill/>
        </p:spPr>
        <p:txBody>
          <a:bodyPr wrap="square" rtlCol="0">
            <a:spAutoFit/>
          </a:bodyPr>
          <a:lstStyle/>
          <a:p>
            <a:endParaRPr lang="en-IN"/>
          </a:p>
        </p:txBody>
      </p:sp>
      <p:sp>
        <p:nvSpPr>
          <p:cNvPr id="10" name="TextBox 9"/>
          <p:cNvSpPr txBox="1"/>
          <p:nvPr/>
        </p:nvSpPr>
        <p:spPr>
          <a:xfrm>
            <a:off x="651509" y="3686975"/>
            <a:ext cx="5218067" cy="369332"/>
          </a:xfrm>
          <a:prstGeom prst="rect">
            <a:avLst/>
          </a:prstGeom>
          <a:solidFill>
            <a:schemeClr val="accent2"/>
          </a:solidFill>
        </p:spPr>
        <p:txBody>
          <a:bodyPr wrap="square" rtlCol="0">
            <a:spAutoFit/>
          </a:bodyPr>
          <a:lstStyle/>
          <a:p>
            <a:r>
              <a:rPr lang="en-IN" b="1" smtClean="0"/>
              <a:t>“Here distribution remains same”</a:t>
            </a:r>
            <a:endParaRPr lang="en-IN" b="1"/>
          </a:p>
        </p:txBody>
      </p:sp>
      <p:pic>
        <p:nvPicPr>
          <p:cNvPr id="13" name="Picture 12"/>
          <p:cNvPicPr>
            <a:picLocks noChangeAspect="1"/>
          </p:cNvPicPr>
          <p:nvPr/>
        </p:nvPicPr>
        <p:blipFill>
          <a:blip r:embed="rId4"/>
          <a:stretch>
            <a:fillRect/>
          </a:stretch>
        </p:blipFill>
        <p:spPr>
          <a:xfrm>
            <a:off x="606470" y="569566"/>
            <a:ext cx="5133975" cy="2933700"/>
          </a:xfrm>
          <a:prstGeom prst="rect">
            <a:avLst/>
          </a:prstGeom>
        </p:spPr>
      </p:pic>
      <p:pic>
        <p:nvPicPr>
          <p:cNvPr id="14" name="Picture 13"/>
          <p:cNvPicPr>
            <a:picLocks noChangeAspect="1"/>
          </p:cNvPicPr>
          <p:nvPr/>
        </p:nvPicPr>
        <p:blipFill>
          <a:blip r:embed="rId5"/>
          <a:stretch>
            <a:fillRect/>
          </a:stretch>
        </p:blipFill>
        <p:spPr>
          <a:xfrm>
            <a:off x="6135393" y="650562"/>
            <a:ext cx="4991100" cy="2852704"/>
          </a:xfrm>
          <a:prstGeom prst="rect">
            <a:avLst/>
          </a:prstGeom>
        </p:spPr>
      </p:pic>
    </p:spTree>
    <p:extLst>
      <p:ext uri="{BB962C8B-B14F-4D97-AF65-F5344CB8AC3E}">
        <p14:creationId xmlns:p14="http://schemas.microsoft.com/office/powerpoint/2010/main" val="40558954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558834" y="75862"/>
            <a:ext cx="1950720" cy="3595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409303" y="75862"/>
            <a:ext cx="11373394" cy="1477328"/>
          </a:xfrm>
          <a:prstGeom prst="rect">
            <a:avLst/>
          </a:prstGeom>
          <a:noFill/>
        </p:spPr>
        <p:txBody>
          <a:bodyPr wrap="square" rtlCol="0">
            <a:spAutoFit/>
          </a:bodyPr>
          <a:lstStyle/>
          <a:p>
            <a:r>
              <a:rPr lang="en-IN" smtClean="0"/>
              <a:t>The goal of maximum likelihood is to find optimal way to fit a distribution to the data .</a:t>
            </a:r>
          </a:p>
          <a:p>
            <a:r>
              <a:rPr lang="en-IN" smtClean="0"/>
              <a:t>There are lots of types of distributions to different types of data .</a:t>
            </a:r>
          </a:p>
          <a:p>
            <a:r>
              <a:rPr lang="en-IN" b="1" smtClean="0">
                <a:solidFill>
                  <a:srgbClr val="FF0000"/>
                </a:solidFill>
              </a:rPr>
              <a:t>Reason:- </a:t>
            </a:r>
            <a:r>
              <a:rPr lang="en-IN"/>
              <a:t>F</a:t>
            </a:r>
            <a:r>
              <a:rPr lang="en-IN" smtClean="0"/>
              <a:t>itting a </a:t>
            </a:r>
            <a:r>
              <a:rPr lang="en-IN"/>
              <a:t>distribution to the data </a:t>
            </a:r>
            <a:r>
              <a:rPr lang="en-IN" smtClean="0"/>
              <a:t>, makes the thing easier &amp; more general – it applies every experiment of same type.</a:t>
            </a:r>
            <a:endParaRPr lang="en-IN" b="1" smtClean="0">
              <a:solidFill>
                <a:srgbClr val="FF0000"/>
              </a:solidFill>
            </a:endParaRPr>
          </a:p>
          <a:p>
            <a:endParaRPr lang="en-IN"/>
          </a:p>
        </p:txBody>
      </p:sp>
      <p:pic>
        <p:nvPicPr>
          <p:cNvPr id="11" name="Picture 10"/>
          <p:cNvPicPr>
            <a:picLocks noChangeAspect="1"/>
          </p:cNvPicPr>
          <p:nvPr/>
        </p:nvPicPr>
        <p:blipFill>
          <a:blip r:embed="rId2"/>
          <a:stretch>
            <a:fillRect/>
          </a:stretch>
        </p:blipFill>
        <p:spPr>
          <a:xfrm>
            <a:off x="607695" y="4486275"/>
            <a:ext cx="10201275" cy="2371725"/>
          </a:xfrm>
          <a:prstGeom prst="rect">
            <a:avLst/>
          </a:prstGeom>
        </p:spPr>
      </p:pic>
      <p:pic>
        <p:nvPicPr>
          <p:cNvPr id="12" name="Picture 11"/>
          <p:cNvPicPr>
            <a:picLocks noChangeAspect="1"/>
          </p:cNvPicPr>
          <p:nvPr/>
        </p:nvPicPr>
        <p:blipFill>
          <a:blip r:embed="rId3"/>
          <a:stretch>
            <a:fillRect/>
          </a:stretch>
        </p:blipFill>
        <p:spPr>
          <a:xfrm>
            <a:off x="409303" y="1454331"/>
            <a:ext cx="10650583" cy="2532834"/>
          </a:xfrm>
          <a:prstGeom prst="rect">
            <a:avLst/>
          </a:prstGeom>
        </p:spPr>
      </p:pic>
      <p:sp>
        <p:nvSpPr>
          <p:cNvPr id="13" name="TextBox 12"/>
          <p:cNvSpPr txBox="1"/>
          <p:nvPr/>
        </p:nvSpPr>
        <p:spPr>
          <a:xfrm>
            <a:off x="226423" y="4197531"/>
            <a:ext cx="11652068" cy="369332"/>
          </a:xfrm>
          <a:prstGeom prst="rect">
            <a:avLst/>
          </a:prstGeom>
          <a:solidFill>
            <a:schemeClr val="accent2"/>
          </a:solidFill>
        </p:spPr>
        <p:txBody>
          <a:bodyPr wrap="square" rtlCol="0">
            <a:spAutoFit/>
          </a:bodyPr>
          <a:lstStyle/>
          <a:p>
            <a:r>
              <a:rPr lang="en-IN" b="1" smtClean="0"/>
              <a:t>So to maximise the likelihood , change the location of distribution &amp; find out for which location the mean is maximum </a:t>
            </a:r>
            <a:endParaRPr lang="en-IN" b="1"/>
          </a:p>
        </p:txBody>
      </p:sp>
    </p:spTree>
    <p:extLst>
      <p:ext uri="{BB962C8B-B14F-4D97-AF65-F5344CB8AC3E}">
        <p14:creationId xmlns:p14="http://schemas.microsoft.com/office/powerpoint/2010/main" val="24932532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82101" y="641985"/>
            <a:ext cx="11001375" cy="5695950"/>
          </a:xfrm>
          <a:prstGeom prst="rect">
            <a:avLst/>
          </a:prstGeom>
        </p:spPr>
      </p:pic>
    </p:spTree>
    <p:extLst>
      <p:ext uri="{BB962C8B-B14F-4D97-AF65-F5344CB8AC3E}">
        <p14:creationId xmlns:p14="http://schemas.microsoft.com/office/powerpoint/2010/main" val="22326045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0891" y="496389"/>
            <a:ext cx="11216640" cy="646331"/>
          </a:xfrm>
          <a:prstGeom prst="rect">
            <a:avLst/>
          </a:prstGeom>
          <a:noFill/>
        </p:spPr>
        <p:txBody>
          <a:bodyPr wrap="square" rtlCol="0">
            <a:spAutoFit/>
          </a:bodyPr>
          <a:lstStyle/>
          <a:p>
            <a:r>
              <a:rPr lang="en-US">
                <a:solidFill>
                  <a:srgbClr val="FF0000"/>
                </a:solidFill>
              </a:rPr>
              <a:t>The </a:t>
            </a:r>
            <a:r>
              <a:rPr lang="en-US" b="1">
                <a:solidFill>
                  <a:srgbClr val="FF0000"/>
                </a:solidFill>
              </a:rPr>
              <a:t>Expectation-Maximization (EM) algorithm</a:t>
            </a:r>
            <a:r>
              <a:rPr lang="en-US">
                <a:solidFill>
                  <a:srgbClr val="FF0000"/>
                </a:solidFill>
              </a:rPr>
              <a:t> is a method used to perform </a:t>
            </a:r>
            <a:r>
              <a:rPr lang="en-US" b="1">
                <a:solidFill>
                  <a:srgbClr val="FF0000"/>
                </a:solidFill>
              </a:rPr>
              <a:t>Maximum Likelihood Estimation (MLE)</a:t>
            </a:r>
            <a:r>
              <a:rPr lang="en-US">
                <a:solidFill>
                  <a:srgbClr val="FF0000"/>
                </a:solidFill>
              </a:rPr>
              <a:t> when the data is </a:t>
            </a:r>
            <a:r>
              <a:rPr lang="en-US" b="1">
                <a:solidFill>
                  <a:srgbClr val="FF0000"/>
                </a:solidFill>
              </a:rPr>
              <a:t>incomplete</a:t>
            </a:r>
            <a:r>
              <a:rPr lang="en-US">
                <a:solidFill>
                  <a:srgbClr val="FF0000"/>
                </a:solidFill>
              </a:rPr>
              <a:t>, </a:t>
            </a:r>
            <a:r>
              <a:rPr lang="en-US" b="1">
                <a:solidFill>
                  <a:srgbClr val="FF0000"/>
                </a:solidFill>
              </a:rPr>
              <a:t>has missing values</a:t>
            </a:r>
            <a:r>
              <a:rPr lang="en-US">
                <a:solidFill>
                  <a:srgbClr val="FF0000"/>
                </a:solidFill>
              </a:rPr>
              <a:t>, or contains </a:t>
            </a:r>
            <a:r>
              <a:rPr lang="en-US" b="1">
                <a:solidFill>
                  <a:srgbClr val="FF0000"/>
                </a:solidFill>
              </a:rPr>
              <a:t>latent (hidden) variables</a:t>
            </a:r>
            <a:r>
              <a:rPr lang="en-US">
                <a:solidFill>
                  <a:srgbClr val="FF0000"/>
                </a:solidFill>
              </a:rPr>
              <a:t>.</a:t>
            </a:r>
            <a:endParaRPr lang="en-IN">
              <a:solidFill>
                <a:srgbClr val="FF0000"/>
              </a:solidFill>
            </a:endParaRPr>
          </a:p>
        </p:txBody>
      </p:sp>
      <p:pic>
        <p:nvPicPr>
          <p:cNvPr id="3" name="Picture 2"/>
          <p:cNvPicPr>
            <a:picLocks noChangeAspect="1"/>
          </p:cNvPicPr>
          <p:nvPr/>
        </p:nvPicPr>
        <p:blipFill>
          <a:blip r:embed="rId2"/>
          <a:stretch>
            <a:fillRect/>
          </a:stretch>
        </p:blipFill>
        <p:spPr>
          <a:xfrm>
            <a:off x="377054" y="1579381"/>
            <a:ext cx="10810875" cy="5057775"/>
          </a:xfrm>
          <a:prstGeom prst="rect">
            <a:avLst/>
          </a:prstGeom>
        </p:spPr>
      </p:pic>
    </p:spTree>
    <p:extLst>
      <p:ext uri="{BB962C8B-B14F-4D97-AF65-F5344CB8AC3E}">
        <p14:creationId xmlns:p14="http://schemas.microsoft.com/office/powerpoint/2010/main" val="34803419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74740" y="108584"/>
            <a:ext cx="6557283" cy="6022249"/>
          </a:xfrm>
          <a:prstGeom prst="rect">
            <a:avLst/>
          </a:prstGeom>
        </p:spPr>
      </p:pic>
      <p:pic>
        <p:nvPicPr>
          <p:cNvPr id="4" name="Picture 3"/>
          <p:cNvPicPr>
            <a:picLocks noChangeAspect="1"/>
          </p:cNvPicPr>
          <p:nvPr/>
        </p:nvPicPr>
        <p:blipFill>
          <a:blip r:embed="rId3"/>
          <a:stretch>
            <a:fillRect/>
          </a:stretch>
        </p:blipFill>
        <p:spPr>
          <a:xfrm>
            <a:off x="6932023" y="524146"/>
            <a:ext cx="5033554" cy="6333853"/>
          </a:xfrm>
          <a:prstGeom prst="rect">
            <a:avLst/>
          </a:prstGeom>
        </p:spPr>
      </p:pic>
    </p:spTree>
    <p:extLst>
      <p:ext uri="{BB962C8B-B14F-4D97-AF65-F5344CB8AC3E}">
        <p14:creationId xmlns:p14="http://schemas.microsoft.com/office/powerpoint/2010/main" val="37893157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6499" y="85453"/>
            <a:ext cx="11268075" cy="3238500"/>
          </a:xfrm>
          <a:prstGeom prst="rect">
            <a:avLst/>
          </a:prstGeom>
        </p:spPr>
      </p:pic>
      <p:pic>
        <p:nvPicPr>
          <p:cNvPr id="3" name="Picture 2"/>
          <p:cNvPicPr>
            <a:picLocks noChangeAspect="1"/>
          </p:cNvPicPr>
          <p:nvPr/>
        </p:nvPicPr>
        <p:blipFill>
          <a:blip r:embed="rId3"/>
          <a:stretch>
            <a:fillRect/>
          </a:stretch>
        </p:blipFill>
        <p:spPr>
          <a:xfrm>
            <a:off x="477202" y="3663315"/>
            <a:ext cx="10506075" cy="3067050"/>
          </a:xfrm>
          <a:prstGeom prst="rect">
            <a:avLst/>
          </a:prstGeom>
        </p:spPr>
      </p:pic>
    </p:spTree>
    <p:extLst>
      <p:ext uri="{BB962C8B-B14F-4D97-AF65-F5344CB8AC3E}">
        <p14:creationId xmlns:p14="http://schemas.microsoft.com/office/powerpoint/2010/main" val="34608982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62446" y="418012"/>
            <a:ext cx="10215154" cy="6124754"/>
          </a:xfrm>
          <a:prstGeom prst="rect">
            <a:avLst/>
          </a:prstGeom>
          <a:solidFill>
            <a:schemeClr val="accent2"/>
          </a:solidFill>
        </p:spPr>
        <p:txBody>
          <a:bodyPr wrap="square" rtlCol="0">
            <a:spAutoFit/>
          </a:bodyPr>
          <a:lstStyle/>
          <a:p>
            <a:endParaRPr lang="en-IN" smtClean="0"/>
          </a:p>
          <a:p>
            <a:endParaRPr lang="en-IN"/>
          </a:p>
          <a:p>
            <a:endParaRPr lang="en-IN" smtClean="0"/>
          </a:p>
          <a:p>
            <a:endParaRPr lang="en-IN"/>
          </a:p>
          <a:p>
            <a:endParaRPr lang="en-IN" smtClean="0"/>
          </a:p>
          <a:p>
            <a:endParaRPr lang="en-IN"/>
          </a:p>
          <a:p>
            <a:endParaRPr lang="en-IN" smtClean="0"/>
          </a:p>
          <a:p>
            <a:endParaRPr lang="en-IN"/>
          </a:p>
          <a:p>
            <a:endParaRPr lang="en-IN" smtClean="0"/>
          </a:p>
          <a:p>
            <a:endParaRPr lang="en-IN"/>
          </a:p>
          <a:p>
            <a:endParaRPr lang="en-IN"/>
          </a:p>
          <a:p>
            <a:pPr algn="ctr"/>
            <a:r>
              <a:rPr lang="en-IN" sz="3200" b="1" smtClean="0"/>
              <a:t>Bayesien Statistics</a:t>
            </a:r>
          </a:p>
          <a:p>
            <a:endParaRPr lang="en-IN"/>
          </a:p>
          <a:p>
            <a:endParaRPr lang="en-IN" smtClean="0"/>
          </a:p>
          <a:p>
            <a:endParaRPr lang="en-IN"/>
          </a:p>
          <a:p>
            <a:endParaRPr lang="en-IN" smtClean="0"/>
          </a:p>
          <a:p>
            <a:endParaRPr lang="en-IN" smtClean="0"/>
          </a:p>
          <a:p>
            <a:endParaRPr lang="en-IN"/>
          </a:p>
          <a:p>
            <a:endParaRPr lang="en-IN" smtClean="0"/>
          </a:p>
          <a:p>
            <a:endParaRPr lang="en-IN"/>
          </a:p>
          <a:p>
            <a:endParaRPr lang="en-IN"/>
          </a:p>
        </p:txBody>
      </p:sp>
    </p:spTree>
    <p:extLst>
      <p:ext uri="{BB962C8B-B14F-4D97-AF65-F5344CB8AC3E}">
        <p14:creationId xmlns:p14="http://schemas.microsoft.com/office/powerpoint/2010/main" val="29049109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96389" y="548640"/>
            <a:ext cx="11416937" cy="646331"/>
          </a:xfrm>
          <a:prstGeom prst="rect">
            <a:avLst/>
          </a:prstGeom>
          <a:noFill/>
        </p:spPr>
        <p:txBody>
          <a:bodyPr wrap="square" rtlCol="0">
            <a:spAutoFit/>
          </a:bodyPr>
          <a:lstStyle/>
          <a:p>
            <a:r>
              <a:rPr lang="en-US"/>
              <a:t>Frequentist and Bayesian are two schools of thought in probability </a:t>
            </a:r>
            <a:r>
              <a:rPr lang="en-US"/>
              <a:t>theory</a:t>
            </a:r>
            <a:r>
              <a:rPr lang="en-US" smtClean="0"/>
              <a:t>.</a:t>
            </a:r>
          </a:p>
          <a:p>
            <a:endParaRPr lang="en-IN"/>
          </a:p>
        </p:txBody>
      </p:sp>
      <p:graphicFrame>
        <p:nvGraphicFramePr>
          <p:cNvPr id="5" name="Table 4"/>
          <p:cNvGraphicFramePr>
            <a:graphicFrameLocks noGrp="1"/>
          </p:cNvGraphicFramePr>
          <p:nvPr>
            <p:extLst>
              <p:ext uri="{D42A27DB-BD31-4B8C-83A1-F6EECF244321}">
                <p14:modId xmlns:p14="http://schemas.microsoft.com/office/powerpoint/2010/main" val="2402446134"/>
              </p:ext>
            </p:extLst>
          </p:nvPr>
        </p:nvGraphicFramePr>
        <p:xfrm>
          <a:off x="986969" y="1194971"/>
          <a:ext cx="10499636" cy="7868920"/>
        </p:xfrm>
        <a:graphic>
          <a:graphicData uri="http://schemas.openxmlformats.org/drawingml/2006/table">
            <a:tbl>
              <a:tblPr firstRow="1" bandRow="1"/>
              <a:tblGrid>
                <a:gridCol w="5249818">
                  <a:extLst>
                    <a:ext uri="{9D8B030D-6E8A-4147-A177-3AD203B41FA5}">
                      <a16:colId xmlns:a16="http://schemas.microsoft.com/office/drawing/2014/main" val="661990460"/>
                    </a:ext>
                  </a:extLst>
                </a:gridCol>
                <a:gridCol w="5249818">
                  <a:extLst>
                    <a:ext uri="{9D8B030D-6E8A-4147-A177-3AD203B41FA5}">
                      <a16:colId xmlns:a16="http://schemas.microsoft.com/office/drawing/2014/main" val="2396821297"/>
                    </a:ext>
                  </a:extLst>
                </a:gridCol>
              </a:tblGrid>
              <a:tr h="370840">
                <a:tc>
                  <a:txBody>
                    <a:bodyPr/>
                    <a:lstStyle/>
                    <a:p>
                      <a:pPr algn="ctr"/>
                      <a:r>
                        <a:rPr lang="en-IN" sz="1800" b="1" i="0" kern="1200" smtClean="0">
                          <a:solidFill>
                            <a:schemeClr val="tx1"/>
                          </a:solidFill>
                          <a:effectLst/>
                          <a:latin typeface="+mn-lt"/>
                          <a:ea typeface="+mn-ea"/>
                          <a:cs typeface="+mn-cs"/>
                        </a:rPr>
                        <a:t>Frequentist Approach</a:t>
                      </a:r>
                      <a:endParaRPr lang="en-IN" b="1"/>
                    </a:p>
                  </a:txBody>
                  <a:tcPr/>
                </a:tc>
                <a:tc>
                  <a:txBody>
                    <a:bodyPr/>
                    <a:lstStyle/>
                    <a:p>
                      <a:pPr algn="ctr"/>
                      <a:r>
                        <a:rPr lang="en-IN" sz="1800" b="1" i="0" kern="1200" smtClean="0">
                          <a:solidFill>
                            <a:schemeClr val="tx1"/>
                          </a:solidFill>
                          <a:effectLst/>
                          <a:latin typeface="+mn-lt"/>
                          <a:ea typeface="+mn-ea"/>
                          <a:cs typeface="+mn-cs"/>
                        </a:rPr>
                        <a:t>Bayesian Approach</a:t>
                      </a:r>
                      <a:endParaRPr lang="en-IN" b="1"/>
                    </a:p>
                  </a:txBody>
                  <a:tcPr/>
                </a:tc>
                <a:extLst>
                  <a:ext uri="{0D108BD9-81ED-4DB2-BD59-A6C34878D82A}">
                    <a16:rowId xmlns:a16="http://schemas.microsoft.com/office/drawing/2014/main" val="2889104376"/>
                  </a:ext>
                </a:extLst>
              </a:tr>
              <a:tr h="370840">
                <a:tc>
                  <a:txBody>
                    <a:bodyPr/>
                    <a:lstStyle/>
                    <a:p>
                      <a:pPr marL="342900" indent="-342900">
                        <a:buFont typeface="+mj-lt"/>
                        <a:buAutoNum type="arabicPeriod"/>
                      </a:pPr>
                      <a:r>
                        <a:rPr lang="en-US" sz="1800" b="0" i="0" kern="1200" smtClean="0">
                          <a:solidFill>
                            <a:schemeClr val="tx1"/>
                          </a:solidFill>
                          <a:effectLst/>
                          <a:latin typeface="+mn-lt"/>
                          <a:ea typeface="+mn-ea"/>
                          <a:cs typeface="+mn-cs"/>
                        </a:rPr>
                        <a:t>The frequentist approach is based on the idea of probability as the long-term frequency of an event in repeated trials. </a:t>
                      </a:r>
                    </a:p>
                    <a:p>
                      <a:pPr marL="342900" indent="-342900">
                        <a:buFont typeface="+mj-lt"/>
                        <a:buAutoNum type="arabicPeriod"/>
                      </a:pPr>
                      <a:endParaRPr lang="en-US" sz="1800" b="0" i="0" kern="1200" smtClean="0">
                        <a:solidFill>
                          <a:schemeClr val="tx1"/>
                        </a:solidFill>
                        <a:effectLst/>
                        <a:latin typeface="+mn-lt"/>
                        <a:ea typeface="+mn-ea"/>
                        <a:cs typeface="+mn-cs"/>
                      </a:endParaRPr>
                    </a:p>
                    <a:p>
                      <a:pPr marL="342900" indent="-342900">
                        <a:buFont typeface="+mj-lt"/>
                        <a:buAutoNum type="arabicPeriod"/>
                      </a:pPr>
                      <a:r>
                        <a:rPr lang="en-US" sz="1800" b="0" i="0" kern="1200" smtClean="0">
                          <a:solidFill>
                            <a:schemeClr val="tx1"/>
                          </a:solidFill>
                          <a:effectLst/>
                          <a:latin typeface="+mn-lt"/>
                          <a:ea typeface="+mn-ea"/>
                          <a:cs typeface="+mn-cs"/>
                        </a:rPr>
                        <a:t>In this approach, statistical inference is based on the likelihood of observing the data given a null hypothesis, assuming that the null hypothesis is true. </a:t>
                      </a:r>
                    </a:p>
                    <a:p>
                      <a:pPr marL="342900" indent="-342900">
                        <a:buFont typeface="+mj-lt"/>
                        <a:buAutoNum type="arabicPeriod"/>
                      </a:pPr>
                      <a:endParaRPr lang="en-US" sz="1800" b="0" i="0" kern="1200" smtClean="0">
                        <a:solidFill>
                          <a:schemeClr val="tx1"/>
                        </a:solidFill>
                        <a:effectLst/>
                        <a:latin typeface="+mn-lt"/>
                        <a:ea typeface="+mn-ea"/>
                        <a:cs typeface="+mn-cs"/>
                      </a:endParaRPr>
                    </a:p>
                    <a:p>
                      <a:pPr marL="342900" indent="-342900">
                        <a:buFont typeface="+mj-lt"/>
                        <a:buAutoNum type="arabicPeriod"/>
                      </a:pPr>
                      <a:r>
                        <a:rPr lang="en-US" sz="1800" b="0" i="0" kern="1200" smtClean="0">
                          <a:solidFill>
                            <a:schemeClr val="tx1"/>
                          </a:solidFill>
                          <a:effectLst/>
                          <a:latin typeface="+mn-lt"/>
                          <a:ea typeface="+mn-ea"/>
                          <a:cs typeface="+mn-cs"/>
                        </a:rPr>
                        <a:t>The </a:t>
                      </a:r>
                      <a:r>
                        <a:rPr lang="en-US" sz="1800" b="1" i="0" kern="1200" smtClean="0">
                          <a:solidFill>
                            <a:schemeClr val="tx1"/>
                          </a:solidFill>
                          <a:effectLst/>
                          <a:latin typeface="+mn-lt"/>
                          <a:ea typeface="+mn-ea"/>
                          <a:cs typeface="+mn-cs"/>
                        </a:rPr>
                        <a:t>null hypothesis </a:t>
                      </a:r>
                      <a:r>
                        <a:rPr lang="en-US" sz="1800" b="0" i="0" kern="1200" smtClean="0">
                          <a:solidFill>
                            <a:schemeClr val="tx1"/>
                          </a:solidFill>
                          <a:effectLst/>
                          <a:latin typeface="+mn-lt"/>
                          <a:ea typeface="+mn-ea"/>
                          <a:cs typeface="+mn-cs"/>
                        </a:rPr>
                        <a:t>is usually a statement about the population parameter of interest, such as the mean or the proportion. </a:t>
                      </a:r>
                    </a:p>
                    <a:p>
                      <a:pPr marL="342900" indent="-342900">
                        <a:buFont typeface="+mj-lt"/>
                        <a:buAutoNum type="arabicPeriod"/>
                      </a:pPr>
                      <a:endParaRPr lang="en-US" sz="1800" b="0" i="0" kern="1200" smtClean="0">
                        <a:solidFill>
                          <a:schemeClr val="tx1"/>
                        </a:solidFill>
                        <a:effectLst/>
                        <a:latin typeface="+mn-lt"/>
                        <a:ea typeface="+mn-ea"/>
                        <a:cs typeface="+mn-cs"/>
                      </a:endParaRPr>
                    </a:p>
                    <a:p>
                      <a:pPr marL="342900" indent="-342900">
                        <a:buFont typeface="+mj-lt"/>
                        <a:buAutoNum type="arabicPeriod"/>
                      </a:pPr>
                      <a:r>
                        <a:rPr lang="en-US" sz="1800" b="0" i="0" kern="1200" smtClean="0">
                          <a:solidFill>
                            <a:schemeClr val="tx1"/>
                          </a:solidFill>
                          <a:effectLst/>
                          <a:latin typeface="+mn-lt"/>
                          <a:ea typeface="+mn-ea"/>
                          <a:cs typeface="+mn-cs"/>
                        </a:rPr>
                        <a:t>The frequentist approach uses methods such as </a:t>
                      </a:r>
                      <a:r>
                        <a:rPr lang="en-US" sz="1800" b="1" i="0" kern="1200" smtClean="0">
                          <a:solidFill>
                            <a:schemeClr val="tx1"/>
                          </a:solidFill>
                          <a:effectLst/>
                          <a:latin typeface="+mn-lt"/>
                          <a:ea typeface="+mn-ea"/>
                          <a:cs typeface="+mn-cs"/>
                        </a:rPr>
                        <a:t>hypothesis testing </a:t>
                      </a:r>
                      <a:r>
                        <a:rPr lang="en-US" sz="1800" b="0" i="0" kern="1200" smtClean="0">
                          <a:solidFill>
                            <a:schemeClr val="tx1"/>
                          </a:solidFill>
                          <a:effectLst/>
                          <a:latin typeface="+mn-lt"/>
                          <a:ea typeface="+mn-ea"/>
                          <a:cs typeface="+mn-cs"/>
                        </a:rPr>
                        <a:t>and confidence intervals to assess the evidence against the null hypothesis.</a:t>
                      </a:r>
                    </a:p>
                    <a:p>
                      <a:pPr marL="342900" indent="-342900">
                        <a:buFont typeface="+mj-lt"/>
                        <a:buAutoNum type="arabicPeriod"/>
                      </a:pPr>
                      <a:endParaRPr lang="en-US" sz="1800" b="0" i="0" kern="1200" smtClean="0">
                        <a:solidFill>
                          <a:schemeClr val="tx1"/>
                        </a:solidFill>
                        <a:effectLst/>
                        <a:latin typeface="+mn-lt"/>
                        <a:ea typeface="+mn-ea"/>
                        <a:cs typeface="+mn-cs"/>
                      </a:endParaRPr>
                    </a:p>
                    <a:p>
                      <a:pPr marL="342900" indent="-342900">
                        <a:buFont typeface="+mj-lt"/>
                        <a:buAutoNum type="arabicPeriod"/>
                      </a:pPr>
                      <a:r>
                        <a:rPr lang="en-US" sz="1800" b="0" i="0" kern="1200" smtClean="0">
                          <a:solidFill>
                            <a:schemeClr val="tx1"/>
                          </a:solidFill>
                          <a:effectLst/>
                          <a:latin typeface="+mn-lt"/>
                          <a:ea typeface="+mn-ea"/>
                          <a:cs typeface="+mn-cs"/>
                        </a:rPr>
                        <a:t>Frequentist methods rely heavily on hypothesis testing, where the </a:t>
                      </a:r>
                      <a:r>
                        <a:rPr lang="en-US" sz="1800" b="1" i="0" kern="1200" smtClean="0">
                          <a:solidFill>
                            <a:schemeClr val="tx1"/>
                          </a:solidFill>
                          <a:effectLst/>
                          <a:latin typeface="+mn-lt"/>
                          <a:ea typeface="+mn-ea"/>
                          <a:cs typeface="+mn-cs"/>
                        </a:rPr>
                        <a:t>null hypothesis </a:t>
                      </a:r>
                      <a:r>
                        <a:rPr lang="en-US" sz="1800" b="0" i="0" kern="1200" smtClean="0">
                          <a:solidFill>
                            <a:schemeClr val="tx1"/>
                          </a:solidFill>
                          <a:effectLst/>
                          <a:latin typeface="+mn-lt"/>
                          <a:ea typeface="+mn-ea"/>
                          <a:cs typeface="+mn-cs"/>
                        </a:rPr>
                        <a:t>is tested against an alternative hypothesis. </a:t>
                      </a:r>
                    </a:p>
                    <a:p>
                      <a:pPr marL="342900" indent="-342900">
                        <a:buFont typeface="+mj-lt"/>
                        <a:buAutoNum type="arabicPeriod"/>
                      </a:pPr>
                      <a:endParaRPr lang="en-US" sz="1800" b="0" i="0" kern="1200" smtClean="0">
                        <a:solidFill>
                          <a:schemeClr val="tx1"/>
                        </a:solidFill>
                        <a:effectLst/>
                        <a:latin typeface="+mn-lt"/>
                        <a:ea typeface="+mn-ea"/>
                        <a:cs typeface="+mn-cs"/>
                      </a:endParaRPr>
                    </a:p>
                    <a:p>
                      <a:pPr marL="342900" indent="-342900">
                        <a:buFont typeface="+mj-lt"/>
                        <a:buAutoNum type="arabicPeriod"/>
                      </a:pPr>
                      <a:r>
                        <a:rPr lang="en-US" sz="1800" b="0" i="0" kern="1200" smtClean="0">
                          <a:solidFill>
                            <a:schemeClr val="tx1"/>
                          </a:solidFill>
                          <a:effectLst/>
                          <a:latin typeface="+mn-lt"/>
                          <a:ea typeface="+mn-ea"/>
                          <a:cs typeface="+mn-cs"/>
                        </a:rPr>
                        <a:t>Frequentist methods tend to require larger sample sizes to obtain reliable results</a:t>
                      </a:r>
                    </a:p>
                    <a:p>
                      <a:pPr marL="342900" indent="-342900">
                        <a:buFont typeface="+mj-lt"/>
                        <a:buAutoNum type="arabicPeriod"/>
                      </a:pPr>
                      <a:endParaRPr lang="en-US" sz="1800" b="0" i="0" kern="1200" smtClean="0">
                        <a:solidFill>
                          <a:schemeClr val="tx1"/>
                        </a:solidFill>
                        <a:effectLst/>
                        <a:latin typeface="+mn-lt"/>
                        <a:ea typeface="+mn-ea"/>
                        <a:cs typeface="+mn-cs"/>
                      </a:endParaRPr>
                    </a:p>
                    <a:p>
                      <a:pPr marL="342900" indent="-342900">
                        <a:buFont typeface="+mj-lt"/>
                        <a:buAutoNum type="arabicPeriod"/>
                      </a:pPr>
                      <a:r>
                        <a:rPr lang="en-US" sz="1800" b="0" i="0" kern="1200" smtClean="0">
                          <a:solidFill>
                            <a:schemeClr val="tx1"/>
                          </a:solidFill>
                          <a:effectLst/>
                          <a:latin typeface="+mn-lt"/>
                          <a:ea typeface="+mn-ea"/>
                          <a:cs typeface="+mn-cs"/>
                        </a:rPr>
                        <a:t>Frequentist methods focus on estimating the probability of observing the data given the null hypothesis</a:t>
                      </a:r>
                      <a:endParaRPr lang="en-IN"/>
                    </a:p>
                  </a:txBody>
                  <a:tcPr/>
                </a:tc>
                <a:tc>
                  <a:txBody>
                    <a:bodyPr/>
                    <a:lstStyle/>
                    <a:p>
                      <a:pPr marL="342900" indent="-342900">
                        <a:buFont typeface="+mj-lt"/>
                        <a:buAutoNum type="arabicPeriod"/>
                      </a:pPr>
                      <a:r>
                        <a:rPr lang="en-US" sz="1800" b="0" i="0" kern="1200" smtClean="0">
                          <a:solidFill>
                            <a:schemeClr val="tx1"/>
                          </a:solidFill>
                          <a:effectLst/>
                          <a:latin typeface="+mn-lt"/>
                          <a:ea typeface="+mn-ea"/>
                          <a:cs typeface="+mn-cs"/>
                        </a:rPr>
                        <a:t>Bayesian approach is based on the concept of probability as a degree of belief in an event or hypothesis.</a:t>
                      </a:r>
                    </a:p>
                    <a:p>
                      <a:pPr marL="342900" indent="-342900">
                        <a:buFont typeface="+mj-lt"/>
                        <a:buAutoNum type="arabicPeriod"/>
                      </a:pPr>
                      <a:endParaRPr lang="en-US" sz="1800" b="0" i="0" kern="1200" smtClean="0">
                        <a:solidFill>
                          <a:schemeClr val="tx1"/>
                        </a:solidFill>
                        <a:effectLst/>
                        <a:latin typeface="+mn-lt"/>
                        <a:ea typeface="+mn-ea"/>
                        <a:cs typeface="+mn-cs"/>
                      </a:endParaRPr>
                    </a:p>
                    <a:p>
                      <a:pPr marL="342900" indent="-342900">
                        <a:buFont typeface="+mj-lt"/>
                        <a:buAutoNum type="arabicPeriod"/>
                      </a:pPr>
                      <a:r>
                        <a:rPr lang="en-US" sz="1800" b="0" i="0" kern="1200" smtClean="0">
                          <a:solidFill>
                            <a:schemeClr val="tx1"/>
                          </a:solidFill>
                          <a:effectLst/>
                          <a:latin typeface="+mn-lt"/>
                          <a:ea typeface="+mn-ea"/>
                          <a:cs typeface="+mn-cs"/>
                        </a:rPr>
                        <a:t> In this approach, prior knowledge or beliefs about the population parameter of interest are combined with the likelihood of the data given the parameter to obtain the posterior distribution of the parameter. </a:t>
                      </a:r>
                    </a:p>
                    <a:p>
                      <a:pPr marL="342900" indent="-342900">
                        <a:buFont typeface="+mj-lt"/>
                        <a:buAutoNum type="arabicPeriod"/>
                      </a:pPr>
                      <a:endParaRPr lang="en-US" sz="1800" b="0" i="0" kern="1200" smtClean="0">
                        <a:solidFill>
                          <a:schemeClr val="tx1"/>
                        </a:solidFill>
                        <a:effectLst/>
                        <a:latin typeface="+mn-lt"/>
                        <a:ea typeface="+mn-ea"/>
                        <a:cs typeface="+mn-cs"/>
                      </a:endParaRPr>
                    </a:p>
                    <a:p>
                      <a:pPr marL="342900" indent="-342900">
                        <a:buFont typeface="+mj-lt"/>
                        <a:buAutoNum type="arabicPeriod"/>
                      </a:pPr>
                      <a:r>
                        <a:rPr lang="en-US" sz="1800" b="0" i="0" kern="1200" smtClean="0">
                          <a:solidFill>
                            <a:schemeClr val="tx1"/>
                          </a:solidFill>
                          <a:effectLst/>
                          <a:latin typeface="+mn-lt"/>
                          <a:ea typeface="+mn-ea"/>
                          <a:cs typeface="+mn-cs"/>
                        </a:rPr>
                        <a:t>The </a:t>
                      </a:r>
                      <a:r>
                        <a:rPr lang="en-US" sz="1800" b="1" i="0" kern="1200" smtClean="0">
                          <a:solidFill>
                            <a:schemeClr val="tx1"/>
                          </a:solidFill>
                          <a:effectLst/>
                          <a:latin typeface="+mn-lt"/>
                          <a:ea typeface="+mn-ea"/>
                          <a:cs typeface="+mn-cs"/>
                        </a:rPr>
                        <a:t>posterior distribution </a:t>
                      </a:r>
                      <a:r>
                        <a:rPr lang="en-US" sz="1800" b="0" i="0" kern="1200" smtClean="0">
                          <a:solidFill>
                            <a:schemeClr val="tx1"/>
                          </a:solidFill>
                          <a:effectLst/>
                          <a:latin typeface="+mn-lt"/>
                          <a:ea typeface="+mn-ea"/>
                          <a:cs typeface="+mn-cs"/>
                        </a:rPr>
                        <a:t>summarizes the updated knowledge or beliefs about the parameter after observing the data.</a:t>
                      </a:r>
                    </a:p>
                    <a:p>
                      <a:pPr marL="342900" indent="-342900">
                        <a:buFont typeface="+mj-lt"/>
                        <a:buAutoNum type="arabicPeriod"/>
                      </a:pPr>
                      <a:endParaRPr lang="en-US" sz="1800" b="0" i="0" kern="1200" smtClean="0">
                        <a:solidFill>
                          <a:schemeClr val="tx1"/>
                        </a:solidFill>
                        <a:effectLst/>
                        <a:latin typeface="+mn-lt"/>
                        <a:ea typeface="+mn-ea"/>
                        <a:cs typeface="+mn-cs"/>
                      </a:endParaRPr>
                    </a:p>
                    <a:p>
                      <a:pPr marL="342900" indent="-342900">
                        <a:buFont typeface="+mj-lt"/>
                        <a:buAutoNum type="arabicPeriod"/>
                      </a:pPr>
                      <a:r>
                        <a:rPr lang="en-US" sz="1800" b="0" i="0" kern="1200" smtClean="0">
                          <a:solidFill>
                            <a:schemeClr val="tx1"/>
                          </a:solidFill>
                          <a:effectLst/>
                          <a:latin typeface="+mn-lt"/>
                          <a:ea typeface="+mn-ea"/>
                          <a:cs typeface="+mn-cs"/>
                        </a:rPr>
                        <a:t> Bayesian methods use techniques such as </a:t>
                      </a:r>
                      <a:r>
                        <a:rPr lang="en-US" sz="1800" b="1" i="0" kern="1200" smtClean="0">
                          <a:solidFill>
                            <a:schemeClr val="tx1"/>
                          </a:solidFill>
                          <a:effectLst/>
                          <a:latin typeface="+mn-lt"/>
                          <a:ea typeface="+mn-ea"/>
                          <a:cs typeface="+mn-cs"/>
                        </a:rPr>
                        <a:t>Bayes’ theorem </a:t>
                      </a:r>
                      <a:r>
                        <a:rPr lang="en-US" sz="1800" b="0" i="0" kern="1200" smtClean="0">
                          <a:solidFill>
                            <a:schemeClr val="tx1"/>
                          </a:solidFill>
                          <a:effectLst/>
                          <a:latin typeface="+mn-lt"/>
                          <a:ea typeface="+mn-ea"/>
                          <a:cs typeface="+mn-cs"/>
                        </a:rPr>
                        <a:t>and Markov chain Monte Carlo (MCMC) simulation to obtain the posterior distribution.</a:t>
                      </a:r>
                    </a:p>
                    <a:p>
                      <a:pPr marL="342900" indent="-342900">
                        <a:buFont typeface="+mj-lt"/>
                        <a:buAutoNum type="arabicPeriod"/>
                      </a:pPr>
                      <a:endParaRPr lang="en-US" sz="1800" b="0" i="0" kern="1200" smtClean="0">
                        <a:solidFill>
                          <a:schemeClr val="tx1"/>
                        </a:solidFill>
                        <a:effectLst/>
                        <a:latin typeface="+mn-lt"/>
                        <a:ea typeface="+mn-ea"/>
                        <a:cs typeface="+mn-cs"/>
                      </a:endParaRPr>
                    </a:p>
                    <a:p>
                      <a:pPr marL="342900" indent="-342900">
                        <a:buFont typeface="+mj-lt"/>
                        <a:buAutoNum type="arabicPeriod"/>
                      </a:pPr>
                      <a:r>
                        <a:rPr lang="en-US" sz="1800" b="0" i="0" kern="1200" smtClean="0">
                          <a:solidFill>
                            <a:schemeClr val="tx1"/>
                          </a:solidFill>
                          <a:effectLst/>
                          <a:latin typeface="+mn-lt"/>
                          <a:ea typeface="+mn-ea"/>
                          <a:cs typeface="+mn-cs"/>
                        </a:rPr>
                        <a:t>Bayesian inference involves model comparison using the </a:t>
                      </a:r>
                      <a:r>
                        <a:rPr lang="en-US" sz="1800" b="1" i="0" kern="1200" smtClean="0">
                          <a:solidFill>
                            <a:schemeClr val="tx1"/>
                          </a:solidFill>
                          <a:effectLst/>
                          <a:latin typeface="+mn-lt"/>
                          <a:ea typeface="+mn-ea"/>
                          <a:cs typeface="+mn-cs"/>
                        </a:rPr>
                        <a:t>Bayes factor or posterior probabilities</a:t>
                      </a:r>
                      <a:r>
                        <a:rPr lang="en-US" sz="1800" b="0" i="0" kern="1200" smtClean="0">
                          <a:solidFill>
                            <a:schemeClr val="tx1"/>
                          </a:solidFill>
                          <a:effectLst/>
                          <a:latin typeface="+mn-lt"/>
                          <a:ea typeface="+mn-ea"/>
                          <a:cs typeface="+mn-cs"/>
                        </a:rPr>
                        <a:t>.</a:t>
                      </a:r>
                    </a:p>
                    <a:p>
                      <a:pPr marL="342900" indent="-342900">
                        <a:buFont typeface="+mj-lt"/>
                        <a:buAutoNum type="arabicPeriod"/>
                      </a:pPr>
                      <a:endParaRPr lang="en-IN" smtClean="0"/>
                    </a:p>
                    <a:p>
                      <a:pPr marL="342900" indent="-342900">
                        <a:buFont typeface="+mj-lt"/>
                        <a:buAutoNum type="arabicPeriod"/>
                      </a:pPr>
                      <a:r>
                        <a:rPr lang="en-US" sz="1800" b="0" i="0" kern="1200" smtClean="0">
                          <a:solidFill>
                            <a:schemeClr val="tx1"/>
                          </a:solidFill>
                          <a:effectLst/>
                          <a:latin typeface="+mn-lt"/>
                          <a:ea typeface="+mn-ea"/>
                          <a:cs typeface="+mn-cs"/>
                        </a:rPr>
                        <a:t>Bayesian methods can often be used with smaller samples.</a:t>
                      </a:r>
                    </a:p>
                    <a:p>
                      <a:pPr marL="342900" indent="-342900">
                        <a:buFont typeface="+mj-lt"/>
                        <a:buAutoNum type="arabicPeriod"/>
                      </a:pPr>
                      <a:endParaRPr lang="en-IN" smtClean="0"/>
                    </a:p>
                    <a:p>
                      <a:pPr marL="342900" indent="-342900">
                        <a:buFont typeface="+mj-lt"/>
                        <a:buAutoNum type="arabicPeriod"/>
                      </a:pPr>
                      <a:r>
                        <a:rPr lang="en-US" sz="1800" b="0" i="0" kern="1200" smtClean="0">
                          <a:solidFill>
                            <a:schemeClr val="tx1"/>
                          </a:solidFill>
                          <a:effectLst/>
                          <a:latin typeface="+mn-lt"/>
                          <a:ea typeface="+mn-ea"/>
                          <a:cs typeface="+mn-cs"/>
                        </a:rPr>
                        <a:t>Bayesian methods focus on estimating the posterior distribution of the parameter of interest.</a:t>
                      </a:r>
                      <a:endParaRPr lang="en-IN"/>
                    </a:p>
                  </a:txBody>
                  <a:tcPr/>
                </a:tc>
                <a:extLst>
                  <a:ext uri="{0D108BD9-81ED-4DB2-BD59-A6C34878D82A}">
                    <a16:rowId xmlns:a16="http://schemas.microsoft.com/office/drawing/2014/main" val="2685030243"/>
                  </a:ext>
                </a:extLst>
              </a:tr>
            </a:tbl>
          </a:graphicData>
        </a:graphic>
      </p:graphicFrame>
    </p:spTree>
    <p:extLst>
      <p:ext uri="{BB962C8B-B14F-4D97-AF65-F5344CB8AC3E}">
        <p14:creationId xmlns:p14="http://schemas.microsoft.com/office/powerpoint/2010/main" val="35457481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60218" y="328204"/>
            <a:ext cx="3695700" cy="2857500"/>
          </a:xfrm>
          <a:prstGeom prst="rect">
            <a:avLst/>
          </a:prstGeom>
        </p:spPr>
      </p:pic>
      <p:sp>
        <p:nvSpPr>
          <p:cNvPr id="6" name="TextBox 5"/>
          <p:cNvSpPr txBox="1"/>
          <p:nvPr/>
        </p:nvSpPr>
        <p:spPr>
          <a:xfrm>
            <a:off x="4789714" y="435429"/>
            <a:ext cx="6740435" cy="923330"/>
          </a:xfrm>
          <a:prstGeom prst="rect">
            <a:avLst/>
          </a:prstGeom>
          <a:noFill/>
        </p:spPr>
        <p:txBody>
          <a:bodyPr wrap="square" rtlCol="0">
            <a:spAutoFit/>
          </a:bodyPr>
          <a:lstStyle/>
          <a:p>
            <a:r>
              <a:rPr lang="en-IN" b="1">
                <a:solidFill>
                  <a:srgbClr val="FF0000"/>
                </a:solidFill>
              </a:rPr>
              <a:t>θ</a:t>
            </a:r>
            <a:r>
              <a:rPr lang="en-IN"/>
              <a:t> represents the true parameter value </a:t>
            </a:r>
            <a:r>
              <a:rPr lang="en-IN"/>
              <a:t>being </a:t>
            </a:r>
            <a:r>
              <a:rPr lang="en-IN" smtClean="0"/>
              <a:t>estimated</a:t>
            </a:r>
          </a:p>
          <a:p>
            <a:endParaRPr lang="en-IN"/>
          </a:p>
          <a:p>
            <a:r>
              <a:rPr lang="en-IN" b="1" smtClean="0">
                <a:solidFill>
                  <a:srgbClr val="FF0000"/>
                </a:solidFill>
              </a:rPr>
              <a:t>X</a:t>
            </a:r>
            <a:r>
              <a:rPr lang="en-IN" smtClean="0"/>
              <a:t> is the parameter that best explains the phenomenon</a:t>
            </a:r>
            <a:endParaRPr lang="en-IN"/>
          </a:p>
        </p:txBody>
      </p:sp>
      <p:sp>
        <p:nvSpPr>
          <p:cNvPr id="7" name="TextBox 6"/>
          <p:cNvSpPr txBox="1"/>
          <p:nvPr/>
        </p:nvSpPr>
        <p:spPr>
          <a:xfrm>
            <a:off x="139338" y="3535680"/>
            <a:ext cx="11826240" cy="3143794"/>
          </a:xfrm>
          <a:prstGeom prst="rect">
            <a:avLst/>
          </a:prstGeom>
          <a:noFill/>
        </p:spPr>
        <p:txBody>
          <a:bodyPr wrap="square" rtlCol="0">
            <a:spAutoFit/>
          </a:bodyPr>
          <a:lstStyle/>
          <a:p>
            <a:r>
              <a:rPr lang="en-IN" smtClean="0"/>
              <a:t>In </a:t>
            </a:r>
            <a:r>
              <a:rPr lang="en-IN"/>
              <a:t>statistics, alpha (α) and beta (β) are crucial values in hypothesis testing, representing the probabilities of </a:t>
            </a:r>
          </a:p>
          <a:p>
            <a:r>
              <a:rPr lang="en-IN"/>
              <a:t> incorrect decisions. Alpha is the probability of a Type I error (false positive), while beta is the probability of a Type II error </a:t>
            </a:r>
          </a:p>
          <a:p>
            <a:r>
              <a:rPr lang="en-IN"/>
              <a:t>(false negative). Balancing these errors is essential in experimental design. </a:t>
            </a:r>
          </a:p>
          <a:p>
            <a:r>
              <a:rPr lang="en-IN" b="1" u="sng"/>
              <a:t>Alpha (α):</a:t>
            </a:r>
          </a:p>
          <a:p>
            <a:pPr lvl="0"/>
            <a:r>
              <a:rPr lang="en-IN"/>
              <a:t>Also known as the significance level, alpha is the probability of rejecting the null hypothesis when it is actually true. </a:t>
            </a:r>
          </a:p>
          <a:p>
            <a:pPr lvl="0"/>
            <a:r>
              <a:rPr lang="en-IN"/>
              <a:t>It's a pre-set value (e.g., 0.05) that defines the threshold for statistical significance. </a:t>
            </a:r>
          </a:p>
          <a:p>
            <a:pPr lvl="0"/>
            <a:r>
              <a:rPr lang="en-IN"/>
              <a:t>A smaller alpha reduces the chance of a Type I error but can increase the risk of a Type II error. </a:t>
            </a:r>
          </a:p>
          <a:p>
            <a:r>
              <a:rPr lang="en-IN" b="1" u="sng"/>
              <a:t>Beta (β):</a:t>
            </a:r>
          </a:p>
          <a:p>
            <a:pPr lvl="0"/>
            <a:r>
              <a:rPr lang="en-IN"/>
              <a:t>Beta is the probability of failing to reject the null hypothesis when it is false. </a:t>
            </a:r>
          </a:p>
          <a:p>
            <a:pPr lvl="0"/>
            <a:r>
              <a:rPr lang="en-IN"/>
              <a:t>It's the probability of a Type II error. </a:t>
            </a:r>
          </a:p>
          <a:p>
            <a:pPr lvl="0"/>
            <a:r>
              <a:rPr lang="en-IN"/>
              <a:t>A smaller beta indicates a higher probability of detecting a true effect (higher statistical power).</a:t>
            </a:r>
          </a:p>
        </p:txBody>
      </p:sp>
    </p:spTree>
    <p:extLst>
      <p:ext uri="{BB962C8B-B14F-4D97-AF65-F5344CB8AC3E}">
        <p14:creationId xmlns:p14="http://schemas.microsoft.com/office/powerpoint/2010/main" val="16728529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599" y="92619"/>
            <a:ext cx="11240589" cy="4351338"/>
          </a:xfrm>
        </p:spPr>
        <p:txBody>
          <a:bodyPr>
            <a:normAutofit fontScale="70000" lnSpcReduction="20000"/>
          </a:bodyPr>
          <a:lstStyle/>
          <a:p>
            <a:pPr marL="0" indent="0">
              <a:buNone/>
            </a:pPr>
            <a:r>
              <a:rPr lang="en-IN" b="1" u="sng"/>
              <a:t>Relationship and Balancing:</a:t>
            </a:r>
          </a:p>
          <a:p>
            <a:pPr lvl="0"/>
            <a:r>
              <a:rPr lang="en-IN"/>
              <a:t>Alpha and beta have an inverse relationship: reducing one typically increases the other. </a:t>
            </a:r>
          </a:p>
          <a:p>
            <a:pPr lvl="0"/>
            <a:r>
              <a:rPr lang="en-IN"/>
              <a:t>Increasing the sample size can decrease both alpha and beta, but may also increase costs. </a:t>
            </a:r>
          </a:p>
          <a:p>
            <a:pPr lvl="0"/>
            <a:r>
              <a:rPr lang="en-IN"/>
              <a:t>Choosing appropriate alpha and beta values depends on the consequences of each error type. In medical research, for instance, a false negative (high beta) might be more serious than a false positive (high alpha). </a:t>
            </a:r>
            <a:endParaRPr lang="en-IN" smtClean="0"/>
          </a:p>
          <a:p>
            <a:pPr marL="0" lvl="0" indent="0">
              <a:buNone/>
            </a:pPr>
            <a:r>
              <a:rPr lang="en-IN" b="1" u="sng" smtClean="0"/>
              <a:t>Example</a:t>
            </a:r>
            <a:r>
              <a:rPr lang="en-IN" b="1" u="sng"/>
              <a:t>:</a:t>
            </a:r>
          </a:p>
          <a:p>
            <a:pPr lvl="0"/>
            <a:r>
              <a:rPr lang="en-IN"/>
              <a:t>In a clinical trial, alpha (0.05) is the probability of wrongly concluding that a new drug is effective when it's not. </a:t>
            </a:r>
          </a:p>
          <a:p>
            <a:pPr lvl="0"/>
            <a:r>
              <a:rPr lang="en-IN"/>
              <a:t>Beta (0.20) is the probability of wrongly concluding that the new drug is not effective when it actually is. </a:t>
            </a:r>
          </a:p>
          <a:p>
            <a:pPr lvl="0"/>
            <a:r>
              <a:rPr lang="en-IN"/>
              <a:t>The power of the test (1 - β) is the probability of correctly identifying a true effect. </a:t>
            </a:r>
          </a:p>
          <a:p>
            <a:r>
              <a:rPr lang="en-IN"/>
              <a:t>By understanding and carefully managing alpha and beta, researchers can design experiments that are more likely to produce reliable and meaningful results. </a:t>
            </a:r>
          </a:p>
          <a:p>
            <a:endParaRPr lang="en-IN"/>
          </a:p>
          <a:p>
            <a:endParaRPr lang="en-IN"/>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1" y="3872214"/>
            <a:ext cx="11469188" cy="2985786"/>
          </a:xfrm>
          <a:prstGeom prst="rect">
            <a:avLst/>
          </a:prstGeom>
          <a:noFill/>
          <a:ln>
            <a:noFill/>
          </a:ln>
        </p:spPr>
      </p:pic>
    </p:spTree>
    <p:extLst>
      <p:ext uri="{BB962C8B-B14F-4D97-AF65-F5344CB8AC3E}">
        <p14:creationId xmlns:p14="http://schemas.microsoft.com/office/powerpoint/2010/main" val="6506442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1145" y="566057"/>
            <a:ext cx="10937966" cy="5632311"/>
          </a:xfrm>
          <a:prstGeom prst="rect">
            <a:avLst/>
          </a:prstGeom>
          <a:noFill/>
        </p:spPr>
        <p:txBody>
          <a:bodyPr wrap="square" rtlCol="0">
            <a:spAutoFit/>
          </a:bodyPr>
          <a:lstStyle/>
          <a:p>
            <a:r>
              <a:rPr lang="en-US"/>
              <a:t>The Bayesian perspective is based on </a:t>
            </a:r>
            <a:r>
              <a:rPr lang="en-US" b="1"/>
              <a:t>Bayes’ Theorem</a:t>
            </a:r>
            <a:r>
              <a:rPr lang="en-US"/>
              <a:t>, a formula that takes into account the probability of an event based on prior knowledge. The formula is shown below, where:</a:t>
            </a:r>
          </a:p>
          <a:p>
            <a:endParaRPr lang="en-US" smtClean="0"/>
          </a:p>
          <a:p>
            <a:r>
              <a:rPr lang="en-US" smtClean="0"/>
              <a:t>P(A</a:t>
            </a:r>
            <a:r>
              <a:rPr lang="en-US"/>
              <a:t>): the probability of A occurring</a:t>
            </a:r>
          </a:p>
          <a:p>
            <a:r>
              <a:rPr lang="en-US"/>
              <a:t>P(B): the probability of B occurring</a:t>
            </a:r>
          </a:p>
          <a:p>
            <a:r>
              <a:rPr lang="en-US"/>
              <a:t>P(A|B): the probability of A given event B </a:t>
            </a:r>
          </a:p>
          <a:p>
            <a:r>
              <a:rPr lang="en-US"/>
              <a:t>P(B|A): the probability of B given event A </a:t>
            </a:r>
          </a:p>
          <a:p>
            <a:r>
              <a:rPr lang="en-US"/>
              <a:t>Pr(A|B): the posterior, the probability of the parameters given the data.</a:t>
            </a:r>
            <a:r>
              <a:rPr lang="en-US"/>
              <a:t> </a:t>
            </a:r>
            <a:endParaRPr lang="en-US" smtClean="0"/>
          </a:p>
          <a:p>
            <a:endParaRPr lang="en-US"/>
          </a:p>
          <a:p>
            <a:endParaRPr lang="en-US" smtClean="0"/>
          </a:p>
          <a:p>
            <a:endParaRPr lang="en-US"/>
          </a:p>
          <a:p>
            <a:endParaRPr lang="en-US" smtClean="0"/>
          </a:p>
          <a:p>
            <a:endParaRPr lang="en-US"/>
          </a:p>
          <a:p>
            <a:r>
              <a:rPr lang="en-US"/>
              <a:t>The probability of a hypothesis is calculated and deemed true using prior opinions and knowledge as new data is readily available. This is called </a:t>
            </a:r>
            <a:r>
              <a:rPr lang="en-US" b="1"/>
              <a:t>prior probability</a:t>
            </a:r>
            <a:r>
              <a:rPr lang="en-US"/>
              <a:t>, which is concluded before the project starts.</a:t>
            </a:r>
            <a:r>
              <a:rPr lang="en-US"/>
              <a:t> </a:t>
            </a:r>
            <a:endParaRPr lang="en-US" smtClean="0"/>
          </a:p>
          <a:p>
            <a:endParaRPr lang="en-US"/>
          </a:p>
          <a:p>
            <a:r>
              <a:rPr lang="en-US"/>
              <a:t>This prior probability is then converted into a posterior probability, the belief once the project has started. </a:t>
            </a:r>
          </a:p>
          <a:p>
            <a:r>
              <a:rPr lang="en-US" b="1"/>
              <a:t>Prior + Likelihood = Posterior</a:t>
            </a:r>
            <a:endParaRPr lang="en-US"/>
          </a:p>
          <a:p>
            <a:endParaRPr lang="en-US"/>
          </a:p>
          <a:p>
            <a:endParaRPr lang="en-IN"/>
          </a:p>
        </p:txBody>
      </p:sp>
      <p:pic>
        <p:nvPicPr>
          <p:cNvPr id="1026" name="Picture 2" descr="Bayesian vs Frequentist Statistics in Data Sci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2412" y="2781750"/>
            <a:ext cx="3124200" cy="923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41550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8309" y="461554"/>
            <a:ext cx="11312434" cy="4524315"/>
          </a:xfrm>
          <a:prstGeom prst="rect">
            <a:avLst/>
          </a:prstGeom>
          <a:noFill/>
        </p:spPr>
        <p:txBody>
          <a:bodyPr wrap="square" rtlCol="0">
            <a:spAutoFit/>
          </a:bodyPr>
          <a:lstStyle/>
          <a:p>
            <a:r>
              <a:rPr lang="en-US"/>
              <a:t>In Bayesian statistics, we start with an initial belief about the distribution of parameters (</a:t>
            </a:r>
            <a:r>
              <a:rPr lang="en-US" b="1"/>
              <a:t>prior distribution</a:t>
            </a:r>
            <a:r>
              <a:rPr lang="en-US"/>
              <a:t>), which we update based on observed data to obtain a revised distribution (</a:t>
            </a:r>
            <a:r>
              <a:rPr lang="en-US" b="1"/>
              <a:t>posterior </a:t>
            </a:r>
            <a:r>
              <a:rPr lang="en-US" b="1"/>
              <a:t>distribution</a:t>
            </a:r>
            <a:r>
              <a:rPr lang="en-US" smtClean="0"/>
              <a:t>).</a:t>
            </a:r>
          </a:p>
          <a:p>
            <a:endParaRPr lang="en-US"/>
          </a:p>
          <a:p>
            <a:r>
              <a:rPr lang="en-US"/>
              <a:t>▪ </a:t>
            </a:r>
            <a:r>
              <a:rPr lang="en-US" b="1"/>
              <a:t>Prior Distribution (P(θ)):</a:t>
            </a:r>
            <a:r>
              <a:rPr lang="en-US"/>
              <a:t/>
            </a:r>
            <a:br>
              <a:rPr lang="en-US"/>
            </a:br>
            <a:r>
              <a:rPr lang="en-US"/>
              <a:t>The prior distribution represents our initial belief about the parameters of interest before observing any data.</a:t>
            </a:r>
            <a:r>
              <a:rPr lang="en-US"/>
              <a:t> </a:t>
            </a:r>
            <a:endParaRPr lang="en-US" smtClean="0"/>
          </a:p>
          <a:p>
            <a:endParaRPr lang="en-US"/>
          </a:p>
          <a:p>
            <a:r>
              <a:rPr lang="en-US"/>
              <a:t>▪ </a:t>
            </a:r>
            <a:r>
              <a:rPr lang="en-US" b="1"/>
              <a:t>Posterior Distribution (P(θ∣X)):</a:t>
            </a:r>
            <a:r>
              <a:rPr lang="en-US"/>
              <a:t/>
            </a:r>
            <a:br>
              <a:rPr lang="en-US"/>
            </a:br>
            <a:r>
              <a:rPr lang="en-US"/>
              <a:t>The posterior distribution reflects our updated belief about the parameters after observing the data X. It combines the prior distribution with the likelihood of the observed data. Again, it is represented as a </a:t>
            </a:r>
            <a:r>
              <a:rPr lang="en-US"/>
              <a:t>PDF</a:t>
            </a:r>
            <a:r>
              <a:rPr lang="en-US" smtClean="0"/>
              <a:t>.</a:t>
            </a:r>
          </a:p>
          <a:p>
            <a:endParaRPr lang="en-IN" smtClean="0"/>
          </a:p>
          <a:p>
            <a:endParaRPr lang="en-IN"/>
          </a:p>
          <a:p>
            <a:r>
              <a:rPr lang="en-US" b="1"/>
              <a:t>Scenario</a:t>
            </a:r>
          </a:p>
          <a:p>
            <a:r>
              <a:rPr lang="en-US"/>
              <a:t>A pharmaceutical company is testing a new drug and wants to estimate the probability that it is effective.</a:t>
            </a:r>
            <a:r>
              <a:rPr lang="en-US"/>
              <a:t> </a:t>
            </a:r>
            <a:endParaRPr lang="en-US" smtClean="0"/>
          </a:p>
          <a:p>
            <a:endParaRPr lang="en-US"/>
          </a:p>
          <a:p>
            <a:endParaRPr lang="en-US"/>
          </a:p>
          <a:p>
            <a:endParaRPr lang="en-IN"/>
          </a:p>
        </p:txBody>
      </p:sp>
      <p:pic>
        <p:nvPicPr>
          <p:cNvPr id="3" name="Picture 2"/>
          <p:cNvPicPr>
            <a:picLocks noChangeAspect="1"/>
          </p:cNvPicPr>
          <p:nvPr/>
        </p:nvPicPr>
        <p:blipFill>
          <a:blip r:embed="rId2"/>
          <a:stretch>
            <a:fillRect/>
          </a:stretch>
        </p:blipFill>
        <p:spPr>
          <a:xfrm>
            <a:off x="618309" y="4285978"/>
            <a:ext cx="8077200" cy="3981450"/>
          </a:xfrm>
          <a:prstGeom prst="rect">
            <a:avLst/>
          </a:prstGeom>
        </p:spPr>
      </p:pic>
    </p:spTree>
    <p:extLst>
      <p:ext uri="{BB962C8B-B14F-4D97-AF65-F5344CB8AC3E}">
        <p14:creationId xmlns:p14="http://schemas.microsoft.com/office/powerpoint/2010/main" val="24096708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90887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62446" y="418012"/>
            <a:ext cx="10215154" cy="6063198"/>
          </a:xfrm>
          <a:prstGeom prst="rect">
            <a:avLst/>
          </a:prstGeom>
          <a:solidFill>
            <a:schemeClr val="accent2"/>
          </a:solidFill>
        </p:spPr>
        <p:txBody>
          <a:bodyPr wrap="square" rtlCol="0">
            <a:spAutoFit/>
          </a:bodyPr>
          <a:lstStyle/>
          <a:p>
            <a:endParaRPr lang="en-IN" smtClean="0"/>
          </a:p>
          <a:p>
            <a:endParaRPr lang="en-IN"/>
          </a:p>
          <a:p>
            <a:endParaRPr lang="en-IN" smtClean="0"/>
          </a:p>
          <a:p>
            <a:endParaRPr lang="en-IN"/>
          </a:p>
          <a:p>
            <a:endParaRPr lang="en-IN" smtClean="0"/>
          </a:p>
          <a:p>
            <a:endParaRPr lang="en-IN"/>
          </a:p>
          <a:p>
            <a:endParaRPr lang="en-IN" smtClean="0"/>
          </a:p>
          <a:p>
            <a:endParaRPr lang="en-IN"/>
          </a:p>
          <a:p>
            <a:endParaRPr lang="en-IN" smtClean="0"/>
          </a:p>
          <a:p>
            <a:endParaRPr lang="en-IN"/>
          </a:p>
          <a:p>
            <a:endParaRPr lang="en-IN"/>
          </a:p>
          <a:p>
            <a:r>
              <a:rPr lang="en-IN" b="1" smtClean="0">
                <a:solidFill>
                  <a:srgbClr val="FF0000"/>
                </a:solidFill>
              </a:rPr>
              <a:t>                                                          </a:t>
            </a:r>
            <a:r>
              <a:rPr lang="en-IN" sz="2800" b="1" smtClean="0"/>
              <a:t>Stochastic </a:t>
            </a:r>
            <a:r>
              <a:rPr lang="en-IN" sz="2800" b="1"/>
              <a:t>Gradient Descent</a:t>
            </a:r>
            <a:endParaRPr lang="en-IN" b="1"/>
          </a:p>
          <a:p>
            <a:endParaRPr lang="en-IN"/>
          </a:p>
          <a:p>
            <a:endParaRPr lang="en-IN" smtClean="0"/>
          </a:p>
          <a:p>
            <a:endParaRPr lang="en-IN"/>
          </a:p>
          <a:p>
            <a:endParaRPr lang="en-IN" smtClean="0"/>
          </a:p>
          <a:p>
            <a:endParaRPr lang="en-IN" smtClean="0"/>
          </a:p>
          <a:p>
            <a:endParaRPr lang="en-IN"/>
          </a:p>
          <a:p>
            <a:endParaRPr lang="en-IN" smtClean="0"/>
          </a:p>
          <a:p>
            <a:endParaRPr lang="en-IN"/>
          </a:p>
          <a:p>
            <a:endParaRPr lang="en-IN"/>
          </a:p>
        </p:txBody>
      </p:sp>
    </p:spTree>
    <p:extLst>
      <p:ext uri="{BB962C8B-B14F-4D97-AF65-F5344CB8AC3E}">
        <p14:creationId xmlns:p14="http://schemas.microsoft.com/office/powerpoint/2010/main" val="25821060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What is the Gradient Descent Algorithm - Analytics Vidhy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What is the Gradient Descent Algorithm - Analytics Vidhy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176" y="312738"/>
            <a:ext cx="4013549" cy="3073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6532535" y="581187"/>
            <a:ext cx="4417017" cy="6186309"/>
          </a:xfrm>
          <a:prstGeom prst="rect">
            <a:avLst/>
          </a:prstGeom>
          <a:noFill/>
        </p:spPr>
        <p:txBody>
          <a:bodyPr wrap="square" rtlCol="0">
            <a:spAutoFit/>
          </a:bodyPr>
          <a:lstStyle/>
          <a:p>
            <a:r>
              <a:rPr lang="en-US"/>
              <a:t> </a:t>
            </a:r>
            <a:r>
              <a:rPr lang="en-US" b="1"/>
              <a:t> </a:t>
            </a:r>
            <a:r>
              <a:rPr lang="en-US"/>
              <a:t>As in neural networks, the main goal is to predict the output which is similar to the actual output. In order to check the difference between actual output (y) and the predicted output( y^), we calculate the cost function. </a:t>
            </a:r>
            <a:endParaRPr lang="en-US" smtClean="0"/>
          </a:p>
          <a:p>
            <a:endParaRPr lang="en-US" b="1">
              <a:hlinkClick r:id="rId3"/>
            </a:endParaRPr>
          </a:p>
          <a:p>
            <a:r>
              <a:rPr lang="en-US" b="1" smtClean="0">
                <a:hlinkClick r:id="rId3"/>
              </a:rPr>
              <a:t>Cost </a:t>
            </a:r>
            <a:r>
              <a:rPr lang="en-US" b="1">
                <a:hlinkClick r:id="rId3"/>
              </a:rPr>
              <a:t>Function</a:t>
            </a:r>
            <a:r>
              <a:rPr lang="en-US" b="1"/>
              <a:t> </a:t>
            </a:r>
            <a:r>
              <a:rPr lang="en-US" smtClean="0"/>
              <a:t> </a:t>
            </a:r>
            <a:r>
              <a:rPr lang="en-US"/>
              <a:t>is a </a:t>
            </a:r>
            <a:r>
              <a:rPr lang="en-US" b="1"/>
              <a:t>function</a:t>
            </a:r>
            <a:r>
              <a:rPr lang="en-US"/>
              <a:t> that measures the performance of a model for any given </a:t>
            </a:r>
            <a:r>
              <a:rPr lang="en-US" smtClean="0"/>
              <a:t>data,  </a:t>
            </a:r>
            <a:r>
              <a:rPr lang="en-US"/>
              <a:t>the error between predicted values and expected values and presents it in the form of a single real number. </a:t>
            </a:r>
            <a:endParaRPr lang="en-US" smtClean="0"/>
          </a:p>
          <a:p>
            <a:endParaRPr lang="en-US" smtClean="0"/>
          </a:p>
          <a:p>
            <a:r>
              <a:rPr lang="en-US" b="1" smtClean="0"/>
              <a:t>Gradient </a:t>
            </a:r>
            <a:r>
              <a:rPr lang="en-US" b="1"/>
              <a:t>Descent </a:t>
            </a:r>
            <a:r>
              <a:rPr lang="en-US" smtClean="0"/>
              <a:t> helps </a:t>
            </a:r>
            <a:r>
              <a:rPr lang="en-US"/>
              <a:t>optimize machine learning models by minimizing the cost function</a:t>
            </a:r>
            <a:r>
              <a:rPr lang="en-US" smtClean="0"/>
              <a:t>.</a:t>
            </a:r>
          </a:p>
          <a:p>
            <a:endParaRPr lang="en-US" smtClean="0"/>
          </a:p>
          <a:p>
            <a:pPr fontAlgn="base"/>
            <a:r>
              <a:rPr lang="en-US"/>
              <a:t>Gradient Descent is of three types-</a:t>
            </a:r>
          </a:p>
          <a:p>
            <a:pPr marL="342900" indent="-342900" fontAlgn="base">
              <a:buFont typeface="+mj-lt"/>
              <a:buAutoNum type="arabicPeriod"/>
            </a:pPr>
            <a:r>
              <a:rPr lang="en-US"/>
              <a:t>Stochastic Gradient Descent.</a:t>
            </a:r>
          </a:p>
          <a:p>
            <a:pPr marL="342900" indent="-342900" fontAlgn="base">
              <a:buFont typeface="+mj-lt"/>
              <a:buAutoNum type="arabicPeriod"/>
            </a:pPr>
            <a:r>
              <a:rPr lang="en-US"/>
              <a:t>Batch Gradient Descent.</a:t>
            </a:r>
          </a:p>
          <a:p>
            <a:pPr marL="342900" indent="-342900" fontAlgn="base">
              <a:buFont typeface="+mj-lt"/>
              <a:buAutoNum type="arabicPeriod"/>
            </a:pPr>
            <a:r>
              <a:rPr lang="en-US"/>
              <a:t>Mini-Batch Gradient Descent.</a:t>
            </a:r>
          </a:p>
          <a:p>
            <a:endParaRPr lang="en-US"/>
          </a:p>
        </p:txBody>
      </p:sp>
      <p:sp>
        <p:nvSpPr>
          <p:cNvPr id="7" name="AutoShape 7" descr="https://www.mltut.com/wp-content/uploads/2020/04/Untitled-document.webp"/>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2"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448" y="3674341"/>
            <a:ext cx="4391188" cy="3293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46527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71960" y="23435"/>
            <a:ext cx="9337729" cy="369332"/>
          </a:xfrm>
          <a:prstGeom prst="rect">
            <a:avLst/>
          </a:prstGeom>
          <a:noFill/>
        </p:spPr>
        <p:txBody>
          <a:bodyPr wrap="square" rtlCol="0">
            <a:spAutoFit/>
          </a:bodyPr>
          <a:lstStyle/>
          <a:p>
            <a:r>
              <a:rPr lang="en-US"/>
              <a:t>When our cost function is not convex?</a:t>
            </a:r>
          </a:p>
        </p:txBody>
      </p:sp>
      <p:sp>
        <p:nvSpPr>
          <p:cNvPr id="5" name="AutoShape 2" descr="Stochastic Gradient Desce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417" y="446743"/>
            <a:ext cx="4053102" cy="2521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AutoShape 5" descr="Deep Learni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445" y="2650130"/>
            <a:ext cx="685800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6437555" y="392767"/>
            <a:ext cx="5534886" cy="5078313"/>
          </a:xfrm>
          <a:prstGeom prst="rect">
            <a:avLst/>
          </a:prstGeom>
          <a:noFill/>
        </p:spPr>
        <p:txBody>
          <a:bodyPr wrap="square" rtlCol="0">
            <a:spAutoFit/>
          </a:bodyPr>
          <a:lstStyle/>
          <a:p>
            <a:r>
              <a:rPr lang="en-US"/>
              <a:t> if we apply normal gradient descent to non-convex function</a:t>
            </a:r>
            <a:r>
              <a:rPr lang="en-US" smtClean="0"/>
              <a:t>.</a:t>
            </a:r>
            <a:r>
              <a:rPr lang="en-US"/>
              <a:t> So, We found a local minimum instead of a global minimum. And this is not the correct one, because this is not the global minimum</a:t>
            </a:r>
            <a:r>
              <a:rPr lang="en-US" smtClean="0"/>
              <a:t>.</a:t>
            </a:r>
          </a:p>
          <a:p>
            <a:endParaRPr lang="en-US"/>
          </a:p>
          <a:p>
            <a:r>
              <a:rPr lang="en-US"/>
              <a:t>To solve this local minimum problem in the neural networks, the </a:t>
            </a:r>
            <a:r>
              <a:rPr lang="en-US" b="1"/>
              <a:t>Stochastic Gradient Descent</a:t>
            </a:r>
            <a:r>
              <a:rPr lang="en-US"/>
              <a:t> is used. </a:t>
            </a:r>
            <a:endParaRPr lang="en-US" smtClean="0"/>
          </a:p>
          <a:p>
            <a:endParaRPr lang="en-US"/>
          </a:p>
          <a:p>
            <a:endParaRPr lang="en-US" smtClean="0"/>
          </a:p>
          <a:p>
            <a:r>
              <a:rPr lang="en-US"/>
              <a:t>In </a:t>
            </a:r>
            <a:r>
              <a:rPr lang="en-US" b="1"/>
              <a:t>Stochastic Gradient Descent,</a:t>
            </a:r>
            <a:r>
              <a:rPr lang="en-US"/>
              <a:t> we take the row one by one. So we take one row, run a neural network and based on the cost function, we adjust the weight. Then we move to the second row, run the neural network, based on the cost function, we update the weight. This process repeats for all other rows. So, in stochastic, basically, we are adjusting the weights after every single row rather than doing everything together and then adjusting weights.</a:t>
            </a:r>
          </a:p>
        </p:txBody>
      </p:sp>
    </p:spTree>
    <p:extLst>
      <p:ext uri="{BB962C8B-B14F-4D97-AF65-F5344CB8AC3E}">
        <p14:creationId xmlns:p14="http://schemas.microsoft.com/office/powerpoint/2010/main" val="36351167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19645" y="322217"/>
            <a:ext cx="10139943" cy="6206045"/>
          </a:xfrm>
        </p:spPr>
        <p:txBody>
          <a:bodyPr>
            <a:noAutofit/>
          </a:bodyPr>
          <a:lstStyle/>
          <a:p>
            <a:pPr algn="l"/>
            <a:r>
              <a:rPr lang="en-IN" sz="1600" b="1" smtClean="0">
                <a:solidFill>
                  <a:srgbClr val="FF0000"/>
                </a:solidFill>
              </a:rPr>
              <a:t>Stochastic </a:t>
            </a:r>
            <a:r>
              <a:rPr lang="en-IN" sz="1600" b="1" dirty="0">
                <a:solidFill>
                  <a:srgbClr val="FF0000"/>
                </a:solidFill>
              </a:rPr>
              <a:t>Gradient Descent</a:t>
            </a:r>
          </a:p>
          <a:p>
            <a:pPr marL="285750" indent="-285750" algn="l" fontAlgn="ctr">
              <a:buFont typeface="Wingdings" panose="05000000000000000000" pitchFamily="2" charset="2"/>
              <a:buChar char="§"/>
            </a:pPr>
            <a:r>
              <a:rPr lang="en-US" sz="1600" dirty="0"/>
              <a:t>Stochastic Gradient Descent (SGD) is a widely used optimization algorithm in deep learning. </a:t>
            </a:r>
            <a:endParaRPr lang="en-US" sz="1600" dirty="0" smtClean="0"/>
          </a:p>
          <a:p>
            <a:pPr marL="285750" indent="-285750" algn="l" fontAlgn="ctr">
              <a:buFont typeface="Wingdings" panose="05000000000000000000" pitchFamily="2" charset="2"/>
              <a:buChar char="§"/>
            </a:pPr>
            <a:r>
              <a:rPr lang="en-US" sz="1600" dirty="0" smtClean="0"/>
              <a:t>It </a:t>
            </a:r>
            <a:r>
              <a:rPr lang="en-US" sz="1600" dirty="0"/>
              <a:t>iteratively updates the model's parameters by using a subset of the training data (mini-batch) to calculate the gradient of the loss function. </a:t>
            </a:r>
            <a:endParaRPr lang="en-US" sz="1600" dirty="0" smtClean="0"/>
          </a:p>
          <a:p>
            <a:pPr marL="285750" indent="-285750" algn="l" fontAlgn="ctr">
              <a:buFont typeface="Wingdings" panose="05000000000000000000" pitchFamily="2" charset="2"/>
              <a:buChar char="§"/>
            </a:pPr>
            <a:r>
              <a:rPr lang="en-US" sz="1600" dirty="0" smtClean="0"/>
              <a:t>This </a:t>
            </a:r>
            <a:r>
              <a:rPr lang="en-US" sz="1600" dirty="0"/>
              <a:t>approach introduces randomness and is computationally more efficient than traditional gradient descent, especially for large datasets. </a:t>
            </a:r>
            <a:endParaRPr lang="en-US" sz="1600" dirty="0" smtClean="0"/>
          </a:p>
          <a:p>
            <a:pPr marL="285750" indent="-285750" algn="l" fontAlgn="ctr">
              <a:buFont typeface="Wingdings" panose="05000000000000000000" pitchFamily="2" charset="2"/>
              <a:buChar char="§"/>
            </a:pPr>
            <a:endParaRPr lang="en-US" sz="1600" dirty="0"/>
          </a:p>
          <a:p>
            <a:pPr algn="l" fontAlgn="ctr"/>
            <a:r>
              <a:rPr lang="en-US" sz="1600" b="1" dirty="0"/>
              <a:t>1. Gradient Descent and its Variants: </a:t>
            </a:r>
          </a:p>
          <a:p>
            <a:pPr algn="l" fontAlgn="ctr"/>
            <a:r>
              <a:rPr lang="en-US" sz="1600" b="1" dirty="0"/>
              <a:t>Gradient Descent:</a:t>
            </a:r>
          </a:p>
          <a:p>
            <a:pPr algn="l" fontAlgn="ctr"/>
            <a:r>
              <a:rPr lang="en-US" sz="1600" dirty="0"/>
              <a:t>This algorithm minimizes a loss function by iteratively moving in the direction of the steepest descent (negative gradient) of the function. It calculates the gradient using the entire training dataset, which can be computationally expensive for large datasets. </a:t>
            </a:r>
          </a:p>
          <a:p>
            <a:pPr algn="l" fontAlgn="ctr"/>
            <a:r>
              <a:rPr lang="en-US" sz="1600" b="1" dirty="0"/>
              <a:t>Stochastic Gradient Descent (SGD):</a:t>
            </a:r>
          </a:p>
          <a:p>
            <a:pPr algn="l" fontAlgn="ctr"/>
            <a:r>
              <a:rPr lang="en-US" sz="1600" dirty="0"/>
              <a:t>SGD addresses the computational burden of gradient descent by using a single data point (or a small mini-batch) to compute the gradient in each iteration. This introduces randomness, which can help the algorithm escape local minima and converge faster. </a:t>
            </a:r>
          </a:p>
          <a:p>
            <a:pPr algn="l" fontAlgn="ctr"/>
            <a:r>
              <a:rPr lang="en-US" sz="1600" b="1" dirty="0"/>
              <a:t>Mini-batch Gradient Descent:</a:t>
            </a:r>
          </a:p>
          <a:p>
            <a:pPr algn="l" fontAlgn="ctr"/>
            <a:r>
              <a:rPr lang="en-US" sz="1600" dirty="0"/>
              <a:t>This is a variation of SGD where a small batch of training examples is used to calculate the gradient, striking a balance between computational efficiency and stability. </a:t>
            </a:r>
          </a:p>
          <a:p>
            <a:pPr algn="l"/>
            <a:r>
              <a:rPr lang="en-US" sz="1600" dirty="0"/>
              <a:t/>
            </a:r>
            <a:br>
              <a:rPr lang="en-US" sz="1600" dirty="0"/>
            </a:br>
            <a:endParaRPr lang="en-IN" sz="1600" dirty="0"/>
          </a:p>
        </p:txBody>
      </p:sp>
    </p:spTree>
    <p:extLst>
      <p:ext uri="{BB962C8B-B14F-4D97-AF65-F5344CB8AC3E}">
        <p14:creationId xmlns:p14="http://schemas.microsoft.com/office/powerpoint/2010/main" val="45036923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4811" y="339635"/>
            <a:ext cx="10770920" cy="6206045"/>
          </a:xfrm>
        </p:spPr>
        <p:txBody>
          <a:bodyPr>
            <a:noAutofit/>
          </a:bodyPr>
          <a:lstStyle/>
          <a:p>
            <a:pPr algn="l"/>
            <a:r>
              <a:rPr lang="en-US" sz="1600" b="1" dirty="0"/>
              <a:t>2. How SGD Works in Deep Learning:</a:t>
            </a:r>
          </a:p>
          <a:p>
            <a:pPr algn="l"/>
            <a:r>
              <a:rPr lang="en-US" sz="1600" dirty="0"/>
              <a:t>SGD is the foundation for many optimization algorithms used in deep learning frameworks. </a:t>
            </a:r>
          </a:p>
          <a:p>
            <a:pPr marL="285750" indent="-285750" algn="l">
              <a:buFont typeface="Wingdings" panose="05000000000000000000" pitchFamily="2" charset="2"/>
              <a:buChar char="§"/>
            </a:pPr>
            <a:r>
              <a:rPr lang="en-US" sz="1600" dirty="0"/>
              <a:t>It's an iterative process where: </a:t>
            </a:r>
          </a:p>
          <a:p>
            <a:pPr marL="285750" indent="-285750" algn="l">
              <a:buFont typeface="Wingdings" panose="05000000000000000000" pitchFamily="2" charset="2"/>
              <a:buChar char="§"/>
            </a:pPr>
            <a:r>
              <a:rPr lang="en-US" sz="1600" dirty="0"/>
              <a:t>A mini-batch of training data is sampled. </a:t>
            </a:r>
          </a:p>
          <a:p>
            <a:pPr marL="285750" indent="-285750" algn="l">
              <a:buFont typeface="Wingdings" panose="05000000000000000000" pitchFamily="2" charset="2"/>
              <a:buChar char="§"/>
            </a:pPr>
            <a:r>
              <a:rPr lang="en-US" sz="1600" dirty="0"/>
              <a:t>The model makes predictions based on the current parameters. </a:t>
            </a:r>
          </a:p>
          <a:p>
            <a:pPr marL="285750" indent="-285750" algn="l">
              <a:buFont typeface="Wingdings" panose="05000000000000000000" pitchFamily="2" charset="2"/>
              <a:buChar char="§"/>
            </a:pPr>
            <a:r>
              <a:rPr lang="en-US" sz="1600" dirty="0"/>
              <a:t>The loss function is calculated. </a:t>
            </a:r>
          </a:p>
          <a:p>
            <a:pPr marL="285750" indent="-285750" algn="l">
              <a:buFont typeface="Wingdings" panose="05000000000000000000" pitchFamily="2" charset="2"/>
              <a:buChar char="§"/>
            </a:pPr>
            <a:r>
              <a:rPr lang="en-US" sz="1600" dirty="0"/>
              <a:t>The gradient of the loss function is computed with respect to the model's parameters. </a:t>
            </a:r>
          </a:p>
          <a:p>
            <a:pPr marL="285750" indent="-285750" algn="l">
              <a:buFont typeface="Wingdings" panose="05000000000000000000" pitchFamily="2" charset="2"/>
              <a:buChar char="§"/>
            </a:pPr>
            <a:r>
              <a:rPr lang="en-US" sz="1600" dirty="0"/>
              <a:t>The parameters are updated using a learning rate and the calculated gradient. </a:t>
            </a:r>
          </a:p>
          <a:p>
            <a:pPr marL="285750" indent="-285750" algn="l">
              <a:buFont typeface="Wingdings" panose="05000000000000000000" pitchFamily="2" charset="2"/>
              <a:buChar char="§"/>
            </a:pPr>
            <a:r>
              <a:rPr lang="en-US" sz="1600" dirty="0"/>
              <a:t>This process is repeated until convergence or a predefined number of iterations is reached. </a:t>
            </a:r>
          </a:p>
          <a:p>
            <a:pPr algn="l"/>
            <a:endParaRPr lang="en-US" sz="1600" b="1" dirty="0" smtClean="0"/>
          </a:p>
          <a:p>
            <a:pPr algn="l"/>
            <a:r>
              <a:rPr lang="en-US" sz="1600" b="1" dirty="0" smtClean="0"/>
              <a:t>3</a:t>
            </a:r>
            <a:r>
              <a:rPr lang="en-US" sz="1600" b="1" dirty="0"/>
              <a:t>. Advantages of SGD:</a:t>
            </a:r>
          </a:p>
          <a:p>
            <a:pPr marL="285750" indent="-285750" algn="l">
              <a:buFont typeface="Wingdings" panose="05000000000000000000" pitchFamily="2" charset="2"/>
              <a:buChar char="§"/>
            </a:pPr>
            <a:r>
              <a:rPr lang="en-US" sz="1600" dirty="0"/>
              <a:t>Computational Efficiency:</a:t>
            </a:r>
          </a:p>
          <a:p>
            <a:pPr marL="285750" indent="-285750" algn="l">
              <a:buFont typeface="Wingdings" panose="05000000000000000000" pitchFamily="2" charset="2"/>
              <a:buChar char="§"/>
            </a:pPr>
            <a:r>
              <a:rPr lang="en-US" sz="1600" dirty="0"/>
              <a:t>SGD is faster than traditional gradient descent for large datasets, as it doesn't require processing the entire dataset in each iteration. </a:t>
            </a:r>
          </a:p>
          <a:p>
            <a:pPr marL="285750" indent="-285750" algn="l">
              <a:buFont typeface="Wingdings" panose="05000000000000000000" pitchFamily="2" charset="2"/>
              <a:buChar char="§"/>
            </a:pPr>
            <a:r>
              <a:rPr lang="en-US" sz="1600" dirty="0"/>
              <a:t>Escaping Local Minima:</a:t>
            </a:r>
          </a:p>
          <a:p>
            <a:pPr marL="285750" indent="-285750" algn="l">
              <a:buFont typeface="Wingdings" panose="05000000000000000000" pitchFamily="2" charset="2"/>
              <a:buChar char="§"/>
            </a:pPr>
            <a:r>
              <a:rPr lang="en-US" sz="1600" dirty="0"/>
              <a:t>The randomness introduced by SGD can help the algorithm escape local minima in the loss function landscape, potentially leading to better solutions. </a:t>
            </a:r>
            <a:endParaRPr lang="en-IN" sz="1600" dirty="0"/>
          </a:p>
        </p:txBody>
      </p:sp>
    </p:spTree>
    <p:extLst>
      <p:ext uri="{BB962C8B-B14F-4D97-AF65-F5344CB8AC3E}">
        <p14:creationId xmlns:p14="http://schemas.microsoft.com/office/powerpoint/2010/main" val="214541443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0011" y="182880"/>
            <a:ext cx="10305406" cy="6206045"/>
          </a:xfrm>
        </p:spPr>
        <p:txBody>
          <a:bodyPr>
            <a:noAutofit/>
          </a:bodyPr>
          <a:lstStyle/>
          <a:p>
            <a:pPr algn="l"/>
            <a:r>
              <a:rPr lang="en-US" sz="1600" b="1" dirty="0"/>
              <a:t>4. Challenges of SGD:</a:t>
            </a:r>
          </a:p>
          <a:p>
            <a:pPr algn="l"/>
            <a:r>
              <a:rPr lang="en-US" sz="1600" b="1" dirty="0"/>
              <a:t>Noisy Gradients:</a:t>
            </a:r>
          </a:p>
          <a:p>
            <a:pPr algn="l"/>
            <a:r>
              <a:rPr lang="en-US" sz="1600" dirty="0"/>
              <a:t>The stochastic nature of SGD can lead to noisy gradients, which might cause the algorithm to oscillate around the optimal solution or slow down convergence. </a:t>
            </a:r>
          </a:p>
          <a:p>
            <a:pPr algn="l"/>
            <a:r>
              <a:rPr lang="en-US" sz="1600" b="1" dirty="0"/>
              <a:t>Learning Rate Tuning:</a:t>
            </a:r>
          </a:p>
          <a:p>
            <a:pPr algn="l"/>
            <a:r>
              <a:rPr lang="en-US" sz="1600" dirty="0"/>
              <a:t>Choosing the right learning rate is crucial for SGD. A small learning rate can lead to slow convergence, while a large learning rate can cause oscillations and instability. </a:t>
            </a:r>
            <a:endParaRPr lang="en-US" sz="1600" dirty="0" smtClean="0"/>
          </a:p>
          <a:p>
            <a:pPr algn="l"/>
            <a:endParaRPr lang="en-US" sz="1600" dirty="0"/>
          </a:p>
          <a:p>
            <a:pPr algn="l"/>
            <a:r>
              <a:rPr lang="en-US" sz="1600" b="1" dirty="0"/>
              <a:t>5. Variants of SGD:</a:t>
            </a:r>
          </a:p>
          <a:p>
            <a:pPr marL="285750" indent="-285750" algn="l">
              <a:buFont typeface="Wingdings" panose="05000000000000000000" pitchFamily="2" charset="2"/>
              <a:buChar char="§"/>
            </a:pPr>
            <a:r>
              <a:rPr lang="en-US" sz="1600" dirty="0"/>
              <a:t>Many advanced optimization algorithms used in deep learning, such as Adam, </a:t>
            </a:r>
            <a:r>
              <a:rPr lang="en-US" sz="1600" dirty="0" err="1"/>
              <a:t>Adagrad</a:t>
            </a:r>
            <a:r>
              <a:rPr lang="en-US" sz="1600" dirty="0"/>
              <a:t>, and </a:t>
            </a:r>
            <a:r>
              <a:rPr lang="en-US" sz="1600" dirty="0" err="1"/>
              <a:t>RMSprop</a:t>
            </a:r>
            <a:r>
              <a:rPr lang="en-US" sz="1600" dirty="0"/>
              <a:t>, are based on SGD and incorporate techniques to address its challenges and improve performance. </a:t>
            </a:r>
          </a:p>
          <a:p>
            <a:pPr marL="285750" indent="-285750" algn="l">
              <a:buFont typeface="Wingdings" panose="05000000000000000000" pitchFamily="2" charset="2"/>
              <a:buChar char="§"/>
            </a:pPr>
            <a:r>
              <a:rPr lang="en-US" sz="1600" dirty="0"/>
              <a:t>In summary, SGD is a powerful and widely used optimization algorithm in deep learning. Its efficiency and ability to escape local minima make it suitable for training complex models on large datasets. </a:t>
            </a:r>
            <a:endParaRPr lang="en-IN" sz="1600" dirty="0"/>
          </a:p>
        </p:txBody>
      </p:sp>
    </p:spTree>
    <p:extLst>
      <p:ext uri="{BB962C8B-B14F-4D97-AF65-F5344CB8AC3E}">
        <p14:creationId xmlns:p14="http://schemas.microsoft.com/office/powerpoint/2010/main" val="420757047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62446" y="418012"/>
            <a:ext cx="10215154" cy="6063198"/>
          </a:xfrm>
          <a:prstGeom prst="rect">
            <a:avLst/>
          </a:prstGeom>
          <a:solidFill>
            <a:schemeClr val="accent2"/>
          </a:solidFill>
        </p:spPr>
        <p:txBody>
          <a:bodyPr wrap="square" rtlCol="0">
            <a:spAutoFit/>
          </a:bodyPr>
          <a:lstStyle/>
          <a:p>
            <a:endParaRPr lang="en-IN" smtClean="0"/>
          </a:p>
          <a:p>
            <a:endParaRPr lang="en-IN"/>
          </a:p>
          <a:p>
            <a:endParaRPr lang="en-IN" smtClean="0"/>
          </a:p>
          <a:p>
            <a:endParaRPr lang="en-IN"/>
          </a:p>
          <a:p>
            <a:endParaRPr lang="en-IN" smtClean="0"/>
          </a:p>
          <a:p>
            <a:endParaRPr lang="en-IN"/>
          </a:p>
          <a:p>
            <a:endParaRPr lang="en-IN" smtClean="0"/>
          </a:p>
          <a:p>
            <a:endParaRPr lang="en-IN"/>
          </a:p>
          <a:p>
            <a:endParaRPr lang="en-IN" smtClean="0"/>
          </a:p>
          <a:p>
            <a:endParaRPr lang="en-IN"/>
          </a:p>
          <a:p>
            <a:endParaRPr lang="en-IN"/>
          </a:p>
          <a:p>
            <a:r>
              <a:rPr lang="en-IN" b="1" smtClean="0">
                <a:solidFill>
                  <a:srgbClr val="FF0000"/>
                </a:solidFill>
              </a:rPr>
              <a:t>                                                          </a:t>
            </a:r>
            <a:r>
              <a:rPr lang="en-US" sz="2800" b="1" smtClean="0"/>
              <a:t>Steps </a:t>
            </a:r>
            <a:r>
              <a:rPr lang="en-US" sz="2800" b="1"/>
              <a:t>to Build an ML Algorithm</a:t>
            </a:r>
          </a:p>
          <a:p>
            <a:endParaRPr lang="en-IN"/>
          </a:p>
          <a:p>
            <a:endParaRPr lang="en-IN" smtClean="0"/>
          </a:p>
          <a:p>
            <a:endParaRPr lang="en-IN"/>
          </a:p>
          <a:p>
            <a:endParaRPr lang="en-IN" smtClean="0"/>
          </a:p>
          <a:p>
            <a:endParaRPr lang="en-IN" smtClean="0"/>
          </a:p>
          <a:p>
            <a:endParaRPr lang="en-IN"/>
          </a:p>
          <a:p>
            <a:endParaRPr lang="en-IN" smtClean="0"/>
          </a:p>
          <a:p>
            <a:endParaRPr lang="en-IN"/>
          </a:p>
          <a:p>
            <a:endParaRPr lang="en-IN"/>
          </a:p>
        </p:txBody>
      </p:sp>
    </p:spTree>
    <p:extLst>
      <p:ext uri="{BB962C8B-B14F-4D97-AF65-F5344CB8AC3E}">
        <p14:creationId xmlns:p14="http://schemas.microsoft.com/office/powerpoint/2010/main" val="11058923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0011" y="182880"/>
            <a:ext cx="10770920" cy="6206045"/>
          </a:xfrm>
        </p:spPr>
        <p:txBody>
          <a:bodyPr>
            <a:noAutofit/>
          </a:bodyPr>
          <a:lstStyle/>
          <a:p>
            <a:pPr algn="l"/>
            <a:r>
              <a:rPr lang="en-US" sz="1600" b="1" smtClean="0">
                <a:solidFill>
                  <a:srgbClr val="FF0000"/>
                </a:solidFill>
              </a:rPr>
              <a:t>Steps </a:t>
            </a:r>
            <a:r>
              <a:rPr lang="en-US" sz="1600" b="1" dirty="0">
                <a:solidFill>
                  <a:srgbClr val="FF0000"/>
                </a:solidFill>
              </a:rPr>
              <a:t>to Build an ML Algorithm</a:t>
            </a:r>
          </a:p>
          <a:p>
            <a:pPr marL="285750" indent="-285750" algn="l">
              <a:buFont typeface="Wingdings" panose="05000000000000000000" pitchFamily="2" charset="2"/>
              <a:buChar char="§"/>
            </a:pPr>
            <a:r>
              <a:rPr lang="en-US" sz="1600" dirty="0"/>
              <a:t>Define the problem</a:t>
            </a:r>
          </a:p>
          <a:p>
            <a:pPr marL="285750" indent="-285750" algn="l">
              <a:buFont typeface="Wingdings" panose="05000000000000000000" pitchFamily="2" charset="2"/>
              <a:buChar char="§"/>
            </a:pPr>
            <a:r>
              <a:rPr lang="en-US" sz="1600" dirty="0"/>
              <a:t>Prepare and split data</a:t>
            </a:r>
          </a:p>
          <a:p>
            <a:pPr marL="285750" indent="-285750" algn="l">
              <a:buFont typeface="Wingdings" panose="05000000000000000000" pitchFamily="2" charset="2"/>
              <a:buChar char="§"/>
            </a:pPr>
            <a:r>
              <a:rPr lang="en-US" sz="1600" dirty="0"/>
              <a:t>Choose model architecture</a:t>
            </a:r>
          </a:p>
          <a:p>
            <a:pPr marL="285750" indent="-285750" algn="l">
              <a:buFont typeface="Wingdings" panose="05000000000000000000" pitchFamily="2" charset="2"/>
              <a:buChar char="§"/>
            </a:pPr>
            <a:r>
              <a:rPr lang="en-US" sz="1600" dirty="0"/>
              <a:t>Define loss function</a:t>
            </a:r>
          </a:p>
          <a:p>
            <a:pPr marL="285750" indent="-285750" algn="l">
              <a:buFont typeface="Wingdings" panose="05000000000000000000" pitchFamily="2" charset="2"/>
              <a:buChar char="§"/>
            </a:pPr>
            <a:r>
              <a:rPr lang="en-US" sz="1600" dirty="0"/>
              <a:t>Select optimizer</a:t>
            </a:r>
          </a:p>
          <a:p>
            <a:pPr marL="285750" indent="-285750" algn="l">
              <a:buFont typeface="Wingdings" panose="05000000000000000000" pitchFamily="2" charset="2"/>
              <a:buChar char="§"/>
            </a:pPr>
            <a:r>
              <a:rPr lang="en-US" sz="1600" dirty="0"/>
              <a:t>Train model</a:t>
            </a:r>
          </a:p>
          <a:p>
            <a:pPr marL="285750" indent="-285750" algn="l">
              <a:buFont typeface="Wingdings" panose="05000000000000000000" pitchFamily="2" charset="2"/>
              <a:buChar char="§"/>
            </a:pPr>
            <a:r>
              <a:rPr lang="en-US" sz="1600" dirty="0"/>
              <a:t>Evaluate and tune</a:t>
            </a:r>
          </a:p>
          <a:p>
            <a:pPr marL="285750" indent="-285750" algn="l">
              <a:buFont typeface="Wingdings" panose="05000000000000000000" pitchFamily="2" charset="2"/>
              <a:buChar char="§"/>
            </a:pPr>
            <a:r>
              <a:rPr lang="en-US" sz="1600" dirty="0"/>
              <a:t>Deploy</a:t>
            </a:r>
          </a:p>
          <a:p>
            <a:pPr algn="l"/>
            <a:r>
              <a:rPr lang="en-US" sz="1600" dirty="0"/>
              <a:t>In deep learning, </a:t>
            </a:r>
            <a:r>
              <a:rPr lang="en-US" sz="1600" b="1" dirty="0"/>
              <a:t>building an ML algorithm</a:t>
            </a:r>
            <a:r>
              <a:rPr lang="en-US" sz="1600" dirty="0"/>
              <a:t> means creating a model that </a:t>
            </a:r>
            <a:r>
              <a:rPr lang="en-US" sz="1600" b="1" dirty="0"/>
              <a:t>learns patterns</a:t>
            </a:r>
            <a:r>
              <a:rPr lang="en-US" sz="1600" dirty="0"/>
              <a:t> from data using neural networks.</a:t>
            </a:r>
          </a:p>
          <a:p>
            <a:pPr algn="l"/>
            <a:r>
              <a:rPr lang="en-US" sz="1600" dirty="0"/>
              <a:t>Here’s a </a:t>
            </a:r>
            <a:r>
              <a:rPr lang="en-US" sz="1600" b="1" dirty="0"/>
              <a:t>step-by-step explanation</a:t>
            </a:r>
            <a:endParaRPr lang="en-US" sz="1600" dirty="0"/>
          </a:p>
          <a:p>
            <a:pPr algn="l"/>
            <a:endParaRPr lang="en-IN" sz="1400" dirty="0"/>
          </a:p>
        </p:txBody>
      </p:sp>
    </p:spTree>
    <p:extLst>
      <p:ext uri="{BB962C8B-B14F-4D97-AF65-F5344CB8AC3E}">
        <p14:creationId xmlns:p14="http://schemas.microsoft.com/office/powerpoint/2010/main" val="149905073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0011" y="182880"/>
            <a:ext cx="10770920" cy="6206045"/>
          </a:xfrm>
        </p:spPr>
        <p:txBody>
          <a:bodyPr>
            <a:noAutofit/>
          </a:bodyPr>
          <a:lstStyle/>
          <a:p>
            <a:pPr algn="l"/>
            <a:r>
              <a:rPr lang="en-US" sz="1400" b="1" dirty="0"/>
              <a:t>1. Define the Problem</a:t>
            </a:r>
          </a:p>
          <a:p>
            <a:pPr algn="l"/>
            <a:r>
              <a:rPr lang="en-US" sz="1400" dirty="0"/>
              <a:t>What are we trying to solve?</a:t>
            </a:r>
          </a:p>
          <a:p>
            <a:pPr algn="l"/>
            <a:r>
              <a:rPr lang="en-US" sz="1400" b="1" dirty="0" smtClean="0"/>
              <a:t>Examples</a:t>
            </a:r>
            <a:r>
              <a:rPr lang="en-US" sz="1400" b="1" dirty="0"/>
              <a:t>:</a:t>
            </a:r>
          </a:p>
          <a:p>
            <a:pPr marL="285750" indent="-285750" algn="l">
              <a:buFont typeface="Wingdings" panose="05000000000000000000" pitchFamily="2" charset="2"/>
              <a:buChar char="§"/>
            </a:pPr>
            <a:r>
              <a:rPr lang="en-US" sz="1400" dirty="0" smtClean="0"/>
              <a:t>Predicting </a:t>
            </a:r>
            <a:r>
              <a:rPr lang="en-US" sz="1400" dirty="0"/>
              <a:t>house prices</a:t>
            </a:r>
          </a:p>
          <a:p>
            <a:pPr marL="285750" indent="-285750" algn="l">
              <a:buFont typeface="Wingdings" panose="05000000000000000000" pitchFamily="2" charset="2"/>
              <a:buChar char="§"/>
            </a:pPr>
            <a:r>
              <a:rPr lang="en-US" sz="1400" dirty="0" smtClean="0"/>
              <a:t>Recognizing </a:t>
            </a:r>
            <a:r>
              <a:rPr lang="en-US" sz="1400" dirty="0"/>
              <a:t>handwritten digits (like MNIST)</a:t>
            </a:r>
          </a:p>
          <a:p>
            <a:pPr marL="285750" indent="-285750" algn="l">
              <a:buFont typeface="Wingdings" panose="05000000000000000000" pitchFamily="2" charset="2"/>
              <a:buChar char="§"/>
            </a:pPr>
            <a:r>
              <a:rPr lang="en-US" sz="1400" dirty="0" smtClean="0"/>
              <a:t>Classifying </a:t>
            </a:r>
            <a:r>
              <a:rPr lang="en-US" sz="1400" dirty="0"/>
              <a:t>images (cat </a:t>
            </a:r>
            <a:r>
              <a:rPr lang="en-US" sz="1400" dirty="0" err="1"/>
              <a:t>vs</a:t>
            </a:r>
            <a:r>
              <a:rPr lang="en-US" sz="1400" dirty="0"/>
              <a:t> dog)</a:t>
            </a:r>
          </a:p>
          <a:p>
            <a:pPr marL="285750" indent="-285750" algn="l">
              <a:buFont typeface="Wingdings" panose="05000000000000000000" pitchFamily="2" charset="2"/>
              <a:buChar char="§"/>
            </a:pPr>
            <a:r>
              <a:rPr lang="en-US" sz="1400" dirty="0" smtClean="0"/>
              <a:t>This </a:t>
            </a:r>
            <a:r>
              <a:rPr lang="en-US" sz="1400" dirty="0"/>
              <a:t>helps define:</a:t>
            </a:r>
          </a:p>
          <a:p>
            <a:pPr marL="285750" indent="-285750" algn="l">
              <a:buFont typeface="Wingdings" panose="05000000000000000000" pitchFamily="2" charset="2"/>
              <a:buChar char="§"/>
            </a:pPr>
            <a:r>
              <a:rPr lang="en-US" sz="1400" dirty="0" smtClean="0"/>
              <a:t>Input </a:t>
            </a:r>
            <a:r>
              <a:rPr lang="en-US" sz="1400" dirty="0"/>
              <a:t>features (X)</a:t>
            </a:r>
          </a:p>
          <a:p>
            <a:pPr marL="285750" indent="-285750" algn="l">
              <a:buFont typeface="Wingdings" panose="05000000000000000000" pitchFamily="2" charset="2"/>
              <a:buChar char="§"/>
            </a:pPr>
            <a:r>
              <a:rPr lang="en-US" sz="1400" dirty="0" smtClean="0"/>
              <a:t>Output labels (Y)</a:t>
            </a:r>
          </a:p>
          <a:p>
            <a:pPr algn="l"/>
            <a:endParaRPr lang="en-US" sz="1400" dirty="0"/>
          </a:p>
          <a:p>
            <a:pPr algn="l"/>
            <a:r>
              <a:rPr lang="en-US" sz="1200" b="1" dirty="0"/>
              <a:t>2. Prepare the Data</a:t>
            </a:r>
          </a:p>
          <a:p>
            <a:pPr algn="l"/>
            <a:r>
              <a:rPr lang="en-US" sz="1200" b="1" dirty="0"/>
              <a:t>Steps:</a:t>
            </a:r>
          </a:p>
          <a:p>
            <a:pPr marL="171450" indent="-171450" algn="l">
              <a:buFont typeface="Wingdings" panose="05000000000000000000" pitchFamily="2" charset="2"/>
              <a:buChar char="§"/>
            </a:pPr>
            <a:r>
              <a:rPr lang="en-US" sz="1200" dirty="0"/>
              <a:t>Collect data</a:t>
            </a:r>
          </a:p>
          <a:p>
            <a:pPr marL="171450" indent="-171450" algn="l">
              <a:buFont typeface="Wingdings" panose="05000000000000000000" pitchFamily="2" charset="2"/>
              <a:buChar char="§"/>
            </a:pPr>
            <a:r>
              <a:rPr lang="en-US" sz="1200" dirty="0"/>
              <a:t>Clean it (remove missing or noisy values)</a:t>
            </a:r>
          </a:p>
          <a:p>
            <a:pPr marL="171450" indent="-171450" algn="l">
              <a:buFont typeface="Wingdings" panose="05000000000000000000" pitchFamily="2" charset="2"/>
              <a:buChar char="§"/>
            </a:pPr>
            <a:r>
              <a:rPr lang="en-US" sz="1200" dirty="0"/>
              <a:t>Normalize or scale features</a:t>
            </a:r>
          </a:p>
          <a:p>
            <a:pPr algn="l"/>
            <a:r>
              <a:rPr lang="en-US" sz="1200" b="1" dirty="0"/>
              <a:t>Split into:</a:t>
            </a:r>
          </a:p>
          <a:p>
            <a:pPr lvl="1" algn="l"/>
            <a:r>
              <a:rPr lang="en-US" sz="1200" b="1" dirty="0"/>
              <a:t>Training Set</a:t>
            </a:r>
            <a:r>
              <a:rPr lang="en-US" sz="1200" dirty="0"/>
              <a:t> (used to learn)</a:t>
            </a:r>
          </a:p>
          <a:p>
            <a:pPr lvl="1" algn="l"/>
            <a:r>
              <a:rPr lang="en-US" sz="1200" b="1" dirty="0"/>
              <a:t>Validation Set</a:t>
            </a:r>
            <a:r>
              <a:rPr lang="en-US" sz="1200" dirty="0"/>
              <a:t> (tune </a:t>
            </a:r>
            <a:r>
              <a:rPr lang="en-US" sz="1200" dirty="0" err="1"/>
              <a:t>hyperparameters</a:t>
            </a:r>
            <a:r>
              <a:rPr lang="en-US" sz="1200" dirty="0"/>
              <a:t>)</a:t>
            </a:r>
          </a:p>
          <a:p>
            <a:pPr lvl="1" algn="l"/>
            <a:r>
              <a:rPr lang="en-US" sz="1200" b="1" dirty="0"/>
              <a:t>Test Set</a:t>
            </a:r>
            <a:r>
              <a:rPr lang="en-US" sz="1200" dirty="0"/>
              <a:t> (evaluate performance)</a:t>
            </a:r>
          </a:p>
          <a:p>
            <a:pPr algn="l"/>
            <a:endParaRPr lang="en-IN" sz="1200" dirty="0"/>
          </a:p>
        </p:txBody>
      </p:sp>
    </p:spTree>
    <p:extLst>
      <p:ext uri="{BB962C8B-B14F-4D97-AF65-F5344CB8AC3E}">
        <p14:creationId xmlns:p14="http://schemas.microsoft.com/office/powerpoint/2010/main" val="199951990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0011" y="182880"/>
            <a:ext cx="10770920" cy="6609806"/>
          </a:xfrm>
        </p:spPr>
        <p:txBody>
          <a:bodyPr>
            <a:noAutofit/>
          </a:bodyPr>
          <a:lstStyle/>
          <a:p>
            <a:pPr algn="l"/>
            <a:r>
              <a:rPr lang="en-IN" sz="1400" b="1" dirty="0"/>
              <a:t>3. Choose a Model Architecture</a:t>
            </a:r>
          </a:p>
          <a:p>
            <a:pPr algn="l"/>
            <a:r>
              <a:rPr lang="en-IN" sz="1400" dirty="0"/>
              <a:t>In deep learning, we build neural networks:</a:t>
            </a:r>
          </a:p>
          <a:p>
            <a:pPr algn="l"/>
            <a:r>
              <a:rPr lang="en-IN" sz="1400" b="1" dirty="0" smtClean="0"/>
              <a:t>Input </a:t>
            </a:r>
            <a:r>
              <a:rPr lang="en-IN" sz="1400" b="1" dirty="0"/>
              <a:t>Layer </a:t>
            </a:r>
            <a:r>
              <a:rPr lang="en-IN" sz="1400" dirty="0" smtClean="0"/>
              <a:t>-receives </a:t>
            </a:r>
            <a:r>
              <a:rPr lang="en-IN" sz="1400" dirty="0"/>
              <a:t>raw data</a:t>
            </a:r>
          </a:p>
          <a:p>
            <a:pPr algn="l"/>
            <a:r>
              <a:rPr lang="en-IN" sz="1400" b="1" dirty="0" smtClean="0"/>
              <a:t>Hidden </a:t>
            </a:r>
            <a:r>
              <a:rPr lang="en-IN" sz="1400" b="1" dirty="0"/>
              <a:t>Layers </a:t>
            </a:r>
            <a:r>
              <a:rPr lang="en-IN" sz="1400" dirty="0"/>
              <a:t>– extract patterns (with activation functions like </a:t>
            </a:r>
            <a:r>
              <a:rPr lang="en-IN" sz="1400" dirty="0" err="1"/>
              <a:t>ReLU</a:t>
            </a:r>
            <a:r>
              <a:rPr lang="en-IN" sz="1400" dirty="0"/>
              <a:t>, Sigmoid)</a:t>
            </a:r>
          </a:p>
          <a:p>
            <a:pPr algn="l"/>
            <a:r>
              <a:rPr lang="en-IN" sz="1400" b="1" dirty="0" smtClean="0"/>
              <a:t>Output </a:t>
            </a:r>
            <a:r>
              <a:rPr lang="en-IN" sz="1400" b="1" dirty="0"/>
              <a:t>Layer </a:t>
            </a:r>
            <a:r>
              <a:rPr lang="en-IN" sz="1400" dirty="0"/>
              <a:t>– gives predictions (e.g., </a:t>
            </a:r>
            <a:r>
              <a:rPr lang="en-IN" sz="1400" dirty="0" err="1"/>
              <a:t>softmax</a:t>
            </a:r>
            <a:r>
              <a:rPr lang="en-IN" sz="1400" dirty="0"/>
              <a:t> for classification)</a:t>
            </a:r>
          </a:p>
          <a:p>
            <a:pPr algn="l"/>
            <a:r>
              <a:rPr lang="en-IN" sz="1400" dirty="0" smtClean="0"/>
              <a:t>👉 </a:t>
            </a:r>
            <a:r>
              <a:rPr lang="en-IN" sz="1400" b="1" dirty="0" err="1" smtClean="0"/>
              <a:t>Example</a:t>
            </a:r>
            <a:r>
              <a:rPr lang="en-IN" sz="1400" dirty="0" err="1" smtClean="0"/>
              <a:t>:For</a:t>
            </a:r>
            <a:r>
              <a:rPr lang="en-IN" sz="1400" dirty="0" smtClean="0"/>
              <a:t> </a:t>
            </a:r>
            <a:r>
              <a:rPr lang="en-IN" sz="1400" dirty="0"/>
              <a:t>image classification:</a:t>
            </a:r>
          </a:p>
          <a:p>
            <a:pPr algn="l"/>
            <a:r>
              <a:rPr lang="en-IN" sz="1400" dirty="0" smtClean="0"/>
              <a:t>Input </a:t>
            </a:r>
            <a:r>
              <a:rPr lang="en-IN" sz="1400" dirty="0"/>
              <a:t>(pixels) → Dense → </a:t>
            </a:r>
            <a:r>
              <a:rPr lang="en-IN" sz="1400" dirty="0" err="1"/>
              <a:t>ReLU</a:t>
            </a:r>
            <a:r>
              <a:rPr lang="en-IN" sz="1400" dirty="0"/>
              <a:t> → Dense → </a:t>
            </a:r>
            <a:r>
              <a:rPr lang="en-IN" sz="1400" dirty="0" err="1" smtClean="0"/>
              <a:t>Softmax</a:t>
            </a:r>
            <a:endParaRPr lang="en-IN" sz="1400" dirty="0" smtClean="0"/>
          </a:p>
          <a:p>
            <a:pPr algn="l"/>
            <a:endParaRPr lang="en-IN" sz="1400" dirty="0"/>
          </a:p>
          <a:p>
            <a:pPr algn="l"/>
            <a:r>
              <a:rPr lang="en-US" sz="1400" b="1" dirty="0" smtClean="0"/>
              <a:t>4</a:t>
            </a:r>
            <a:r>
              <a:rPr lang="en-US" sz="1400" b="1" dirty="0"/>
              <a:t>. Define Loss Function</a:t>
            </a:r>
          </a:p>
          <a:p>
            <a:pPr algn="l"/>
            <a:r>
              <a:rPr lang="en-US" sz="1400" dirty="0"/>
              <a:t>The model needs a way to measure how wrong it is.</a:t>
            </a:r>
          </a:p>
          <a:p>
            <a:pPr algn="l"/>
            <a:r>
              <a:rPr lang="en-US" sz="1400" b="1" dirty="0" smtClean="0"/>
              <a:t>Common </a:t>
            </a:r>
            <a:r>
              <a:rPr lang="en-US" sz="1400" b="1" dirty="0"/>
              <a:t>loss functions:</a:t>
            </a:r>
          </a:p>
          <a:p>
            <a:pPr algn="l"/>
            <a:r>
              <a:rPr lang="en-US" sz="1400" b="1" dirty="0" smtClean="0"/>
              <a:t>MSE </a:t>
            </a:r>
            <a:r>
              <a:rPr lang="en-US" sz="1400" b="1" dirty="0"/>
              <a:t>(Mean Squared Error) </a:t>
            </a:r>
            <a:r>
              <a:rPr lang="en-US" sz="1400" dirty="0"/>
              <a:t>:</a:t>
            </a:r>
            <a:r>
              <a:rPr lang="en-US" sz="1400" dirty="0" smtClean="0"/>
              <a:t>for </a:t>
            </a:r>
            <a:r>
              <a:rPr lang="en-US" sz="1400" dirty="0"/>
              <a:t>regression</a:t>
            </a:r>
          </a:p>
          <a:p>
            <a:pPr algn="l"/>
            <a:r>
              <a:rPr lang="en-US" sz="1400" b="1" dirty="0" smtClean="0"/>
              <a:t>Cross-Entropy </a:t>
            </a:r>
            <a:r>
              <a:rPr lang="en-US" sz="1400" b="1" dirty="0"/>
              <a:t>Loss </a:t>
            </a:r>
            <a:r>
              <a:rPr lang="en-US" sz="1400" dirty="0"/>
              <a:t>:</a:t>
            </a:r>
            <a:r>
              <a:rPr lang="en-US" sz="1400" dirty="0" smtClean="0"/>
              <a:t> </a:t>
            </a:r>
            <a:r>
              <a:rPr lang="en-US" sz="1400" dirty="0"/>
              <a:t>for </a:t>
            </a:r>
            <a:r>
              <a:rPr lang="en-US" sz="1400" dirty="0" smtClean="0"/>
              <a:t>classification</a:t>
            </a:r>
          </a:p>
          <a:p>
            <a:pPr algn="l"/>
            <a:endParaRPr lang="en-US" sz="1400" dirty="0" smtClean="0"/>
          </a:p>
          <a:p>
            <a:pPr algn="l"/>
            <a:r>
              <a:rPr lang="en-US" sz="1400" dirty="0" smtClean="0"/>
              <a:t> </a:t>
            </a:r>
            <a:r>
              <a:rPr lang="en-US" sz="1400" b="1" dirty="0"/>
              <a:t>5. Choose Optimizer</a:t>
            </a:r>
          </a:p>
          <a:p>
            <a:pPr algn="l"/>
            <a:r>
              <a:rPr lang="en-US" sz="1400" dirty="0"/>
              <a:t>An optimizer updates weights to reduce the loss.</a:t>
            </a:r>
          </a:p>
          <a:p>
            <a:pPr algn="l"/>
            <a:r>
              <a:rPr lang="en-US" sz="1400" b="1" dirty="0" smtClean="0"/>
              <a:t>Popular </a:t>
            </a:r>
            <a:r>
              <a:rPr lang="en-US" sz="1400" b="1" dirty="0"/>
              <a:t>choices:</a:t>
            </a:r>
          </a:p>
          <a:p>
            <a:pPr marL="171450" indent="-171450" algn="l">
              <a:buFont typeface="Wingdings" panose="05000000000000000000" pitchFamily="2" charset="2"/>
              <a:buChar char="§"/>
            </a:pPr>
            <a:r>
              <a:rPr lang="en-US" sz="1400" dirty="0" smtClean="0"/>
              <a:t>SGD </a:t>
            </a:r>
            <a:r>
              <a:rPr lang="en-US" sz="1400" dirty="0"/>
              <a:t>(Stochastic Gradient Descent)</a:t>
            </a:r>
          </a:p>
          <a:p>
            <a:pPr marL="171450" indent="-171450" algn="l">
              <a:buFont typeface="Wingdings" panose="05000000000000000000" pitchFamily="2" charset="2"/>
              <a:buChar char="§"/>
            </a:pPr>
            <a:r>
              <a:rPr lang="en-US" sz="1400" dirty="0" smtClean="0"/>
              <a:t>Adam </a:t>
            </a:r>
            <a:r>
              <a:rPr lang="en-US" sz="1400" dirty="0"/>
              <a:t>(adaptive learning rate)</a:t>
            </a:r>
          </a:p>
          <a:p>
            <a:pPr marL="171450" indent="-171450" algn="l">
              <a:buFont typeface="Wingdings" panose="05000000000000000000" pitchFamily="2" charset="2"/>
              <a:buChar char="§"/>
            </a:pPr>
            <a:r>
              <a:rPr lang="en-US" sz="1400" dirty="0" smtClean="0"/>
              <a:t>It </a:t>
            </a:r>
            <a:r>
              <a:rPr lang="en-US" sz="1400" dirty="0"/>
              <a:t>uses </a:t>
            </a:r>
            <a:r>
              <a:rPr lang="en-US" sz="1400" dirty="0" err="1"/>
              <a:t>backpropagation</a:t>
            </a:r>
            <a:r>
              <a:rPr lang="en-US" sz="1400" dirty="0"/>
              <a:t> to compute gradients and update weights.</a:t>
            </a:r>
            <a:endParaRPr lang="en-IN" sz="1400" dirty="0"/>
          </a:p>
        </p:txBody>
      </p:sp>
    </p:spTree>
    <p:extLst>
      <p:ext uri="{BB962C8B-B14F-4D97-AF65-F5344CB8AC3E}">
        <p14:creationId xmlns:p14="http://schemas.microsoft.com/office/powerpoint/2010/main" val="371711802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15737" y="296091"/>
            <a:ext cx="7867006" cy="6206045"/>
          </a:xfrm>
        </p:spPr>
        <p:txBody>
          <a:bodyPr>
            <a:noAutofit/>
          </a:bodyPr>
          <a:lstStyle/>
          <a:p>
            <a:pPr algn="l"/>
            <a:r>
              <a:rPr lang="en-US" sz="1400" b="1" dirty="0"/>
              <a:t>6. Train the Model</a:t>
            </a:r>
          </a:p>
          <a:p>
            <a:pPr marL="171450" indent="-171450" algn="l">
              <a:buFont typeface="Wingdings" panose="05000000000000000000" pitchFamily="2" charset="2"/>
              <a:buChar char="§"/>
            </a:pPr>
            <a:r>
              <a:rPr lang="en-US" sz="1400" dirty="0"/>
              <a:t>The model "learns" by adjusting weights using training data.</a:t>
            </a:r>
          </a:p>
          <a:p>
            <a:pPr marL="171450" indent="-171450" algn="l">
              <a:buFont typeface="Wingdings" panose="05000000000000000000" pitchFamily="2" charset="2"/>
              <a:buChar char="§"/>
            </a:pPr>
            <a:r>
              <a:rPr lang="en-US" sz="1400" dirty="0" smtClean="0"/>
              <a:t>Each </a:t>
            </a:r>
            <a:r>
              <a:rPr lang="en-US" sz="1400" dirty="0"/>
              <a:t>epoch is one full pass through the training set.</a:t>
            </a:r>
          </a:p>
          <a:p>
            <a:pPr marL="171450" indent="-171450" algn="l">
              <a:buFont typeface="Wingdings" panose="05000000000000000000" pitchFamily="2" charset="2"/>
              <a:buChar char="§"/>
            </a:pPr>
            <a:r>
              <a:rPr lang="en-US" sz="1400" dirty="0" smtClean="0"/>
              <a:t>Batch </a:t>
            </a:r>
            <a:r>
              <a:rPr lang="en-US" sz="1400" dirty="0"/>
              <a:t>size = number of samples processed before updating weights.</a:t>
            </a:r>
          </a:p>
          <a:p>
            <a:pPr marL="171450" indent="-171450" algn="l">
              <a:buFont typeface="Wingdings" panose="05000000000000000000" pitchFamily="2" charset="2"/>
              <a:buChar char="§"/>
            </a:pPr>
            <a:endParaRPr lang="en-US" sz="1400" b="1" dirty="0" smtClean="0"/>
          </a:p>
          <a:p>
            <a:pPr algn="l"/>
            <a:r>
              <a:rPr lang="en-US" sz="1400" b="1" dirty="0" smtClean="0"/>
              <a:t>Training </a:t>
            </a:r>
            <a:r>
              <a:rPr lang="en-US" sz="1400" b="1" dirty="0"/>
              <a:t>loop</a:t>
            </a:r>
            <a:r>
              <a:rPr lang="en-US" sz="1400" b="1" dirty="0" smtClean="0"/>
              <a:t>: </a:t>
            </a:r>
          </a:p>
          <a:p>
            <a:pPr algn="l"/>
            <a:r>
              <a:rPr lang="en-IN" sz="1400" dirty="0"/>
              <a:t>for epoch in range(</a:t>
            </a:r>
            <a:r>
              <a:rPr lang="en-IN" sz="1400" dirty="0" err="1"/>
              <a:t>num_epochs</a:t>
            </a:r>
            <a:r>
              <a:rPr lang="en-IN" sz="1400" dirty="0"/>
              <a:t>):</a:t>
            </a:r>
          </a:p>
          <a:p>
            <a:pPr algn="l"/>
            <a:r>
              <a:rPr lang="en-IN" sz="1400" dirty="0"/>
              <a:t>    forward pass → compute loss → </a:t>
            </a:r>
            <a:r>
              <a:rPr lang="en-IN" sz="1400" dirty="0" err="1"/>
              <a:t>backpropagation</a:t>
            </a:r>
            <a:r>
              <a:rPr lang="en-IN" sz="1400" dirty="0"/>
              <a:t> → update weights</a:t>
            </a:r>
          </a:p>
          <a:p>
            <a:pPr algn="l"/>
            <a:endParaRPr lang="en-US" sz="1400" b="1" dirty="0" smtClean="0"/>
          </a:p>
          <a:p>
            <a:pPr algn="l"/>
            <a:r>
              <a:rPr lang="en-US" sz="1400" b="1" dirty="0" smtClean="0"/>
              <a:t>7</a:t>
            </a:r>
            <a:r>
              <a:rPr lang="en-US" sz="1400" b="1" dirty="0"/>
              <a:t>. Evaluate the Model</a:t>
            </a:r>
          </a:p>
          <a:p>
            <a:pPr algn="l"/>
            <a:r>
              <a:rPr lang="en-US" sz="1400" dirty="0"/>
              <a:t>Use validation or test data to check:</a:t>
            </a:r>
          </a:p>
          <a:p>
            <a:pPr marL="171450" indent="-171450" algn="l">
              <a:buFont typeface="Wingdings" panose="05000000000000000000" pitchFamily="2" charset="2"/>
              <a:buChar char="§"/>
            </a:pPr>
            <a:r>
              <a:rPr lang="en-US" sz="1400" dirty="0" smtClean="0"/>
              <a:t>Accuracy</a:t>
            </a:r>
            <a:endParaRPr lang="en-US" sz="1400" dirty="0"/>
          </a:p>
          <a:p>
            <a:pPr marL="171450" indent="-171450" algn="l">
              <a:buFont typeface="Wingdings" panose="05000000000000000000" pitchFamily="2" charset="2"/>
              <a:buChar char="§"/>
            </a:pPr>
            <a:r>
              <a:rPr lang="en-US" sz="1400" dirty="0" smtClean="0"/>
              <a:t>Precision </a:t>
            </a:r>
            <a:r>
              <a:rPr lang="en-US" sz="1400" dirty="0"/>
              <a:t>/ Recall</a:t>
            </a:r>
          </a:p>
          <a:p>
            <a:pPr marL="171450" indent="-171450" algn="l">
              <a:buFont typeface="Wingdings" panose="05000000000000000000" pitchFamily="2" charset="2"/>
              <a:buChar char="§"/>
            </a:pPr>
            <a:r>
              <a:rPr lang="en-US" sz="1400" dirty="0" smtClean="0"/>
              <a:t>Loss </a:t>
            </a:r>
            <a:r>
              <a:rPr lang="en-US" sz="1400" dirty="0"/>
              <a:t>curve</a:t>
            </a:r>
          </a:p>
          <a:p>
            <a:pPr algn="l"/>
            <a:r>
              <a:rPr lang="en-US" sz="1400" dirty="0" smtClean="0"/>
              <a:t>If </a:t>
            </a:r>
            <a:r>
              <a:rPr lang="en-US" sz="1400" dirty="0"/>
              <a:t>it's </a:t>
            </a:r>
            <a:r>
              <a:rPr lang="en-US" sz="1400" dirty="0" err="1"/>
              <a:t>underfitting</a:t>
            </a:r>
            <a:r>
              <a:rPr lang="en-US" sz="1400" dirty="0"/>
              <a:t> or </a:t>
            </a:r>
            <a:r>
              <a:rPr lang="en-US" sz="1400" dirty="0" err="1"/>
              <a:t>overfitting</a:t>
            </a:r>
            <a:r>
              <a:rPr lang="en-US" sz="1400" dirty="0"/>
              <a:t>, go back and:</a:t>
            </a:r>
          </a:p>
          <a:p>
            <a:pPr marL="171450" indent="-171450" algn="l">
              <a:buFont typeface="Wingdings" panose="05000000000000000000" pitchFamily="2" charset="2"/>
              <a:buChar char="§"/>
            </a:pPr>
            <a:r>
              <a:rPr lang="en-US" sz="1400" dirty="0" smtClean="0"/>
              <a:t>Change </a:t>
            </a:r>
            <a:r>
              <a:rPr lang="en-US" sz="1400" dirty="0"/>
              <a:t>model structure</a:t>
            </a:r>
          </a:p>
          <a:p>
            <a:pPr marL="171450" indent="-171450" algn="l">
              <a:buFont typeface="Wingdings" panose="05000000000000000000" pitchFamily="2" charset="2"/>
              <a:buChar char="§"/>
            </a:pPr>
            <a:r>
              <a:rPr lang="en-US" sz="1400" dirty="0" smtClean="0"/>
              <a:t>Add </a:t>
            </a:r>
            <a:r>
              <a:rPr lang="en-US" sz="1400" dirty="0"/>
              <a:t>regularization (Dropout, L2)</a:t>
            </a:r>
          </a:p>
          <a:p>
            <a:pPr marL="171450" indent="-171450" algn="l">
              <a:buFont typeface="Wingdings" panose="05000000000000000000" pitchFamily="2" charset="2"/>
              <a:buChar char="§"/>
            </a:pPr>
            <a:r>
              <a:rPr lang="en-US" sz="1400" dirty="0" smtClean="0"/>
              <a:t>Collect </a:t>
            </a:r>
            <a:r>
              <a:rPr lang="en-US" sz="1400" dirty="0"/>
              <a:t>more data</a:t>
            </a:r>
            <a:endParaRPr lang="en-IN" sz="1400" dirty="0"/>
          </a:p>
        </p:txBody>
      </p:sp>
    </p:spTree>
    <p:extLst>
      <p:ext uri="{BB962C8B-B14F-4D97-AF65-F5344CB8AC3E}">
        <p14:creationId xmlns:p14="http://schemas.microsoft.com/office/powerpoint/2010/main" val="364427273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0011" y="182880"/>
            <a:ext cx="10770920" cy="6206045"/>
          </a:xfrm>
        </p:spPr>
        <p:txBody>
          <a:bodyPr>
            <a:noAutofit/>
          </a:bodyPr>
          <a:lstStyle/>
          <a:p>
            <a:pPr algn="l"/>
            <a:r>
              <a:rPr lang="en-US" sz="1400" b="1" dirty="0"/>
              <a:t>8. Tune </a:t>
            </a:r>
            <a:r>
              <a:rPr lang="en-US" sz="1400" b="1" dirty="0" err="1"/>
              <a:t>Hyperparameters</a:t>
            </a:r>
            <a:endParaRPr lang="en-US" sz="1400" b="1" dirty="0"/>
          </a:p>
          <a:p>
            <a:pPr algn="l"/>
            <a:r>
              <a:rPr lang="en-US" sz="1400" b="1" dirty="0"/>
              <a:t>Adjust things like:</a:t>
            </a:r>
          </a:p>
          <a:p>
            <a:pPr marL="171450" indent="-171450" algn="l">
              <a:lnSpc>
                <a:spcPct val="100000"/>
              </a:lnSpc>
              <a:buFont typeface="Wingdings" panose="05000000000000000000" pitchFamily="2" charset="2"/>
              <a:buChar char="§"/>
            </a:pPr>
            <a:r>
              <a:rPr lang="en-US" sz="1400" dirty="0" smtClean="0"/>
              <a:t>Learning </a:t>
            </a:r>
            <a:r>
              <a:rPr lang="en-US" sz="1400" dirty="0"/>
              <a:t>rate</a:t>
            </a:r>
          </a:p>
          <a:p>
            <a:pPr marL="171450" indent="-171450" algn="l">
              <a:lnSpc>
                <a:spcPct val="100000"/>
              </a:lnSpc>
              <a:buFont typeface="Wingdings" panose="05000000000000000000" pitchFamily="2" charset="2"/>
              <a:buChar char="§"/>
            </a:pPr>
            <a:r>
              <a:rPr lang="en-US" sz="1400" dirty="0" smtClean="0"/>
              <a:t>Number </a:t>
            </a:r>
            <a:r>
              <a:rPr lang="en-US" sz="1400" dirty="0"/>
              <a:t>of layers</a:t>
            </a:r>
          </a:p>
          <a:p>
            <a:pPr marL="171450" indent="-171450" algn="l">
              <a:lnSpc>
                <a:spcPct val="100000"/>
              </a:lnSpc>
              <a:buFont typeface="Wingdings" panose="05000000000000000000" pitchFamily="2" charset="2"/>
              <a:buChar char="§"/>
            </a:pPr>
            <a:r>
              <a:rPr lang="en-US" sz="1400" dirty="0" smtClean="0"/>
              <a:t>Batch </a:t>
            </a:r>
            <a:r>
              <a:rPr lang="en-US" sz="1400" dirty="0"/>
              <a:t>size</a:t>
            </a:r>
          </a:p>
          <a:p>
            <a:pPr marL="171450" indent="-171450" algn="l">
              <a:buFont typeface="Wingdings" panose="05000000000000000000" pitchFamily="2" charset="2"/>
              <a:buChar char="§"/>
            </a:pPr>
            <a:r>
              <a:rPr lang="en-US" sz="1400" dirty="0" smtClean="0"/>
              <a:t>Activation </a:t>
            </a:r>
            <a:r>
              <a:rPr lang="en-US" sz="1400" dirty="0"/>
              <a:t>functions</a:t>
            </a:r>
          </a:p>
          <a:p>
            <a:pPr algn="l"/>
            <a:r>
              <a:rPr lang="en-US" sz="1400" dirty="0" smtClean="0"/>
              <a:t>Use </a:t>
            </a:r>
            <a:r>
              <a:rPr lang="en-US" sz="1400" dirty="0"/>
              <a:t>grid search or random search for tuning</a:t>
            </a:r>
            <a:r>
              <a:rPr lang="en-US" sz="1400" dirty="0" smtClean="0"/>
              <a:t>.</a:t>
            </a:r>
          </a:p>
          <a:p>
            <a:pPr algn="l"/>
            <a:r>
              <a:rPr lang="en-US" sz="1400" b="1" dirty="0" smtClean="0"/>
              <a:t>9</a:t>
            </a:r>
            <a:r>
              <a:rPr lang="en-US" sz="1400" b="1" dirty="0"/>
              <a:t>. Deploy the Model</a:t>
            </a:r>
          </a:p>
          <a:p>
            <a:pPr algn="l"/>
            <a:r>
              <a:rPr lang="en-US" sz="1400" dirty="0"/>
              <a:t>Once the model performs well, save it and deploy it to production:</a:t>
            </a:r>
          </a:p>
          <a:p>
            <a:pPr marL="171450" indent="-171450" algn="l">
              <a:buFont typeface="Wingdings" panose="05000000000000000000" pitchFamily="2" charset="2"/>
              <a:buChar char="§"/>
            </a:pPr>
            <a:r>
              <a:rPr lang="en-US" sz="1400" dirty="0" smtClean="0"/>
              <a:t>Convert </a:t>
            </a:r>
            <a:r>
              <a:rPr lang="en-US" sz="1400" dirty="0"/>
              <a:t>to a format (like .h5 or .</a:t>
            </a:r>
            <a:r>
              <a:rPr lang="en-US" sz="1400" dirty="0" err="1"/>
              <a:t>pt</a:t>
            </a:r>
            <a:r>
              <a:rPr lang="en-US" sz="1400" dirty="0"/>
              <a:t>)</a:t>
            </a:r>
          </a:p>
          <a:p>
            <a:pPr marL="171450" indent="-171450" algn="l">
              <a:buFont typeface="Wingdings" panose="05000000000000000000" pitchFamily="2" charset="2"/>
              <a:buChar char="§"/>
            </a:pPr>
            <a:r>
              <a:rPr lang="en-US" sz="1400" dirty="0" smtClean="0"/>
              <a:t>Integrate </a:t>
            </a:r>
            <a:r>
              <a:rPr lang="en-US" sz="1400" dirty="0"/>
              <a:t>with a web/mobile app</a:t>
            </a:r>
          </a:p>
          <a:p>
            <a:pPr marL="171450" indent="-171450" algn="l">
              <a:buFont typeface="Wingdings" panose="05000000000000000000" pitchFamily="2" charset="2"/>
              <a:buChar char="§"/>
            </a:pPr>
            <a:r>
              <a:rPr lang="en-US" sz="1400" dirty="0" smtClean="0"/>
              <a:t>Monitor </a:t>
            </a:r>
            <a:r>
              <a:rPr lang="en-US" sz="1400" dirty="0"/>
              <a:t>performance in real-world </a:t>
            </a:r>
            <a:r>
              <a:rPr lang="en-US" sz="1400" dirty="0" smtClean="0"/>
              <a:t>usage</a:t>
            </a:r>
          </a:p>
          <a:p>
            <a:pPr algn="l"/>
            <a:endParaRPr lang="en-US" sz="1200" dirty="0"/>
          </a:p>
          <a:p>
            <a:pPr algn="l"/>
            <a:endParaRPr lang="en-IN" sz="1200" dirty="0"/>
          </a:p>
        </p:txBody>
      </p:sp>
      <p:graphicFrame>
        <p:nvGraphicFramePr>
          <p:cNvPr id="2" name="Table 1"/>
          <p:cNvGraphicFramePr>
            <a:graphicFrameLocks noGrp="1"/>
          </p:cNvGraphicFramePr>
          <p:nvPr>
            <p:extLst>
              <p:ext uri="{D42A27DB-BD31-4B8C-83A1-F6EECF244321}">
                <p14:modId xmlns:p14="http://schemas.microsoft.com/office/powerpoint/2010/main" val="2383251953"/>
              </p:ext>
            </p:extLst>
          </p:nvPr>
        </p:nvGraphicFramePr>
        <p:xfrm>
          <a:off x="635331" y="4306093"/>
          <a:ext cx="6627618" cy="1981495"/>
        </p:xfrm>
        <a:graphic>
          <a:graphicData uri="http://schemas.openxmlformats.org/drawingml/2006/table">
            <a:tbl>
              <a:tblPr/>
              <a:tblGrid>
                <a:gridCol w="3313809">
                  <a:extLst>
                    <a:ext uri="{9D8B030D-6E8A-4147-A177-3AD203B41FA5}">
                      <a16:colId xmlns:a16="http://schemas.microsoft.com/office/drawing/2014/main" val="20000"/>
                    </a:ext>
                  </a:extLst>
                </a:gridCol>
                <a:gridCol w="3313809">
                  <a:extLst>
                    <a:ext uri="{9D8B030D-6E8A-4147-A177-3AD203B41FA5}">
                      <a16:colId xmlns:a16="http://schemas.microsoft.com/office/drawing/2014/main" val="20001"/>
                    </a:ext>
                  </a:extLst>
                </a:gridCol>
              </a:tblGrid>
              <a:tr h="396299">
                <a:tc>
                  <a:txBody>
                    <a:bodyPr/>
                    <a:lstStyle/>
                    <a:p>
                      <a:r>
                        <a:rPr lang="en-IN" sz="1400" b="1" dirty="0"/>
                        <a:t>Task</a:t>
                      </a:r>
                    </a:p>
                  </a:txBody>
                  <a:tcPr anchor="ctr">
                    <a:lnL>
                      <a:noFill/>
                    </a:lnL>
                    <a:lnR>
                      <a:noFill/>
                    </a:lnR>
                    <a:lnT>
                      <a:noFill/>
                    </a:lnT>
                    <a:lnB>
                      <a:noFill/>
                    </a:lnB>
                  </a:tcPr>
                </a:tc>
                <a:tc>
                  <a:txBody>
                    <a:bodyPr/>
                    <a:lstStyle/>
                    <a:p>
                      <a:r>
                        <a:rPr lang="en-IN" sz="1400" b="1"/>
                        <a:t>Tools</a:t>
                      </a:r>
                    </a:p>
                  </a:txBody>
                  <a:tcPr anchor="ctr">
                    <a:lnL>
                      <a:noFill/>
                    </a:lnL>
                    <a:lnR>
                      <a:noFill/>
                    </a:lnR>
                    <a:lnT>
                      <a:noFill/>
                    </a:lnT>
                    <a:lnB>
                      <a:noFill/>
                    </a:lnB>
                  </a:tcPr>
                </a:tc>
                <a:extLst>
                  <a:ext uri="{0D108BD9-81ED-4DB2-BD59-A6C34878D82A}">
                    <a16:rowId xmlns:a16="http://schemas.microsoft.com/office/drawing/2014/main" val="10000"/>
                  </a:ext>
                </a:extLst>
              </a:tr>
              <a:tr h="396299">
                <a:tc>
                  <a:txBody>
                    <a:bodyPr/>
                    <a:lstStyle/>
                    <a:p>
                      <a:r>
                        <a:rPr lang="en-IN" sz="1400" b="1" dirty="0"/>
                        <a:t>Building model</a:t>
                      </a:r>
                    </a:p>
                  </a:txBody>
                  <a:tcPr anchor="ctr">
                    <a:lnL>
                      <a:noFill/>
                    </a:lnL>
                    <a:lnR>
                      <a:noFill/>
                    </a:lnR>
                    <a:lnT>
                      <a:noFill/>
                    </a:lnT>
                    <a:lnB>
                      <a:noFill/>
                    </a:lnB>
                  </a:tcPr>
                </a:tc>
                <a:tc>
                  <a:txBody>
                    <a:bodyPr/>
                    <a:lstStyle/>
                    <a:p>
                      <a:r>
                        <a:rPr lang="en-IN" sz="1400" b="1"/>
                        <a:t>TensorFlow, PyTorch, Keras</a:t>
                      </a:r>
                    </a:p>
                  </a:txBody>
                  <a:tcPr anchor="ctr">
                    <a:lnL>
                      <a:noFill/>
                    </a:lnL>
                    <a:lnR>
                      <a:noFill/>
                    </a:lnR>
                    <a:lnT>
                      <a:noFill/>
                    </a:lnT>
                    <a:lnB>
                      <a:noFill/>
                    </a:lnB>
                  </a:tcPr>
                </a:tc>
                <a:extLst>
                  <a:ext uri="{0D108BD9-81ED-4DB2-BD59-A6C34878D82A}">
                    <a16:rowId xmlns:a16="http://schemas.microsoft.com/office/drawing/2014/main" val="10001"/>
                  </a:ext>
                </a:extLst>
              </a:tr>
              <a:tr h="396299">
                <a:tc>
                  <a:txBody>
                    <a:bodyPr/>
                    <a:lstStyle/>
                    <a:p>
                      <a:r>
                        <a:rPr lang="en-IN" sz="1400" b="1" dirty="0"/>
                        <a:t>Data handling</a:t>
                      </a:r>
                    </a:p>
                  </a:txBody>
                  <a:tcPr anchor="ctr">
                    <a:lnL>
                      <a:noFill/>
                    </a:lnL>
                    <a:lnR>
                      <a:noFill/>
                    </a:lnR>
                    <a:lnT>
                      <a:noFill/>
                    </a:lnT>
                    <a:lnB>
                      <a:noFill/>
                    </a:lnB>
                  </a:tcPr>
                </a:tc>
                <a:tc>
                  <a:txBody>
                    <a:bodyPr/>
                    <a:lstStyle/>
                    <a:p>
                      <a:r>
                        <a:rPr lang="en-IN" sz="1400" b="1"/>
                        <a:t>Pandas, NumPy</a:t>
                      </a:r>
                    </a:p>
                  </a:txBody>
                  <a:tcPr anchor="ctr">
                    <a:lnL>
                      <a:noFill/>
                    </a:lnL>
                    <a:lnR>
                      <a:noFill/>
                    </a:lnR>
                    <a:lnT>
                      <a:noFill/>
                    </a:lnT>
                    <a:lnB>
                      <a:noFill/>
                    </a:lnB>
                  </a:tcPr>
                </a:tc>
                <a:extLst>
                  <a:ext uri="{0D108BD9-81ED-4DB2-BD59-A6C34878D82A}">
                    <a16:rowId xmlns:a16="http://schemas.microsoft.com/office/drawing/2014/main" val="10002"/>
                  </a:ext>
                </a:extLst>
              </a:tr>
              <a:tr h="396299">
                <a:tc>
                  <a:txBody>
                    <a:bodyPr/>
                    <a:lstStyle/>
                    <a:p>
                      <a:r>
                        <a:rPr lang="en-IN" sz="1400" b="1"/>
                        <a:t>Visualization</a:t>
                      </a:r>
                    </a:p>
                  </a:txBody>
                  <a:tcPr anchor="ctr">
                    <a:lnL>
                      <a:noFill/>
                    </a:lnL>
                    <a:lnR>
                      <a:noFill/>
                    </a:lnR>
                    <a:lnT>
                      <a:noFill/>
                    </a:lnT>
                    <a:lnB>
                      <a:noFill/>
                    </a:lnB>
                  </a:tcPr>
                </a:tc>
                <a:tc>
                  <a:txBody>
                    <a:bodyPr/>
                    <a:lstStyle/>
                    <a:p>
                      <a:r>
                        <a:rPr lang="en-IN" sz="1400" b="1"/>
                        <a:t>Matplotlib, TensorBoard</a:t>
                      </a:r>
                    </a:p>
                  </a:txBody>
                  <a:tcPr anchor="ctr">
                    <a:lnL>
                      <a:noFill/>
                    </a:lnL>
                    <a:lnR>
                      <a:noFill/>
                    </a:lnR>
                    <a:lnT>
                      <a:noFill/>
                    </a:lnT>
                    <a:lnB>
                      <a:noFill/>
                    </a:lnB>
                  </a:tcPr>
                </a:tc>
                <a:extLst>
                  <a:ext uri="{0D108BD9-81ED-4DB2-BD59-A6C34878D82A}">
                    <a16:rowId xmlns:a16="http://schemas.microsoft.com/office/drawing/2014/main" val="10003"/>
                  </a:ext>
                </a:extLst>
              </a:tr>
              <a:tr h="396299">
                <a:tc>
                  <a:txBody>
                    <a:bodyPr/>
                    <a:lstStyle/>
                    <a:p>
                      <a:r>
                        <a:rPr lang="en-IN" sz="1400" b="1"/>
                        <a:t>Deployment</a:t>
                      </a:r>
                    </a:p>
                  </a:txBody>
                  <a:tcPr anchor="ctr">
                    <a:lnL>
                      <a:noFill/>
                    </a:lnL>
                    <a:lnR>
                      <a:noFill/>
                    </a:lnR>
                    <a:lnT>
                      <a:noFill/>
                    </a:lnT>
                    <a:lnB>
                      <a:noFill/>
                    </a:lnB>
                  </a:tcPr>
                </a:tc>
                <a:tc>
                  <a:txBody>
                    <a:bodyPr/>
                    <a:lstStyle/>
                    <a:p>
                      <a:r>
                        <a:rPr lang="en-IN" sz="1400" b="1" dirty="0"/>
                        <a:t>Flask, </a:t>
                      </a:r>
                      <a:r>
                        <a:rPr lang="en-IN" sz="1400" b="1" dirty="0" err="1"/>
                        <a:t>FastAPI</a:t>
                      </a:r>
                      <a:r>
                        <a:rPr lang="en-IN" sz="1400" b="1" dirty="0"/>
                        <a:t>, ONNX</a:t>
                      </a:r>
                    </a:p>
                  </a:txBody>
                  <a:tcPr anchor="ctr">
                    <a:lnL>
                      <a:noFill/>
                    </a:lnL>
                    <a:lnR>
                      <a:noFill/>
                    </a:lnR>
                    <a:lnT>
                      <a:noFill/>
                    </a:lnT>
                    <a:lnB>
                      <a:noFill/>
                    </a:lnB>
                  </a:tcPr>
                </a:tc>
                <a:extLst>
                  <a:ext uri="{0D108BD9-81ED-4DB2-BD59-A6C34878D82A}">
                    <a16:rowId xmlns:a16="http://schemas.microsoft.com/office/drawing/2014/main" val="10004"/>
                  </a:ext>
                </a:extLst>
              </a:tr>
            </a:tbl>
          </a:graphicData>
        </a:graphic>
      </p:graphicFrame>
      <p:sp>
        <p:nvSpPr>
          <p:cNvPr id="4" name="Rectangle 1"/>
          <p:cNvSpPr>
            <a:spLocks noChangeArrowheads="1"/>
          </p:cNvSpPr>
          <p:nvPr/>
        </p:nvSpPr>
        <p:spPr bwMode="auto">
          <a:xfrm>
            <a:off x="556954" y="397596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900" b="1" i="0" u="none" strike="noStrike" cap="none" normalizeH="0" baseline="0" dirty="0" smtClean="0">
                <a:ln>
                  <a:noFill/>
                </a:ln>
                <a:solidFill>
                  <a:schemeClr val="tx1"/>
                </a:solidFill>
                <a:effectLst/>
                <a:latin typeface="Arial" panose="020B0604020202020204" pitchFamily="34" charset="0"/>
              </a:rPr>
              <a:t>Example Tools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6705843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62446" y="418012"/>
            <a:ext cx="10215154" cy="6063198"/>
          </a:xfrm>
          <a:prstGeom prst="rect">
            <a:avLst/>
          </a:prstGeom>
          <a:solidFill>
            <a:schemeClr val="accent2"/>
          </a:solidFill>
        </p:spPr>
        <p:txBody>
          <a:bodyPr wrap="square" rtlCol="0">
            <a:spAutoFit/>
          </a:bodyPr>
          <a:lstStyle/>
          <a:p>
            <a:endParaRPr lang="en-IN" smtClean="0"/>
          </a:p>
          <a:p>
            <a:endParaRPr lang="en-IN"/>
          </a:p>
          <a:p>
            <a:endParaRPr lang="en-IN" smtClean="0"/>
          </a:p>
          <a:p>
            <a:endParaRPr lang="en-IN"/>
          </a:p>
          <a:p>
            <a:endParaRPr lang="en-IN" smtClean="0"/>
          </a:p>
          <a:p>
            <a:endParaRPr lang="en-IN"/>
          </a:p>
          <a:p>
            <a:endParaRPr lang="en-IN" smtClean="0"/>
          </a:p>
          <a:p>
            <a:endParaRPr lang="en-IN"/>
          </a:p>
          <a:p>
            <a:endParaRPr lang="en-IN" smtClean="0"/>
          </a:p>
          <a:p>
            <a:endParaRPr lang="en-IN"/>
          </a:p>
          <a:p>
            <a:endParaRPr lang="en-IN"/>
          </a:p>
          <a:p>
            <a:r>
              <a:rPr lang="en-IN" b="1" smtClean="0">
                <a:solidFill>
                  <a:srgbClr val="FF0000"/>
                </a:solidFill>
              </a:rPr>
              <a:t>                                         </a:t>
            </a:r>
            <a:r>
              <a:rPr lang="en-US" sz="2800" b="1" smtClean="0"/>
              <a:t>Challenges </a:t>
            </a:r>
            <a:r>
              <a:rPr lang="en-US" sz="2800" b="1"/>
              <a:t>and Motivation to Deep Learning</a:t>
            </a:r>
          </a:p>
          <a:p>
            <a:endParaRPr lang="en-IN"/>
          </a:p>
          <a:p>
            <a:endParaRPr lang="en-IN" smtClean="0"/>
          </a:p>
          <a:p>
            <a:endParaRPr lang="en-IN"/>
          </a:p>
          <a:p>
            <a:endParaRPr lang="en-IN" smtClean="0"/>
          </a:p>
          <a:p>
            <a:endParaRPr lang="en-IN" smtClean="0"/>
          </a:p>
          <a:p>
            <a:endParaRPr lang="en-IN"/>
          </a:p>
          <a:p>
            <a:endParaRPr lang="en-IN" smtClean="0"/>
          </a:p>
          <a:p>
            <a:endParaRPr lang="en-IN"/>
          </a:p>
          <a:p>
            <a:endParaRPr lang="en-IN"/>
          </a:p>
        </p:txBody>
      </p:sp>
    </p:spTree>
    <p:extLst>
      <p:ext uri="{BB962C8B-B14F-4D97-AF65-F5344CB8AC3E}">
        <p14:creationId xmlns:p14="http://schemas.microsoft.com/office/powerpoint/2010/main" val="342699320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0011" y="182880"/>
            <a:ext cx="10770920" cy="6206045"/>
          </a:xfrm>
        </p:spPr>
        <p:txBody>
          <a:bodyPr>
            <a:noAutofit/>
          </a:bodyPr>
          <a:lstStyle/>
          <a:p>
            <a:pPr algn="l"/>
            <a:r>
              <a:rPr lang="en-US" sz="1600" b="1" dirty="0">
                <a:solidFill>
                  <a:srgbClr val="FF0000"/>
                </a:solidFill>
              </a:rPr>
              <a:t>Challenges and </a:t>
            </a:r>
            <a:r>
              <a:rPr lang="en-US" sz="1600" b="1" dirty="0" smtClean="0">
                <a:solidFill>
                  <a:srgbClr val="FF0000"/>
                </a:solidFill>
              </a:rPr>
              <a:t>Motivation </a:t>
            </a:r>
            <a:r>
              <a:rPr lang="en-US" sz="1600" b="1" dirty="0">
                <a:solidFill>
                  <a:srgbClr val="FF0000"/>
                </a:solidFill>
              </a:rPr>
              <a:t>to Deep </a:t>
            </a:r>
            <a:r>
              <a:rPr lang="en-US" sz="1600" b="1" dirty="0" smtClean="0">
                <a:solidFill>
                  <a:srgbClr val="FF0000"/>
                </a:solidFill>
              </a:rPr>
              <a:t>Learning</a:t>
            </a:r>
          </a:p>
          <a:p>
            <a:pPr algn="l"/>
            <a:r>
              <a:rPr lang="en-US" sz="1600" b="1" dirty="0"/>
              <a:t>Motivation for Deep Learning</a:t>
            </a:r>
          </a:p>
          <a:p>
            <a:pPr algn="l"/>
            <a:r>
              <a:rPr lang="en-US" sz="1600" dirty="0"/>
              <a:t>Traditional Machine Learning (ML) methods—like decision trees or SVMs—work well for small datasets and low-dimensional features. But they </a:t>
            </a:r>
            <a:r>
              <a:rPr lang="en-US" sz="1600" b="1" dirty="0"/>
              <a:t>struggle</a:t>
            </a:r>
            <a:r>
              <a:rPr lang="en-US" sz="1600" dirty="0"/>
              <a:t> with:</a:t>
            </a:r>
          </a:p>
          <a:p>
            <a:pPr marL="285750" indent="-285750" algn="l">
              <a:buFont typeface="Wingdings" panose="05000000000000000000" pitchFamily="2" charset="2"/>
              <a:buChar char="§"/>
            </a:pPr>
            <a:r>
              <a:rPr lang="en-US" sz="1600" dirty="0"/>
              <a:t>High-dimensional inputs (e.g., images, audio)</a:t>
            </a:r>
          </a:p>
          <a:p>
            <a:pPr marL="285750" indent="-285750" algn="l">
              <a:buFont typeface="Wingdings" panose="05000000000000000000" pitchFamily="2" charset="2"/>
              <a:buChar char="§"/>
            </a:pPr>
            <a:r>
              <a:rPr lang="en-US" sz="1600" dirty="0"/>
              <a:t>Complex patterns</a:t>
            </a:r>
          </a:p>
          <a:p>
            <a:pPr marL="285750" indent="-285750" algn="l">
              <a:buFont typeface="Wingdings" panose="05000000000000000000" pitchFamily="2" charset="2"/>
              <a:buChar char="§"/>
            </a:pPr>
            <a:r>
              <a:rPr lang="en-US" sz="1600" dirty="0"/>
              <a:t>Unstructured data (text, video, speech)</a:t>
            </a:r>
          </a:p>
          <a:p>
            <a:pPr algn="l"/>
            <a:r>
              <a:rPr lang="en-US" sz="1600" b="1" dirty="0"/>
              <a:t>Deep Learning (DL)</a:t>
            </a:r>
            <a:r>
              <a:rPr lang="en-US" sz="1600" dirty="0"/>
              <a:t> is inspired by the </a:t>
            </a:r>
            <a:r>
              <a:rPr lang="en-US" sz="1600" b="1" dirty="0"/>
              <a:t>human brain</a:t>
            </a:r>
            <a:r>
              <a:rPr lang="en-US" sz="1600" dirty="0"/>
              <a:t> and uses </a:t>
            </a:r>
            <a:r>
              <a:rPr lang="en-US" sz="1600" b="1" dirty="0"/>
              <a:t>neural networks</a:t>
            </a:r>
            <a:r>
              <a:rPr lang="en-US" sz="1600" dirty="0"/>
              <a:t> with many layers to </a:t>
            </a:r>
            <a:r>
              <a:rPr lang="en-US" sz="1600" b="1" dirty="0"/>
              <a:t>automatically learn features</a:t>
            </a:r>
            <a:r>
              <a:rPr lang="en-US" sz="1600" dirty="0"/>
              <a:t> from raw data.</a:t>
            </a:r>
          </a:p>
          <a:p>
            <a:pPr algn="l"/>
            <a:endParaRPr lang="en-IN" sz="1600" b="1" dirty="0">
              <a:solidFill>
                <a:srgbClr val="FF0000"/>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1737534758"/>
              </p:ext>
            </p:extLst>
          </p:nvPr>
        </p:nvGraphicFramePr>
        <p:xfrm>
          <a:off x="751114" y="3265421"/>
          <a:ext cx="8645434" cy="2770254"/>
        </p:xfrm>
        <a:graphic>
          <a:graphicData uri="http://schemas.openxmlformats.org/drawingml/2006/table">
            <a:tbl>
              <a:tblPr/>
              <a:tblGrid>
                <a:gridCol w="4322717">
                  <a:extLst>
                    <a:ext uri="{9D8B030D-6E8A-4147-A177-3AD203B41FA5}">
                      <a16:colId xmlns:a16="http://schemas.microsoft.com/office/drawing/2014/main" val="20000"/>
                    </a:ext>
                  </a:extLst>
                </a:gridCol>
                <a:gridCol w="4322717">
                  <a:extLst>
                    <a:ext uri="{9D8B030D-6E8A-4147-A177-3AD203B41FA5}">
                      <a16:colId xmlns:a16="http://schemas.microsoft.com/office/drawing/2014/main" val="20001"/>
                    </a:ext>
                  </a:extLst>
                </a:gridCol>
              </a:tblGrid>
              <a:tr h="344298">
                <a:tc>
                  <a:txBody>
                    <a:bodyPr/>
                    <a:lstStyle/>
                    <a:p>
                      <a:r>
                        <a:rPr lang="en-IN" sz="1600" b="1" dirty="0"/>
                        <a:t>Motivation</a:t>
                      </a:r>
                    </a:p>
                  </a:txBody>
                  <a:tcPr anchor="ctr">
                    <a:lnL>
                      <a:noFill/>
                    </a:lnL>
                    <a:lnR>
                      <a:noFill/>
                    </a:lnR>
                    <a:lnT>
                      <a:noFill/>
                    </a:lnT>
                    <a:lnB>
                      <a:noFill/>
                    </a:lnB>
                  </a:tcPr>
                </a:tc>
                <a:tc>
                  <a:txBody>
                    <a:bodyPr/>
                    <a:lstStyle/>
                    <a:p>
                      <a:r>
                        <a:rPr lang="en-IN" sz="1600" b="1" dirty="0"/>
                        <a:t>Explanation</a:t>
                      </a:r>
                    </a:p>
                  </a:txBody>
                  <a:tcPr anchor="ctr">
                    <a:lnL>
                      <a:noFill/>
                    </a:lnL>
                    <a:lnR>
                      <a:noFill/>
                    </a:lnR>
                    <a:lnT>
                      <a:noFill/>
                    </a:lnT>
                    <a:lnB>
                      <a:noFill/>
                    </a:lnB>
                  </a:tcPr>
                </a:tc>
                <a:extLst>
                  <a:ext uri="{0D108BD9-81ED-4DB2-BD59-A6C34878D82A}">
                    <a16:rowId xmlns:a16="http://schemas.microsoft.com/office/drawing/2014/main" val="10000"/>
                  </a:ext>
                </a:extLst>
              </a:tr>
              <a:tr h="344298">
                <a:tc>
                  <a:txBody>
                    <a:bodyPr/>
                    <a:lstStyle/>
                    <a:p>
                      <a:r>
                        <a:rPr lang="en-IN" sz="1600" b="1" dirty="0"/>
                        <a:t>Automatic Feature Learning</a:t>
                      </a:r>
                    </a:p>
                  </a:txBody>
                  <a:tcPr anchor="ctr">
                    <a:lnL>
                      <a:noFill/>
                    </a:lnL>
                    <a:lnR>
                      <a:noFill/>
                    </a:lnR>
                    <a:lnT>
                      <a:noFill/>
                    </a:lnT>
                    <a:lnB>
                      <a:noFill/>
                    </a:lnB>
                  </a:tcPr>
                </a:tc>
                <a:tc>
                  <a:txBody>
                    <a:bodyPr/>
                    <a:lstStyle/>
                    <a:p>
                      <a:r>
                        <a:rPr lang="en-US" sz="1600" b="1"/>
                        <a:t>No manual feature engineering needed (unlike ML)</a:t>
                      </a:r>
                    </a:p>
                  </a:txBody>
                  <a:tcPr anchor="ctr">
                    <a:lnL>
                      <a:noFill/>
                    </a:lnL>
                    <a:lnR>
                      <a:noFill/>
                    </a:lnR>
                    <a:lnT>
                      <a:noFill/>
                    </a:lnT>
                    <a:lnB>
                      <a:noFill/>
                    </a:lnB>
                  </a:tcPr>
                </a:tc>
                <a:extLst>
                  <a:ext uri="{0D108BD9-81ED-4DB2-BD59-A6C34878D82A}">
                    <a16:rowId xmlns:a16="http://schemas.microsoft.com/office/drawing/2014/main" val="10001"/>
                  </a:ext>
                </a:extLst>
              </a:tr>
              <a:tr h="569940">
                <a:tc>
                  <a:txBody>
                    <a:bodyPr/>
                    <a:lstStyle/>
                    <a:p>
                      <a:r>
                        <a:rPr lang="en-IN" sz="1600" b="1" dirty="0"/>
                        <a:t>Scalable with Data</a:t>
                      </a:r>
                    </a:p>
                  </a:txBody>
                  <a:tcPr anchor="ctr">
                    <a:lnL>
                      <a:noFill/>
                    </a:lnL>
                    <a:lnR>
                      <a:noFill/>
                    </a:lnR>
                    <a:lnT>
                      <a:noFill/>
                    </a:lnT>
                    <a:lnB>
                      <a:noFill/>
                    </a:lnB>
                  </a:tcPr>
                </a:tc>
                <a:tc>
                  <a:txBody>
                    <a:bodyPr/>
                    <a:lstStyle/>
                    <a:p>
                      <a:r>
                        <a:rPr lang="en-US" sz="1600" b="1"/>
                        <a:t>More data → better performance (DL thrives on big data)</a:t>
                      </a:r>
                    </a:p>
                  </a:txBody>
                  <a:tcPr anchor="ctr">
                    <a:lnL>
                      <a:noFill/>
                    </a:lnL>
                    <a:lnR>
                      <a:noFill/>
                    </a:lnR>
                    <a:lnT>
                      <a:noFill/>
                    </a:lnT>
                    <a:lnB>
                      <a:noFill/>
                    </a:lnB>
                  </a:tcPr>
                </a:tc>
                <a:extLst>
                  <a:ext uri="{0D108BD9-81ED-4DB2-BD59-A6C34878D82A}">
                    <a16:rowId xmlns:a16="http://schemas.microsoft.com/office/drawing/2014/main" val="10002"/>
                  </a:ext>
                </a:extLst>
              </a:tr>
              <a:tr h="344298">
                <a:tc>
                  <a:txBody>
                    <a:bodyPr/>
                    <a:lstStyle/>
                    <a:p>
                      <a:r>
                        <a:rPr lang="en-IN" sz="1600" b="1"/>
                        <a:t>Works on Unstructured Data</a:t>
                      </a:r>
                    </a:p>
                  </a:txBody>
                  <a:tcPr anchor="ctr">
                    <a:lnL>
                      <a:noFill/>
                    </a:lnL>
                    <a:lnR>
                      <a:noFill/>
                    </a:lnR>
                    <a:lnT>
                      <a:noFill/>
                    </a:lnT>
                    <a:lnB>
                      <a:noFill/>
                    </a:lnB>
                  </a:tcPr>
                </a:tc>
                <a:tc>
                  <a:txBody>
                    <a:bodyPr/>
                    <a:lstStyle/>
                    <a:p>
                      <a:r>
                        <a:rPr lang="en-US" sz="1600" b="1"/>
                        <a:t>Handles images, text, audio natively</a:t>
                      </a:r>
                    </a:p>
                  </a:txBody>
                  <a:tcPr anchor="ctr">
                    <a:lnL>
                      <a:noFill/>
                    </a:lnL>
                    <a:lnR>
                      <a:noFill/>
                    </a:lnR>
                    <a:lnT>
                      <a:noFill/>
                    </a:lnT>
                    <a:lnB>
                      <a:noFill/>
                    </a:lnB>
                  </a:tcPr>
                </a:tc>
                <a:extLst>
                  <a:ext uri="{0D108BD9-81ED-4DB2-BD59-A6C34878D82A}">
                    <a16:rowId xmlns:a16="http://schemas.microsoft.com/office/drawing/2014/main" val="10003"/>
                  </a:ext>
                </a:extLst>
              </a:tr>
              <a:tr h="569940">
                <a:tc>
                  <a:txBody>
                    <a:bodyPr/>
                    <a:lstStyle/>
                    <a:p>
                      <a:r>
                        <a:rPr lang="en-IN" sz="1600" b="1"/>
                        <a:t>High Accuracy</a:t>
                      </a:r>
                    </a:p>
                  </a:txBody>
                  <a:tcPr anchor="ctr">
                    <a:lnL>
                      <a:noFill/>
                    </a:lnL>
                    <a:lnR>
                      <a:noFill/>
                    </a:lnR>
                    <a:lnT>
                      <a:noFill/>
                    </a:lnT>
                    <a:lnB>
                      <a:noFill/>
                    </a:lnB>
                  </a:tcPr>
                </a:tc>
                <a:tc>
                  <a:txBody>
                    <a:bodyPr/>
                    <a:lstStyle/>
                    <a:p>
                      <a:r>
                        <a:rPr lang="en-US" sz="1600" b="1"/>
                        <a:t>Often beats traditional models in tasks like vision &amp; NLP</a:t>
                      </a:r>
                    </a:p>
                  </a:txBody>
                  <a:tcPr anchor="ctr">
                    <a:lnL>
                      <a:noFill/>
                    </a:lnL>
                    <a:lnR>
                      <a:noFill/>
                    </a:lnR>
                    <a:lnT>
                      <a:noFill/>
                    </a:lnT>
                    <a:lnB>
                      <a:noFill/>
                    </a:lnB>
                  </a:tcPr>
                </a:tc>
                <a:extLst>
                  <a:ext uri="{0D108BD9-81ED-4DB2-BD59-A6C34878D82A}">
                    <a16:rowId xmlns:a16="http://schemas.microsoft.com/office/drawing/2014/main" val="10004"/>
                  </a:ext>
                </a:extLst>
              </a:tr>
              <a:tr h="344298">
                <a:tc>
                  <a:txBody>
                    <a:bodyPr/>
                    <a:lstStyle/>
                    <a:p>
                      <a:r>
                        <a:rPr lang="en-IN" sz="1600" b="1"/>
                        <a:t>Representation Learning</a:t>
                      </a:r>
                    </a:p>
                  </a:txBody>
                  <a:tcPr anchor="ctr">
                    <a:lnL>
                      <a:noFill/>
                    </a:lnL>
                    <a:lnR>
                      <a:noFill/>
                    </a:lnR>
                    <a:lnT>
                      <a:noFill/>
                    </a:lnT>
                    <a:lnB>
                      <a:noFill/>
                    </a:lnB>
                  </a:tcPr>
                </a:tc>
                <a:tc>
                  <a:txBody>
                    <a:bodyPr/>
                    <a:lstStyle/>
                    <a:p>
                      <a:r>
                        <a:rPr lang="en-US" sz="1600" b="1" dirty="0"/>
                        <a:t>Learns multiple levels of abstraction</a:t>
                      </a:r>
                    </a:p>
                  </a:txBody>
                  <a:tcPr anchor="ctr">
                    <a:lnL>
                      <a:noFill/>
                    </a:lnL>
                    <a:lnR>
                      <a:noFill/>
                    </a:lnR>
                    <a:lnT>
                      <a:noFill/>
                    </a:lnT>
                    <a:lnB>
                      <a:noFill/>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3294989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0011" y="505097"/>
            <a:ext cx="10770920" cy="5347064"/>
          </a:xfrm>
        </p:spPr>
        <p:txBody>
          <a:bodyPr>
            <a:noAutofit/>
          </a:bodyPr>
          <a:lstStyle/>
          <a:p>
            <a:pPr algn="l"/>
            <a:r>
              <a:rPr lang="en-US" sz="1600" b="1" dirty="0" smtClean="0">
                <a:solidFill>
                  <a:srgbClr val="C00000"/>
                </a:solidFill>
              </a:rPr>
              <a:t>11.Challenges </a:t>
            </a:r>
            <a:r>
              <a:rPr lang="en-US" sz="1600" b="1" dirty="0">
                <a:solidFill>
                  <a:srgbClr val="C00000"/>
                </a:solidFill>
              </a:rPr>
              <a:t>in Deep Learning</a:t>
            </a:r>
          </a:p>
          <a:p>
            <a:pPr algn="l"/>
            <a:r>
              <a:rPr lang="en-US" sz="1600" b="1" dirty="0"/>
              <a:t>1. Data Requirements</a:t>
            </a:r>
          </a:p>
          <a:p>
            <a:pPr algn="l"/>
            <a:r>
              <a:rPr lang="en-US" sz="1600" dirty="0"/>
              <a:t>Deep learning needs </a:t>
            </a:r>
            <a:r>
              <a:rPr lang="en-US" sz="1600" b="1" dirty="0"/>
              <a:t>huge amounts of labeled data</a:t>
            </a:r>
            <a:endParaRPr lang="en-US" sz="1600" dirty="0"/>
          </a:p>
          <a:p>
            <a:pPr algn="l"/>
            <a:r>
              <a:rPr lang="en-US" sz="1600" dirty="0"/>
              <a:t>Hard to apply on small datasets without </a:t>
            </a:r>
            <a:r>
              <a:rPr lang="en-US" sz="1600" dirty="0" err="1"/>
              <a:t>overfitting</a:t>
            </a:r>
            <a:endParaRPr lang="en-US" sz="1600" dirty="0"/>
          </a:p>
          <a:p>
            <a:pPr algn="l"/>
            <a:r>
              <a:rPr lang="en-US" sz="1600" b="1" dirty="0"/>
              <a:t>2. Computational Cost</a:t>
            </a:r>
          </a:p>
          <a:p>
            <a:pPr algn="l"/>
            <a:r>
              <a:rPr lang="en-US" sz="1600" dirty="0"/>
              <a:t>Training requires </a:t>
            </a:r>
            <a:r>
              <a:rPr lang="en-US" sz="1600" b="1" dirty="0"/>
              <a:t>GPUs or TPUs</a:t>
            </a:r>
            <a:endParaRPr lang="en-US" sz="1600" dirty="0"/>
          </a:p>
          <a:p>
            <a:pPr algn="l"/>
            <a:r>
              <a:rPr lang="en-US" sz="1600" b="1" dirty="0"/>
              <a:t>Energy-intensive</a:t>
            </a:r>
            <a:r>
              <a:rPr lang="en-US" sz="1600" dirty="0"/>
              <a:t> (costly for large-scale training)</a:t>
            </a:r>
          </a:p>
          <a:p>
            <a:pPr algn="l"/>
            <a:r>
              <a:rPr lang="en-US" sz="1600" b="1" dirty="0"/>
              <a:t>3. Interpretability</a:t>
            </a:r>
          </a:p>
          <a:p>
            <a:pPr algn="l"/>
            <a:r>
              <a:rPr lang="en-US" sz="1600" dirty="0"/>
              <a:t>Neural networks are </a:t>
            </a:r>
            <a:r>
              <a:rPr lang="en-US" sz="1600" b="1" dirty="0"/>
              <a:t>black boxes</a:t>
            </a:r>
            <a:endParaRPr lang="en-US" sz="1600" dirty="0"/>
          </a:p>
          <a:p>
            <a:pPr algn="l"/>
            <a:r>
              <a:rPr lang="en-US" sz="1600" dirty="0"/>
              <a:t>Difficult to </a:t>
            </a:r>
            <a:r>
              <a:rPr lang="en-US" sz="1600" b="1" dirty="0"/>
              <a:t>understand or explain</a:t>
            </a:r>
            <a:r>
              <a:rPr lang="en-US" sz="1600" dirty="0"/>
              <a:t> how predictions are made</a:t>
            </a:r>
          </a:p>
          <a:p>
            <a:pPr algn="l"/>
            <a:r>
              <a:rPr lang="en-US" sz="1600" b="1" dirty="0"/>
              <a:t>4. </a:t>
            </a:r>
            <a:r>
              <a:rPr lang="en-US" sz="1600" b="1" dirty="0" err="1"/>
              <a:t>Overfitting</a:t>
            </a:r>
            <a:endParaRPr lang="en-US" sz="1600" b="1" dirty="0"/>
          </a:p>
          <a:p>
            <a:pPr algn="l"/>
            <a:r>
              <a:rPr lang="en-US" sz="1600" dirty="0"/>
              <a:t>Too many parameters can cause models to memorize the data</a:t>
            </a:r>
          </a:p>
          <a:p>
            <a:pPr algn="l"/>
            <a:r>
              <a:rPr lang="en-US" sz="1600" dirty="0"/>
              <a:t>Needs regularization (dropout, early stopping, etc</a:t>
            </a:r>
            <a:r>
              <a:rPr lang="en-US" sz="1600" dirty="0" smtClean="0"/>
              <a:t>.)</a:t>
            </a:r>
          </a:p>
          <a:p>
            <a:pPr algn="l"/>
            <a:endParaRPr lang="en-US" sz="1600" dirty="0"/>
          </a:p>
          <a:p>
            <a:pPr algn="l"/>
            <a:endParaRPr lang="en-IN" sz="1600" dirty="0"/>
          </a:p>
        </p:txBody>
      </p:sp>
    </p:spTree>
    <p:extLst>
      <p:ext uri="{BB962C8B-B14F-4D97-AF65-F5344CB8AC3E}">
        <p14:creationId xmlns:p14="http://schemas.microsoft.com/office/powerpoint/2010/main" val="352144544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0011" y="557349"/>
            <a:ext cx="10770920" cy="5294812"/>
          </a:xfrm>
        </p:spPr>
        <p:txBody>
          <a:bodyPr>
            <a:noAutofit/>
          </a:bodyPr>
          <a:lstStyle/>
          <a:p>
            <a:pPr algn="l"/>
            <a:r>
              <a:rPr lang="en-IN" sz="1800" b="1" dirty="0"/>
              <a:t>5. </a:t>
            </a:r>
            <a:r>
              <a:rPr lang="en-IN" sz="1800" b="1" dirty="0" err="1"/>
              <a:t>Hyperparameter</a:t>
            </a:r>
            <a:r>
              <a:rPr lang="en-IN" sz="1800" b="1" dirty="0"/>
              <a:t> Tuning</a:t>
            </a:r>
          </a:p>
          <a:p>
            <a:pPr algn="just"/>
            <a:r>
              <a:rPr lang="en-IN" sz="1800" dirty="0"/>
              <a:t>Learning rate, layers, batch size... all need tuning</a:t>
            </a:r>
          </a:p>
          <a:p>
            <a:pPr algn="just"/>
            <a:r>
              <a:rPr lang="en-IN" sz="1800" dirty="0"/>
              <a:t>Finding the best configuration is non-trivial</a:t>
            </a:r>
          </a:p>
          <a:p>
            <a:pPr algn="just"/>
            <a:r>
              <a:rPr lang="en-IN" sz="1800" b="1" dirty="0"/>
              <a:t>6. Training Instability</a:t>
            </a:r>
          </a:p>
          <a:p>
            <a:pPr algn="just"/>
            <a:r>
              <a:rPr lang="en-IN" sz="1800" dirty="0"/>
              <a:t>Gradient vanishing/exploding in deep networks</a:t>
            </a:r>
          </a:p>
          <a:p>
            <a:pPr algn="just"/>
            <a:r>
              <a:rPr lang="en-IN" sz="1800" dirty="0"/>
              <a:t>Requires careful initialization and normalization (e.g., </a:t>
            </a:r>
            <a:r>
              <a:rPr lang="en-IN" sz="1800" dirty="0" err="1"/>
              <a:t>BatchNorm</a:t>
            </a:r>
            <a:r>
              <a:rPr lang="en-IN" sz="1800" dirty="0"/>
              <a:t>)</a:t>
            </a:r>
          </a:p>
          <a:p>
            <a:pPr algn="just"/>
            <a:r>
              <a:rPr lang="en-IN" sz="1800" b="1" dirty="0"/>
              <a:t>7. Ethical Concerns</a:t>
            </a:r>
          </a:p>
          <a:p>
            <a:pPr algn="just"/>
            <a:r>
              <a:rPr lang="en-IN" sz="1800" dirty="0"/>
              <a:t>Bias in training data = biased predictions</a:t>
            </a:r>
          </a:p>
          <a:p>
            <a:pPr algn="just"/>
            <a:r>
              <a:rPr lang="en-IN" sz="1800" dirty="0" err="1"/>
              <a:t>Deepfakes</a:t>
            </a:r>
            <a:r>
              <a:rPr lang="en-IN" sz="1800" dirty="0"/>
              <a:t>, surveillance, misinformation are concerns</a:t>
            </a:r>
          </a:p>
          <a:p>
            <a:pPr algn="just"/>
            <a:endParaRPr lang="en-IN" sz="1800" dirty="0"/>
          </a:p>
        </p:txBody>
      </p:sp>
    </p:spTree>
    <p:extLst>
      <p:ext uri="{BB962C8B-B14F-4D97-AF65-F5344CB8AC3E}">
        <p14:creationId xmlns:p14="http://schemas.microsoft.com/office/powerpoint/2010/main" val="255044885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2054</TotalTime>
  <Words>3906</Words>
  <Application>Microsoft Office PowerPoint</Application>
  <PresentationFormat>Widescreen</PresentationFormat>
  <Paragraphs>758</Paragraphs>
  <Slides>72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72</vt:i4>
      </vt:variant>
    </vt:vector>
  </HeadingPairs>
  <TitlesOfParts>
    <vt:vector size="78"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Bunny</dc:creator>
  <cp:lastModifiedBy>Bunny</cp:lastModifiedBy>
  <cp:revision>223</cp:revision>
  <dcterms:created xsi:type="dcterms:W3CDTF">2025-06-23T15:49:40Z</dcterms:created>
  <dcterms:modified xsi:type="dcterms:W3CDTF">2025-07-03T20:35:12Z</dcterms:modified>
</cp:coreProperties>
</file>