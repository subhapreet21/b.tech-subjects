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350" r:id="rId3"/>
    <p:sldId id="347" r:id="rId4"/>
    <p:sldId id="348" r:id="rId5"/>
    <p:sldId id="349" r:id="rId6"/>
    <p:sldId id="351" r:id="rId7"/>
    <p:sldId id="338" r:id="rId8"/>
    <p:sldId id="342" r:id="rId9"/>
    <p:sldId id="339" r:id="rId10"/>
    <p:sldId id="341" r:id="rId11"/>
    <p:sldId id="343" r:id="rId12"/>
    <p:sldId id="344" r:id="rId13"/>
    <p:sldId id="352" r:id="rId14"/>
    <p:sldId id="345" r:id="rId15"/>
    <p:sldId id="353" r:id="rId16"/>
    <p:sldId id="354" r:id="rId17"/>
    <p:sldId id="358" r:id="rId18"/>
    <p:sldId id="355" r:id="rId19"/>
    <p:sldId id="359" r:id="rId20"/>
    <p:sldId id="360" r:id="rId21"/>
    <p:sldId id="364" r:id="rId22"/>
    <p:sldId id="356" r:id="rId23"/>
    <p:sldId id="365" r:id="rId24"/>
    <p:sldId id="366" r:id="rId25"/>
    <p:sldId id="380" r:id="rId26"/>
    <p:sldId id="367" r:id="rId27"/>
    <p:sldId id="381" r:id="rId28"/>
    <p:sldId id="368" r:id="rId29"/>
    <p:sldId id="375" r:id="rId30"/>
    <p:sldId id="376" r:id="rId31"/>
    <p:sldId id="369" r:id="rId32"/>
    <p:sldId id="377" r:id="rId33"/>
    <p:sldId id="378" r:id="rId34"/>
    <p:sldId id="379" r:id="rId35"/>
    <p:sldId id="371" r:id="rId36"/>
    <p:sldId id="372" r:id="rId37"/>
    <p:sldId id="373" r:id="rId38"/>
    <p:sldId id="374" r:id="rId3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7" d="100"/>
          <a:sy n="117" d="100"/>
        </p:scale>
        <p:origin x="-318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41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4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43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583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592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7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059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330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153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34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317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866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659" y="-50774"/>
            <a:ext cx="12011660" cy="45525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2140" marR="3149600" algn="ctr">
              <a:lnSpc>
                <a:spcPct val="120000"/>
              </a:lnSpc>
              <a:spcBef>
                <a:spcPts val="100"/>
              </a:spcBef>
            </a:pPr>
            <a:r>
              <a:rPr sz="25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DEEP</a:t>
            </a:r>
            <a:r>
              <a:rPr sz="2500" b="1" spc="-25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LEARNING</a:t>
            </a:r>
            <a:r>
              <a:rPr sz="2500" b="1" spc="-2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2500" b="1" spc="-2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APPLICATIONS </a:t>
            </a:r>
            <a:r>
              <a:rPr sz="25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MR20-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1CS0158</a:t>
            </a:r>
            <a:endParaRPr sz="250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915"/>
              </a:spcBef>
            </a:pP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UNIT</a:t>
            </a:r>
            <a:r>
              <a:rPr sz="2500" b="1" spc="-1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III</a:t>
            </a:r>
            <a:endParaRPr sz="2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sz="2500" b="1" dirty="0">
                <a:latin typeface="Times New Roman"/>
                <a:cs typeface="Times New Roman"/>
              </a:rPr>
              <a:t>Artificial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Neural</a:t>
            </a:r>
            <a:r>
              <a:rPr sz="2500" b="1" spc="-10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Networks:</a:t>
            </a:r>
            <a:r>
              <a:rPr sz="2500" b="1" spc="-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Introduction,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Perceptron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Training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Rule,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Gradient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Descent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Rule.</a:t>
            </a:r>
            <a:endParaRPr sz="25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600"/>
              </a:spcBef>
            </a:pPr>
            <a:r>
              <a:rPr sz="2500" b="1" dirty="0">
                <a:latin typeface="Times New Roman"/>
                <a:cs typeface="Times New Roman"/>
              </a:rPr>
              <a:t>Gradient</a:t>
            </a:r>
            <a:r>
              <a:rPr sz="2500" b="1" spc="17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Descent</a:t>
            </a:r>
            <a:r>
              <a:rPr sz="2500" b="1" spc="18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1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Back</a:t>
            </a:r>
            <a:r>
              <a:rPr sz="2500" b="1" spc="1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propagation:</a:t>
            </a:r>
            <a:r>
              <a:rPr sz="2500" b="1" spc="1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Gradient</a:t>
            </a:r>
            <a:r>
              <a:rPr sz="2500" spc="1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Descent,</a:t>
            </a:r>
            <a:r>
              <a:rPr sz="2500" spc="1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Stochastic</a:t>
            </a:r>
            <a:r>
              <a:rPr sz="2500" spc="1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Gradient</a:t>
            </a:r>
            <a:r>
              <a:rPr sz="2500" spc="19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Descent, </a:t>
            </a:r>
            <a:r>
              <a:rPr sz="2500" dirty="0">
                <a:latin typeface="Times New Roman"/>
                <a:cs typeface="Times New Roman"/>
              </a:rPr>
              <a:t>Back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propagation, Some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problems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ANN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Optimization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Regularization: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Over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fitting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and </a:t>
            </a:r>
            <a:r>
              <a:rPr sz="2500" spc="-40" dirty="0">
                <a:latin typeface="Times New Roman"/>
                <a:cs typeface="Times New Roman"/>
              </a:rPr>
              <a:t>Capacity,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Cross</a:t>
            </a:r>
            <a:r>
              <a:rPr sz="2500" spc="-15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Validation,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Feature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Selection,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Regularization,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Hyper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parameters.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500" b="1" spc="-120" dirty="0">
                <a:latin typeface="Times New Roman"/>
                <a:cs typeface="Times New Roman"/>
              </a:rPr>
              <a:t>Text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spc="-20" dirty="0">
                <a:latin typeface="Times New Roman"/>
                <a:cs typeface="Times New Roman"/>
              </a:rPr>
              <a:t>Book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469265" algn="l"/>
              </a:tabLst>
            </a:pPr>
            <a:r>
              <a:rPr sz="2500" spc="-25" dirty="0">
                <a:latin typeface="Times New Roman"/>
                <a:cs typeface="Times New Roman"/>
              </a:rPr>
              <a:t>1.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35" dirty="0">
                <a:latin typeface="Times New Roman"/>
                <a:cs typeface="Times New Roman"/>
              </a:rPr>
              <a:t>Goodfellow,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I.,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Bengio,</a:t>
            </a:r>
            <a:r>
              <a:rPr sz="2500" spc="-195" dirty="0">
                <a:latin typeface="Times New Roman"/>
                <a:cs typeface="Times New Roman"/>
              </a:rPr>
              <a:t> Y.,</a:t>
            </a:r>
            <a:r>
              <a:rPr sz="2500" spc="-1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Courville,</a:t>
            </a:r>
            <a:r>
              <a:rPr sz="2500" spc="-2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A.,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Deep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Learning,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MIT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Press,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2016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1600203"/>
            <a:ext cx="6705600" cy="4525963"/>
          </a:xfrm>
        </p:spPr>
        <p:txBody>
          <a:bodyPr/>
          <a:lstStyle/>
          <a:p>
            <a:pPr marL="0" indent="0">
              <a:buNone/>
            </a:pPr>
            <a:endParaRPr lang="en-US" smtClean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mtClean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mtClean="0">
                <a:latin typeface="Times New Roman"/>
                <a:cs typeface="Times New Roman"/>
              </a:rPr>
              <a:t>Perceptron</a:t>
            </a:r>
            <a:r>
              <a:rPr lang="en-US" spc="-120" smtClean="0">
                <a:latin typeface="Times New Roman"/>
                <a:cs typeface="Times New Roman"/>
              </a:rPr>
              <a:t> </a:t>
            </a:r>
            <a:r>
              <a:rPr lang="en-US" spc="-20">
                <a:latin typeface="Times New Roman"/>
                <a:cs typeface="Times New Roman"/>
              </a:rPr>
              <a:t>Training</a:t>
            </a:r>
            <a:r>
              <a:rPr lang="en-US" spc="-7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Rule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71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731" y="469773"/>
            <a:ext cx="973328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Perceptron</a:t>
            </a:r>
            <a:r>
              <a:rPr spc="-105" dirty="0"/>
              <a:t> </a:t>
            </a:r>
            <a:r>
              <a:rPr dirty="0"/>
              <a:t>learning</a:t>
            </a:r>
            <a:r>
              <a:rPr spc="-105" dirty="0"/>
              <a:t> </a:t>
            </a:r>
            <a:r>
              <a:rPr spc="-20"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731" y="927304"/>
            <a:ext cx="11402695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1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perceptron</a:t>
            </a:r>
            <a:r>
              <a:rPr sz="2500" spc="2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takes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inputs,</a:t>
            </a:r>
            <a:r>
              <a:rPr sz="2500" spc="1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modifies</a:t>
            </a:r>
            <a:r>
              <a:rPr sz="2500" spc="1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1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inputs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using</a:t>
            </a:r>
            <a:r>
              <a:rPr sz="2500" spc="1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certain</a:t>
            </a:r>
            <a:r>
              <a:rPr sz="2500" spc="1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weights,</a:t>
            </a:r>
            <a:r>
              <a:rPr sz="2500" spc="1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1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then</a:t>
            </a:r>
            <a:r>
              <a:rPr sz="2500" spc="1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uses</a:t>
            </a:r>
            <a:r>
              <a:rPr sz="2500" spc="14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a </a:t>
            </a:r>
            <a:r>
              <a:rPr sz="2500" dirty="0">
                <a:latin typeface="Times New Roman"/>
                <a:cs typeface="Times New Roman"/>
              </a:rPr>
              <a:t>function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output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final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result.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This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shown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diagram </a:t>
            </a:r>
            <a:r>
              <a:rPr sz="2500" spc="-10" dirty="0">
                <a:latin typeface="Times New Roman"/>
                <a:cs typeface="Times New Roman"/>
              </a:rPr>
              <a:t>below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7577" y="2121014"/>
            <a:ext cx="7856347" cy="437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92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620" y="665987"/>
            <a:ext cx="10066528" cy="28638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7713" y="4386491"/>
            <a:ext cx="7487539" cy="169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95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6731" y="164046"/>
            <a:ext cx="11669395" cy="620682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500" b="1" dirty="0">
                <a:latin typeface="Times New Roman"/>
                <a:cs typeface="Times New Roman"/>
              </a:rPr>
              <a:t>Activation</a:t>
            </a:r>
            <a:r>
              <a:rPr sz="2500" b="1" spc="-12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function</a:t>
            </a:r>
            <a:endParaRPr sz="2500">
              <a:latin typeface="Times New Roman"/>
              <a:cs typeface="Times New Roman"/>
            </a:endParaRPr>
          </a:p>
          <a:p>
            <a:pPr marL="354330" marR="18415" indent="-342265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activation</a:t>
            </a:r>
            <a:r>
              <a:rPr sz="2500" spc="1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function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converts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numerical</a:t>
            </a:r>
            <a:r>
              <a:rPr sz="2500" spc="1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output</a:t>
            </a:r>
            <a:r>
              <a:rPr sz="2500" spc="1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weighting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function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1</a:t>
            </a:r>
            <a:r>
              <a:rPr sz="2500" spc="10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or 	0.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500" b="1" spc="-30" dirty="0">
                <a:latin typeface="Times New Roman"/>
                <a:cs typeface="Times New Roman"/>
              </a:rPr>
              <a:t>Error</a:t>
            </a:r>
            <a:r>
              <a:rPr sz="2500" b="1" spc="-1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-3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adjustments</a:t>
            </a:r>
            <a:endParaRPr sz="250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5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Before</a:t>
            </a:r>
            <a:r>
              <a:rPr sz="2500" spc="2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</a:t>
            </a:r>
            <a:r>
              <a:rPr sz="2500" spc="2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can</a:t>
            </a:r>
            <a:r>
              <a:rPr sz="2500" spc="25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</a:t>
            </a:r>
            <a:r>
              <a:rPr sz="2500" spc="2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2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perceptron</a:t>
            </a:r>
            <a:r>
              <a:rPr sz="2500" spc="2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2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predict</a:t>
            </a:r>
            <a:r>
              <a:rPr sz="2500" spc="2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output,</a:t>
            </a:r>
            <a:r>
              <a:rPr sz="2500" spc="2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it</a:t>
            </a:r>
            <a:r>
              <a:rPr sz="2500" spc="2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2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trained</a:t>
            </a:r>
            <a:r>
              <a:rPr sz="2500" spc="2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using</a:t>
            </a:r>
            <a:r>
              <a:rPr sz="2500" spc="2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labeled</a:t>
            </a:r>
            <a:r>
              <a:rPr sz="2500" spc="2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data.</a:t>
            </a:r>
            <a:r>
              <a:rPr sz="2500" spc="26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For </a:t>
            </a:r>
            <a:r>
              <a:rPr sz="2500" dirty="0">
                <a:latin typeface="Times New Roman"/>
                <a:cs typeface="Times New Roman"/>
              </a:rPr>
              <a:t>each</a:t>
            </a:r>
            <a:r>
              <a:rPr sz="2500" spc="2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input</a:t>
            </a:r>
            <a:r>
              <a:rPr sz="2500" spc="2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2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2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training</a:t>
            </a:r>
            <a:r>
              <a:rPr sz="2500" spc="2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set,</a:t>
            </a:r>
            <a:r>
              <a:rPr sz="2500" spc="2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</a:t>
            </a:r>
            <a:r>
              <a:rPr sz="2500" spc="22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compute</a:t>
            </a:r>
            <a:r>
              <a:rPr sz="2500" spc="22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22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output.</a:t>
            </a:r>
            <a:r>
              <a:rPr sz="2500" spc="2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If</a:t>
            </a:r>
            <a:r>
              <a:rPr sz="2500" spc="2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2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observed</a:t>
            </a:r>
            <a:r>
              <a:rPr sz="2500" spc="2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output</a:t>
            </a:r>
            <a:r>
              <a:rPr sz="2500" spc="22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does</a:t>
            </a:r>
            <a:r>
              <a:rPr sz="2500" spc="23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not </a:t>
            </a:r>
            <a:r>
              <a:rPr sz="2500" dirty="0">
                <a:latin typeface="Times New Roman"/>
                <a:cs typeface="Times New Roman"/>
              </a:rPr>
              <a:t>match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expected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output,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calculate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error.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5"/>
              </a:spcBef>
              <a:buFont typeface="Wingdings"/>
              <a:buChar char="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"/>
              <a:tabLst>
                <a:tab pos="355600" algn="l"/>
              </a:tabLst>
            </a:pPr>
            <a:r>
              <a:rPr sz="2500" spc="-30" dirty="0">
                <a:latin typeface="Times New Roman"/>
                <a:cs typeface="Times New Roman"/>
              </a:rPr>
              <a:t>Initially,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usually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set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weights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randomly selected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numbers.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5"/>
              </a:spcBef>
              <a:buFont typeface="Wingdings"/>
              <a:buChar char=""/>
            </a:pPr>
            <a:endParaRPr sz="2500">
              <a:latin typeface="Times New Roman"/>
              <a:cs typeface="Times New Roman"/>
            </a:endParaRPr>
          </a:p>
          <a:p>
            <a:pPr marL="354330" marR="62230" indent="-342265" algn="just">
              <a:lnSpc>
                <a:spcPct val="100000"/>
              </a:lnSpc>
              <a:buFont typeface="Wingdings"/>
              <a:buChar char="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We</a:t>
            </a:r>
            <a:r>
              <a:rPr sz="2500" spc="2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can</a:t>
            </a:r>
            <a:r>
              <a:rPr sz="2500" spc="3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then</a:t>
            </a:r>
            <a:r>
              <a:rPr sz="2500" spc="3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</a:t>
            </a:r>
            <a:r>
              <a:rPr sz="2500" spc="3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3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error</a:t>
            </a:r>
            <a:r>
              <a:rPr sz="2500" spc="3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3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tweak</a:t>
            </a:r>
            <a:r>
              <a:rPr sz="2500" spc="3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3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weights</a:t>
            </a:r>
            <a:r>
              <a:rPr sz="2500" spc="3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3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favor</a:t>
            </a:r>
            <a:r>
              <a:rPr sz="2500" spc="3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3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3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expected</a:t>
            </a:r>
            <a:r>
              <a:rPr sz="2500" spc="3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output.</a:t>
            </a:r>
            <a:r>
              <a:rPr sz="2500" spc="375" dirty="0">
                <a:latin typeface="Times New Roman"/>
                <a:cs typeface="Times New Roman"/>
              </a:rPr>
              <a:t> </a:t>
            </a:r>
            <a:r>
              <a:rPr sz="2500" spc="-445" dirty="0">
                <a:latin typeface="Times New Roman"/>
                <a:cs typeface="Times New Roman"/>
              </a:rPr>
              <a:t>We</a:t>
            </a:r>
            <a:r>
              <a:rPr sz="2500" dirty="0">
                <a:latin typeface="Times New Roman"/>
                <a:cs typeface="Times New Roman"/>
              </a:rPr>
              <a:t> 	repeat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this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process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until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perceptron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gives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high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degree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accuracy in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its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output.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  <a:buFont typeface="Wingdings"/>
              <a:buChar char=""/>
            </a:pPr>
            <a:endParaRPr sz="25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"/>
              <a:tabLst>
                <a:tab pos="354965" algn="l"/>
              </a:tabLst>
            </a:pPr>
            <a:r>
              <a:rPr sz="2500" dirty="0">
                <a:latin typeface="Times New Roman"/>
                <a:cs typeface="Times New Roman"/>
              </a:rPr>
              <a:t>How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much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adjust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our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weights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controlled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learning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rate of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perceptron.</a:t>
            </a:r>
            <a:endParaRPr sz="25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370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1600203"/>
            <a:ext cx="6705600" cy="4525963"/>
          </a:xfrm>
        </p:spPr>
        <p:txBody>
          <a:bodyPr/>
          <a:lstStyle/>
          <a:p>
            <a:pPr marL="0" indent="0">
              <a:buNone/>
            </a:pPr>
            <a:endParaRPr lang="en-US" smtClean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mtClean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latin typeface="Times New Roman"/>
                <a:cs typeface="Times New Roman"/>
              </a:rPr>
              <a:t>Gradient</a:t>
            </a:r>
            <a:r>
              <a:rPr lang="en-US" spc="-6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Descent</a:t>
            </a:r>
            <a:r>
              <a:rPr lang="en-US" spc="-80">
                <a:latin typeface="Times New Roman"/>
                <a:cs typeface="Times New Roman"/>
              </a:rPr>
              <a:t> </a:t>
            </a:r>
            <a:r>
              <a:rPr lang="en-US" spc="-10">
                <a:latin typeface="Times New Roman"/>
                <a:cs typeface="Times New Roman"/>
              </a:rPr>
              <a:t>Rule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34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11079162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602966"/>
            <a:ext cx="10287000" cy="294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313"/>
            <a:ext cx="38100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220200" y="3602966"/>
            <a:ext cx="25146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mtClean="0"/>
              <a:t>(</a:t>
            </a:r>
            <a:r>
              <a:rPr lang="en-US" b="1" smtClean="0">
                <a:solidFill>
                  <a:srgbClr val="FF0000"/>
                </a:solidFill>
              </a:rPr>
              <a:t>Potential Solutions</a:t>
            </a:r>
            <a:r>
              <a:rPr lang="en-US" smtClean="0"/>
              <a:t>)</a:t>
            </a:r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762000" y="3124200"/>
            <a:ext cx="9829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949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" y="565150"/>
            <a:ext cx="11945938" cy="572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8535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369888"/>
            <a:ext cx="12031662" cy="611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85800" y="3810000"/>
            <a:ext cx="11125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533400" y="4267200"/>
            <a:ext cx="967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671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93246"/>
            <a:ext cx="3810000" cy="539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693" y="704850"/>
            <a:ext cx="4011612" cy="50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371600"/>
            <a:ext cx="3048000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053" y="704850"/>
            <a:ext cx="3301093" cy="507954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810000"/>
            <a:ext cx="3124200" cy="1752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380366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800600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13" y="3049588"/>
            <a:ext cx="6096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013" y="3201988"/>
            <a:ext cx="6096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419600" y="4884964"/>
            <a:ext cx="1219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03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762000"/>
            <a:ext cx="11460162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5828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533400"/>
            <a:ext cx="11488738" cy="543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5584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1600203"/>
            <a:ext cx="8305800" cy="4525963"/>
          </a:xfrm>
        </p:spPr>
        <p:txBody>
          <a:bodyPr/>
          <a:lstStyle/>
          <a:p>
            <a:pPr marL="0" indent="0">
              <a:buNone/>
            </a:pPr>
            <a:endParaRPr lang="en-US" smtClean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mtClean="0">
              <a:latin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fr-FR">
                <a:latin typeface="Times New Roman"/>
                <a:cs typeface="Times New Roman"/>
              </a:rPr>
              <a:t>Gradient</a:t>
            </a:r>
            <a:r>
              <a:rPr lang="fr-FR" spc="180">
                <a:latin typeface="Times New Roman"/>
                <a:cs typeface="Times New Roman"/>
              </a:rPr>
              <a:t> </a:t>
            </a:r>
            <a:r>
              <a:rPr lang="fr-FR" smtClean="0">
                <a:latin typeface="Times New Roman"/>
                <a:cs typeface="Times New Roman"/>
              </a:rPr>
              <a:t>Descent</a:t>
            </a:r>
            <a:r>
              <a:rPr lang="fr-FR" spc="185" smtClean="0">
                <a:latin typeface="Times New Roman"/>
                <a:cs typeface="Times New Roman"/>
              </a:rPr>
              <a:t> </a:t>
            </a:r>
          </a:p>
          <a:p>
            <a:pPr marL="0" indent="0" algn="ctr">
              <a:buNone/>
            </a:pPr>
            <a:r>
              <a:rPr lang="fr-FR" smtClean="0">
                <a:latin typeface="Times New Roman"/>
                <a:cs typeface="Times New Roman"/>
              </a:rPr>
              <a:t>Stochastic</a:t>
            </a:r>
            <a:r>
              <a:rPr lang="fr-FR" spc="190" smtClean="0">
                <a:latin typeface="Times New Roman"/>
                <a:cs typeface="Times New Roman"/>
              </a:rPr>
              <a:t> </a:t>
            </a:r>
            <a:r>
              <a:rPr lang="fr-FR">
                <a:latin typeface="Times New Roman"/>
                <a:cs typeface="Times New Roman"/>
              </a:rPr>
              <a:t>Gradient</a:t>
            </a:r>
            <a:r>
              <a:rPr lang="fr-FR" spc="190">
                <a:latin typeface="Times New Roman"/>
                <a:cs typeface="Times New Roman"/>
              </a:rPr>
              <a:t> </a:t>
            </a:r>
            <a:r>
              <a:rPr lang="fr-FR" spc="-10">
                <a:latin typeface="Times New Roman"/>
                <a:cs typeface="Times New Roman"/>
              </a:rPr>
              <a:t>Descent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14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914400"/>
            <a:ext cx="8174038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5921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GD vs G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066800"/>
            <a:ext cx="45720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93" y="1066800"/>
            <a:ext cx="6248400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657600"/>
            <a:ext cx="307657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202076"/>
              </p:ext>
            </p:extLst>
          </p:nvPr>
        </p:nvGraphicFramePr>
        <p:xfrm>
          <a:off x="7086600" y="4865189"/>
          <a:ext cx="4572000" cy="1188720"/>
        </p:xfrm>
        <a:graphic>
          <a:graphicData uri="http://schemas.openxmlformats.org/drawingml/2006/table">
            <a:tbl>
              <a:tblPr firstRow="1" bandRow="1"/>
              <a:tblGrid>
                <a:gridCol w="2286000"/>
                <a:gridCol w="228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smtClean="0"/>
                        <a:t>SGD</a:t>
                      </a:r>
                      <a:r>
                        <a:rPr lang="en-US" smtClean="0"/>
                        <a:t>: Takes a zigzag, noisy path, but may reach the minimum faster.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smtClean="0"/>
                        <a:t>GD</a:t>
                      </a:r>
                      <a:r>
                        <a:rPr lang="en-US" smtClean="0"/>
                        <a:t>: Follows a smooth, straight path downhill.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26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0" y="2438400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mtClean="0">
                <a:latin typeface="Times New Roman"/>
                <a:cs typeface="Times New Roman"/>
              </a:rPr>
              <a:t>     </a:t>
            </a:r>
          </a:p>
          <a:p>
            <a:r>
              <a:rPr lang="en-US" sz="3600" b="1">
                <a:latin typeface="Times New Roman"/>
                <a:cs typeface="Times New Roman"/>
              </a:rPr>
              <a:t> </a:t>
            </a:r>
            <a:r>
              <a:rPr lang="en-US" sz="3600" b="1" smtClean="0">
                <a:latin typeface="Times New Roman"/>
                <a:cs typeface="Times New Roman"/>
              </a:rPr>
              <a:t>      Back</a:t>
            </a:r>
            <a:r>
              <a:rPr lang="en-US" sz="3600" b="1" spc="-35" smtClean="0">
                <a:latin typeface="Times New Roman"/>
                <a:cs typeface="Times New Roman"/>
              </a:rPr>
              <a:t> </a:t>
            </a:r>
            <a:r>
              <a:rPr lang="en-US" sz="3600" b="1" smtClean="0">
                <a:latin typeface="Times New Roman"/>
                <a:cs typeface="Times New Roman"/>
              </a:rPr>
              <a:t>propagation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616116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657" y="-10515"/>
            <a:ext cx="12012931" cy="589905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00"/>
              </a:spcBef>
            </a:pPr>
            <a:r>
              <a:rPr sz="25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Backpropagation-</a:t>
            </a:r>
            <a:r>
              <a:rPr sz="2500" b="1" spc="-2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Algorithm</a:t>
            </a:r>
            <a:endParaRPr sz="25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Backpropagation</a:t>
            </a:r>
            <a:r>
              <a:rPr sz="2500" spc="6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5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6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dynamic</a:t>
            </a:r>
            <a:r>
              <a:rPr sz="2500" spc="6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algorithm</a:t>
            </a:r>
            <a:r>
              <a:rPr sz="2500" spc="5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5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5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training</a:t>
            </a:r>
            <a:r>
              <a:rPr sz="2500" spc="6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5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artificial  neural</a:t>
            </a:r>
            <a:r>
              <a:rPr sz="2500" spc="6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networks, </a:t>
            </a:r>
            <a:r>
              <a:rPr sz="2500" dirty="0">
                <a:latin typeface="Times New Roman"/>
                <a:cs typeface="Times New Roman"/>
              </a:rPr>
              <a:t>enabling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them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learn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complicated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patterns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relationships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inside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data.</a:t>
            </a:r>
            <a:endParaRPr sz="2500">
              <a:latin typeface="Times New Roman"/>
              <a:cs typeface="Times New Roman"/>
            </a:endParaRPr>
          </a:p>
          <a:p>
            <a:pPr marL="355600" marR="8255" indent="-342900" algn="just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1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system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starts</a:t>
            </a:r>
            <a:r>
              <a:rPr sz="2500" spc="2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off</a:t>
            </a:r>
            <a:r>
              <a:rPr sz="2500" spc="1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evolved</a:t>
            </a:r>
            <a:r>
              <a:rPr sz="2500" spc="5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with</a:t>
            </a:r>
            <a:r>
              <a:rPr sz="2500" spc="1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</a:t>
            </a:r>
            <a:r>
              <a:rPr sz="2500" spc="20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ahead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skip,</a:t>
            </a:r>
            <a:r>
              <a:rPr sz="2500" spc="1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where</a:t>
            </a:r>
            <a:r>
              <a:rPr sz="2500" spc="20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input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statistics</a:t>
            </a:r>
            <a:r>
              <a:rPr sz="2500" spc="20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traverse</a:t>
            </a:r>
            <a:r>
              <a:rPr sz="2500" spc="20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through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network,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undergoing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weighted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summations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activation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features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at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each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layer.</a:t>
            </a:r>
            <a:endParaRPr sz="25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3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computed</a:t>
            </a:r>
            <a:r>
              <a:rPr sz="2500" b="1" spc="31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output</a:t>
            </a:r>
            <a:r>
              <a:rPr sz="2500" b="1" spc="3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is</a:t>
            </a:r>
            <a:r>
              <a:rPr sz="2500" b="1" spc="33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then</a:t>
            </a:r>
            <a:r>
              <a:rPr sz="2500" b="1" spc="3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compared</a:t>
            </a:r>
            <a:r>
              <a:rPr sz="2500" b="1" spc="31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to</a:t>
            </a:r>
            <a:r>
              <a:rPr sz="2500" b="1" spc="33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33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real</a:t>
            </a:r>
            <a:r>
              <a:rPr sz="2500" b="1" spc="31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target</a:t>
            </a:r>
            <a:r>
              <a:rPr sz="2500" b="1" spc="3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values,</a:t>
            </a:r>
            <a:r>
              <a:rPr sz="2500" b="1" spc="33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generating</a:t>
            </a:r>
            <a:r>
              <a:rPr sz="2500" b="1" spc="3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325" dirty="0">
                <a:latin typeface="Times New Roman"/>
                <a:cs typeface="Times New Roman"/>
              </a:rPr>
              <a:t> </a:t>
            </a:r>
            <a:r>
              <a:rPr sz="2500" b="1" spc="-20" dirty="0">
                <a:latin typeface="Times New Roman"/>
                <a:cs typeface="Times New Roman"/>
              </a:rPr>
              <a:t>loss </a:t>
            </a:r>
            <a:r>
              <a:rPr sz="2500" b="1" dirty="0">
                <a:latin typeface="Times New Roman"/>
                <a:cs typeface="Times New Roman"/>
              </a:rPr>
              <a:t>that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quantifies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gap.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In</a:t>
            </a:r>
            <a:r>
              <a:rPr sz="2500" b="1" spc="-1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subsequent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backward</a:t>
            </a:r>
            <a:r>
              <a:rPr sz="2500" b="1" spc="-3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pass,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gradient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-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loss</a:t>
            </a:r>
            <a:r>
              <a:rPr sz="2500" b="1" spc="-15" dirty="0">
                <a:latin typeface="Times New Roman"/>
                <a:cs typeface="Times New Roman"/>
              </a:rPr>
              <a:t> </a:t>
            </a:r>
            <a:r>
              <a:rPr sz="2500" b="1" spc="-20" dirty="0">
                <a:latin typeface="Times New Roman"/>
                <a:cs typeface="Times New Roman"/>
              </a:rPr>
              <a:t>with </a:t>
            </a:r>
            <a:r>
              <a:rPr sz="2500" b="1" dirty="0">
                <a:latin typeface="Times New Roman"/>
                <a:cs typeface="Times New Roman"/>
              </a:rPr>
              <a:t>an</a:t>
            </a:r>
            <a:r>
              <a:rPr sz="2500" b="1" spc="1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appreciation</a:t>
            </a:r>
            <a:r>
              <a:rPr sz="2500" b="1" spc="1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1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1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network's</a:t>
            </a:r>
            <a:r>
              <a:rPr sz="2500" b="1" spc="18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weights</a:t>
            </a:r>
            <a:r>
              <a:rPr sz="2500" b="1" spc="1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1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biases</a:t>
            </a:r>
            <a:r>
              <a:rPr sz="2500" b="1" spc="1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is</a:t>
            </a:r>
            <a:r>
              <a:rPr sz="2500" b="1" spc="1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calculated</a:t>
            </a:r>
            <a:r>
              <a:rPr sz="2500" b="1" spc="17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with</a:t>
            </a:r>
            <a:r>
              <a:rPr sz="2500" b="1" spc="17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1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use</a:t>
            </a:r>
            <a:r>
              <a:rPr sz="2500" b="1" spc="17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165" dirty="0">
                <a:latin typeface="Times New Roman"/>
                <a:cs typeface="Times New Roman"/>
              </a:rPr>
              <a:t> </a:t>
            </a:r>
            <a:r>
              <a:rPr sz="2500" b="1" spc="-25" dirty="0">
                <a:latin typeface="Times New Roman"/>
                <a:cs typeface="Times New Roman"/>
              </a:rPr>
              <a:t>the </a:t>
            </a:r>
            <a:r>
              <a:rPr sz="2500" b="1" dirty="0">
                <a:latin typeface="Times New Roman"/>
                <a:cs typeface="Times New Roman"/>
              </a:rPr>
              <a:t>chain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rule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calculus</a:t>
            </a:r>
            <a:r>
              <a:rPr sz="2500" spc="-1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10"/>
              </a:spcBef>
            </a:pPr>
            <a:endParaRPr sz="2500">
              <a:latin typeface="Times New Roman"/>
              <a:cs typeface="Times New Roman"/>
            </a:endParaRPr>
          </a:p>
          <a:p>
            <a:pPr marL="173990" marR="182880" indent="12065" algn="ctr">
              <a:lnSpc>
                <a:spcPct val="100000"/>
              </a:lnSpc>
            </a:pP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500" b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objective</a:t>
            </a:r>
            <a:r>
              <a:rPr sz="25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5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backpropagation</a:t>
            </a:r>
            <a:r>
              <a:rPr sz="2500" b="1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5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25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minimize</a:t>
            </a:r>
            <a:r>
              <a:rPr sz="2500" b="1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5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error</a:t>
            </a:r>
            <a:r>
              <a:rPr sz="2500" b="1" spc="-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(or</a:t>
            </a:r>
            <a:r>
              <a:rPr sz="2500" b="1" spc="-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loss)</a:t>
            </a:r>
            <a:r>
              <a:rPr sz="25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between</a:t>
            </a:r>
            <a:r>
              <a:rPr sz="25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the 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predicted</a:t>
            </a:r>
            <a:r>
              <a:rPr sz="25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output</a:t>
            </a:r>
            <a:r>
              <a:rPr sz="25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5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5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neural</a:t>
            </a:r>
            <a:r>
              <a:rPr sz="25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network</a:t>
            </a:r>
            <a:r>
              <a:rPr sz="25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25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5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actual</a:t>
            </a:r>
            <a:r>
              <a:rPr sz="25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target</a:t>
            </a:r>
            <a:r>
              <a:rPr sz="25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output.</a:t>
            </a:r>
            <a:r>
              <a:rPr sz="25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This</a:t>
            </a:r>
            <a:r>
              <a:rPr sz="25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5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achieved</a:t>
            </a:r>
            <a:r>
              <a:rPr sz="25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by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systematically</a:t>
            </a:r>
            <a:r>
              <a:rPr sz="25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adjusting</a:t>
            </a:r>
            <a:r>
              <a:rPr sz="25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5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weights</a:t>
            </a:r>
            <a:r>
              <a:rPr sz="25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5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5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network</a:t>
            </a:r>
            <a:r>
              <a:rPr sz="25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connections</a:t>
            </a:r>
            <a:r>
              <a:rPr sz="2500" b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25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make</a:t>
            </a:r>
            <a:r>
              <a:rPr sz="2500" b="1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5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network’s predictions</a:t>
            </a:r>
            <a:r>
              <a:rPr sz="2500" b="1" spc="-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more</a:t>
            </a:r>
            <a:r>
              <a:rPr sz="25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accurate</a:t>
            </a:r>
            <a:r>
              <a:rPr sz="25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C00000"/>
                </a:solidFill>
                <a:latin typeface="Times New Roman"/>
                <a:cs typeface="Times New Roman"/>
              </a:rPr>
              <a:t>over</a:t>
            </a:r>
            <a:r>
              <a:rPr sz="2500" b="1" spc="-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time.</a:t>
            </a:r>
            <a:endParaRPr sz="25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7581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019" y="576364"/>
            <a:ext cx="10773156" cy="563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51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659" y="40336"/>
            <a:ext cx="12013565" cy="63344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5240" indent="-342900" algn="just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540" dirty="0">
                <a:latin typeface="Times New Roman"/>
                <a:cs typeface="Times New Roman"/>
              </a:rPr>
              <a:t> </a:t>
            </a:r>
            <a:r>
              <a:rPr lang="en-US" sz="2500" dirty="0" smtClean="0">
                <a:latin typeface="Times New Roman"/>
                <a:cs typeface="Times New Roman"/>
              </a:rPr>
              <a:t>Deep</a:t>
            </a:r>
            <a:r>
              <a:rPr sz="2500" spc="535" dirty="0" smtClean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learning,</a:t>
            </a:r>
            <a:r>
              <a:rPr sz="2500" spc="5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backpropagation</a:t>
            </a:r>
            <a:r>
              <a:rPr sz="2500" spc="5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5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</a:t>
            </a:r>
            <a:r>
              <a:rPr sz="2500" spc="5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effective</a:t>
            </a:r>
            <a:r>
              <a:rPr sz="2500" spc="5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algorithm</a:t>
            </a:r>
            <a:r>
              <a:rPr sz="2500" spc="5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used</a:t>
            </a:r>
            <a:r>
              <a:rPr sz="2500" spc="5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5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train</a:t>
            </a:r>
            <a:r>
              <a:rPr sz="2500" spc="57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artificial </a:t>
            </a:r>
            <a:r>
              <a:rPr sz="2500" dirty="0">
                <a:latin typeface="Times New Roman"/>
                <a:cs typeface="Times New Roman"/>
              </a:rPr>
              <a:t>neural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networks,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especially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feed-</a:t>
            </a:r>
            <a:r>
              <a:rPr sz="2500" dirty="0">
                <a:latin typeface="Times New Roman"/>
                <a:cs typeface="Times New Roman"/>
              </a:rPr>
              <a:t>forward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neural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networks</a:t>
            </a:r>
            <a:r>
              <a:rPr sz="2500" spc="-10" dirty="0" smtClean="0">
                <a:latin typeface="Times New Roman"/>
                <a:cs typeface="Times New Roman"/>
              </a:rPr>
              <a:t>.</a:t>
            </a:r>
            <a:endParaRPr lang="en-US" sz="2500" spc="-10" dirty="0" smtClean="0">
              <a:latin typeface="Times New Roman"/>
              <a:cs typeface="Times New Roman"/>
            </a:endParaRPr>
          </a:p>
          <a:p>
            <a:pPr marL="355600" marR="15240" indent="-342900" algn="just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55600" algn="l"/>
              </a:tabLst>
            </a:pPr>
            <a:endParaRPr sz="25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Backpropagation</a:t>
            </a:r>
            <a:r>
              <a:rPr sz="2500" spc="45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4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</a:t>
            </a:r>
            <a:r>
              <a:rPr sz="2500" spc="4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iterative</a:t>
            </a:r>
            <a:r>
              <a:rPr sz="2500" spc="4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algorithm,</a:t>
            </a:r>
            <a:r>
              <a:rPr sz="2500" spc="45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that</a:t>
            </a:r>
            <a:r>
              <a:rPr sz="2500" spc="45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helps</a:t>
            </a:r>
            <a:r>
              <a:rPr sz="2500" spc="4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4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minimize</a:t>
            </a:r>
            <a:r>
              <a:rPr sz="2500" spc="4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45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cost</a:t>
            </a:r>
            <a:r>
              <a:rPr sz="2500" spc="4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function</a:t>
            </a:r>
            <a:r>
              <a:rPr sz="2500" spc="46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by </a:t>
            </a:r>
            <a:r>
              <a:rPr sz="2500" dirty="0">
                <a:latin typeface="Times New Roman"/>
                <a:cs typeface="Times New Roman"/>
              </a:rPr>
              <a:t>determining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which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weights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biases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should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adjusted</a:t>
            </a:r>
            <a:r>
              <a:rPr sz="2500" spc="-10" dirty="0" smtClean="0">
                <a:latin typeface="Times New Roman"/>
                <a:cs typeface="Times New Roman"/>
              </a:rPr>
              <a:t>.</a:t>
            </a:r>
            <a:endParaRPr lang="en-US" sz="2500" spc="-10" dirty="0" smtClean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endParaRPr sz="2500" dirty="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605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During</a:t>
            </a:r>
            <a:r>
              <a:rPr sz="2500" spc="1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every</a:t>
            </a:r>
            <a:r>
              <a:rPr sz="2500" spc="1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epoch,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model</a:t>
            </a:r>
            <a:r>
              <a:rPr sz="2500" spc="1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learns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</a:t>
            </a:r>
            <a:r>
              <a:rPr sz="2500" spc="1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adapting</a:t>
            </a:r>
            <a:r>
              <a:rPr sz="2500" spc="1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weights</a:t>
            </a:r>
            <a:r>
              <a:rPr sz="2500" spc="1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biases</a:t>
            </a:r>
            <a:r>
              <a:rPr sz="2500" spc="1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1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minimize</a:t>
            </a:r>
            <a:r>
              <a:rPr sz="2500" spc="12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the </a:t>
            </a:r>
            <a:r>
              <a:rPr sz="2500" dirty="0">
                <a:latin typeface="Times New Roman"/>
                <a:cs typeface="Times New Roman"/>
              </a:rPr>
              <a:t>loss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moving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down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toward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gradient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error</a:t>
            </a:r>
            <a:r>
              <a:rPr sz="2500" spc="-10" dirty="0" smtClean="0">
                <a:latin typeface="Times New Roman"/>
                <a:cs typeface="Times New Roman"/>
              </a:rPr>
              <a:t>.</a:t>
            </a:r>
            <a:endParaRPr lang="en-US" sz="2500" spc="-10" dirty="0" smtClean="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605"/>
              </a:spcBef>
              <a:buFont typeface="Wingdings"/>
              <a:buChar char=""/>
              <a:tabLst>
                <a:tab pos="355600" algn="l"/>
              </a:tabLst>
            </a:pPr>
            <a:endParaRPr sz="25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Thus,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involves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two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most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popular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optimization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algorithms,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such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gradient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descent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or </a:t>
            </a:r>
            <a:r>
              <a:rPr sz="2500" dirty="0">
                <a:latin typeface="Times New Roman"/>
                <a:cs typeface="Times New Roman"/>
              </a:rPr>
              <a:t>stochastic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gradient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descent</a:t>
            </a:r>
            <a:r>
              <a:rPr sz="2500" spc="-10" dirty="0" smtClean="0">
                <a:latin typeface="Times New Roman"/>
                <a:cs typeface="Times New Roman"/>
              </a:rPr>
              <a:t>.</a:t>
            </a:r>
            <a:endParaRPr lang="en-US" sz="2500" spc="-10" dirty="0" smtClean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endParaRPr sz="2500" dirty="0">
              <a:latin typeface="Times New Roman"/>
              <a:cs typeface="Times New Roman"/>
            </a:endParaRPr>
          </a:p>
          <a:p>
            <a:pPr marL="355600" marR="8255" indent="-342900" algn="just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Computing</a:t>
            </a:r>
            <a:r>
              <a:rPr sz="2500" spc="5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5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gradient</a:t>
            </a:r>
            <a:r>
              <a:rPr sz="2500" spc="5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5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5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backpropagation</a:t>
            </a:r>
            <a:r>
              <a:rPr sz="2500" spc="6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algorithm</a:t>
            </a:r>
            <a:r>
              <a:rPr sz="2500" spc="5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helps</a:t>
            </a:r>
            <a:r>
              <a:rPr sz="2500" spc="5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6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minimize</a:t>
            </a:r>
            <a:r>
              <a:rPr sz="2500" spc="6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58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cost </a:t>
            </a:r>
            <a:r>
              <a:rPr sz="2500" dirty="0">
                <a:latin typeface="Times New Roman"/>
                <a:cs typeface="Times New Roman"/>
              </a:rPr>
              <a:t>function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it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can</a:t>
            </a:r>
            <a:r>
              <a:rPr sz="2500" spc="1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implemented</a:t>
            </a:r>
            <a:r>
              <a:rPr sz="2500" spc="1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using</a:t>
            </a:r>
            <a:r>
              <a:rPr sz="2500" spc="1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mathematical</a:t>
            </a:r>
            <a:r>
              <a:rPr sz="2500" spc="1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rule</a:t>
            </a:r>
            <a:r>
              <a:rPr sz="2500" spc="1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called</a:t>
            </a:r>
            <a:r>
              <a:rPr sz="2500" spc="1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chain</a:t>
            </a:r>
            <a:r>
              <a:rPr sz="2500" spc="1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rule</a:t>
            </a:r>
            <a:r>
              <a:rPr sz="2500" spc="1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from </a:t>
            </a:r>
            <a:r>
              <a:rPr sz="2500" dirty="0">
                <a:latin typeface="Times New Roman"/>
                <a:cs typeface="Times New Roman"/>
              </a:rPr>
              <a:t>calculus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navigate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through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complex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layers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neural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network.</a:t>
            </a:r>
            <a:endParaRPr sz="25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402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937" y="1481779"/>
            <a:ext cx="11482705" cy="2474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64565" marR="5080" indent="-952500">
              <a:lnSpc>
                <a:spcPct val="100000"/>
              </a:lnSpc>
              <a:spcBef>
                <a:spcPts val="95"/>
              </a:spcBef>
            </a:pPr>
            <a:r>
              <a:rPr lang="en-US" sz="3200" b="1" smtClean="0"/>
              <a:t/>
            </a:r>
            <a:br>
              <a:rPr lang="en-US" sz="3200" b="1" smtClean="0"/>
            </a:br>
            <a:r>
              <a:rPr lang="en-US" sz="3200" b="1"/>
              <a:t/>
            </a:r>
            <a:br>
              <a:rPr lang="en-US" sz="3200" b="1"/>
            </a:br>
            <a:r>
              <a:rPr sz="3200" b="1" smtClean="0"/>
              <a:t>Some</a:t>
            </a:r>
            <a:r>
              <a:rPr sz="3200" b="1" spc="-105" smtClean="0"/>
              <a:t> </a:t>
            </a:r>
            <a:r>
              <a:rPr sz="3200" b="1" dirty="0"/>
              <a:t>problems</a:t>
            </a:r>
            <a:r>
              <a:rPr sz="3200" b="1" spc="-50" dirty="0"/>
              <a:t> </a:t>
            </a:r>
            <a:r>
              <a:rPr sz="3200" b="1" spc="-20" dirty="0"/>
              <a:t>in</a:t>
            </a:r>
            <a:r>
              <a:rPr sz="3200" b="1" spc="-165" dirty="0"/>
              <a:t> </a:t>
            </a:r>
            <a:r>
              <a:rPr sz="3200" b="1" dirty="0"/>
              <a:t>ANN</a:t>
            </a:r>
            <a:r>
              <a:rPr sz="3200" b="1" spc="-80" dirty="0"/>
              <a:t> </a:t>
            </a:r>
            <a:r>
              <a:rPr sz="3200" b="1" dirty="0"/>
              <a:t>Optimization</a:t>
            </a:r>
            <a:r>
              <a:rPr sz="3200" b="1" spc="-20" dirty="0"/>
              <a:t> </a:t>
            </a:r>
            <a:r>
              <a:rPr sz="3200" b="1" dirty="0"/>
              <a:t>and</a:t>
            </a:r>
            <a:r>
              <a:rPr sz="3200" b="1" spc="-105" dirty="0"/>
              <a:t> </a:t>
            </a:r>
            <a:r>
              <a:rPr sz="3200" b="1" dirty="0"/>
              <a:t>Regularization</a:t>
            </a:r>
            <a:r>
              <a:rPr sz="3200" b="1"/>
              <a:t>:</a:t>
            </a:r>
            <a:r>
              <a:rPr sz="3200" b="1" spc="-40"/>
              <a:t> </a:t>
            </a:r>
            <a:r>
              <a:rPr lang="en-US" sz="3200" b="1" spc="-40" smtClean="0"/>
              <a:t/>
            </a:r>
            <a:br>
              <a:rPr lang="en-US" sz="3200" b="1" spc="-40" smtClean="0"/>
            </a:br>
            <a:r>
              <a:rPr sz="3200" b="1" smtClean="0"/>
              <a:t>Over</a:t>
            </a:r>
            <a:r>
              <a:rPr sz="3200" b="1" spc="-110" smtClean="0"/>
              <a:t> </a:t>
            </a:r>
            <a:r>
              <a:rPr sz="3200" b="1" dirty="0"/>
              <a:t>fitting</a:t>
            </a:r>
            <a:r>
              <a:rPr sz="3200" b="1" spc="-65" dirty="0"/>
              <a:t> </a:t>
            </a:r>
            <a:r>
              <a:rPr sz="3200" b="1" dirty="0"/>
              <a:t>and</a:t>
            </a:r>
            <a:r>
              <a:rPr sz="3200" b="1" spc="-95" dirty="0"/>
              <a:t> </a:t>
            </a:r>
            <a:r>
              <a:rPr sz="3200" b="1" spc="-10" dirty="0"/>
              <a:t>Capacity, </a:t>
            </a:r>
            <a:r>
              <a:rPr sz="3200" b="1" dirty="0"/>
              <a:t>Cross</a:t>
            </a:r>
            <a:r>
              <a:rPr sz="3200" b="1" spc="-135" dirty="0"/>
              <a:t> </a:t>
            </a:r>
            <a:r>
              <a:rPr sz="3200" b="1" spc="-20" dirty="0"/>
              <a:t>Validation</a:t>
            </a:r>
            <a:r>
              <a:rPr sz="3200" b="1" spc="-20"/>
              <a:t>,</a:t>
            </a:r>
            <a:r>
              <a:rPr sz="3200" b="1" spc="-105"/>
              <a:t> </a:t>
            </a:r>
            <a:r>
              <a:rPr lang="en-US" sz="3200" b="1" spc="-105" smtClean="0"/>
              <a:t/>
            </a:r>
            <a:br>
              <a:rPr lang="en-US" sz="3200" b="1" spc="-105" smtClean="0"/>
            </a:br>
            <a:r>
              <a:rPr sz="3200" b="1" smtClean="0"/>
              <a:t>Feature</a:t>
            </a:r>
            <a:r>
              <a:rPr sz="3200" b="1" spc="-75" smtClean="0"/>
              <a:t> </a:t>
            </a:r>
            <a:r>
              <a:rPr sz="3200" b="1" dirty="0"/>
              <a:t>Selection,</a:t>
            </a:r>
            <a:r>
              <a:rPr sz="3200" b="1" spc="-60" dirty="0"/>
              <a:t> </a:t>
            </a:r>
            <a:r>
              <a:rPr sz="3200" b="1" spc="-10" dirty="0"/>
              <a:t>Regularization,</a:t>
            </a:r>
            <a:r>
              <a:rPr sz="3200" b="1" spc="-75" dirty="0"/>
              <a:t> </a:t>
            </a:r>
            <a:r>
              <a:rPr sz="3200" b="1" dirty="0"/>
              <a:t>Hyper</a:t>
            </a:r>
            <a:r>
              <a:rPr sz="3200" b="1" spc="-114" dirty="0"/>
              <a:t> </a:t>
            </a:r>
            <a:r>
              <a:rPr sz="3200" b="1" spc="-10" dirty="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3666799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0961" y="619126"/>
            <a:ext cx="10675739" cy="5768027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1800" b="1" dirty="0" smtClean="0">
                <a:solidFill>
                  <a:srgbClr val="FF0000"/>
                </a:solidFill>
              </a:rPr>
              <a:t>Capacity, Over fitting, and Under fitting</a:t>
            </a:r>
          </a:p>
          <a:p>
            <a:pPr algn="just" fontAlgn="base"/>
            <a:r>
              <a:rPr lang="en-US" sz="1800" dirty="0" smtClean="0">
                <a:solidFill>
                  <a:schemeClr val="tx1"/>
                </a:solidFill>
              </a:rPr>
              <a:t>In deep learning, </a:t>
            </a:r>
            <a:r>
              <a:rPr lang="en-US" sz="1800" b="1" dirty="0" smtClean="0">
                <a:solidFill>
                  <a:srgbClr val="FF0000"/>
                </a:solidFill>
              </a:rPr>
              <a:t>capacity</a:t>
            </a:r>
            <a:r>
              <a:rPr lang="en-US" sz="1800" dirty="0" smtClean="0">
                <a:solidFill>
                  <a:schemeClr val="tx1"/>
                </a:solidFill>
              </a:rPr>
              <a:t> refers to a model's ability to learn complex patterns from data. It essentially determines how well a model can fit various functions and capture intricate relationships within a dataset. A model's capacity is influenced by its architecture (number of layers and nodes) and the amount of data it's trained on. </a:t>
            </a:r>
          </a:p>
          <a:p>
            <a:pPr algn="just" fontAlgn="base"/>
            <a:r>
              <a:rPr lang="en-IN" sz="1800" dirty="0" smtClean="0">
                <a:solidFill>
                  <a:schemeClr val="tx1"/>
                </a:solidFill>
              </a:rPr>
              <a:t>Deep </a:t>
            </a:r>
            <a:r>
              <a:rPr lang="en-IN" sz="1800" dirty="0">
                <a:solidFill>
                  <a:schemeClr val="tx1"/>
                </a:solidFill>
              </a:rPr>
              <a:t>learning models aim to perform well on </a:t>
            </a:r>
            <a:r>
              <a:rPr lang="en-IN" sz="1800" b="1" dirty="0">
                <a:solidFill>
                  <a:schemeClr val="tx1"/>
                </a:solidFill>
              </a:rPr>
              <a:t>both training data </a:t>
            </a:r>
            <a:r>
              <a:rPr lang="en-IN" sz="1800" dirty="0">
                <a:solidFill>
                  <a:schemeClr val="tx1"/>
                </a:solidFill>
              </a:rPr>
              <a:t>and </a:t>
            </a:r>
            <a:r>
              <a:rPr lang="en-IN" sz="1800" b="1" dirty="0">
                <a:solidFill>
                  <a:schemeClr val="tx1"/>
                </a:solidFill>
              </a:rPr>
              <a:t>new, unseen data </a:t>
            </a:r>
            <a:r>
              <a:rPr lang="en-IN" sz="1800" dirty="0">
                <a:solidFill>
                  <a:schemeClr val="tx1"/>
                </a:solidFill>
              </a:rPr>
              <a:t>and is considered "good" if:</a:t>
            </a:r>
          </a:p>
          <a:p>
            <a:pPr marL="285750" indent="-285750" algn="just" fontAlgn="base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 </a:t>
            </a:r>
            <a:r>
              <a:rPr lang="en-IN" sz="1800" dirty="0" smtClean="0">
                <a:solidFill>
                  <a:schemeClr val="tx1"/>
                </a:solidFill>
              </a:rPr>
              <a:t>It </a:t>
            </a:r>
            <a:r>
              <a:rPr lang="en-IN" sz="1800" dirty="0">
                <a:solidFill>
                  <a:schemeClr val="tx1"/>
                </a:solidFill>
              </a:rPr>
              <a:t>learns patterns effectively from the training data.</a:t>
            </a:r>
          </a:p>
          <a:p>
            <a:pPr marL="285750" lvl="0" indent="-285750" algn="just" fontAlgn="base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It generalizes well to new, unseen data.</a:t>
            </a:r>
          </a:p>
          <a:p>
            <a:pPr marL="285750" lvl="0" indent="-285750" algn="just" fontAlgn="base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</a:rPr>
              <a:t>It avoids memorizing the training data (</a:t>
            </a:r>
            <a:r>
              <a:rPr lang="en-IN" sz="1800" b="1" dirty="0" err="1">
                <a:solidFill>
                  <a:schemeClr val="tx1"/>
                </a:solidFill>
              </a:rPr>
              <a:t>overfitting</a:t>
            </a:r>
            <a:r>
              <a:rPr lang="en-IN" sz="1800" b="1" dirty="0">
                <a:solidFill>
                  <a:schemeClr val="tx1"/>
                </a:solidFill>
              </a:rPr>
              <a:t>) </a:t>
            </a:r>
            <a:r>
              <a:rPr lang="en-IN" sz="1800" dirty="0">
                <a:solidFill>
                  <a:schemeClr val="tx1"/>
                </a:solidFill>
              </a:rPr>
              <a:t>or </a:t>
            </a:r>
            <a:r>
              <a:rPr lang="en-IN" sz="1800" b="1" dirty="0">
                <a:solidFill>
                  <a:schemeClr val="tx1"/>
                </a:solidFill>
              </a:rPr>
              <a:t>failing to capture relevant patterns (</a:t>
            </a:r>
            <a:r>
              <a:rPr lang="en-IN" sz="1800" b="1" dirty="0" err="1">
                <a:solidFill>
                  <a:schemeClr val="tx1"/>
                </a:solidFill>
              </a:rPr>
              <a:t>underfitting</a:t>
            </a:r>
            <a:r>
              <a:rPr lang="en-IN" sz="1800" b="1" dirty="0">
                <a:solidFill>
                  <a:schemeClr val="tx1"/>
                </a:solidFill>
              </a:rPr>
              <a:t>).</a:t>
            </a:r>
          </a:p>
          <a:p>
            <a:pPr algn="just">
              <a:lnSpc>
                <a:spcPct val="100000"/>
              </a:lnSpc>
            </a:pPr>
            <a:endParaRPr lang="en-IN" sz="1800" dirty="0" smtClean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IN" sz="1800" dirty="0" smtClean="0">
                <a:solidFill>
                  <a:schemeClr val="tx1"/>
                </a:solidFill>
              </a:rPr>
              <a:t>To </a:t>
            </a:r>
            <a:r>
              <a:rPr lang="en-IN" sz="1800" dirty="0">
                <a:solidFill>
                  <a:schemeClr val="tx1"/>
                </a:solidFill>
              </a:rPr>
              <a:t>evaluate </a:t>
            </a:r>
            <a:r>
              <a:rPr lang="en-IN" sz="1800" b="1" dirty="0">
                <a:solidFill>
                  <a:schemeClr val="tx1"/>
                </a:solidFill>
              </a:rPr>
              <a:t>how well a model learns and generalizes</a:t>
            </a:r>
            <a:r>
              <a:rPr lang="en-IN" sz="1800" dirty="0">
                <a:solidFill>
                  <a:schemeClr val="tx1"/>
                </a:solidFill>
              </a:rPr>
              <a:t>, </a:t>
            </a:r>
            <a:r>
              <a:rPr lang="en-IN" sz="1800" b="1" dirty="0">
                <a:solidFill>
                  <a:schemeClr val="tx1"/>
                </a:solidFill>
              </a:rPr>
              <a:t>we monitor its performance on both the training data </a:t>
            </a:r>
            <a:r>
              <a:rPr lang="en-IN" sz="1800" dirty="0">
                <a:solidFill>
                  <a:schemeClr val="tx1"/>
                </a:solidFill>
              </a:rPr>
              <a:t>and a separate validation or test dataset which is often measured by its </a:t>
            </a:r>
            <a:r>
              <a:rPr lang="en-IN" sz="1800" b="1" dirty="0">
                <a:solidFill>
                  <a:schemeClr val="tx1"/>
                </a:solidFill>
              </a:rPr>
              <a:t>accuracy</a:t>
            </a:r>
            <a:r>
              <a:rPr lang="en-IN" sz="1800" dirty="0">
                <a:solidFill>
                  <a:schemeClr val="tx1"/>
                </a:solidFill>
              </a:rPr>
              <a:t> or </a:t>
            </a:r>
            <a:r>
              <a:rPr lang="en-IN" sz="1800" b="1" dirty="0">
                <a:solidFill>
                  <a:schemeClr val="tx1"/>
                </a:solidFill>
              </a:rPr>
              <a:t>prediction errors</a:t>
            </a:r>
            <a:r>
              <a:rPr lang="en-IN" sz="18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00000"/>
              </a:lnSpc>
            </a:pPr>
            <a:endParaRPr lang="en-IN" sz="1800" dirty="0">
              <a:solidFill>
                <a:schemeClr val="tx1"/>
              </a:solidFill>
            </a:endParaRPr>
          </a:p>
          <a:p>
            <a:pPr marL="285750" lvl="0" indent="-285750" algn="just" fontAlgn="base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Two common issues that affect a model's performance and generalization ability are </a:t>
            </a:r>
            <a:r>
              <a:rPr lang="en-IN" sz="1800" b="1" dirty="0" err="1">
                <a:solidFill>
                  <a:schemeClr val="tx1"/>
                </a:solidFill>
              </a:rPr>
              <a:t>overfitting</a:t>
            </a:r>
            <a:r>
              <a:rPr lang="en-IN" sz="1800" dirty="0">
                <a:solidFill>
                  <a:schemeClr val="tx1"/>
                </a:solidFill>
              </a:rPr>
              <a:t> and </a:t>
            </a:r>
            <a:r>
              <a:rPr lang="en-IN" sz="1800" b="1" dirty="0" err="1">
                <a:solidFill>
                  <a:schemeClr val="tx1"/>
                </a:solidFill>
              </a:rPr>
              <a:t>underfitting</a:t>
            </a:r>
            <a:r>
              <a:rPr lang="en-IN" sz="1800" dirty="0">
                <a:solidFill>
                  <a:schemeClr val="tx1"/>
                </a:solidFill>
              </a:rPr>
              <a:t>. </a:t>
            </a:r>
            <a:endParaRPr lang="en-IN" sz="1800" dirty="0" smtClean="0">
              <a:solidFill>
                <a:schemeClr val="tx1"/>
              </a:solidFill>
            </a:endParaRPr>
          </a:p>
          <a:p>
            <a:pPr lvl="0" algn="just" fontAlgn="base"/>
            <a:endParaRPr lang="en-IN" sz="1800" dirty="0">
              <a:solidFill>
                <a:schemeClr val="tx1"/>
              </a:solidFill>
            </a:endParaRPr>
          </a:p>
          <a:p>
            <a:pPr marL="285750" lvl="0" indent="-285750" algn="just" fontAlgn="base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These problems are major contributors to poor performance in machine learning models. 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IN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62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9555162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19200" y="4724400"/>
            <a:ext cx="3581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/>
            <a:r>
              <a:rPr lang="en-US" b="1"/>
              <a:t>Reasons for Overfitting:</a:t>
            </a:r>
            <a:endParaRPr lang="en-US"/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b="1"/>
              <a:t> </a:t>
            </a:r>
            <a:r>
              <a:rPr lang="en-US"/>
              <a:t>High variance and low bias.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/>
              <a:t>The model is too complex.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/>
              <a:t>The size of the training data.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042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659" y="-10515"/>
            <a:ext cx="12014200" cy="509113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00"/>
              </a:spcBef>
            </a:pPr>
            <a:r>
              <a:rPr sz="25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Cross-Validation</a:t>
            </a:r>
            <a:r>
              <a:rPr sz="25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5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25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500" b="1" spc="-25" dirty="0" smtClean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endParaRPr sz="2500" dirty="0">
              <a:latin typeface="Times New Roman"/>
              <a:cs typeface="Times New Roman"/>
            </a:endParaRPr>
          </a:p>
          <a:p>
            <a:pPr marL="355600" marR="11430" indent="-342900" algn="just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b="1" dirty="0">
                <a:latin typeface="Times New Roman"/>
                <a:cs typeface="Times New Roman"/>
              </a:rPr>
              <a:t>Cross</a:t>
            </a:r>
            <a:r>
              <a:rPr sz="2500" b="1" spc="3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validation</a:t>
            </a:r>
            <a:r>
              <a:rPr sz="2500" b="1" spc="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is</a:t>
            </a:r>
            <a:r>
              <a:rPr sz="2500" b="1" spc="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technique</a:t>
            </a:r>
            <a:r>
              <a:rPr sz="2500" b="1" spc="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used</a:t>
            </a:r>
            <a:r>
              <a:rPr sz="2500" b="1" spc="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in</a:t>
            </a:r>
            <a:r>
              <a:rPr sz="2500" b="1" spc="35" dirty="0">
                <a:latin typeface="Times New Roman"/>
                <a:cs typeface="Times New Roman"/>
              </a:rPr>
              <a:t> </a:t>
            </a:r>
            <a:r>
              <a:rPr lang="en-US" sz="2500" b="1" dirty="0" smtClean="0">
                <a:latin typeface="Times New Roman"/>
                <a:cs typeface="Times New Roman"/>
              </a:rPr>
              <a:t>Deep</a:t>
            </a:r>
            <a:r>
              <a:rPr sz="2500" b="1" spc="30" dirty="0" smtClean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learning</a:t>
            </a:r>
            <a:r>
              <a:rPr sz="2500" b="1" spc="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to</a:t>
            </a:r>
            <a:r>
              <a:rPr sz="2500" b="1" spc="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evaluate</a:t>
            </a:r>
            <a:r>
              <a:rPr sz="2500" b="1" spc="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4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performance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-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-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model</a:t>
            </a:r>
            <a:r>
              <a:rPr sz="2500" b="1" spc="3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on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unseen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data.</a:t>
            </a:r>
            <a:endParaRPr sz="2500" dirty="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b="1" dirty="0">
                <a:latin typeface="Times New Roman"/>
                <a:cs typeface="Times New Roman"/>
              </a:rPr>
              <a:t>It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involves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dividing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available</a:t>
            </a:r>
            <a:r>
              <a:rPr sz="2500" b="1" spc="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data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into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multiple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folds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or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subsets,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using</a:t>
            </a:r>
            <a:r>
              <a:rPr sz="2500" b="1" spc="-1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one</a:t>
            </a:r>
            <a:r>
              <a:rPr sz="2500" b="1" spc="-1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these </a:t>
            </a:r>
            <a:r>
              <a:rPr sz="2500" b="1" dirty="0">
                <a:latin typeface="Times New Roman"/>
                <a:cs typeface="Times New Roman"/>
              </a:rPr>
              <a:t>folds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as</a:t>
            </a:r>
            <a:r>
              <a:rPr sz="2500" b="1" spc="-8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validation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set,</a:t>
            </a:r>
            <a:r>
              <a:rPr sz="2500" b="1" spc="-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-9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training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model on</a:t>
            </a:r>
            <a:r>
              <a:rPr sz="2500" b="1" spc="-8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remaining</a:t>
            </a:r>
            <a:r>
              <a:rPr sz="2500" b="1" spc="3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folds.</a:t>
            </a:r>
            <a:endParaRPr sz="25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b="1" dirty="0">
                <a:latin typeface="Times New Roman"/>
                <a:cs typeface="Times New Roman"/>
              </a:rPr>
              <a:t>This</a:t>
            </a:r>
            <a:r>
              <a:rPr sz="2500" b="1" spc="15" dirty="0">
                <a:latin typeface="Times New Roman"/>
                <a:cs typeface="Times New Roman"/>
              </a:rPr>
              <a:t>  </a:t>
            </a:r>
            <a:r>
              <a:rPr sz="2500" b="1" dirty="0">
                <a:latin typeface="Times New Roman"/>
                <a:cs typeface="Times New Roman"/>
              </a:rPr>
              <a:t>process</a:t>
            </a:r>
            <a:r>
              <a:rPr sz="2500" b="1" spc="20" dirty="0">
                <a:latin typeface="Times New Roman"/>
                <a:cs typeface="Times New Roman"/>
              </a:rPr>
              <a:t>  </a:t>
            </a:r>
            <a:r>
              <a:rPr sz="2500" b="1" dirty="0">
                <a:latin typeface="Times New Roman"/>
                <a:cs typeface="Times New Roman"/>
              </a:rPr>
              <a:t>is</a:t>
            </a:r>
            <a:r>
              <a:rPr sz="2500" b="1" spc="20" dirty="0">
                <a:latin typeface="Times New Roman"/>
                <a:cs typeface="Times New Roman"/>
              </a:rPr>
              <a:t>  </a:t>
            </a:r>
            <a:r>
              <a:rPr sz="2500" b="1" dirty="0">
                <a:latin typeface="Times New Roman"/>
                <a:cs typeface="Times New Roman"/>
              </a:rPr>
              <a:t>repeated</a:t>
            </a:r>
            <a:r>
              <a:rPr sz="2500" b="1" spc="20" dirty="0">
                <a:latin typeface="Times New Roman"/>
                <a:cs typeface="Times New Roman"/>
              </a:rPr>
              <a:t>  </a:t>
            </a:r>
            <a:r>
              <a:rPr sz="2500" b="1" dirty="0">
                <a:latin typeface="Times New Roman"/>
                <a:cs typeface="Times New Roman"/>
              </a:rPr>
              <a:t>multiple</a:t>
            </a:r>
            <a:r>
              <a:rPr sz="2500" b="1" spc="15" dirty="0">
                <a:latin typeface="Times New Roman"/>
                <a:cs typeface="Times New Roman"/>
              </a:rPr>
              <a:t>  </a:t>
            </a:r>
            <a:r>
              <a:rPr sz="2500" b="1" dirty="0">
                <a:latin typeface="Times New Roman"/>
                <a:cs typeface="Times New Roman"/>
              </a:rPr>
              <a:t>times,</a:t>
            </a:r>
            <a:r>
              <a:rPr sz="2500" b="1" spc="15" dirty="0">
                <a:latin typeface="Times New Roman"/>
                <a:cs typeface="Times New Roman"/>
              </a:rPr>
              <a:t>  </a:t>
            </a:r>
            <a:r>
              <a:rPr sz="2500" b="1" dirty="0">
                <a:latin typeface="Times New Roman"/>
                <a:cs typeface="Times New Roman"/>
              </a:rPr>
              <a:t>each</a:t>
            </a:r>
            <a:r>
              <a:rPr sz="2500" b="1" spc="20" dirty="0">
                <a:latin typeface="Times New Roman"/>
                <a:cs typeface="Times New Roman"/>
              </a:rPr>
              <a:t>  </a:t>
            </a:r>
            <a:r>
              <a:rPr sz="2500" b="1" dirty="0">
                <a:latin typeface="Times New Roman"/>
                <a:cs typeface="Times New Roman"/>
              </a:rPr>
              <a:t>time</a:t>
            </a:r>
            <a:r>
              <a:rPr sz="2500" b="1" spc="25" dirty="0">
                <a:latin typeface="Times New Roman"/>
                <a:cs typeface="Times New Roman"/>
              </a:rPr>
              <a:t>  </a:t>
            </a:r>
            <a:r>
              <a:rPr sz="2500" b="1" dirty="0">
                <a:latin typeface="Times New Roman"/>
                <a:cs typeface="Times New Roman"/>
              </a:rPr>
              <a:t>using</a:t>
            </a:r>
            <a:r>
              <a:rPr sz="2500" b="1" spc="15" dirty="0">
                <a:latin typeface="Times New Roman"/>
                <a:cs typeface="Times New Roman"/>
              </a:rPr>
              <a:t>  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20" dirty="0">
                <a:latin typeface="Times New Roman"/>
                <a:cs typeface="Times New Roman"/>
              </a:rPr>
              <a:t>  </a:t>
            </a:r>
            <a:r>
              <a:rPr sz="2500" b="1" dirty="0">
                <a:latin typeface="Times New Roman"/>
                <a:cs typeface="Times New Roman"/>
              </a:rPr>
              <a:t>different</a:t>
            </a:r>
            <a:r>
              <a:rPr sz="2500" b="1" spc="15" dirty="0">
                <a:latin typeface="Times New Roman"/>
                <a:cs typeface="Times New Roman"/>
              </a:rPr>
              <a:t>  </a:t>
            </a:r>
            <a:r>
              <a:rPr sz="2500" b="1" dirty="0">
                <a:latin typeface="Times New Roman"/>
                <a:cs typeface="Times New Roman"/>
              </a:rPr>
              <a:t>fold</a:t>
            </a:r>
            <a:r>
              <a:rPr sz="2500" b="1" spc="20" dirty="0">
                <a:latin typeface="Times New Roman"/>
                <a:cs typeface="Times New Roman"/>
              </a:rPr>
              <a:t>  </a:t>
            </a:r>
            <a:r>
              <a:rPr sz="2500" b="1" dirty="0">
                <a:latin typeface="Times New Roman"/>
                <a:cs typeface="Times New Roman"/>
              </a:rPr>
              <a:t>as</a:t>
            </a:r>
            <a:r>
              <a:rPr sz="2500" b="1" spc="15" dirty="0">
                <a:latin typeface="Times New Roman"/>
                <a:cs typeface="Times New Roman"/>
              </a:rPr>
              <a:t>  </a:t>
            </a:r>
            <a:r>
              <a:rPr sz="2500" b="1" spc="-25" dirty="0">
                <a:latin typeface="Times New Roman"/>
                <a:cs typeface="Times New Roman"/>
              </a:rPr>
              <a:t>the </a:t>
            </a:r>
            <a:r>
              <a:rPr sz="2500" b="1" dirty="0">
                <a:latin typeface="Times New Roman"/>
                <a:cs typeface="Times New Roman"/>
              </a:rPr>
              <a:t>validation</a:t>
            </a:r>
            <a:r>
              <a:rPr sz="2500" b="1" spc="-120" dirty="0">
                <a:latin typeface="Times New Roman"/>
                <a:cs typeface="Times New Roman"/>
              </a:rPr>
              <a:t> </a:t>
            </a:r>
            <a:r>
              <a:rPr sz="2500" b="1" spc="-20" dirty="0">
                <a:latin typeface="Times New Roman"/>
                <a:cs typeface="Times New Roman"/>
              </a:rPr>
              <a:t>set.</a:t>
            </a:r>
            <a:endParaRPr sz="2500" dirty="0">
              <a:latin typeface="Times New Roman"/>
              <a:cs typeface="Times New Roman"/>
            </a:endParaRPr>
          </a:p>
          <a:p>
            <a:pPr marL="355600" marR="8255" indent="-342900" algn="just">
              <a:lnSpc>
                <a:spcPct val="100000"/>
              </a:lnSpc>
              <a:spcBef>
                <a:spcPts val="605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b="1" dirty="0">
                <a:latin typeface="Times New Roman"/>
                <a:cs typeface="Times New Roman"/>
              </a:rPr>
              <a:t>Finally,</a:t>
            </a:r>
            <a:r>
              <a:rPr sz="2500" b="1" spc="114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114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results</a:t>
            </a:r>
            <a:r>
              <a:rPr sz="2500" b="1" spc="114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from</a:t>
            </a:r>
            <a:r>
              <a:rPr sz="2500" b="1" spc="1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each</a:t>
            </a:r>
            <a:r>
              <a:rPr sz="2500" b="1" spc="1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validation</a:t>
            </a:r>
            <a:r>
              <a:rPr sz="2500" b="1" spc="13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step</a:t>
            </a:r>
            <a:r>
              <a:rPr sz="2500" b="1" spc="13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are</a:t>
            </a:r>
            <a:r>
              <a:rPr sz="2500" b="1" spc="11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averaged</a:t>
            </a:r>
            <a:r>
              <a:rPr sz="2500" b="1" spc="13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to</a:t>
            </a:r>
            <a:r>
              <a:rPr sz="2500" b="1" spc="13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produce</a:t>
            </a:r>
            <a:r>
              <a:rPr sz="2500" b="1" spc="10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</a:t>
            </a:r>
            <a:r>
              <a:rPr sz="2500" b="1" spc="1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more</a:t>
            </a:r>
            <a:r>
              <a:rPr sz="2500" b="1" spc="12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robust </a:t>
            </a:r>
            <a:r>
              <a:rPr sz="2500" b="1" dirty="0">
                <a:latin typeface="Times New Roman"/>
                <a:cs typeface="Times New Roman"/>
              </a:rPr>
              <a:t>estimate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-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-85" dirty="0">
                <a:latin typeface="Times New Roman"/>
                <a:cs typeface="Times New Roman"/>
              </a:rPr>
              <a:t> </a:t>
            </a:r>
            <a:r>
              <a:rPr sz="2500" b="1" spc="-20" dirty="0">
                <a:latin typeface="Times New Roman"/>
                <a:cs typeface="Times New Roman"/>
              </a:rPr>
              <a:t>model’s</a:t>
            </a:r>
            <a:r>
              <a:rPr sz="2500" b="1" spc="-10" dirty="0">
                <a:latin typeface="Times New Roman"/>
                <a:cs typeface="Times New Roman"/>
              </a:rPr>
              <a:t> performance.</a:t>
            </a:r>
            <a:endParaRPr sz="25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b="1" dirty="0">
                <a:latin typeface="Times New Roman"/>
                <a:cs typeface="Times New Roman"/>
              </a:rPr>
              <a:t>Cross</a:t>
            </a:r>
            <a:r>
              <a:rPr sz="2500" b="1" spc="2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validation</a:t>
            </a:r>
            <a:r>
              <a:rPr sz="2500" b="1" spc="29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is</a:t>
            </a:r>
            <a:r>
              <a:rPr sz="2500" b="1" spc="2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</a:t>
            </a:r>
            <a:r>
              <a:rPr sz="2500" b="1" spc="29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important</a:t>
            </a:r>
            <a:r>
              <a:rPr sz="2500" b="1" spc="2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step</a:t>
            </a:r>
            <a:r>
              <a:rPr sz="2500" b="1" spc="29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in</a:t>
            </a:r>
            <a:r>
              <a:rPr sz="2500" b="1" spc="29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28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machine</a:t>
            </a:r>
            <a:r>
              <a:rPr sz="2500" b="1" spc="28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learning</a:t>
            </a:r>
            <a:r>
              <a:rPr sz="2500" b="1" spc="30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process</a:t>
            </a:r>
            <a:r>
              <a:rPr sz="2500" b="1" spc="2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28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helps</a:t>
            </a:r>
            <a:r>
              <a:rPr sz="2500" b="1" spc="295" dirty="0">
                <a:latin typeface="Times New Roman"/>
                <a:cs typeface="Times New Roman"/>
              </a:rPr>
              <a:t> </a:t>
            </a:r>
            <a:r>
              <a:rPr sz="2500" b="1" spc="-25" dirty="0">
                <a:latin typeface="Times New Roman"/>
                <a:cs typeface="Times New Roman"/>
              </a:rPr>
              <a:t>to </a:t>
            </a:r>
            <a:r>
              <a:rPr sz="2500" b="1" dirty="0">
                <a:latin typeface="Times New Roman"/>
                <a:cs typeface="Times New Roman"/>
              </a:rPr>
              <a:t>ensure</a:t>
            </a:r>
            <a:r>
              <a:rPr sz="2500" b="1" spc="18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that</a:t>
            </a:r>
            <a:r>
              <a:rPr sz="2500" b="1" spc="21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20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model</a:t>
            </a:r>
            <a:r>
              <a:rPr sz="2500" b="1" spc="19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selected</a:t>
            </a:r>
            <a:r>
              <a:rPr sz="2500" b="1" spc="20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for</a:t>
            </a:r>
            <a:r>
              <a:rPr sz="2500" b="1" spc="1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deployment</a:t>
            </a:r>
            <a:r>
              <a:rPr sz="2500" b="1" spc="204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is</a:t>
            </a:r>
            <a:r>
              <a:rPr sz="2500" b="1" spc="20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robust</a:t>
            </a:r>
            <a:r>
              <a:rPr sz="2500" b="1" spc="19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20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generalizes</a:t>
            </a:r>
            <a:r>
              <a:rPr sz="2500" b="1" spc="204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well</a:t>
            </a:r>
            <a:r>
              <a:rPr sz="2500" b="1" spc="2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to</a:t>
            </a:r>
            <a:r>
              <a:rPr sz="2500" b="1" spc="195" dirty="0">
                <a:latin typeface="Times New Roman"/>
                <a:cs typeface="Times New Roman"/>
              </a:rPr>
              <a:t> </a:t>
            </a:r>
            <a:r>
              <a:rPr sz="2500" b="1" spc="-25" dirty="0">
                <a:latin typeface="Times New Roman"/>
                <a:cs typeface="Times New Roman"/>
              </a:rPr>
              <a:t>new </a:t>
            </a:r>
            <a:r>
              <a:rPr sz="2500" b="1" spc="-10" dirty="0">
                <a:latin typeface="Times New Roman"/>
                <a:cs typeface="Times New Roman"/>
              </a:rPr>
              <a:t>data.</a:t>
            </a:r>
            <a:endParaRPr sz="25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0215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659" y="40335"/>
            <a:ext cx="12044680" cy="5898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Cross-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validation</a:t>
            </a:r>
            <a:r>
              <a:rPr sz="2500" b="1" spc="4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is</a:t>
            </a:r>
            <a:r>
              <a:rPr sz="2500" b="1" spc="459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2500" b="1" spc="4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technique</a:t>
            </a:r>
            <a:r>
              <a:rPr sz="2500" b="1" spc="4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500" b="1" spc="4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evaluating</a:t>
            </a:r>
            <a:r>
              <a:rPr sz="2500" b="1" spc="4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lang="en-US" sz="2500" b="1" dirty="0" smtClean="0">
                <a:solidFill>
                  <a:srgbClr val="001F5F"/>
                </a:solidFill>
                <a:latin typeface="Times New Roman"/>
                <a:cs typeface="Times New Roman"/>
              </a:rPr>
              <a:t>D</a:t>
            </a:r>
            <a:r>
              <a:rPr sz="2500" b="1" dirty="0" smtClean="0">
                <a:solidFill>
                  <a:srgbClr val="001F5F"/>
                </a:solidFill>
                <a:latin typeface="Times New Roman"/>
                <a:cs typeface="Times New Roman"/>
              </a:rPr>
              <a:t>L</a:t>
            </a:r>
            <a:r>
              <a:rPr sz="2500" b="1" spc="345" dirty="0" smtClean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models</a:t>
            </a:r>
            <a:r>
              <a:rPr sz="2500" b="1" spc="459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by</a:t>
            </a:r>
            <a:r>
              <a:rPr sz="2500" b="1" spc="4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training</a:t>
            </a:r>
            <a:r>
              <a:rPr sz="2500" b="1" spc="4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several</a:t>
            </a:r>
            <a:r>
              <a:rPr sz="2500" b="1" spc="4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lang="en-US" sz="2500" b="1" spc="-25" dirty="0" smtClean="0">
                <a:solidFill>
                  <a:srgbClr val="001F5F"/>
                </a:solidFill>
                <a:latin typeface="Times New Roman"/>
                <a:cs typeface="Times New Roman"/>
              </a:rPr>
              <a:t>D</a:t>
            </a:r>
            <a:r>
              <a:rPr sz="2500" b="1" spc="-25" dirty="0" smtClean="0">
                <a:solidFill>
                  <a:srgbClr val="001F5F"/>
                </a:solidFill>
                <a:latin typeface="Times New Roman"/>
                <a:cs typeface="Times New Roman"/>
              </a:rPr>
              <a:t>L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models</a:t>
            </a:r>
            <a:r>
              <a:rPr sz="2500" b="1" spc="270" dirty="0">
                <a:solidFill>
                  <a:srgbClr val="001F5F"/>
                </a:solidFill>
                <a:latin typeface="Times New Roman"/>
                <a:cs typeface="Times New Roman"/>
              </a:rPr>
              <a:t> 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on</a:t>
            </a:r>
            <a:r>
              <a:rPr sz="2500" b="1" spc="265" dirty="0">
                <a:solidFill>
                  <a:srgbClr val="001F5F"/>
                </a:solidFill>
                <a:latin typeface="Times New Roman"/>
                <a:cs typeface="Times New Roman"/>
              </a:rPr>
              <a:t> 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subsets</a:t>
            </a:r>
            <a:r>
              <a:rPr sz="2500" b="1" spc="270" dirty="0">
                <a:solidFill>
                  <a:srgbClr val="001F5F"/>
                </a:solidFill>
                <a:latin typeface="Times New Roman"/>
                <a:cs typeface="Times New Roman"/>
              </a:rPr>
              <a:t> 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500" b="1" spc="270" dirty="0">
                <a:solidFill>
                  <a:srgbClr val="001F5F"/>
                </a:solidFill>
                <a:latin typeface="Times New Roman"/>
                <a:cs typeface="Times New Roman"/>
              </a:rPr>
              <a:t> 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500" b="1" spc="275" dirty="0">
                <a:solidFill>
                  <a:srgbClr val="001F5F"/>
                </a:solidFill>
                <a:latin typeface="Times New Roman"/>
                <a:cs typeface="Times New Roman"/>
              </a:rPr>
              <a:t> 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available</a:t>
            </a:r>
            <a:r>
              <a:rPr sz="2500" b="1" spc="275" dirty="0">
                <a:solidFill>
                  <a:srgbClr val="001F5F"/>
                </a:solidFill>
                <a:latin typeface="Times New Roman"/>
                <a:cs typeface="Times New Roman"/>
              </a:rPr>
              <a:t> 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input</a:t>
            </a:r>
            <a:r>
              <a:rPr sz="2500" b="1" spc="270" dirty="0">
                <a:solidFill>
                  <a:srgbClr val="001F5F"/>
                </a:solidFill>
                <a:latin typeface="Times New Roman"/>
                <a:cs typeface="Times New Roman"/>
              </a:rPr>
              <a:t> 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data</a:t>
            </a:r>
            <a:r>
              <a:rPr sz="2500" b="1" spc="270" dirty="0">
                <a:solidFill>
                  <a:srgbClr val="001F5F"/>
                </a:solidFill>
                <a:latin typeface="Times New Roman"/>
                <a:cs typeface="Times New Roman"/>
              </a:rPr>
              <a:t> 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and</a:t>
            </a:r>
            <a:r>
              <a:rPr sz="2500" b="1" spc="270" dirty="0">
                <a:solidFill>
                  <a:srgbClr val="001F5F"/>
                </a:solidFill>
                <a:latin typeface="Times New Roman"/>
                <a:cs typeface="Times New Roman"/>
              </a:rPr>
              <a:t> 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evaluating</a:t>
            </a:r>
            <a:r>
              <a:rPr sz="2500" b="1" spc="280" dirty="0">
                <a:solidFill>
                  <a:srgbClr val="001F5F"/>
                </a:solidFill>
                <a:latin typeface="Times New Roman"/>
                <a:cs typeface="Times New Roman"/>
              </a:rPr>
              <a:t> 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them</a:t>
            </a:r>
            <a:r>
              <a:rPr sz="2500" b="1" spc="265" dirty="0">
                <a:solidFill>
                  <a:srgbClr val="001F5F"/>
                </a:solidFill>
                <a:latin typeface="Times New Roman"/>
                <a:cs typeface="Times New Roman"/>
              </a:rPr>
              <a:t> 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on</a:t>
            </a:r>
            <a:r>
              <a:rPr sz="2500" b="1" spc="280" dirty="0">
                <a:solidFill>
                  <a:srgbClr val="001F5F"/>
                </a:solidFill>
                <a:latin typeface="Times New Roman"/>
                <a:cs typeface="Times New Roman"/>
              </a:rPr>
              <a:t>  </a:t>
            </a:r>
            <a:r>
              <a:rPr sz="25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the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complementary</a:t>
            </a:r>
            <a:r>
              <a:rPr sz="25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subset</a:t>
            </a:r>
            <a:r>
              <a:rPr sz="25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of the</a:t>
            </a:r>
            <a:r>
              <a:rPr sz="25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data.</a:t>
            </a:r>
            <a:r>
              <a:rPr sz="25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Use</a:t>
            </a:r>
            <a:r>
              <a:rPr sz="25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cross-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validation</a:t>
            </a:r>
            <a:r>
              <a:rPr sz="25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5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detect</a:t>
            </a:r>
            <a:r>
              <a:rPr sz="25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overfitting, ie,</a:t>
            </a:r>
            <a:r>
              <a:rPr sz="25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failing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5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generalize</a:t>
            </a:r>
            <a:r>
              <a:rPr sz="25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25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pattern.</a:t>
            </a:r>
            <a:endParaRPr sz="25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2105"/>
              </a:spcBef>
              <a:buFont typeface="Wingdings"/>
              <a:buChar char=""/>
              <a:tabLst>
                <a:tab pos="354965" algn="l"/>
              </a:tabLst>
            </a:pPr>
            <a:r>
              <a:rPr sz="2500" b="1" dirty="0">
                <a:latin typeface="Times New Roman"/>
                <a:cs typeface="Times New Roman"/>
              </a:rPr>
              <a:t>Why</a:t>
            </a:r>
            <a:r>
              <a:rPr sz="2500" b="1" spc="-3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do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we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need</a:t>
            </a:r>
            <a:r>
              <a:rPr sz="2500" b="1" spc="-10" dirty="0">
                <a:latin typeface="Times New Roman"/>
                <a:cs typeface="Times New Roman"/>
              </a:rPr>
              <a:t> </a:t>
            </a:r>
            <a:r>
              <a:rPr sz="2500" b="1" spc="-30" dirty="0">
                <a:latin typeface="Times New Roman"/>
                <a:cs typeface="Times New Roman"/>
              </a:rPr>
              <a:t>cross-</a:t>
            </a:r>
            <a:r>
              <a:rPr sz="2500" b="1" spc="-10" dirty="0">
                <a:latin typeface="Times New Roman"/>
                <a:cs typeface="Times New Roman"/>
              </a:rPr>
              <a:t>validation?</a:t>
            </a:r>
            <a:endParaRPr sz="2500" dirty="0">
              <a:latin typeface="Times New Roman"/>
              <a:cs typeface="Times New Roman"/>
            </a:endParaRPr>
          </a:p>
          <a:p>
            <a:pPr marL="355600" marR="36830" indent="-342900" algn="just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Cross</a:t>
            </a:r>
            <a:r>
              <a:rPr sz="2500" spc="80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imes New Roman"/>
                <a:cs typeface="Times New Roman"/>
              </a:rPr>
              <a:t>Validation</a:t>
            </a:r>
            <a:r>
              <a:rPr sz="2500" spc="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commonly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used</a:t>
            </a:r>
            <a:r>
              <a:rPr sz="2500" spc="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lang="en-US" sz="2500" dirty="0" smtClean="0">
                <a:latin typeface="Times New Roman"/>
                <a:cs typeface="Times New Roman"/>
              </a:rPr>
              <a:t>Deep</a:t>
            </a:r>
            <a:r>
              <a:rPr sz="2500" spc="75" dirty="0" smtClean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Learning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compare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different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models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and </a:t>
            </a:r>
            <a:r>
              <a:rPr sz="2500" dirty="0">
                <a:latin typeface="Times New Roman"/>
                <a:cs typeface="Times New Roman"/>
              </a:rPr>
              <a:t>select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most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appropriate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specific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problem.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both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easy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understand,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easy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to </a:t>
            </a:r>
            <a:r>
              <a:rPr sz="2500" dirty="0">
                <a:latin typeface="Times New Roman"/>
                <a:cs typeface="Times New Roman"/>
              </a:rPr>
              <a:t>implement,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less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biased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than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other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methods.</a:t>
            </a:r>
            <a:endParaRPr sz="2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"/>
            </a:pPr>
            <a:endParaRPr sz="25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"/>
              <a:tabLst>
                <a:tab pos="354965" algn="l"/>
              </a:tabLst>
            </a:pPr>
            <a:r>
              <a:rPr sz="2500" b="1" dirty="0">
                <a:latin typeface="Times New Roman"/>
                <a:cs typeface="Times New Roman"/>
              </a:rPr>
              <a:t>Purpose</a:t>
            </a:r>
            <a:r>
              <a:rPr sz="2500" b="1" spc="-114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of</a:t>
            </a:r>
            <a:r>
              <a:rPr sz="2500" b="1" spc="-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cross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validation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in</a:t>
            </a:r>
            <a:r>
              <a:rPr sz="2500" b="1" spc="-1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machine</a:t>
            </a:r>
            <a:r>
              <a:rPr sz="2500" b="1" spc="-3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learning</a:t>
            </a:r>
            <a:endParaRPr sz="2500" dirty="0">
              <a:latin typeface="Times New Roman"/>
              <a:cs typeface="Times New Roman"/>
            </a:endParaRPr>
          </a:p>
          <a:p>
            <a:pPr marL="355600" marR="60960" indent="-342900">
              <a:lnSpc>
                <a:spcPct val="100000"/>
              </a:lnSpc>
              <a:spcBef>
                <a:spcPts val="600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500" b="1" spc="1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purpose</a:t>
            </a:r>
            <a:r>
              <a:rPr sz="2500" b="1" spc="1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500" b="1" spc="1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cross–validation</a:t>
            </a:r>
            <a:r>
              <a:rPr sz="2500" b="1" spc="1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is</a:t>
            </a:r>
            <a:r>
              <a:rPr sz="2500" b="1" spc="1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500" b="1" spc="1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test</a:t>
            </a:r>
            <a:r>
              <a:rPr sz="2500" b="1" spc="1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500" b="1" spc="1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ability</a:t>
            </a:r>
            <a:r>
              <a:rPr sz="2500" b="1" spc="2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500" b="1" spc="1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2500" b="1" spc="1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lang="en-US" sz="2500" b="1" dirty="0" smtClean="0">
                <a:solidFill>
                  <a:srgbClr val="001F5F"/>
                </a:solidFill>
                <a:latin typeface="Times New Roman"/>
                <a:cs typeface="Times New Roman"/>
              </a:rPr>
              <a:t>Deep</a:t>
            </a:r>
            <a:r>
              <a:rPr sz="2500" b="1" spc="130" dirty="0" smtClean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learning</a:t>
            </a:r>
            <a:r>
              <a:rPr sz="2500" b="1" spc="2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model</a:t>
            </a:r>
            <a:r>
              <a:rPr sz="2500" b="1" spc="1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to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predict</a:t>
            </a:r>
            <a:r>
              <a:rPr sz="25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new</a:t>
            </a:r>
            <a:r>
              <a:rPr sz="2500" b="1" spc="-114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data.</a:t>
            </a:r>
            <a:endParaRPr sz="2500" dirty="0">
              <a:latin typeface="Times New Roman"/>
              <a:cs typeface="Times New Roman"/>
            </a:endParaRPr>
          </a:p>
          <a:p>
            <a:pPr marL="355600" marR="60325" indent="-342900">
              <a:lnSpc>
                <a:spcPct val="100000"/>
              </a:lnSpc>
              <a:spcBef>
                <a:spcPts val="605"/>
              </a:spcBef>
              <a:buFont typeface="Wingdings"/>
              <a:buChar char=""/>
              <a:tabLst>
                <a:tab pos="355600" algn="l"/>
              </a:tabLst>
            </a:pP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It</a:t>
            </a:r>
            <a:r>
              <a:rPr sz="2500" b="1" spc="114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is</a:t>
            </a:r>
            <a:r>
              <a:rPr sz="2500" b="1" spc="10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also</a:t>
            </a:r>
            <a:r>
              <a:rPr sz="2500" b="1" spc="1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used</a:t>
            </a:r>
            <a:r>
              <a:rPr sz="2500" b="1" spc="9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500" b="1" spc="114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flag</a:t>
            </a:r>
            <a:r>
              <a:rPr sz="2500" b="1" spc="10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problems</a:t>
            </a:r>
            <a:r>
              <a:rPr sz="2500" b="1" spc="1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like</a:t>
            </a:r>
            <a:r>
              <a:rPr sz="2500" b="1" spc="114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overfitting</a:t>
            </a:r>
            <a:r>
              <a:rPr sz="2500" b="1" spc="1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or</a:t>
            </a:r>
            <a:r>
              <a:rPr sz="25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selection</a:t>
            </a:r>
            <a:r>
              <a:rPr sz="2500" b="1" spc="1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bias</a:t>
            </a:r>
            <a:r>
              <a:rPr sz="2500" b="1" spc="1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and</a:t>
            </a:r>
            <a:r>
              <a:rPr sz="2500" b="1" spc="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gives</a:t>
            </a:r>
            <a:r>
              <a:rPr sz="2500" b="1" spc="1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insights</a:t>
            </a:r>
            <a:r>
              <a:rPr sz="2500" b="1" spc="1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on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how</a:t>
            </a:r>
            <a:r>
              <a:rPr sz="2500" b="1" spc="-8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5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model</a:t>
            </a:r>
            <a:r>
              <a:rPr sz="25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will</a:t>
            </a:r>
            <a:r>
              <a:rPr sz="25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generalize</a:t>
            </a:r>
            <a:r>
              <a:rPr sz="25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5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an</a:t>
            </a:r>
            <a:r>
              <a:rPr sz="2500" b="1" spc="-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001F5F"/>
                </a:solidFill>
                <a:latin typeface="Times New Roman"/>
                <a:cs typeface="Times New Roman"/>
              </a:rPr>
              <a:t>independent</a:t>
            </a:r>
            <a:r>
              <a:rPr sz="2500" b="1" spc="-8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dataset.</a:t>
            </a:r>
            <a:endParaRPr sz="25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0558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787400"/>
            <a:ext cx="9621838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4030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381000"/>
            <a:ext cx="96012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Common Types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fontAlgn="ctr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K-Fold Cross-Validation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 The most common type, where the data is divided into 'k' folds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Stratified K-Fold Cross-Validation: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 Ensures that each fold maintains the same proportion of target classes as the original dataset, which is crucial for imbalanced datasets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Leave-One-Out Cross-Validation (LOOCV):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 special case of k-fold where k equals the number of data points, meaning each data point serves as the validation set once. This is computationally expensive for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2399418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1129"/>
            <a:ext cx="3940401" cy="307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04800"/>
            <a:ext cx="4352925" cy="3086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657600"/>
            <a:ext cx="48006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8743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63318"/>
            <a:ext cx="33810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0070C0"/>
                </a:solidFill>
              </a:rPr>
              <a:t>Feature Selection</a:t>
            </a:r>
            <a:r>
              <a:rPr lang="en-IN" sz="2800" dirty="0">
                <a:solidFill>
                  <a:srgbClr val="0070C0"/>
                </a:solidFill>
              </a:rPr>
              <a:t> :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849" y="533400"/>
            <a:ext cx="109728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Feature selection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refers to the process of identifying and using only the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most relevant input features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(variables) for training a deep learning model.</a:t>
            </a: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Although deep learning models can automatically learn which features matter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most 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feature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selection is still 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important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because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it can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Improve </a:t>
            </a:r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model </a:t>
            </a:r>
            <a:r>
              <a:rPr lang="en-I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performance.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Reduce </a:t>
            </a:r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training time and </a:t>
            </a:r>
            <a:r>
              <a:rPr lang="en-IN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I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lvl="0" indent="-342900">
              <a:buFont typeface="Wingdings" pitchFamily="2" charset="2"/>
              <a:buChar char="ü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Make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model more </a:t>
            </a:r>
            <a:r>
              <a:rPr lang="en-I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nterpretabl</a:t>
            </a:r>
            <a:r>
              <a:rPr lang="en-I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e.</a:t>
            </a:r>
          </a:p>
          <a:p>
            <a:pPr marL="342900" lvl="0" indent="-342900">
              <a:buFont typeface="Wingdings" pitchFamily="2" charset="2"/>
              <a:buChar char="ü"/>
            </a:pPr>
            <a:endParaRPr lang="en-IN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Benefits of Feature Selection:</a:t>
            </a:r>
          </a:p>
          <a:p>
            <a:endParaRPr lang="en-US" sz="2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Reduced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Eliminating irrelevant or redundant features can prevent the model from learning noise in the data, leading to better generalization on unseen data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614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228600"/>
            <a:ext cx="11812588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68" y="2971800"/>
            <a:ext cx="11803062" cy="327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4064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10240962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" y="2819400"/>
            <a:ext cx="11869738" cy="3830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57056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2336" y="457200"/>
            <a:ext cx="116686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Methods of Feature Selection in Deep Learning:</a:t>
            </a:r>
          </a:p>
          <a:p>
            <a:pPr font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While traditional feature selection methods (filter, wrapper, embedded) can be applied, deep learning also offers specific approaches:</a:t>
            </a:r>
          </a:p>
          <a:p>
            <a:r>
              <a:rPr lang="en-US" sz="24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1) Filter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Methods:</a:t>
            </a:r>
            <a:endParaRPr lang="en-US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evaluate features independently of the deep learning model, using statistical measures like correlation, mutual information, or chi-squared test to rank features.</a:t>
            </a: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106957" y="2901043"/>
            <a:ext cx="11049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2) Wrapper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Methods: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These use the deep learning model itself to evaluate subsets of features, such as through recursive feature elimination or sequential feature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selection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3) Embedded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Methods: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These integrate feature selection directly into the deep learning model's training process, often through regularization techniques. 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851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39" y="76201"/>
            <a:ext cx="12003088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56" y="4572000"/>
            <a:ext cx="5684837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572000"/>
            <a:ext cx="5341938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752600" y="4191000"/>
            <a:ext cx="662940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wn Arrow 2"/>
          <p:cNvSpPr/>
          <p:nvPr/>
        </p:nvSpPr>
        <p:spPr>
          <a:xfrm>
            <a:off x="1752600" y="4229100"/>
            <a:ext cx="76200" cy="3429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8305800" y="4191000"/>
            <a:ext cx="76200" cy="3429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5105400" y="3848100"/>
            <a:ext cx="76200" cy="3429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249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" y="763588"/>
            <a:ext cx="11869738" cy="529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12352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234950"/>
            <a:ext cx="12203113" cy="635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32851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397675"/>
            <a:ext cx="11430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Regularization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is a set of techniques used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reduce </a:t>
            </a:r>
            <a:r>
              <a:rPr lang="en-IN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in deep learning models.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 err="1" smtClean="0"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occurs when a model performs well on training data but poorly on unseen test data.</a:t>
            </a: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Regularization adds </a:t>
            </a:r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constraints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penalties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to the learning process so that the model </a:t>
            </a:r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learns simpler functions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that generalize better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Use of Regularization </a:t>
            </a:r>
            <a:endParaRPr lang="en-IN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Deep neural networks have: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Millions of parameters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High capacity to memorize training data</a:t>
            </a: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Without regularization, they can </a:t>
            </a:r>
            <a:r>
              <a:rPr lang="en-IN" sz="2400" b="1" dirty="0" err="1">
                <a:latin typeface="Times New Roman" pitchFamily="18" charset="0"/>
                <a:cs typeface="Times New Roman" pitchFamily="18" charset="0"/>
              </a:rPr>
              <a:t>overfit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, meaning: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High training accuracy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Poor test accuracy (low generalization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0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381000"/>
            <a:ext cx="27831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Regularization</a:t>
            </a:r>
            <a:endParaRPr lang="en-IN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9100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982" y="241540"/>
            <a:ext cx="107244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/>
              <a:t>Common Regularization Techniques in Deep Learning</a:t>
            </a:r>
            <a:endParaRPr lang="en-IN" sz="3200" dirty="0"/>
          </a:p>
        </p:txBody>
      </p:sp>
      <p:sp>
        <p:nvSpPr>
          <p:cNvPr id="3" name="Rectangle 2"/>
          <p:cNvSpPr/>
          <p:nvPr/>
        </p:nvSpPr>
        <p:spPr>
          <a:xfrm>
            <a:off x="788188" y="1066800"/>
            <a:ext cx="1117521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L1 Regularization (Lasso Regression):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Adds a penalty term to the loss function proportional to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400" u="sng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absolute </a:t>
            </a: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value </a:t>
            </a:r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400" u="sng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magnitude</a:t>
            </a:r>
            <a:r>
              <a:rPr lang="en-US" sz="24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model's weights. This encourages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sparsity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by driving some </a:t>
            </a: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weights </a:t>
            </a:r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u="sng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zero(penalizing),</a:t>
            </a:r>
            <a:r>
              <a:rPr lang="en-US" sz="24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effectively performing feature selection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L2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Regularization (Ridge Regression):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Adds a penalty term to the loss function proportional to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u="sng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“squared magnitude”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the model's weights. This </a:t>
            </a:r>
            <a:r>
              <a:rPr lang="en-US" sz="2400" u="sng" dirty="0">
                <a:latin typeface="Times New Roman" pitchFamily="18" charset="0"/>
                <a:cs typeface="Times New Roman" pitchFamily="18" charset="0"/>
              </a:rPr>
              <a:t>encourages </a:t>
            </a: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smaller, yet non-zero, weights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preventing individual weights from becoming excessively large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Dropout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Randomly </a:t>
            </a: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deactivates a percentage of neurons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during each training iteration. This prevents neurons from co-adapting too much and forces the network to learn more robust features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451993" y="2286000"/>
            <a:ext cx="4343400" cy="100012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629400" y="4015865"/>
            <a:ext cx="441960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87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81000"/>
            <a:ext cx="108966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Early Stopping:</a:t>
            </a:r>
            <a:endParaRPr lang="en-US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Monitors the model's performance on a validation set during training and </a:t>
            </a:r>
            <a:r>
              <a:rPr lang="en-US" sz="24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stops the training process when the validation performance starts to degrade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indicating potential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Augmentation:</a:t>
            </a:r>
            <a:endParaRPr lang="en-US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Increases the diversity of the training data by applying </a:t>
            </a:r>
            <a:r>
              <a:rPr lang="en-US" sz="24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various transformations (e.g., rotations, flips, scaling) to existing samples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 This exposes the model to a wider range of variations, improving its ability to generalize.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Batch Normalization:</a:t>
            </a:r>
            <a:endParaRPr lang="en-US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Normalizes the inputs of each layer within a </a:t>
            </a:r>
            <a:r>
              <a:rPr lang="en-US" sz="24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mini-batch during training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 This helps stabilize the training process and can act as a form of regularization by reducing the internal covariate shift.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5885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228600"/>
            <a:ext cx="11506200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N" sz="32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Hyperparameters</a:t>
            </a:r>
            <a:r>
              <a:rPr lang="en-IN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l"/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Hyperparameters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settings you choose before training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your deep learning model. They control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how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the model learns, not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what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it learns.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They are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learned from the data.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You set them manually or using search techniques like grid search or random search.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 In deep learning, </a:t>
            </a: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hyperparameters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 are configuration variables set before training begins, which guide the learning process and model architecture.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They are distinct from parameters (like weights and biases), which are learned during training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Essentially, </a:t>
            </a: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hyperparameters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 define how the model learns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, while parameters are what the model learns.</a:t>
            </a:r>
          </a:p>
          <a:p>
            <a:pPr algn="l"/>
            <a:endParaRPr lang="en-IN" sz="2000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IN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 of </a:t>
            </a:r>
            <a:r>
              <a:rPr lang="en-IN" sz="20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Hyperparameters</a:t>
            </a:r>
            <a:r>
              <a:rPr lang="en-IN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endParaRPr lang="en-IN" sz="2000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l"/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Learning rate: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Controls how big the steps are during optimization.</a:t>
            </a:r>
          </a:p>
          <a:p>
            <a:pPr lvl="0" algn="l"/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Batch size: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How many samples the model sees before updating weights.</a:t>
            </a:r>
          </a:p>
          <a:p>
            <a:pPr lvl="0" algn="l"/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Number of epochs: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How many times the model sees the entire dataset.</a:t>
            </a:r>
          </a:p>
          <a:p>
            <a:pPr lvl="0" algn="l"/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Number of layers and units per layer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in a neural network.</a:t>
            </a:r>
          </a:p>
          <a:p>
            <a:pPr lvl="0" algn="l"/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Dropout rate: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Fraction of neurons randomly turned off during training to prevent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881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</TotalTime>
  <Words>1255</Words>
  <Application>Microsoft Office PowerPoint</Application>
  <PresentationFormat>Custom</PresentationFormat>
  <Paragraphs>157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PowerPoint Presentation</vt:lpstr>
      <vt:lpstr>Perceptron learning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Some problems in ANN Optimization and Regularization:  Over fitting and Capacity, Cross Validation,  Feature Selection, Regularization, Hyper 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NARAYANAN MADESHAN</dc:creator>
  <cp:lastModifiedBy>MRUH</cp:lastModifiedBy>
  <cp:revision>58</cp:revision>
  <dcterms:created xsi:type="dcterms:W3CDTF">2025-07-15T06:58:09Z</dcterms:created>
  <dcterms:modified xsi:type="dcterms:W3CDTF">2025-08-07T08:07:32Z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2025-07-15T00:00:00Z</vt:filetime>
  </property>
  <property fmtid="{D5CDD505-2E9C-101B-9397-08002B2CF9AE}" pid="5" name="Producer">
    <vt:lpwstr>Microsoft® PowerPoint® 2010</vt:lpwstr>
  </property>
</Properties>
</file>