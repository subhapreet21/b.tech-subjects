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70" r:id="rId12"/>
    <p:sldId id="267" r:id="rId13"/>
    <p:sldId id="268" r:id="rId14"/>
    <p:sldId id="269" r:id="rId15"/>
    <p:sldId id="271" r:id="rId16"/>
    <p:sldId id="272" r:id="rId17"/>
    <p:sldId id="278" r:id="rId18"/>
    <p:sldId id="277" r:id="rId19"/>
    <p:sldId id="279" r:id="rId20"/>
    <p:sldId id="280" r:id="rId21"/>
    <p:sldId id="275" r:id="rId22"/>
    <p:sldId id="276" r:id="rId23"/>
    <p:sldId id="26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ulesoft.com/mule-runtime/latest/consume-data-from-an-api" TargetMode="External"/><Relationship Id="rId2" Type="http://schemas.openxmlformats.org/officeDocument/2006/relationships/hyperlink" Target="https://docs.mulesoft.com/mule-runtime/latest/choice-router-concep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III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- iii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Mule Application </a:t>
            </a:r>
            <a:r>
              <a:rPr lang="en-US" b="1" dirty="0" smtClean="0"/>
              <a:t>Structure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Application Properties Identify Mule Project File and Folder </a:t>
            </a:r>
            <a:r>
              <a:rPr lang="en-US" dirty="0" smtClean="0"/>
              <a:t>Purposes</a:t>
            </a:r>
          </a:p>
          <a:p>
            <a:r>
              <a:rPr lang="en-US" b="1" dirty="0"/>
              <a:t>Web </a:t>
            </a:r>
            <a:r>
              <a:rPr lang="en-US" b="1" dirty="0" smtClean="0"/>
              <a:t>Services</a:t>
            </a:r>
            <a:endParaRPr lang="en-US" dirty="0" smtClean="0"/>
          </a:p>
          <a:p>
            <a:pPr lvl="1"/>
            <a:r>
              <a:rPr lang="en-US" dirty="0" smtClean="0"/>
              <a:t>Consume </a:t>
            </a:r>
            <a:r>
              <a:rPr lang="en-US" dirty="0"/>
              <a:t>Web Services in </a:t>
            </a:r>
            <a:r>
              <a:rPr lang="en-US" dirty="0" err="1"/>
              <a:t>Anypoint</a:t>
            </a:r>
            <a:r>
              <a:rPr lang="en-US" dirty="0"/>
              <a:t> Exchange Using APIs and Connectors, Consume RESTful Web Services, Consume SOAP Web Services.</a:t>
            </a:r>
          </a:p>
          <a:p>
            <a:r>
              <a:rPr lang="en-US" b="1" dirty="0"/>
              <a:t>Event </a:t>
            </a:r>
            <a:r>
              <a:rPr lang="en-US" b="1" dirty="0" smtClean="0"/>
              <a:t>Flow</a:t>
            </a:r>
            <a:endParaRPr lang="en-US" dirty="0" smtClean="0"/>
          </a:p>
          <a:p>
            <a:pPr lvl="1"/>
            <a:r>
              <a:rPr lang="en-US" dirty="0" smtClean="0"/>
              <a:t>Examine </a:t>
            </a:r>
            <a:r>
              <a:rPr lang="en-US" dirty="0"/>
              <a:t>Multicast Events, Route Events Based on Conditions, Validate Events.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001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Mule Application Structure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Mule application's structure is typically organized to facilitate development, deployment, and maintainability. Key components and their roles are as follows</a:t>
            </a:r>
            <a:r>
              <a:rPr lang="en-US" dirty="0" smtClean="0"/>
              <a:t>:</a:t>
            </a:r>
          </a:p>
          <a:p>
            <a:r>
              <a:rPr lang="en-US" b="1" dirty="0"/>
              <a:t>Key Components</a:t>
            </a:r>
          </a:p>
          <a:p>
            <a:pPr lvl="1"/>
            <a:r>
              <a:rPr lang="en-US" b="1" dirty="0"/>
              <a:t>Flows (.xml files):</a:t>
            </a:r>
            <a:r>
              <a:rPr lang="en-US" dirty="0"/>
              <a:t> Core logic of the Mule application.</a:t>
            </a:r>
          </a:p>
          <a:p>
            <a:pPr lvl="1"/>
            <a:r>
              <a:rPr lang="en-US" b="1" dirty="0"/>
              <a:t>Properties:</a:t>
            </a:r>
            <a:r>
              <a:rPr lang="en-US" dirty="0"/>
              <a:t> Externalize configuration (environment-specific values).</a:t>
            </a:r>
          </a:p>
          <a:p>
            <a:pPr lvl="1"/>
            <a:r>
              <a:rPr lang="en-US" b="1" dirty="0"/>
              <a:t>mule-</a:t>
            </a:r>
            <a:r>
              <a:rPr lang="en-US" b="1" dirty="0" err="1"/>
              <a:t>artifact.json</a:t>
            </a:r>
            <a:r>
              <a:rPr lang="en-US" b="1" dirty="0"/>
              <a:t>:</a:t>
            </a:r>
            <a:r>
              <a:rPr lang="en-US" dirty="0"/>
              <a:t> Declares application metadata.</a:t>
            </a:r>
          </a:p>
          <a:p>
            <a:pPr lvl="1"/>
            <a:r>
              <a:rPr lang="en-US" b="1" dirty="0"/>
              <a:t>pom.xml:</a:t>
            </a:r>
            <a:r>
              <a:rPr lang="en-US" dirty="0"/>
              <a:t> Required if the project is managed with Maven (helps in CI/CD pipelines).</a:t>
            </a:r>
          </a:p>
          <a:p>
            <a:pPr lvl="1"/>
            <a:r>
              <a:rPr lang="en-US" b="1" dirty="0"/>
              <a:t>API folder:</a:t>
            </a:r>
            <a:r>
              <a:rPr lang="en-US" dirty="0"/>
              <a:t> Used for RAML/</a:t>
            </a:r>
            <a:r>
              <a:rPr lang="en-US" dirty="0" err="1"/>
              <a:t>APIkit</a:t>
            </a:r>
            <a:r>
              <a:rPr lang="en-US" dirty="0"/>
              <a:t> if your app exposes or implements APIs.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04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101" y="1805483"/>
            <a:ext cx="5715798" cy="4267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09600" y="457200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typical Mule application structure in </a:t>
            </a:r>
            <a:r>
              <a:rPr lang="en-US" b="1" dirty="0" err="1"/>
              <a:t>Anypoint</a:t>
            </a:r>
            <a:r>
              <a:rPr lang="en-US" b="1" dirty="0"/>
              <a:t> Studio</a:t>
            </a:r>
            <a:r>
              <a:rPr lang="en-US" dirty="0"/>
              <a:t> follows a specific folder layout</a:t>
            </a:r>
          </a:p>
        </p:txBody>
      </p:sp>
    </p:spTree>
    <p:extLst>
      <p:ext uri="{BB962C8B-B14F-4D97-AF65-F5344CB8AC3E}">
        <p14:creationId xmlns:p14="http://schemas.microsoft.com/office/powerpoint/2010/main" val="3591687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599" y="1828800"/>
            <a:ext cx="5684801" cy="437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43000" y="6858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Here’s a simple figure to visualize the structure:</a:t>
            </a:r>
          </a:p>
        </p:txBody>
      </p:sp>
    </p:spTree>
    <p:extLst>
      <p:ext uri="{BB962C8B-B14F-4D97-AF65-F5344CB8AC3E}">
        <p14:creationId xmlns:p14="http://schemas.microsoft.com/office/powerpoint/2010/main" val="81983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 RESTful Web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consume data from a REST API from within a Mule application, you can configure </a:t>
            </a:r>
            <a:r>
              <a:rPr lang="en-US" dirty="0" err="1"/>
              <a:t>Anypoint</a:t>
            </a:r>
            <a:r>
              <a:rPr lang="en-US" dirty="0"/>
              <a:t> Connector for HTTP Request (HTTP Request Connector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66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dirty="0" smtClean="0"/>
              <a:t>Consume </a:t>
            </a:r>
            <a:r>
              <a:rPr lang="en-US" dirty="0"/>
              <a:t>RESTful Web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 following example illustrates how to configure </a:t>
            </a:r>
            <a:r>
              <a:rPr lang="en-IN" dirty="0" err="1"/>
              <a:t>Anypoint</a:t>
            </a:r>
            <a:r>
              <a:rPr lang="en-IN" dirty="0"/>
              <a:t> Connector for HTTP (HTTP Connector) to consume a REST service by setting up the HTTP </a:t>
            </a:r>
            <a:r>
              <a:rPr lang="en-IN" b="1" dirty="0"/>
              <a:t>Listener</a:t>
            </a:r>
            <a:r>
              <a:rPr lang="en-IN" dirty="0"/>
              <a:t> source and the </a:t>
            </a:r>
            <a:r>
              <a:rPr lang="en-IN" b="1" dirty="0"/>
              <a:t>Request</a:t>
            </a:r>
            <a:r>
              <a:rPr lang="en-IN" dirty="0"/>
              <a:t> operation.</a:t>
            </a:r>
            <a:endParaRPr lang="en-US" dirty="0"/>
          </a:p>
          <a:p>
            <a:pPr lvl="1"/>
            <a:r>
              <a:rPr lang="en-IN" dirty="0"/>
              <a:t>To accomplish this example, you must:</a:t>
            </a:r>
            <a:endParaRPr lang="en-US" dirty="0"/>
          </a:p>
          <a:p>
            <a:pPr lvl="1"/>
            <a:r>
              <a:rPr lang="en-IN" dirty="0"/>
              <a:t>Consume a REST API service using default HTTP configurations.</a:t>
            </a:r>
            <a:endParaRPr lang="en-US" dirty="0"/>
          </a:p>
          <a:p>
            <a:pPr lvl="1"/>
            <a:r>
              <a:rPr lang="en-IN" dirty="0"/>
              <a:t>Test the HTTP request.</a:t>
            </a:r>
            <a:endParaRPr lang="en-US" dirty="0"/>
          </a:p>
          <a:p>
            <a:pPr lvl="1"/>
            <a:r>
              <a:rPr lang="en-IN" dirty="0"/>
              <a:t>Edit the configuration to make secure HTTPS requests.</a:t>
            </a:r>
            <a:endParaRPr lang="en-US" dirty="0"/>
          </a:p>
          <a:p>
            <a:pPr lvl="1"/>
            <a:r>
              <a:rPr lang="en-IN" dirty="0"/>
              <a:t>Test the HTTPS request.</a:t>
            </a:r>
            <a:endParaRPr lang="en-US" dirty="0"/>
          </a:p>
          <a:p>
            <a:pPr lvl="1"/>
            <a:r>
              <a:rPr lang="en-IN" dirty="0"/>
              <a:t>The following screenshot shows the </a:t>
            </a:r>
            <a:r>
              <a:rPr lang="en-IN" dirty="0" err="1"/>
              <a:t>Anypoint</a:t>
            </a:r>
            <a:r>
              <a:rPr lang="en-IN" dirty="0"/>
              <a:t> Studio app flow for this example: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25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 RESTful Web Services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4200" y="2590800"/>
            <a:ext cx="1162212" cy="1352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6477000" cy="487680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Create the Mule Application</a:t>
            </a:r>
            <a:endParaRPr lang="en-US" sz="2400" dirty="0"/>
          </a:p>
          <a:p>
            <a:pPr lvl="1"/>
            <a:r>
              <a:rPr lang="en-IN" dirty="0"/>
              <a:t>To create the Mule flow:</a:t>
            </a:r>
            <a:endParaRPr lang="en-US" sz="2000" dirty="0"/>
          </a:p>
          <a:p>
            <a:pPr lvl="1"/>
            <a:r>
              <a:rPr lang="en-IN" dirty="0"/>
              <a:t>In the </a:t>
            </a:r>
            <a:r>
              <a:rPr lang="en-IN" b="1" dirty="0"/>
              <a:t>Mule Palette</a:t>
            </a:r>
            <a:r>
              <a:rPr lang="en-IN" dirty="0"/>
              <a:t> view, select the HTTP </a:t>
            </a:r>
            <a:r>
              <a:rPr lang="en-IN" b="1" dirty="0"/>
              <a:t>Listener</a:t>
            </a:r>
            <a:r>
              <a:rPr lang="en-IN" dirty="0"/>
              <a:t> source and drag it on to the canvas.</a:t>
            </a:r>
            <a:br>
              <a:rPr lang="en-IN" dirty="0"/>
            </a:br>
            <a:r>
              <a:rPr lang="en-IN" dirty="0"/>
              <a:t>The source initiates the flow by listening for incoming HTTP message.</a:t>
            </a:r>
            <a:endParaRPr lang="en-US" sz="2000" dirty="0"/>
          </a:p>
          <a:p>
            <a:pPr lvl="1"/>
            <a:r>
              <a:rPr lang="en-IN" dirty="0"/>
              <a:t>On the </a:t>
            </a:r>
            <a:r>
              <a:rPr lang="en-IN" b="1" dirty="0"/>
              <a:t>Listener</a:t>
            </a:r>
            <a:r>
              <a:rPr lang="en-IN" dirty="0"/>
              <a:t> configuration screen, optionally change the value of the </a:t>
            </a:r>
            <a:r>
              <a:rPr lang="en-IN" b="1" dirty="0"/>
              <a:t>Display Name</a:t>
            </a:r>
            <a:r>
              <a:rPr lang="en-IN" dirty="0"/>
              <a:t> field.</a:t>
            </a:r>
            <a:endParaRPr lang="en-US" sz="2000" dirty="0"/>
          </a:p>
          <a:p>
            <a:pPr lvl="1"/>
            <a:r>
              <a:rPr lang="en-IN" dirty="0"/>
              <a:t>Set </a:t>
            </a:r>
            <a:r>
              <a:rPr lang="en-IN" b="1" dirty="0"/>
              <a:t>Path</a:t>
            </a:r>
            <a:r>
              <a:rPr lang="en-IN" dirty="0"/>
              <a:t> to /trigger.</a:t>
            </a:r>
            <a:endParaRPr lang="en-US" sz="2000" dirty="0"/>
          </a:p>
          <a:p>
            <a:pPr lvl="1"/>
            <a:r>
              <a:rPr lang="en-IN" dirty="0"/>
              <a:t>Click the plus sign (</a:t>
            </a:r>
            <a:r>
              <a:rPr lang="en-IN" b="1" dirty="0"/>
              <a:t>+</a:t>
            </a:r>
            <a:r>
              <a:rPr lang="en-IN" dirty="0"/>
              <a:t>) next to the </a:t>
            </a:r>
            <a:r>
              <a:rPr lang="en-IN" b="1" dirty="0"/>
              <a:t>Connector configuration</a:t>
            </a:r>
            <a:r>
              <a:rPr lang="en-IN" dirty="0"/>
              <a:t> field to configure a global element that can be used by all instances of the HTTP </a:t>
            </a:r>
            <a:r>
              <a:rPr lang="en-IN" b="1" dirty="0"/>
              <a:t>Listener</a:t>
            </a:r>
            <a:r>
              <a:rPr lang="en-IN" dirty="0"/>
              <a:t> in the app.</a:t>
            </a:r>
            <a:endParaRPr lang="en-US" sz="2000" dirty="0"/>
          </a:p>
          <a:p>
            <a:pPr lvl="1"/>
            <a:r>
              <a:rPr lang="en-IN" dirty="0"/>
              <a:t>On the </a:t>
            </a:r>
            <a:r>
              <a:rPr lang="en-IN" b="1" dirty="0"/>
              <a:t>General</a:t>
            </a:r>
            <a:r>
              <a:rPr lang="en-IN" dirty="0"/>
              <a:t> tab, configure the following fields:</a:t>
            </a:r>
            <a:endParaRPr lang="en-US" sz="2000" dirty="0"/>
          </a:p>
          <a:p>
            <a:pPr lvl="1"/>
            <a:r>
              <a:rPr lang="en-IN" b="1" dirty="0"/>
              <a:t>Host</a:t>
            </a:r>
            <a:r>
              <a:rPr lang="en-IN" dirty="0"/>
              <a:t>: All Interfaces [0.0.0.0] (default)</a:t>
            </a:r>
            <a:endParaRPr lang="en-US" sz="2000" dirty="0"/>
          </a:p>
          <a:p>
            <a:pPr lvl="1"/>
            <a:r>
              <a:rPr lang="en-IN" b="1" dirty="0"/>
              <a:t>Port</a:t>
            </a:r>
            <a:r>
              <a:rPr lang="en-IN" dirty="0"/>
              <a:t>: 8081</a:t>
            </a:r>
            <a:endParaRPr lang="en-US" sz="2000" dirty="0"/>
          </a:p>
          <a:p>
            <a:pPr lvl="1"/>
            <a:r>
              <a:rPr lang="en-IN" dirty="0"/>
              <a:t>Click </a:t>
            </a:r>
            <a:r>
              <a:rPr lang="en-IN" b="1" dirty="0"/>
              <a:t>OK</a:t>
            </a:r>
            <a:r>
              <a:rPr lang="en-IN" dirty="0"/>
              <a:t>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670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 RESTful Web Services</a:t>
            </a:r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438400"/>
            <a:ext cx="5849167" cy="2086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2556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 RESTful Web Services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811" y="1991247"/>
            <a:ext cx="5744377" cy="3896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115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Mule apps process messages and other parts of Mule events through Mule components, connectors, and modules that are set up within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Flow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Subflow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within an app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 can consist of a single flow, or it can break up processing into discrete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subflows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you add to the app and connect together.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 in production environments typically use multiple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subflows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divide the app into functional modules or for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purposes.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one flow might receive a record and transform data into a given format that another flow processes in some special way.</a:t>
            </a:r>
          </a:p>
        </p:txBody>
      </p:sp>
    </p:spTree>
    <p:extLst>
      <p:ext uri="{BB962C8B-B14F-4D97-AF65-F5344CB8AC3E}">
        <p14:creationId xmlns:p14="http://schemas.microsoft.com/office/powerpoint/2010/main" val="115900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different </a:t>
            </a:r>
            <a:r>
              <a:rPr lang="en-IN" dirty="0"/>
              <a:t>type of flows in Mule?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IN" dirty="0"/>
              <a:t> </a:t>
            </a:r>
            <a:endParaRPr lang="en-US" dirty="0"/>
          </a:p>
          <a:p>
            <a:pPr marL="114300" indent="0">
              <a:buNone/>
            </a:pPr>
            <a:r>
              <a:rPr lang="en-IN" dirty="0"/>
              <a:t> </a:t>
            </a:r>
            <a:endParaRPr lang="en-US" dirty="0"/>
          </a:p>
          <a:p>
            <a:pPr marL="114300" indent="0"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Mule, there are three main types of flows: </a:t>
            </a: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Subflows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Synchronous Flows, and Asynchronous Flows. Each type serves a specific purpose in message processing. Here's an explanation with examples: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6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Subflows</a:t>
            </a:r>
            <a:endParaRPr lang="en-IN" sz="6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Subflows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used to group common logic and are processed synchronously</a:t>
            </a:r>
            <a:r>
              <a:rPr lang="en-US" sz="6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6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execution of the calling flow halts until the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subflow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6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complete.</a:t>
            </a:r>
          </a:p>
          <a:p>
            <a:r>
              <a:rPr lang="en-US" sz="6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Subflows</a:t>
            </a:r>
            <a:r>
              <a:rPr lang="en-US" sz="6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 the processing and exception handling strategies of the calling flow. </a:t>
            </a:r>
            <a:endParaRPr lang="en-US" sz="6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ideal for reusing code across different parts of an application without needing separate exception handling.</a:t>
            </a:r>
          </a:p>
          <a:p>
            <a:r>
              <a:rPr lang="en-IN" sz="6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calling flow pauses until the </a:t>
            </a: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subflow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completes.</a:t>
            </a:r>
          </a:p>
          <a:p>
            <a:pPr marL="114300" lvl="0" indent="0">
              <a:buNone/>
            </a:pP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&lt;sub-flow name="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LogSubFlow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&lt;logger message="Logging data..." level="INFO"/&gt;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&lt;/sub-flow&gt;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&lt;flow name="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&lt;flow-ref name="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LogSubFlow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"/&gt;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&lt;/flow&gt;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LogSubFlow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from the 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flow-ref.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6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different type of flows in Mule?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114300" indent="0"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Flows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Flows are also processed synchronously, but unlike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subflows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do not inherit the processing and exception handling strategies of the calling flow. </a:t>
            </a:r>
            <a:endParaRPr lang="en-US" sz="3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them suitable for transactional processing where messages need to be processed on a single thread. </a:t>
            </a:r>
            <a:endParaRPr lang="en-US" sz="3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 are added to a Mule application as regular flows and are called using a flow reference component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parent flow waits for the synchronous flow to complete before resuming.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&lt;flow name="</a:t>
            </a:r>
            <a:r>
              <a:rPr lang="en-IN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SynchronousFlow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&lt;logger message="Processing synchronously..." level="INFO"/&gt;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&lt;/flow&gt;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&lt;flow name="</a:t>
            </a:r>
            <a:r>
              <a:rPr lang="en-IN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ParentFlow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&lt;flow-ref name="</a:t>
            </a:r>
            <a:r>
              <a:rPr lang="en-IN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SynchronousFlow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"/&gt;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&lt;/flow&gt;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SynchronousFlow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invoked using a flow-ref, and the parent flow waits for it to complete.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78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different type of flows in Mule?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IN" sz="5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Flows</a:t>
            </a:r>
          </a:p>
          <a:p>
            <a:pPr marL="114300" indent="0">
              <a:buNone/>
            </a:pPr>
            <a:endParaRPr lang="en-IN" sz="5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Flows execute in parallel to the calling flow, meaning they are processed asynchronously</a:t>
            </a:r>
            <a:r>
              <a:rPr lang="en-U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inherit the processing and exception handling strategies of the calling flow. </a:t>
            </a:r>
            <a:endParaRPr lang="en-US" sz="5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 are ideal for time-consuming tasks such as sending emails or performing I/O operations. </a:t>
            </a:r>
            <a:endParaRPr lang="en-US" sz="5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added to the Mule application in the same way as synchronous flows but are called from within an asynchronous scope</a:t>
            </a:r>
          </a:p>
          <a:p>
            <a:pPr marL="114300" indent="0">
              <a:buNone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>
              <a:buNone/>
            </a:pP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&lt;flow name="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processingStrategy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&lt;logger message="Processing asynchronously..." level="INFO"/&gt;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&lt;/flow&gt;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&lt;flow name="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&lt;flow-ref name="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"/&gt;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&lt;/flow&gt;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AsyncFlow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configured with the 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processingStrategy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attribute, enabling asynchronous execution.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3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different type of flows in Mule?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Flows </a:t>
            </a: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 are similar to standard flows but without a message source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their own exception handling and create a new execution context. This means that exceptions in private flows are handled locally and do not propagate to the main flow. 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 are recommended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separate exception handling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needed or when implementing an asynchronous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</a:p>
          <a:p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&lt;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name="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privateFlow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processingStrategy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="synchronous"&gt;</a:t>
            </a:r>
          </a:p>
          <a:p>
            <a:pPr marL="114300" indent="0">
              <a:buNone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&lt;!--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components here --&gt;</a:t>
            </a:r>
          </a:p>
          <a:p>
            <a:pPr marL="114300" indent="0">
              <a:buNone/>
            </a:pPr>
            <a:r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&lt;/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flow&gt;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144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Validation module verifies that the content of a message in a Mule flow matches specific criteria. If a message does not meet the defined validation criteria, the validation fails and returns a validation error, such as </a:t>
            </a:r>
            <a:r>
              <a:rPr lang="en-US" dirty="0"/>
              <a:t>VALIDATION:INVALID_URL</a:t>
            </a:r>
            <a:r>
              <a:rPr lang="en-US" dirty="0"/>
              <a:t>, which is a </a:t>
            </a:r>
            <a:r>
              <a:rPr lang="en-US" dirty="0" err="1"/>
              <a:t>ValidationException</a:t>
            </a:r>
            <a:r>
              <a:rPr lang="en-US" dirty="0"/>
              <a:t>. Based on the specific data you are validating, you can customize the exception message that is displayed in the logs.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91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Configure the Is Not Null Operation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b="1" dirty="0"/>
              <a:t>Is not null</a:t>
            </a:r>
            <a:r>
              <a:rPr lang="en-US" dirty="0"/>
              <a:t> operation validates that the given value is not null.</a:t>
            </a:r>
          </a:p>
          <a:p>
            <a:r>
              <a:rPr lang="en-US" dirty="0"/>
              <a:t>The following example shows how to configure the operation in </a:t>
            </a:r>
            <a:r>
              <a:rPr lang="en-US" dirty="0" err="1"/>
              <a:t>Anypoint</a:t>
            </a:r>
            <a:r>
              <a:rPr lang="en-US" dirty="0"/>
              <a:t> Studio:</a:t>
            </a:r>
          </a:p>
          <a:p>
            <a:r>
              <a:rPr lang="en-US" dirty="0"/>
              <a:t>In the </a:t>
            </a:r>
            <a:r>
              <a:rPr lang="en-US" b="1" dirty="0"/>
              <a:t>Mule Palette</a:t>
            </a:r>
            <a:r>
              <a:rPr lang="en-US" dirty="0"/>
              <a:t> view, select </a:t>
            </a:r>
            <a:r>
              <a:rPr lang="en-US" b="1" dirty="0"/>
              <a:t>Validation &gt; Is not null</a:t>
            </a:r>
            <a:r>
              <a:rPr lang="en-US" dirty="0"/>
              <a:t>.</a:t>
            </a:r>
          </a:p>
          <a:p>
            <a:r>
              <a:rPr lang="en-US" dirty="0"/>
              <a:t>Drag </a:t>
            </a:r>
            <a:r>
              <a:rPr lang="en-US" b="1" dirty="0"/>
              <a:t>Is not null</a:t>
            </a:r>
            <a:r>
              <a:rPr lang="en-US" dirty="0"/>
              <a:t> onto the Studio canvas.</a:t>
            </a:r>
          </a:p>
          <a:p>
            <a:r>
              <a:rPr lang="en-US" dirty="0"/>
              <a:t>In the </a:t>
            </a:r>
            <a:r>
              <a:rPr lang="en-US" b="1" dirty="0"/>
              <a:t>Is not null</a:t>
            </a:r>
            <a:r>
              <a:rPr lang="en-US" dirty="0"/>
              <a:t> configuration screen, provide the following parameters:</a:t>
            </a:r>
          </a:p>
          <a:p>
            <a:pPr lvl="1"/>
            <a:r>
              <a:rPr lang="en-US" b="1" dirty="0"/>
              <a:t>Value</a:t>
            </a:r>
            <a:r>
              <a:rPr lang="en-US" dirty="0"/>
              <a:t>: payload</a:t>
            </a:r>
          </a:p>
          <a:p>
            <a:pPr lvl="1"/>
            <a:r>
              <a:rPr lang="en-US" b="1" dirty="0"/>
              <a:t>Message</a:t>
            </a:r>
            <a:r>
              <a:rPr lang="en-US" dirty="0"/>
              <a:t>: Null is not a valid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791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Configure the Is Not Null Operation</a:t>
            </a:r>
            <a:endParaRPr lang="en-US" sz="28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801896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33400" y="5105400"/>
            <a:ext cx="8001000" cy="104123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12696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181818"/>
                </a:solidFill>
                <a:latin typeface="Salesforce Sans"/>
              </a:rPr>
              <a:t> </a:t>
            </a:r>
            <a:r>
              <a:rPr lang="en-US" altLang="en-US" sz="1200" dirty="0" smtClean="0">
                <a:solidFill>
                  <a:srgbClr val="181818"/>
                </a:solidFill>
                <a:latin typeface="Salesforce Sans"/>
              </a:rPr>
              <a:t>                                            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Figure -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Is not null Configuration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181818"/>
              </a:solidFill>
              <a:latin typeface="Salesforce San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In the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Configuration XML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 editor, the configuration looks like this:</a:t>
            </a: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&lt;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validation:is-not-null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value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"#[payload]"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message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"Null is not a valid value"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/&gt;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034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Configure the Is Number Operation</a:t>
            </a:r>
            <a:r>
              <a:rPr lang="en-US" sz="3600" b="1" dirty="0"/>
              <a:t/>
            </a:r>
            <a:br>
              <a:rPr lang="en-US" sz="36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 </a:t>
            </a:r>
            <a:r>
              <a:rPr lang="en-US" b="1" dirty="0"/>
              <a:t>Is number</a:t>
            </a:r>
            <a:r>
              <a:rPr lang="en-US" dirty="0"/>
              <a:t> operation verifies that a string can be parsed as a number of a specified numeric type, using the given locale (which defaults to the system locale) and pattern (which defaults to the locale pattern). This validation can include a range in which the number is validated using the </a:t>
            </a:r>
            <a:r>
              <a:rPr lang="en-US" b="1" dirty="0"/>
              <a:t>Min value</a:t>
            </a:r>
            <a:r>
              <a:rPr lang="en-US" dirty="0"/>
              <a:t> and </a:t>
            </a:r>
            <a:r>
              <a:rPr lang="en-US" b="1" dirty="0"/>
              <a:t>Max Value</a:t>
            </a:r>
            <a:r>
              <a:rPr lang="en-US" dirty="0"/>
              <a:t> parameters.</a:t>
            </a:r>
          </a:p>
          <a:p>
            <a:r>
              <a:rPr lang="en-US" dirty="0"/>
              <a:t>The following example shows how to configure the operation in </a:t>
            </a:r>
            <a:r>
              <a:rPr lang="en-US" dirty="0" err="1"/>
              <a:t>Anypoint</a:t>
            </a:r>
            <a:r>
              <a:rPr lang="en-US" dirty="0"/>
              <a:t> Studio:</a:t>
            </a:r>
          </a:p>
          <a:p>
            <a:r>
              <a:rPr lang="en-US" dirty="0"/>
              <a:t>In the </a:t>
            </a:r>
            <a:r>
              <a:rPr lang="en-US" b="1" dirty="0"/>
              <a:t>Mule Palette</a:t>
            </a:r>
            <a:r>
              <a:rPr lang="en-US" dirty="0"/>
              <a:t> view, select </a:t>
            </a:r>
            <a:r>
              <a:rPr lang="en-US" b="1" dirty="0"/>
              <a:t>Validation &gt; Is number</a:t>
            </a:r>
            <a:r>
              <a:rPr lang="en-US" dirty="0"/>
              <a:t>.</a:t>
            </a:r>
          </a:p>
          <a:p>
            <a:r>
              <a:rPr lang="en-US" dirty="0"/>
              <a:t>Drag </a:t>
            </a:r>
            <a:r>
              <a:rPr lang="en-US" b="1" dirty="0"/>
              <a:t>Is number</a:t>
            </a:r>
            <a:r>
              <a:rPr lang="en-US" dirty="0"/>
              <a:t> onto the Studio canvas.</a:t>
            </a:r>
          </a:p>
          <a:p>
            <a:r>
              <a:rPr lang="en-US" dirty="0"/>
              <a:t>In the </a:t>
            </a:r>
            <a:r>
              <a:rPr lang="en-US" b="1" dirty="0"/>
              <a:t>Is number</a:t>
            </a:r>
            <a:r>
              <a:rPr lang="en-US" dirty="0"/>
              <a:t> configuration screen, provide the following parameters:</a:t>
            </a:r>
          </a:p>
          <a:p>
            <a:pPr lvl="1"/>
            <a:r>
              <a:rPr lang="en-US" b="1" dirty="0"/>
              <a:t>Value</a:t>
            </a:r>
            <a:r>
              <a:rPr lang="en-US" dirty="0"/>
              <a:t>: payload</a:t>
            </a:r>
          </a:p>
          <a:p>
            <a:pPr lvl="1"/>
            <a:r>
              <a:rPr lang="en-US" b="1" dirty="0"/>
              <a:t>Locale</a:t>
            </a:r>
            <a:r>
              <a:rPr lang="en-US" dirty="0"/>
              <a:t>: US</a:t>
            </a:r>
          </a:p>
          <a:p>
            <a:pPr lvl="1"/>
            <a:r>
              <a:rPr lang="en-US" b="1" dirty="0"/>
              <a:t>Min value</a:t>
            </a:r>
            <a:r>
              <a:rPr lang="en-US" dirty="0"/>
              <a:t>: </a:t>
            </a:r>
            <a:r>
              <a:rPr lang="en-US" dirty="0" err="1"/>
              <a:t>vars.minValue</a:t>
            </a:r>
            <a:endParaRPr lang="en-US" dirty="0"/>
          </a:p>
          <a:p>
            <a:pPr lvl="1"/>
            <a:r>
              <a:rPr lang="en-US" b="1" dirty="0"/>
              <a:t>Max value</a:t>
            </a:r>
            <a:r>
              <a:rPr lang="en-US" dirty="0"/>
              <a:t>: </a:t>
            </a:r>
            <a:r>
              <a:rPr lang="en-US" dirty="0" err="1"/>
              <a:t>vars.maxValue</a:t>
            </a:r>
            <a:endParaRPr lang="en-US" dirty="0"/>
          </a:p>
          <a:p>
            <a:pPr lvl="1"/>
            <a:r>
              <a:rPr lang="en-US" b="1" dirty="0"/>
              <a:t>Number type</a:t>
            </a:r>
            <a:r>
              <a:rPr lang="en-US" dirty="0"/>
              <a:t>: INTEGER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453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Configure the Is Number Operation</a:t>
            </a:r>
            <a:br>
              <a:rPr lang="en-US" sz="2400" b="1" dirty="0"/>
            </a:br>
            <a:endParaRPr lang="en-US" sz="24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42" y="1524000"/>
            <a:ext cx="7772400" cy="379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04800" y="5334000"/>
            <a:ext cx="7772400" cy="104123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12696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                                                              Figure - Is number Configuration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181818"/>
              </a:solidFill>
              <a:latin typeface="Salesforce San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In the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Configuration XML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 editor, the configuration looks like this:</a:t>
            </a: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&lt;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validation:is-number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value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"#[payload]"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minValue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"#[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vars.minValue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]"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maxValue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"#[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vars.maxValue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]"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numberType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"INTEGER"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locale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"US"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/&gt;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962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Configure the Is Email Operation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 </a:t>
            </a:r>
            <a:r>
              <a:rPr lang="en-US" b="1" dirty="0"/>
              <a:t>Is email</a:t>
            </a:r>
            <a:r>
              <a:rPr lang="en-US" dirty="0"/>
              <a:t> operation checks that a given email is valid. The value defaults to the email payload.</a:t>
            </a:r>
          </a:p>
          <a:p>
            <a:r>
              <a:rPr lang="en-US" dirty="0"/>
              <a:t>The following example shows how to configure the operation in </a:t>
            </a:r>
            <a:r>
              <a:rPr lang="en-US" dirty="0" err="1"/>
              <a:t>Anypoint</a:t>
            </a:r>
            <a:r>
              <a:rPr lang="en-US" dirty="0"/>
              <a:t> Studio:</a:t>
            </a:r>
          </a:p>
          <a:p>
            <a:r>
              <a:rPr lang="en-US" dirty="0"/>
              <a:t>In the </a:t>
            </a:r>
            <a:r>
              <a:rPr lang="en-US" b="1" dirty="0"/>
              <a:t>Mule Palette</a:t>
            </a:r>
            <a:r>
              <a:rPr lang="en-US" dirty="0"/>
              <a:t> view, select </a:t>
            </a:r>
            <a:r>
              <a:rPr lang="en-US" b="1" dirty="0"/>
              <a:t>Validation &gt; Is email</a:t>
            </a:r>
            <a:r>
              <a:rPr lang="en-US" dirty="0"/>
              <a:t>.</a:t>
            </a:r>
          </a:p>
          <a:p>
            <a:r>
              <a:rPr lang="en-US" dirty="0"/>
              <a:t>Drag </a:t>
            </a:r>
            <a:r>
              <a:rPr lang="en-US" b="1" dirty="0"/>
              <a:t>Is email</a:t>
            </a:r>
            <a:r>
              <a:rPr lang="en-US" dirty="0"/>
              <a:t> onto the Studio canvas.</a:t>
            </a:r>
          </a:p>
          <a:p>
            <a:r>
              <a:rPr lang="en-US" dirty="0"/>
              <a:t>In the </a:t>
            </a:r>
            <a:r>
              <a:rPr lang="en-US" b="1" dirty="0"/>
              <a:t>Is email</a:t>
            </a:r>
            <a:r>
              <a:rPr lang="en-US" dirty="0"/>
              <a:t> configuration screen, provide the following parameters:</a:t>
            </a:r>
          </a:p>
          <a:p>
            <a:pPr lvl="1"/>
            <a:r>
              <a:rPr lang="en-US" b="1" dirty="0"/>
              <a:t>Email</a:t>
            </a:r>
            <a:r>
              <a:rPr lang="en-US" dirty="0"/>
              <a:t>: </a:t>
            </a:r>
            <a:r>
              <a:rPr lang="en-US" dirty="0" err="1"/>
              <a:t>vars.email</a:t>
            </a:r>
            <a:endParaRPr lang="en-US" dirty="0"/>
          </a:p>
          <a:p>
            <a:pPr lvl="1"/>
            <a:r>
              <a:rPr lang="en-US" b="1" dirty="0"/>
              <a:t>Message</a:t>
            </a:r>
            <a:r>
              <a:rPr lang="en-US" dirty="0"/>
              <a:t>: The value is not a valid email.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317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Configure the Is Email Operation</a:t>
            </a:r>
            <a:r>
              <a:rPr lang="en-US" sz="3600" b="1" dirty="0"/>
              <a:t/>
            </a:r>
            <a:br>
              <a:rPr lang="en-US" sz="3600" b="1" dirty="0"/>
            </a:b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733454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04800" y="5410200"/>
            <a:ext cx="8763000" cy="948897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1200" dirty="0" smtClean="0">
                <a:solidFill>
                  <a:srgbClr val="181818"/>
                </a:solidFill>
                <a:latin typeface="Salesforce Sans"/>
              </a:rPr>
              <a:t>                                                                                   Figure -  </a:t>
            </a:r>
            <a:r>
              <a:rPr lang="en-US" altLang="en-US" sz="1200" dirty="0">
                <a:solidFill>
                  <a:srgbClr val="181818"/>
                </a:solidFill>
                <a:latin typeface="Salesforce Sans"/>
              </a:rPr>
              <a:t>Is email Configuration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181818"/>
              </a:solidFill>
              <a:effectLst/>
              <a:latin typeface="Salesforc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In the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Configuration XML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81818"/>
                </a:solidFill>
                <a:effectLst/>
                <a:latin typeface="Salesforce Sans"/>
                <a:cs typeface="Arial" pitchFamily="34" charset="0"/>
              </a:rPr>
              <a:t> editor, the configuration looks like this:</a:t>
            </a: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&lt;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validation:is-email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email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"#[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vars.email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]"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22683E"/>
                </a:solidFill>
                <a:effectLst/>
                <a:latin typeface="SFMono-Regular"/>
                <a:cs typeface="Arial" pitchFamily="34" charset="0"/>
              </a:rPr>
              <a:t>message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0B5CAB"/>
                </a:solidFill>
                <a:effectLst/>
                <a:latin typeface="SFMono-Regular"/>
                <a:cs typeface="Arial" pitchFamily="34" charset="0"/>
              </a:rPr>
              <a:t>"The value is not a valid email"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BA0517"/>
                </a:solidFill>
                <a:effectLst/>
                <a:latin typeface="SFMono-Regular"/>
                <a:cs typeface="Arial" pitchFamily="34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139216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Choice router </a:t>
            </a:r>
          </a:p>
          <a:p>
            <a:r>
              <a:rPr lang="en-US" dirty="0">
                <a:hlinkClick r:id="rId2"/>
              </a:rPr>
              <a:t>Choice Router | </a:t>
            </a:r>
            <a:r>
              <a:rPr lang="en-US" dirty="0" err="1">
                <a:hlinkClick r:id="rId2"/>
              </a:rPr>
              <a:t>MuleSoft</a:t>
            </a:r>
            <a:r>
              <a:rPr lang="en-US" dirty="0">
                <a:hlinkClick r:id="rId2"/>
              </a:rPr>
              <a:t> </a:t>
            </a:r>
            <a:r>
              <a:rPr lang="en-US" dirty="0" smtClean="0">
                <a:hlinkClick r:id="rId2"/>
              </a:rPr>
              <a:t>Documentation</a:t>
            </a:r>
            <a:endParaRPr lang="en-US" dirty="0" smtClean="0"/>
          </a:p>
          <a:p>
            <a:pPr marL="114300" indent="0">
              <a:buNone/>
            </a:pPr>
            <a:endParaRPr lang="en-US" dirty="0" smtClean="0">
              <a:hlinkClick r:id="rId3"/>
            </a:endParaRPr>
          </a:p>
          <a:p>
            <a:r>
              <a:rPr lang="en-US" dirty="0" smtClean="0">
                <a:hlinkClick r:id="rId3"/>
              </a:rPr>
              <a:t>Consume </a:t>
            </a:r>
            <a:r>
              <a:rPr lang="en-US" dirty="0">
                <a:hlinkClick r:id="rId3"/>
              </a:rPr>
              <a:t>Data from an API | </a:t>
            </a:r>
            <a:r>
              <a:rPr lang="en-US" dirty="0" err="1">
                <a:hlinkClick r:id="rId3"/>
              </a:rPr>
              <a:t>MuleSoft</a:t>
            </a:r>
            <a:r>
              <a:rPr lang="en-US" dirty="0">
                <a:hlinkClick r:id="rId3"/>
              </a:rPr>
              <a:t>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12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514</TotalTime>
  <Words>415</Words>
  <Application>Microsoft Office PowerPoint</Application>
  <PresentationFormat>On-screen Show (4:3)</PresentationFormat>
  <Paragraphs>167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Apothecary</vt:lpstr>
      <vt:lpstr>UNIT III </vt:lpstr>
      <vt:lpstr>UNIT - iii</vt:lpstr>
      <vt:lpstr>Mule Application Structure </vt:lpstr>
      <vt:lpstr>PowerPoint Presentation</vt:lpstr>
      <vt:lpstr>PowerPoint Presentation</vt:lpstr>
      <vt:lpstr>Consume RESTful Web Services</vt:lpstr>
      <vt:lpstr> Consume RESTful Web Services</vt:lpstr>
      <vt:lpstr>Consume RESTful Web Services</vt:lpstr>
      <vt:lpstr>Consume RESTful Web Services</vt:lpstr>
      <vt:lpstr>Consume RESTful Web Services</vt:lpstr>
      <vt:lpstr>Flows</vt:lpstr>
      <vt:lpstr>different type of flows in Mule? </vt:lpstr>
      <vt:lpstr>different type of flows in Mule? </vt:lpstr>
      <vt:lpstr>different type of flows in Mule? </vt:lpstr>
      <vt:lpstr>different type of flows in Mule? </vt:lpstr>
      <vt:lpstr>validation</vt:lpstr>
      <vt:lpstr>Configure the Is Not Null Operation </vt:lpstr>
      <vt:lpstr>Configure the Is Not Null Operation</vt:lpstr>
      <vt:lpstr>Configure the Is Number Operation </vt:lpstr>
      <vt:lpstr>Configure the Is Number Operation </vt:lpstr>
      <vt:lpstr>Configure the Is Email Operation </vt:lpstr>
      <vt:lpstr>Configure the Is Email Operation 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III </dc:title>
  <dc:creator>MRUH</dc:creator>
  <cp:lastModifiedBy>MRUH</cp:lastModifiedBy>
  <cp:revision>51</cp:revision>
  <dcterms:created xsi:type="dcterms:W3CDTF">2006-08-16T00:00:00Z</dcterms:created>
  <dcterms:modified xsi:type="dcterms:W3CDTF">2025-08-09T07:46:26Z</dcterms:modified>
</cp:coreProperties>
</file>