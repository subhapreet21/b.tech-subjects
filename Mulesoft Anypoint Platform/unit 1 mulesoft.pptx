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4"/>
  </p:sldMasterIdLst>
  <p:notesMasterIdLst>
    <p:notesMasterId r:id="rId57"/>
  </p:notesMasterIdLst>
  <p:handoutMasterIdLst>
    <p:handoutMasterId r:id="rId58"/>
  </p:handoutMasterIdLst>
  <p:sldIdLst>
    <p:sldId id="256" r:id="rId5"/>
    <p:sldId id="350" r:id="rId6"/>
    <p:sldId id="316" r:id="rId7"/>
    <p:sldId id="317" r:id="rId8"/>
    <p:sldId id="318" r:id="rId9"/>
    <p:sldId id="321" r:id="rId10"/>
    <p:sldId id="323" r:id="rId11"/>
    <p:sldId id="324" r:id="rId12"/>
    <p:sldId id="325" r:id="rId13"/>
    <p:sldId id="332" r:id="rId14"/>
    <p:sldId id="334" r:id="rId15"/>
    <p:sldId id="336" r:id="rId16"/>
    <p:sldId id="337" r:id="rId17"/>
    <p:sldId id="289" r:id="rId18"/>
    <p:sldId id="292" r:id="rId19"/>
    <p:sldId id="293" r:id="rId20"/>
    <p:sldId id="309" r:id="rId21"/>
    <p:sldId id="294" r:id="rId22"/>
    <p:sldId id="295" r:id="rId23"/>
    <p:sldId id="333" r:id="rId24"/>
    <p:sldId id="352" r:id="rId25"/>
    <p:sldId id="359" r:id="rId26"/>
    <p:sldId id="353" r:id="rId27"/>
    <p:sldId id="360" r:id="rId28"/>
    <p:sldId id="361" r:id="rId29"/>
    <p:sldId id="351" r:id="rId30"/>
    <p:sldId id="354" r:id="rId31"/>
    <p:sldId id="355" r:id="rId32"/>
    <p:sldId id="356" r:id="rId33"/>
    <p:sldId id="357" r:id="rId34"/>
    <p:sldId id="365" r:id="rId35"/>
    <p:sldId id="366" r:id="rId36"/>
    <p:sldId id="363" r:id="rId37"/>
    <p:sldId id="358" r:id="rId38"/>
    <p:sldId id="362" r:id="rId39"/>
    <p:sldId id="367" r:id="rId40"/>
    <p:sldId id="368" r:id="rId41"/>
    <p:sldId id="373" r:id="rId42"/>
    <p:sldId id="370" r:id="rId43"/>
    <p:sldId id="371" r:id="rId44"/>
    <p:sldId id="372" r:id="rId45"/>
    <p:sldId id="374" r:id="rId46"/>
    <p:sldId id="380" r:id="rId47"/>
    <p:sldId id="379" r:id="rId48"/>
    <p:sldId id="376" r:id="rId49"/>
    <p:sldId id="377" r:id="rId50"/>
    <p:sldId id="375" r:id="rId51"/>
    <p:sldId id="381" r:id="rId52"/>
    <p:sldId id="378" r:id="rId53"/>
    <p:sldId id="382" r:id="rId54"/>
    <p:sldId id="349" r:id="rId55"/>
    <p:sldId id="364" r:id="rId5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57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28" autoAdjust="0"/>
    <p:restoredTop sz="95126" autoAdjust="0"/>
  </p:normalViewPr>
  <p:slideViewPr>
    <p:cSldViewPr snapToGrid="0" showGuides="1">
      <p:cViewPr varScale="1">
        <p:scale>
          <a:sx n="110" d="100"/>
          <a:sy n="110" d="100"/>
        </p:scale>
        <p:origin x="-534" y="-90"/>
      </p:cViewPr>
      <p:guideLst>
        <p:guide orient="horz" pos="2328"/>
        <p:guide orient="horz" pos="624"/>
        <p:guide orient="horz" pos="4056"/>
        <p:guide pos="3864"/>
        <p:guide pos="7512"/>
        <p:guide pos="144"/>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notesMaster" Target="notesMasters/notes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5C0719-993D-42E1-80ED-8F01056F36C2}" type="datetimeFigureOut">
              <a:rPr lang="en-US" smtClean="0"/>
              <a:t>7/8/2025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0421AD-3AC0-48CB-8727-BB447FD2264E}" type="slidenum">
              <a:rPr lang="en-US" smtClean="0"/>
              <a:t>‹#›</a:t>
            </a:fld>
            <a:endParaRPr lang="en-US" dirty="0"/>
          </a:p>
        </p:txBody>
      </p:sp>
    </p:spTree>
    <p:extLst>
      <p:ext uri="{BB962C8B-B14F-4D97-AF65-F5344CB8AC3E}">
        <p14:creationId xmlns:p14="http://schemas.microsoft.com/office/powerpoint/2010/main" val="41658026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D3BC9C-6C58-464F-B94E-FD73C5FB016E}" type="datetimeFigureOut">
              <a:rPr lang="en-US" smtClean="0"/>
              <a:t>7/8/2025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60DC36-8EFA-4378-9855-E019C55AC472}" type="slidenum">
              <a:rPr lang="en-US" smtClean="0"/>
              <a:t>‹#›</a:t>
            </a:fld>
            <a:endParaRPr lang="en-US" dirty="0"/>
          </a:p>
        </p:txBody>
      </p:sp>
    </p:spTree>
    <p:extLst>
      <p:ext uri="{BB962C8B-B14F-4D97-AF65-F5344CB8AC3E}">
        <p14:creationId xmlns:p14="http://schemas.microsoft.com/office/powerpoint/2010/main" val="327664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60DC36-8EFA-4378-9855-E019C55AC472}" type="slidenum">
              <a:rPr lang="en-US" smtClean="0"/>
              <a:t>51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06FEDF93-2BFD-41CA-ABC7-B039102F3792}"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DA1498-92C7-4E4B-8045-C9195F453964}" type="datetimeFigureOut">
              <a:rPr lang="en-US" smtClean="0"/>
              <a:t>7/8/2025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6FEDF93-2BFD-41CA-ABC7-B039102F3792}"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0DA1498-92C7-4E4B-8045-C9195F453964}" type="datetimeFigureOut">
              <a:rPr lang="en-US" smtClean="0"/>
              <a:t>7/8/2025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6FEDF93-2BFD-41CA-ABC7-B039102F3792}"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panose="020B0604020202020204"/>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www.facebook.com/"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hyperlink" Target="https://developer.apple.com/api-changes/"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resources.cleo.com/secure-data-exchange-protocols" TargetMode="External"/><Relationship Id="rId2" Type="http://schemas.openxmlformats.org/officeDocument/2006/relationships/hyperlink" Target="https://resources.cleo.com/what-it-really-means-to-do-edi" TargetMode="Externa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www.theserverside.com/definition/HTML-Hypertext-Markup-Language" TargetMode="External"/><Relationship Id="rId2" Type="http://schemas.openxmlformats.org/officeDocument/2006/relationships/hyperlink" Target="https://www.techtarget.com/whatis/definition/GUI" TargetMode="Externa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hyperlink" Target="https://dzone.com/articles/api-led-connectivity-with-mul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43356" y="2831899"/>
            <a:ext cx="9144000" cy="1538883"/>
          </a:xfrm>
        </p:spPr>
        <p:txBody>
          <a:bodyPr lIns="0" tIns="0" rIns="0" bIns="0" anchor="t">
            <a:spAutoFit/>
          </a:bodyPr>
          <a:lstStyle/>
          <a:p>
            <a:r>
              <a:rPr lang="en-US" b="1" spc="300" dirty="0">
                <a:latin typeface="+mn-lt"/>
              </a:rPr>
              <a:t>Mule Soft 4.0</a:t>
            </a:r>
            <a:r>
              <a:rPr lang="en-US" dirty="0"/>
              <a:t/>
            </a:r>
            <a:br>
              <a:rPr lang="en-US" dirty="0"/>
            </a:br>
            <a:r>
              <a:rPr lang="en-US" sz="4000" dirty="0">
                <a:solidFill>
                  <a:schemeClr val="accent4"/>
                </a:solidFill>
              </a:rPr>
              <a:t>Introduction</a:t>
            </a:r>
            <a:endParaRPr lang="en-US" dirty="0">
              <a:solidFill>
                <a:schemeClr val="accent4"/>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3155" y="958969"/>
            <a:ext cx="10018713" cy="5122654"/>
          </a:xfrm>
        </p:spPr>
        <p:txBody>
          <a:bodyPr>
            <a:normAutofit/>
          </a:bodyPr>
          <a:lstStyle/>
          <a:p>
            <a:r>
              <a:rPr lang="en-US" dirty="0"/>
              <a:t>UNIT I: </a:t>
            </a:r>
          </a:p>
          <a:p>
            <a:r>
              <a:rPr lang="en-US" dirty="0"/>
              <a:t>Application Networks and API-Led Connectivity: </a:t>
            </a:r>
          </a:p>
          <a:p>
            <a:pPr lvl="1"/>
            <a:r>
              <a:rPr lang="en-US" dirty="0"/>
              <a:t>Define Application Networks and Benefits,</a:t>
            </a:r>
          </a:p>
          <a:p>
            <a:pPr lvl="1"/>
            <a:r>
              <a:rPr lang="en-US" dirty="0"/>
              <a:t> Build an Application Network Using API-Led Connectivity,</a:t>
            </a:r>
          </a:p>
          <a:p>
            <a:pPr lvl="1"/>
            <a:r>
              <a:rPr lang="en-US" dirty="0"/>
              <a:t> Examine Web Services and APIs ,</a:t>
            </a:r>
          </a:p>
          <a:p>
            <a:pPr lvl="1"/>
            <a:r>
              <a:rPr lang="en-US" dirty="0"/>
              <a:t> Secure and Unsecured APIs Using Calls</a:t>
            </a:r>
          </a:p>
          <a:p>
            <a:r>
              <a:rPr lang="en-US" dirty="0"/>
              <a:t> Introduction to </a:t>
            </a:r>
            <a:r>
              <a:rPr lang="en-US" dirty="0" err="1"/>
              <a:t>Anypoint</a:t>
            </a:r>
            <a:r>
              <a:rPr lang="en-US" dirty="0"/>
              <a:t> Platform: </a:t>
            </a:r>
          </a:p>
          <a:p>
            <a:pPr lvl="1"/>
            <a:r>
              <a:rPr lang="en-US" dirty="0"/>
              <a:t>Discover </a:t>
            </a:r>
            <a:r>
              <a:rPr lang="en-US" dirty="0" err="1"/>
              <a:t>Anypoint</a:t>
            </a:r>
            <a:r>
              <a:rPr lang="en-US" dirty="0"/>
              <a:t> Platform Benefits, </a:t>
            </a:r>
          </a:p>
          <a:p>
            <a:pPr lvl="1"/>
            <a:r>
              <a:rPr lang="en-US" dirty="0"/>
              <a:t>Explore Application Network Component Functions, </a:t>
            </a:r>
          </a:p>
          <a:p>
            <a:pPr lvl="1"/>
            <a:r>
              <a:rPr lang="en-US" dirty="0"/>
              <a:t>Navigate </a:t>
            </a:r>
            <a:r>
              <a:rPr lang="en-US" dirty="0" err="1"/>
              <a:t>Anypoint</a:t>
            </a:r>
            <a:r>
              <a:rPr lang="en-US" dirty="0"/>
              <a:t> Platform, </a:t>
            </a:r>
          </a:p>
          <a:p>
            <a:pPr lvl="1"/>
            <a:r>
              <a:rPr lang="en-US" dirty="0"/>
              <a:t>Locate APIs and Other Assets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25528" y="534938"/>
            <a:ext cx="6902794" cy="822521"/>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is an API ?</a:t>
            </a:r>
          </a:p>
        </p:txBody>
      </p:sp>
      <p:pic>
        <p:nvPicPr>
          <p:cNvPr id="3" name="Picture 2"/>
          <p:cNvPicPr>
            <a:picLocks noChangeAspect="1"/>
          </p:cNvPicPr>
          <p:nvPr/>
        </p:nvPicPr>
        <p:blipFill>
          <a:blip r:embed="rId2"/>
          <a:stretch>
            <a:fillRect/>
          </a:stretch>
        </p:blipFill>
        <p:spPr>
          <a:xfrm>
            <a:off x="3189075" y="2124892"/>
            <a:ext cx="6409507" cy="3605348"/>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25528" y="534938"/>
            <a:ext cx="6902794" cy="822521"/>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is an API ?</a:t>
            </a:r>
          </a:p>
        </p:txBody>
      </p:sp>
      <p:sp>
        <p:nvSpPr>
          <p:cNvPr id="3" name="Text Placeholder 3"/>
          <p:cNvSpPr txBox="1"/>
          <p:nvPr/>
        </p:nvSpPr>
        <p:spPr>
          <a:xfrm>
            <a:off x="1265000" y="1009146"/>
            <a:ext cx="9638131" cy="125508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Wingdings" panose="05000000000000000000" pitchFamily="2" charset="2"/>
              <a:buChar char="v"/>
            </a:pPr>
            <a:endParaRPr lang="en-US" sz="1800" dirty="0">
              <a:solidFill>
                <a:schemeClr val="bg1"/>
              </a:solidFill>
            </a:endParaRPr>
          </a:p>
          <a:p>
            <a:pPr marL="285750" indent="-285750" algn="just">
              <a:buFont typeface="Wingdings" panose="05000000000000000000" pitchFamily="2" charset="2"/>
              <a:buChar char="v"/>
            </a:pPr>
            <a:r>
              <a:rPr lang="en-US" sz="1800" dirty="0"/>
              <a:t>The term API is an acronym, and it stands for “</a:t>
            </a:r>
            <a:r>
              <a:rPr lang="en-US" sz="1800" b="1" dirty="0">
                <a:solidFill>
                  <a:schemeClr val="accent4"/>
                </a:solidFill>
              </a:rPr>
              <a:t>Application Programming Interface</a:t>
            </a:r>
            <a:r>
              <a:rPr lang="en-US" sz="1800" dirty="0">
                <a:solidFill>
                  <a:schemeClr val="bg1"/>
                </a:solidFill>
              </a:rPr>
              <a:t>.”</a:t>
            </a:r>
          </a:p>
        </p:txBody>
      </p:sp>
      <p:sp>
        <p:nvSpPr>
          <p:cNvPr id="4" name="Rectangle 3"/>
          <p:cNvSpPr/>
          <p:nvPr/>
        </p:nvSpPr>
        <p:spPr>
          <a:xfrm>
            <a:off x="1515291" y="2921406"/>
            <a:ext cx="9161417" cy="19389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285750" indent="-285750">
              <a:buFont typeface="Wingdings" panose="05000000000000000000" pitchFamily="2" charset="2"/>
              <a:buChar char="q"/>
            </a:pPr>
            <a:r>
              <a:rPr lang="en-US" sz="2000" dirty="0">
                <a:solidFill>
                  <a:schemeClr val="tx1"/>
                </a:solidFill>
                <a:latin typeface="Lora"/>
              </a:rPr>
              <a:t>API are the set of commands for how a service can be used. </a:t>
            </a:r>
          </a:p>
          <a:p>
            <a:pPr marL="285750" indent="-285750">
              <a:buFont typeface="Wingdings" panose="05000000000000000000" pitchFamily="2" charset="2"/>
              <a:buChar char="q"/>
            </a:pPr>
            <a:endParaRPr lang="en-US" sz="2000" dirty="0">
              <a:solidFill>
                <a:schemeClr val="tx1"/>
              </a:solidFill>
              <a:latin typeface="Lora"/>
            </a:endParaRPr>
          </a:p>
          <a:p>
            <a:pPr marL="285750" indent="-285750">
              <a:buFont typeface="Wingdings" panose="05000000000000000000" pitchFamily="2" charset="2"/>
              <a:buChar char="q"/>
            </a:pPr>
            <a:r>
              <a:rPr lang="en-US" sz="2000" dirty="0">
                <a:solidFill>
                  <a:schemeClr val="tx1"/>
                </a:solidFill>
                <a:latin typeface="Lora"/>
              </a:rPr>
              <a:t>API allows two applications to talk to each other.</a:t>
            </a:r>
          </a:p>
          <a:p>
            <a:pPr marL="285750" indent="-285750">
              <a:buFont typeface="Wingdings" panose="05000000000000000000" pitchFamily="2" charset="2"/>
              <a:buChar char="q"/>
            </a:pPr>
            <a:endParaRPr lang="en-US" sz="2000" dirty="0">
              <a:solidFill>
                <a:schemeClr val="tx1"/>
              </a:solidFill>
              <a:latin typeface="Lora"/>
            </a:endParaRPr>
          </a:p>
          <a:p>
            <a:pPr marL="285750" indent="-285750">
              <a:buFont typeface="Wingdings" panose="05000000000000000000" pitchFamily="2" charset="2"/>
              <a:buChar char="q"/>
            </a:pPr>
            <a:r>
              <a:rPr lang="en-US" sz="2000" dirty="0">
                <a:solidFill>
                  <a:schemeClr val="tx1"/>
                </a:solidFill>
                <a:latin typeface="Lora"/>
              </a:rPr>
              <a:t>In Simple word we say that </a:t>
            </a:r>
            <a:r>
              <a:rPr lang="en-US" sz="2000" b="1" dirty="0">
                <a:solidFill>
                  <a:schemeClr val="tx1"/>
                </a:solidFill>
                <a:latin typeface="Lora"/>
              </a:rPr>
              <a:t>API acts as a middle man</a:t>
            </a:r>
            <a:r>
              <a:rPr lang="en-US" sz="2000" dirty="0">
                <a:solidFill>
                  <a:schemeClr val="tx1"/>
                </a:solidFill>
                <a:latin typeface="Lora"/>
              </a:rPr>
              <a:t>, which takes input and provide output.</a:t>
            </a:r>
            <a:endParaRPr lang="en-US" sz="20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525528" y="195307"/>
            <a:ext cx="8548803" cy="917228"/>
          </a:xfrm>
          <a:prstGeom prst="rect">
            <a:avLst/>
          </a:prstGeom>
        </p:spPr>
        <p:txBody>
          <a:bodyP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bg1"/>
                </a:solidFill>
              </a:rPr>
              <a:t>What is an API?  </a:t>
            </a:r>
          </a:p>
          <a:p>
            <a:r>
              <a:rPr lang="en-US" dirty="0">
                <a:solidFill>
                  <a:schemeClr val="bg1"/>
                </a:solidFill>
              </a:rPr>
              <a:t>                            </a:t>
            </a:r>
            <a:endParaRPr lang="en-US" dirty="0">
              <a:solidFill>
                <a:schemeClr val="accent4"/>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830284"/>
            <a:ext cx="2027633" cy="2313215"/>
          </a:xfrm>
          <a:prstGeom prst="rect">
            <a:avLst/>
          </a:prstGeom>
          <a:ln>
            <a:noFill/>
          </a:ln>
          <a:effectLst>
            <a:softEdge rad="112500"/>
          </a:effectLst>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5552" y="1716011"/>
            <a:ext cx="892004" cy="10136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01799" y="2920636"/>
            <a:ext cx="3189098" cy="2156010"/>
          </a:xfrm>
          <a:prstGeom prst="round2DiagRect">
            <a:avLst>
              <a:gd name="adj1" fmla="val 16667"/>
              <a:gd name="adj2" fmla="val 0"/>
            </a:avLst>
          </a:prstGeom>
          <a:ln w="28575" cap="sq">
            <a:solidFill>
              <a:srgbClr val="FFFFFF"/>
            </a:solidFill>
            <a:miter lim="800000"/>
            <a:headEnd/>
            <a:tailEnd/>
          </a:ln>
          <a:effectLst>
            <a:outerShdw blurRad="254000" algn="tl" rotWithShape="0">
              <a:srgbClr val="000000">
                <a:alpha val="43000"/>
              </a:srgbClr>
            </a:outerShdw>
          </a:effectLst>
        </p:spPr>
      </p:pic>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35303" y="2595291"/>
            <a:ext cx="1320800" cy="2806700"/>
          </a:xfrm>
          <a:prstGeom prst="roundRect">
            <a:avLst>
              <a:gd name="adj" fmla="val 16667"/>
            </a:avLst>
          </a:prstGeom>
          <a:ln w="9525">
            <a:solidFill>
              <a:schemeClr val="tx1"/>
            </a:solid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itle 1"/>
          <p:cNvSpPr txBox="1"/>
          <p:nvPr/>
        </p:nvSpPr>
        <p:spPr>
          <a:xfrm>
            <a:off x="200297" y="5401991"/>
            <a:ext cx="1627037" cy="481282"/>
          </a:xfrm>
          <a:prstGeom prst="rect">
            <a:avLst/>
          </a:prstGeom>
        </p:spPr>
        <p:style>
          <a:lnRef idx="0">
            <a:schemeClr val="accent5"/>
          </a:lnRef>
          <a:fillRef idx="3">
            <a:schemeClr val="accent5"/>
          </a:fillRef>
          <a:effectRef idx="3">
            <a:schemeClr val="accent5"/>
          </a:effectRef>
          <a:fontRef idx="minor">
            <a:schemeClr val="lt1"/>
          </a:fontRef>
        </p:style>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bg1"/>
                </a:solidFill>
                <a:latin typeface="Chaparral Pro" panose="02060503040505020203" pitchFamily="18" charset="0"/>
              </a:rPr>
              <a:t>Client</a:t>
            </a:r>
          </a:p>
        </p:txBody>
      </p:sp>
      <p:sp>
        <p:nvSpPr>
          <p:cNvPr id="13" name="Title 1"/>
          <p:cNvSpPr txBox="1"/>
          <p:nvPr/>
        </p:nvSpPr>
        <p:spPr>
          <a:xfrm>
            <a:off x="9570720" y="5258300"/>
            <a:ext cx="1627037" cy="481282"/>
          </a:xfrm>
          <a:prstGeom prst="rect">
            <a:avLst/>
          </a:prstGeom>
        </p:spPr>
        <p:style>
          <a:lnRef idx="0">
            <a:schemeClr val="accent5"/>
          </a:lnRef>
          <a:fillRef idx="3">
            <a:schemeClr val="accent5"/>
          </a:fillRef>
          <a:effectRef idx="3">
            <a:schemeClr val="accent5"/>
          </a:effectRef>
          <a:fontRef idx="minor">
            <a:schemeClr val="lt1"/>
          </a:fontRef>
        </p:style>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bg1"/>
                </a:solidFill>
                <a:latin typeface="Chaparral Pro" panose="02060503040505020203" pitchFamily="18" charset="0"/>
              </a:rPr>
              <a:t>Server</a:t>
            </a:r>
          </a:p>
        </p:txBody>
      </p:sp>
      <p:sp>
        <p:nvSpPr>
          <p:cNvPr id="14" name="Title 1"/>
          <p:cNvSpPr txBox="1"/>
          <p:nvPr/>
        </p:nvSpPr>
        <p:spPr>
          <a:xfrm>
            <a:off x="5082184" y="5642632"/>
            <a:ext cx="1627037" cy="481282"/>
          </a:xfrm>
          <a:prstGeom prst="rect">
            <a:avLst/>
          </a:prstGeom>
        </p:spPr>
        <p:style>
          <a:lnRef idx="0">
            <a:schemeClr val="accent5"/>
          </a:lnRef>
          <a:fillRef idx="3">
            <a:schemeClr val="accent5"/>
          </a:fillRef>
          <a:effectRef idx="3">
            <a:schemeClr val="accent5"/>
          </a:effectRef>
          <a:fontRef idx="minor">
            <a:schemeClr val="lt1"/>
          </a:fontRef>
        </p:style>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a:solidFill>
                  <a:schemeClr val="bg1"/>
                </a:solidFill>
                <a:latin typeface="Chaparral Pro" panose="02060503040505020203" pitchFamily="18" charset="0"/>
              </a:rPr>
              <a:t>API</a:t>
            </a:r>
          </a:p>
        </p:txBody>
      </p:sp>
      <p:sp>
        <p:nvSpPr>
          <p:cNvPr id="15" name="Arrow: Right 14"/>
          <p:cNvSpPr/>
          <p:nvPr/>
        </p:nvSpPr>
        <p:spPr>
          <a:xfrm>
            <a:off x="2380430" y="3167324"/>
            <a:ext cx="2377440" cy="38970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6" name="Title 1"/>
          <p:cNvSpPr txBox="1"/>
          <p:nvPr/>
        </p:nvSpPr>
        <p:spPr>
          <a:xfrm>
            <a:off x="3027914" y="3495821"/>
            <a:ext cx="1248129" cy="38970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dirty="0">
                <a:solidFill>
                  <a:schemeClr val="bg1"/>
                </a:solidFill>
              </a:rPr>
              <a:t>Request</a:t>
            </a:r>
            <a:endParaRPr lang="en-US" dirty="0">
              <a:solidFill>
                <a:schemeClr val="bg1"/>
              </a:solidFill>
            </a:endParaRPr>
          </a:p>
        </p:txBody>
      </p:sp>
      <p:sp>
        <p:nvSpPr>
          <p:cNvPr id="17" name="Title 1"/>
          <p:cNvSpPr txBox="1"/>
          <p:nvPr/>
        </p:nvSpPr>
        <p:spPr>
          <a:xfrm>
            <a:off x="3172585" y="1269095"/>
            <a:ext cx="958785" cy="325005"/>
          </a:xfrm>
          <a:prstGeom prst="rect">
            <a:avLst/>
          </a:prstGeom>
        </p:spPr>
        <p:style>
          <a:lnRef idx="1">
            <a:schemeClr val="accent2"/>
          </a:lnRef>
          <a:fillRef idx="3">
            <a:schemeClr val="accent2"/>
          </a:fillRef>
          <a:effectRef idx="2">
            <a:schemeClr val="accent2"/>
          </a:effectRef>
          <a:fontRef idx="minor">
            <a:schemeClr val="lt1"/>
          </a:fontRef>
        </p:style>
        <p:txBody>
          <a:bodyP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000" dirty="0">
                <a:solidFill>
                  <a:schemeClr val="bg1"/>
                </a:solidFill>
                <a:latin typeface="Chaparral Pro" panose="02060503040505020203" pitchFamily="18" charset="0"/>
              </a:rPr>
              <a:t>APP</a:t>
            </a:r>
          </a:p>
        </p:txBody>
      </p:sp>
      <p:sp>
        <p:nvSpPr>
          <p:cNvPr id="18" name="Arrow: Right 17"/>
          <p:cNvSpPr/>
          <p:nvPr/>
        </p:nvSpPr>
        <p:spPr>
          <a:xfrm>
            <a:off x="6766988" y="3106111"/>
            <a:ext cx="1927961" cy="38970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19" name="Title 1"/>
          <p:cNvSpPr txBox="1"/>
          <p:nvPr/>
        </p:nvSpPr>
        <p:spPr>
          <a:xfrm>
            <a:off x="7119785" y="3428999"/>
            <a:ext cx="1248129" cy="38970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dirty="0">
                <a:solidFill>
                  <a:schemeClr val="bg1"/>
                </a:solidFill>
              </a:rPr>
              <a:t>Request</a:t>
            </a:r>
            <a:endParaRPr lang="en-US" dirty="0">
              <a:solidFill>
                <a:schemeClr val="bg1"/>
              </a:solidFill>
            </a:endParaRPr>
          </a:p>
        </p:txBody>
      </p:sp>
      <p:sp>
        <p:nvSpPr>
          <p:cNvPr id="20" name="Arrow: Right 19"/>
          <p:cNvSpPr/>
          <p:nvPr/>
        </p:nvSpPr>
        <p:spPr>
          <a:xfrm rot="10800000">
            <a:off x="2442748" y="4460059"/>
            <a:ext cx="2377440" cy="389709"/>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1" name="Title 1"/>
          <p:cNvSpPr txBox="1"/>
          <p:nvPr/>
        </p:nvSpPr>
        <p:spPr>
          <a:xfrm>
            <a:off x="3082127" y="4849098"/>
            <a:ext cx="1248129" cy="38970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dirty="0">
                <a:solidFill>
                  <a:schemeClr val="bg1"/>
                </a:solidFill>
              </a:rPr>
              <a:t>Response</a:t>
            </a:r>
            <a:endParaRPr lang="en-US" dirty="0">
              <a:solidFill>
                <a:schemeClr val="bg1"/>
              </a:solidFill>
            </a:endParaRPr>
          </a:p>
        </p:txBody>
      </p:sp>
      <p:sp>
        <p:nvSpPr>
          <p:cNvPr id="22" name="Arrow: Right 21"/>
          <p:cNvSpPr/>
          <p:nvPr/>
        </p:nvSpPr>
        <p:spPr>
          <a:xfrm rot="10800000">
            <a:off x="6766988" y="4513226"/>
            <a:ext cx="1927961" cy="389040"/>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3" name="Title 1"/>
          <p:cNvSpPr txBox="1"/>
          <p:nvPr/>
        </p:nvSpPr>
        <p:spPr>
          <a:xfrm>
            <a:off x="7344873" y="4902267"/>
            <a:ext cx="1248129" cy="389709"/>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100" dirty="0">
                <a:solidFill>
                  <a:schemeClr val="bg1"/>
                </a:solidFill>
              </a:rPr>
              <a:t>Response</a:t>
            </a:r>
            <a:endParaRPr lang="en-US"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1000"/>
                                        <p:tgtEl>
                                          <p:spTgt spid="11"/>
                                        </p:tgtEl>
                                      </p:cBhvr>
                                    </p:animEffect>
                                    <p:anim calcmode="lin" valueType="num">
                                      <p:cBhvr>
                                        <p:cTn id="36" dur="1000" fill="hold"/>
                                        <p:tgtEl>
                                          <p:spTgt spid="11"/>
                                        </p:tgtEl>
                                        <p:attrNameLst>
                                          <p:attrName>ppt_x</p:attrName>
                                        </p:attrNameLst>
                                      </p:cBhvr>
                                      <p:tavLst>
                                        <p:tav tm="0">
                                          <p:val>
                                            <p:strVal val="#ppt_x"/>
                                          </p:val>
                                        </p:tav>
                                        <p:tav tm="100000">
                                          <p:val>
                                            <p:strVal val="#ppt_x"/>
                                          </p:val>
                                        </p:tav>
                                      </p:tavLst>
                                    </p:anim>
                                    <p:anim calcmode="lin" valueType="num">
                                      <p:cBhvr>
                                        <p:cTn id="3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1000"/>
                                        <p:tgtEl>
                                          <p:spTgt spid="18"/>
                                        </p:tgtEl>
                                      </p:cBhvr>
                                    </p:animEffect>
                                    <p:anim calcmode="lin" valueType="num">
                                      <p:cBhvr>
                                        <p:cTn id="50" dur="1000" fill="hold"/>
                                        <p:tgtEl>
                                          <p:spTgt spid="18"/>
                                        </p:tgtEl>
                                        <p:attrNameLst>
                                          <p:attrName>ppt_x</p:attrName>
                                        </p:attrNameLst>
                                      </p:cBhvr>
                                      <p:tavLst>
                                        <p:tav tm="0">
                                          <p:val>
                                            <p:strVal val="#ppt_x"/>
                                          </p:val>
                                        </p:tav>
                                        <p:tav tm="100000">
                                          <p:val>
                                            <p:strVal val="#ppt_x"/>
                                          </p:val>
                                        </p:tav>
                                      </p:tavLst>
                                    </p:anim>
                                    <p:anim calcmode="lin" valueType="num">
                                      <p:cBhvr>
                                        <p:cTn id="5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1000"/>
                                        <p:tgtEl>
                                          <p:spTgt spid="22"/>
                                        </p:tgtEl>
                                      </p:cBhvr>
                                    </p:animEffect>
                                    <p:anim calcmode="lin" valueType="num">
                                      <p:cBhvr>
                                        <p:cTn id="57" dur="1000" fill="hold"/>
                                        <p:tgtEl>
                                          <p:spTgt spid="22"/>
                                        </p:tgtEl>
                                        <p:attrNameLst>
                                          <p:attrName>ppt_x</p:attrName>
                                        </p:attrNameLst>
                                      </p:cBhvr>
                                      <p:tavLst>
                                        <p:tav tm="0">
                                          <p:val>
                                            <p:strVal val="#ppt_x"/>
                                          </p:val>
                                        </p:tav>
                                        <p:tav tm="100000">
                                          <p:val>
                                            <p:strVal val="#ppt_x"/>
                                          </p:val>
                                        </p:tav>
                                      </p:tavLst>
                                    </p:anim>
                                    <p:anim calcmode="lin" valueType="num">
                                      <p:cBhvr>
                                        <p:cTn id="5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1000"/>
                                        <p:tgtEl>
                                          <p:spTgt spid="20"/>
                                        </p:tgtEl>
                                      </p:cBhvr>
                                    </p:animEffect>
                                    <p:anim calcmode="lin" valueType="num">
                                      <p:cBhvr>
                                        <p:cTn id="64" dur="1000" fill="hold"/>
                                        <p:tgtEl>
                                          <p:spTgt spid="20"/>
                                        </p:tgtEl>
                                        <p:attrNameLst>
                                          <p:attrName>ppt_x</p:attrName>
                                        </p:attrNameLst>
                                      </p:cBhvr>
                                      <p:tavLst>
                                        <p:tav tm="0">
                                          <p:val>
                                            <p:strVal val="#ppt_x"/>
                                          </p:val>
                                        </p:tav>
                                        <p:tav tm="100000">
                                          <p:val>
                                            <p:strVal val="#ppt_x"/>
                                          </p:val>
                                        </p:tav>
                                      </p:tavLst>
                                    </p:anim>
                                    <p:anim calcmode="lin" valueType="num">
                                      <p:cBhvr>
                                        <p:cTn id="65"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ntr" presetSubtype="0" fill="hold" grpId="0" nodeType="clickEffect">
                                  <p:stCondLst>
                                    <p:cond delay="0"/>
                                  </p:stCondLst>
                                  <p:childTnLst>
                                    <p:set>
                                      <p:cBhvr>
                                        <p:cTn id="77" dur="1" fill="hold">
                                          <p:stCondLst>
                                            <p:cond delay="0"/>
                                          </p:stCondLst>
                                        </p:cTn>
                                        <p:tgtEl>
                                          <p:spTgt spid="13"/>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17"/>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grpId="0" nodeType="click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1000"/>
                                        <p:tgtEl>
                                          <p:spTgt spid="19"/>
                                        </p:tgtEl>
                                      </p:cBhvr>
                                    </p:animEffect>
                                    <p:anim calcmode="lin" valueType="num">
                                      <p:cBhvr>
                                        <p:cTn id="87" dur="1000" fill="hold"/>
                                        <p:tgtEl>
                                          <p:spTgt spid="19"/>
                                        </p:tgtEl>
                                        <p:attrNameLst>
                                          <p:attrName>ppt_x</p:attrName>
                                        </p:attrNameLst>
                                      </p:cBhvr>
                                      <p:tavLst>
                                        <p:tav tm="0">
                                          <p:val>
                                            <p:strVal val="#ppt_x"/>
                                          </p:val>
                                        </p:tav>
                                        <p:tav tm="100000">
                                          <p:val>
                                            <p:strVal val="#ppt_x"/>
                                          </p:val>
                                        </p:tav>
                                      </p:tavLst>
                                    </p:anim>
                                    <p:anim calcmode="lin" valueType="num">
                                      <p:cBhvr>
                                        <p:cTn id="88" dur="1000" fill="hold"/>
                                        <p:tgtEl>
                                          <p:spTgt spid="19"/>
                                        </p:tgtEl>
                                        <p:attrNameLst>
                                          <p:attrName>ppt_y</p:attrName>
                                        </p:attrNameLst>
                                      </p:cBhvr>
                                      <p:tavLst>
                                        <p:tav tm="0">
                                          <p:val>
                                            <p:strVal val="#ppt_y+.1"/>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1000"/>
                                        <p:tgtEl>
                                          <p:spTgt spid="16"/>
                                        </p:tgtEl>
                                      </p:cBhvr>
                                    </p:animEffect>
                                    <p:anim calcmode="lin" valueType="num">
                                      <p:cBhvr>
                                        <p:cTn id="92" dur="1000" fill="hold"/>
                                        <p:tgtEl>
                                          <p:spTgt spid="16"/>
                                        </p:tgtEl>
                                        <p:attrNameLst>
                                          <p:attrName>ppt_x</p:attrName>
                                        </p:attrNameLst>
                                      </p:cBhvr>
                                      <p:tavLst>
                                        <p:tav tm="0">
                                          <p:val>
                                            <p:strVal val="#ppt_x"/>
                                          </p:val>
                                        </p:tav>
                                        <p:tav tm="100000">
                                          <p:val>
                                            <p:strVal val="#ppt_x"/>
                                          </p:val>
                                        </p:tav>
                                      </p:tavLst>
                                    </p:anim>
                                    <p:anim calcmode="lin" valueType="num">
                                      <p:cBhvr>
                                        <p:cTn id="9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000"/>
                                        <p:tgtEl>
                                          <p:spTgt spid="21"/>
                                        </p:tgtEl>
                                      </p:cBhvr>
                                    </p:animEffect>
                                    <p:anim calcmode="lin" valueType="num">
                                      <p:cBhvr>
                                        <p:cTn id="99" dur="1000" fill="hold"/>
                                        <p:tgtEl>
                                          <p:spTgt spid="21"/>
                                        </p:tgtEl>
                                        <p:attrNameLst>
                                          <p:attrName>ppt_x</p:attrName>
                                        </p:attrNameLst>
                                      </p:cBhvr>
                                      <p:tavLst>
                                        <p:tav tm="0">
                                          <p:val>
                                            <p:strVal val="#ppt_x"/>
                                          </p:val>
                                        </p:tav>
                                        <p:tav tm="100000">
                                          <p:val>
                                            <p:strVal val="#ppt_x"/>
                                          </p:val>
                                        </p:tav>
                                      </p:tavLst>
                                    </p:anim>
                                    <p:anim calcmode="lin" valueType="num">
                                      <p:cBhvr>
                                        <p:cTn id="100" dur="1000" fill="hold"/>
                                        <p:tgtEl>
                                          <p:spTgt spid="2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1000"/>
                                        <p:tgtEl>
                                          <p:spTgt spid="23"/>
                                        </p:tgtEl>
                                      </p:cBhvr>
                                    </p:animEffect>
                                    <p:anim calcmode="lin" valueType="num">
                                      <p:cBhvr>
                                        <p:cTn id="104" dur="1000" fill="hold"/>
                                        <p:tgtEl>
                                          <p:spTgt spid="23"/>
                                        </p:tgtEl>
                                        <p:attrNameLst>
                                          <p:attrName>ppt_x</p:attrName>
                                        </p:attrNameLst>
                                      </p:cBhvr>
                                      <p:tavLst>
                                        <p:tav tm="0">
                                          <p:val>
                                            <p:strVal val="#ppt_x"/>
                                          </p:val>
                                        </p:tav>
                                        <p:tav tm="100000">
                                          <p:val>
                                            <p:strVal val="#ppt_x"/>
                                          </p:val>
                                        </p:tav>
                                      </p:tavLst>
                                    </p:anim>
                                    <p:anim calcmode="lin" valueType="num">
                                      <p:cBhvr>
                                        <p:cTn id="10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2" grpId="0" animBg="1"/>
      <p:bldP spid="13" grpId="0" animBg="1"/>
      <p:bldP spid="14" grpId="0" animBg="1"/>
      <p:bldP spid="15" grpId="0" animBg="1"/>
      <p:bldP spid="16" grpId="0"/>
      <p:bldP spid="17" grpId="0" animBg="1"/>
      <p:bldP spid="18" grpId="0" animBg="1"/>
      <p:bldP spid="19" grpId="0"/>
      <p:bldP spid="20" grpId="0" animBg="1"/>
      <p:bldP spid="21" grpId="0"/>
      <p:bldP spid="22" grpId="0" animBg="1"/>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3547" y="1634526"/>
            <a:ext cx="10193338"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525528" y="534938"/>
            <a:ext cx="6902794" cy="822521"/>
          </a:xfrm>
          <a:prstGeom prst="rect">
            <a:avLst/>
          </a:prstGeom>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            What is need of  API ?</a:t>
            </a:r>
          </a:p>
        </p:txBody>
      </p:sp>
      <p:sp>
        <p:nvSpPr>
          <p:cNvPr id="6" name="Rectangle 5"/>
          <p:cNvSpPr/>
          <p:nvPr/>
        </p:nvSpPr>
        <p:spPr>
          <a:xfrm>
            <a:off x="1288869" y="1495586"/>
            <a:ext cx="9004662" cy="738664"/>
          </a:xfrm>
          <a:prstGeom prst="rect">
            <a:avLst/>
          </a:prstGeom>
        </p:spPr>
        <p:txBody>
          <a:bodyPr wrap="square">
            <a:spAutoFit/>
          </a:bodyPr>
          <a:lstStyle/>
          <a:p>
            <a:pPr marL="342900" indent="-342900" fontAlgn="base">
              <a:buFont typeface="Wingdings" panose="05000000000000000000" pitchFamily="2" charset="2"/>
              <a:buChar char="q"/>
            </a:pPr>
            <a:r>
              <a:rPr lang="en-US" sz="2400" b="1" dirty="0">
                <a:latin typeface="-apple-system"/>
              </a:rPr>
              <a:t>WWW and remote servers</a:t>
            </a:r>
          </a:p>
          <a:p>
            <a:pPr fontAlgn="base"/>
            <a:r>
              <a:rPr lang="en-US" dirty="0">
                <a:latin typeface="Lato"/>
              </a:rPr>
              <a:t>	When I think about the Web, I imagine a large network of connected </a:t>
            </a:r>
            <a:r>
              <a:rPr lang="en-US" i="1" dirty="0">
                <a:latin typeface="inherit"/>
              </a:rPr>
              <a:t>servers.</a:t>
            </a:r>
            <a:endParaRPr lang="en-US" b="0" i="0" dirty="0">
              <a:effectLst/>
              <a:latin typeface="Lato"/>
            </a:endParaRPr>
          </a:p>
        </p:txBody>
      </p:sp>
      <p:sp>
        <p:nvSpPr>
          <p:cNvPr id="7" name="Rectangle 6"/>
          <p:cNvSpPr/>
          <p:nvPr/>
        </p:nvSpPr>
        <p:spPr>
          <a:xfrm>
            <a:off x="1288869" y="2837544"/>
            <a:ext cx="3213463" cy="230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algn="just"/>
            <a:r>
              <a:rPr lang="en-US" dirty="0">
                <a:solidFill>
                  <a:schemeClr val="tx1"/>
                </a:solidFill>
                <a:latin typeface="Lato"/>
              </a:rPr>
              <a:t>Every page on the internet is stored somewhere on a remote server. A remote server is not so mystical after all — it’s just a part of a remotely located computer that is optimized to process requests.</a:t>
            </a:r>
            <a:endParaRPr lang="en-US" dirty="0">
              <a:solidFill>
                <a:schemeClr val="tx1"/>
              </a:solidFill>
            </a:endParaRPr>
          </a:p>
        </p:txBody>
      </p:sp>
      <p:pic>
        <p:nvPicPr>
          <p:cNvPr id="8" name="Picture 7"/>
          <p:cNvPicPr>
            <a:picLocks noChangeAspect="1"/>
          </p:cNvPicPr>
          <p:nvPr/>
        </p:nvPicPr>
        <p:blipFill rotWithShape="1">
          <a:blip r:embed="rId2"/>
          <a:srcRect l="12937" r="9451"/>
          <a:stretch>
            <a:fillRect/>
          </a:stretch>
        </p:blipFill>
        <p:spPr>
          <a:xfrm>
            <a:off x="6252755" y="2869393"/>
            <a:ext cx="5233851" cy="22764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21433" y="920621"/>
            <a:ext cx="6478946" cy="470898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285750" indent="-285750" algn="just" fontAlgn="base">
              <a:buFont typeface="Wingdings" panose="05000000000000000000" pitchFamily="2" charset="2"/>
              <a:buChar char="q"/>
            </a:pPr>
            <a:endParaRPr lang="en-US" sz="2000" dirty="0">
              <a:solidFill>
                <a:schemeClr val="tx1"/>
              </a:solidFill>
            </a:endParaRPr>
          </a:p>
          <a:p>
            <a:pPr marL="285750" indent="-285750" algn="just" fontAlgn="base">
              <a:buFont typeface="Wingdings" panose="05000000000000000000" pitchFamily="2" charset="2"/>
              <a:buChar char="q"/>
            </a:pPr>
            <a:r>
              <a:rPr lang="en-US" sz="2000" dirty="0">
                <a:solidFill>
                  <a:schemeClr val="tx1"/>
                </a:solidFill>
              </a:rPr>
              <a:t>When you type </a:t>
            </a:r>
            <a:r>
              <a:rPr lang="en-US" sz="2000" u="sng" dirty="0">
                <a:solidFill>
                  <a:schemeClr val="tx1"/>
                </a:solidFill>
                <a:hlinkClick r:id="rId2"/>
              </a:rPr>
              <a:t>www.facebook.com</a:t>
            </a:r>
            <a:r>
              <a:rPr lang="en-US" sz="2000" dirty="0">
                <a:solidFill>
                  <a:schemeClr val="tx1"/>
                </a:solidFill>
              </a:rPr>
              <a:t> into your browser, a </a:t>
            </a:r>
            <a:r>
              <a:rPr lang="en-US" sz="2000" b="1" dirty="0">
                <a:solidFill>
                  <a:schemeClr val="tx1"/>
                </a:solidFill>
              </a:rPr>
              <a:t>request goes out </a:t>
            </a:r>
            <a:r>
              <a:rPr lang="en-US" sz="2000" dirty="0">
                <a:solidFill>
                  <a:schemeClr val="tx1"/>
                </a:solidFill>
              </a:rPr>
              <a:t>to </a:t>
            </a:r>
            <a:r>
              <a:rPr lang="en-US" sz="2000" b="1" dirty="0">
                <a:solidFill>
                  <a:schemeClr val="tx1"/>
                </a:solidFill>
              </a:rPr>
              <a:t>Facebook’s remote server. </a:t>
            </a:r>
            <a:r>
              <a:rPr lang="en-US" sz="2000" dirty="0">
                <a:solidFill>
                  <a:schemeClr val="tx1"/>
                </a:solidFill>
              </a:rPr>
              <a:t>Once your browser receives the response, it interprets the code and displays the page.</a:t>
            </a:r>
          </a:p>
          <a:p>
            <a:pPr marL="285750" indent="-285750" algn="just" fontAlgn="base">
              <a:buFont typeface="Wingdings" panose="05000000000000000000" pitchFamily="2" charset="2"/>
              <a:buChar char="q"/>
            </a:pPr>
            <a:endParaRPr lang="en-US" sz="2000" dirty="0">
              <a:solidFill>
                <a:schemeClr val="tx1"/>
              </a:solidFill>
            </a:endParaRPr>
          </a:p>
          <a:p>
            <a:pPr marL="285750" indent="-285750" algn="just" fontAlgn="base">
              <a:buFont typeface="Wingdings" panose="05000000000000000000" pitchFamily="2" charset="2"/>
              <a:buChar char="q"/>
            </a:pPr>
            <a:r>
              <a:rPr lang="en-US" sz="2000" dirty="0">
                <a:solidFill>
                  <a:schemeClr val="tx1"/>
                </a:solidFill>
              </a:rPr>
              <a:t>To the browser, also known as the </a:t>
            </a:r>
            <a:r>
              <a:rPr lang="en-US" sz="2000" i="1" dirty="0" err="1">
                <a:solidFill>
                  <a:schemeClr val="tx1"/>
                </a:solidFill>
              </a:rPr>
              <a:t>client</a:t>
            </a:r>
            <a:r>
              <a:rPr lang="en-US" sz="2000" dirty="0" err="1">
                <a:solidFill>
                  <a:schemeClr val="tx1"/>
                </a:solidFill>
              </a:rPr>
              <a:t>,Facebook’s</a:t>
            </a:r>
            <a:r>
              <a:rPr lang="en-US" sz="2000" dirty="0">
                <a:solidFill>
                  <a:schemeClr val="tx1"/>
                </a:solidFill>
              </a:rPr>
              <a:t> server is an API. </a:t>
            </a:r>
          </a:p>
          <a:p>
            <a:pPr marL="285750" indent="-285750" algn="just" fontAlgn="base">
              <a:buFont typeface="Wingdings" panose="05000000000000000000" pitchFamily="2" charset="2"/>
              <a:buChar char="q"/>
            </a:pPr>
            <a:endParaRPr lang="en-US" sz="2000" dirty="0">
              <a:solidFill>
                <a:schemeClr val="tx1"/>
              </a:solidFill>
            </a:endParaRPr>
          </a:p>
          <a:p>
            <a:pPr marL="285750" indent="-285750" algn="just" fontAlgn="base">
              <a:buFont typeface="Wingdings" panose="05000000000000000000" pitchFamily="2" charset="2"/>
              <a:buChar char="q"/>
            </a:pPr>
            <a:r>
              <a:rPr lang="en-US" sz="2000" b="1" dirty="0">
                <a:solidFill>
                  <a:schemeClr val="tx1"/>
                </a:solidFill>
              </a:rPr>
              <a:t>This means that every time you visit a page on the Web, you interact with some remote server’s API.</a:t>
            </a:r>
          </a:p>
          <a:p>
            <a:pPr marL="285750" indent="-285750" algn="just" fontAlgn="base">
              <a:buFont typeface="Wingdings" panose="05000000000000000000" pitchFamily="2" charset="2"/>
              <a:buChar char="q"/>
            </a:pPr>
            <a:endParaRPr lang="en-US" sz="2000" dirty="0">
              <a:solidFill>
                <a:schemeClr val="tx1"/>
              </a:solidFill>
            </a:endParaRPr>
          </a:p>
          <a:p>
            <a:pPr algn="just" fontAlgn="base"/>
            <a:r>
              <a:rPr lang="en-US" sz="2000" dirty="0">
                <a:solidFill>
                  <a:schemeClr val="tx1"/>
                </a:solidFill>
                <a:latin typeface="Adobe Gothic Std B" panose="020B0800000000000000" pitchFamily="34" charset="-128"/>
                <a:ea typeface="Adobe Gothic Std B" panose="020B0800000000000000" pitchFamily="34" charset="-128"/>
              </a:rPr>
              <a:t>An API isn’t the same as the remote server — rather it is the part of the server that receives requests and sends responses.</a:t>
            </a:r>
          </a:p>
          <a:p>
            <a:pPr algn="just" fontAlgn="base"/>
            <a:endParaRPr lang="en-US" sz="2000" b="0" i="0" dirty="0">
              <a:solidFill>
                <a:schemeClr val="tx1"/>
              </a:solidFill>
              <a:effectLst/>
            </a:endParaRPr>
          </a:p>
        </p:txBody>
      </p:sp>
      <p:pic>
        <p:nvPicPr>
          <p:cNvPr id="4" name="Picture 3"/>
          <p:cNvPicPr>
            <a:picLocks noChangeAspect="1"/>
          </p:cNvPicPr>
          <p:nvPr/>
        </p:nvPicPr>
        <p:blipFill>
          <a:blip r:embed="rId3"/>
          <a:stretch>
            <a:fillRect/>
          </a:stretch>
        </p:blipFill>
        <p:spPr>
          <a:xfrm>
            <a:off x="7600379" y="2137552"/>
            <a:ext cx="4246802" cy="258289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srcRect t="15745" b="4635"/>
          <a:stretch>
            <a:fillRect/>
          </a:stretch>
        </p:blipFill>
        <p:spPr>
          <a:xfrm>
            <a:off x="1887883" y="698862"/>
            <a:ext cx="8172393" cy="5460275"/>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525528" y="534938"/>
            <a:ext cx="6195783" cy="652839"/>
          </a:xfrm>
          <a:prstGeom prst="rect">
            <a:avLst/>
          </a:prstGeom>
        </p:spPr>
        <p:txBody>
          <a:bodyPr>
            <a:normAutofit fontScale="97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is need of  API ?</a:t>
            </a:r>
          </a:p>
        </p:txBody>
      </p:sp>
      <p:sp>
        <p:nvSpPr>
          <p:cNvPr id="3" name="Rectangle 2"/>
          <p:cNvSpPr/>
          <p:nvPr/>
        </p:nvSpPr>
        <p:spPr>
          <a:xfrm>
            <a:off x="7081903" y="676691"/>
            <a:ext cx="4249881" cy="369332"/>
          </a:xfrm>
          <a:prstGeom prst="rect">
            <a:avLst/>
          </a:prstGeom>
        </p:spPr>
        <p:txBody>
          <a:bodyPr wrap="none">
            <a:spAutoFit/>
          </a:bodyPr>
          <a:lstStyle/>
          <a:p>
            <a:r>
              <a:rPr lang="en-US" b="1" dirty="0">
                <a:solidFill>
                  <a:srgbClr val="FFC000"/>
                </a:solidFill>
                <a:latin typeface="Roboto"/>
              </a:rPr>
              <a:t>APIs Make Life Easier for Developers</a:t>
            </a:r>
            <a:endParaRPr lang="en-US" b="1" i="0" dirty="0">
              <a:solidFill>
                <a:srgbClr val="FFC000"/>
              </a:solidFill>
              <a:effectLst/>
              <a:latin typeface="Roboto"/>
            </a:endParaRPr>
          </a:p>
        </p:txBody>
      </p:sp>
      <p:sp>
        <p:nvSpPr>
          <p:cNvPr id="4" name="Rectangle 3"/>
          <p:cNvSpPr/>
          <p:nvPr/>
        </p:nvSpPr>
        <p:spPr>
          <a:xfrm>
            <a:off x="1309763" y="1368554"/>
            <a:ext cx="6096000" cy="1200329"/>
          </a:xfrm>
          <a:prstGeom prst="rect">
            <a:avLst/>
          </a:prstGeom>
        </p:spPr>
        <p:txBody>
          <a:bodyPr>
            <a:spAutoFit/>
          </a:bodyPr>
          <a:lstStyle/>
          <a:p>
            <a:pPr algn="just"/>
            <a:r>
              <a:rPr lang="en-US" dirty="0">
                <a:latin typeface="Roboto"/>
              </a:rPr>
              <a:t>Let’s say you want to develop an app for an iPhone. Apple’s iOS operating system provides a large number of </a:t>
            </a:r>
            <a:r>
              <a:rPr lang="en-US" u="sng" dirty="0">
                <a:latin typeface="Roboto"/>
                <a:hlinkClick r:id="rId2"/>
              </a:rPr>
              <a:t>APIs</a:t>
            </a:r>
            <a:r>
              <a:rPr lang="en-US" dirty="0">
                <a:latin typeface="Roboto"/>
              </a:rPr>
              <a:t>—as every other operating system does—to make this easier on you.</a:t>
            </a:r>
            <a:endParaRPr lang="en-US" dirty="0"/>
          </a:p>
        </p:txBody>
      </p:sp>
      <p:pic>
        <p:nvPicPr>
          <p:cNvPr id="1026" name="Picture 2" descr="Free download My Favorite Camera Apps for iPhone and Android Kevin Amanda  Food [720x887] for your Desktop, Mobile &amp;amp; Tablet | Explore 49+ Good  Wallpaper Apps | Android Wallpaper Apps, Free Wallpap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2510" y="1632876"/>
            <a:ext cx="3692444" cy="45484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177401" y="2747514"/>
            <a:ext cx="6096000" cy="203132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a:spAutoFit/>
          </a:bodyPr>
          <a:lstStyle/>
          <a:p>
            <a:r>
              <a:rPr lang="en-US" dirty="0">
                <a:solidFill>
                  <a:schemeClr val="tx1"/>
                </a:solidFill>
                <a:latin typeface="Roboto"/>
              </a:rPr>
              <a:t>If you want to capture photos or video from the iPhone’s camera, you don’t have to write your own camera interface. </a:t>
            </a:r>
          </a:p>
          <a:p>
            <a:endParaRPr lang="en-US" dirty="0">
              <a:solidFill>
                <a:schemeClr val="tx1"/>
              </a:solidFill>
              <a:latin typeface="Roboto"/>
            </a:endParaRPr>
          </a:p>
          <a:p>
            <a:r>
              <a:rPr lang="en-US" dirty="0">
                <a:solidFill>
                  <a:schemeClr val="tx1"/>
                </a:solidFill>
                <a:latin typeface="Roboto"/>
              </a:rPr>
              <a:t>You use the camera API to embed the iPhone’s built-in camera in your app. </a:t>
            </a:r>
          </a:p>
          <a:p>
            <a:endParaRPr lang="en-US" dirty="0">
              <a:solidFill>
                <a:schemeClr val="tx1"/>
              </a:solidFill>
              <a:latin typeface="Roboto"/>
            </a:endParaRPr>
          </a:p>
        </p:txBody>
      </p:sp>
      <p:sp>
        <p:nvSpPr>
          <p:cNvPr id="8" name="Rectangle 7"/>
          <p:cNvSpPr/>
          <p:nvPr/>
        </p:nvSpPr>
        <p:spPr>
          <a:xfrm>
            <a:off x="1789377" y="5129233"/>
            <a:ext cx="5484024" cy="120032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r>
              <a:rPr lang="en-US" dirty="0">
                <a:solidFill>
                  <a:schemeClr val="tx1"/>
                </a:solidFill>
                <a:latin typeface="Roboto"/>
              </a:rPr>
              <a:t>If APIs didn’t exist to make this easy, app developers would have to create their own camera software and interpret the camera hardware’s inputs. </a:t>
            </a:r>
            <a:endParaRPr lang="en-US" dirty="0">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26"/>
                                        </p:tgtEl>
                                        <p:attrNameLst>
                                          <p:attrName>style.visibility</p:attrName>
                                        </p:attrNameLst>
                                      </p:cBhvr>
                                      <p:to>
                                        <p:strVal val="visible"/>
                                      </p:to>
                                    </p:set>
                                    <p:animEffect transition="in" filter="fade">
                                      <p:cBhvr>
                                        <p:cTn id="28" dur="1000"/>
                                        <p:tgtEl>
                                          <p:spTgt spid="1026"/>
                                        </p:tgtEl>
                                      </p:cBhvr>
                                    </p:animEffect>
                                    <p:anim calcmode="lin" valueType="num">
                                      <p:cBhvr>
                                        <p:cTn id="29" dur="1000" fill="hold"/>
                                        <p:tgtEl>
                                          <p:spTgt spid="1026"/>
                                        </p:tgtEl>
                                        <p:attrNameLst>
                                          <p:attrName>ppt_x</p:attrName>
                                        </p:attrNameLst>
                                      </p:cBhvr>
                                      <p:tavLst>
                                        <p:tav tm="0">
                                          <p:val>
                                            <p:strVal val="#ppt_x"/>
                                          </p:val>
                                        </p:tav>
                                        <p:tav tm="100000">
                                          <p:val>
                                            <p:strVal val="#ppt_x"/>
                                          </p:val>
                                        </p:tav>
                                      </p:tavLst>
                                    </p:anim>
                                    <p:anim calcmode="lin" valueType="num">
                                      <p:cBhvr>
                                        <p:cTn id="30"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0" presetClass="exit" presetSubtype="0" fill="hold" grpId="1" nodeType="clickEffect">
                                  <p:stCondLst>
                                    <p:cond delay="0"/>
                                  </p:stCondLst>
                                  <p:childTnLst>
                                    <p:animEffect transition="out" filter="fade">
                                      <p:cBhvr>
                                        <p:cTn id="34" dur="500"/>
                                        <p:tgtEl>
                                          <p:spTgt spid="6"/>
                                        </p:tgtEl>
                                      </p:cBhvr>
                                    </p:animEffect>
                                    <p:set>
                                      <p:cBhvr>
                                        <p:cTn id="35" dur="1" fill="hold">
                                          <p:stCondLst>
                                            <p:cond delay="499"/>
                                          </p:stCondLst>
                                        </p:cTn>
                                        <p:tgtEl>
                                          <p:spTgt spid="6"/>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10" presetClass="exit" presetSubtype="0" fill="hold" grpId="1" nodeType="clickEffect">
                                  <p:stCondLst>
                                    <p:cond delay="0"/>
                                  </p:stCondLst>
                                  <p:childTnLst>
                                    <p:animEffect transition="out" filter="fade">
                                      <p:cBhvr>
                                        <p:cTn id="46" dur="500"/>
                                        <p:tgtEl>
                                          <p:spTgt spid="8"/>
                                        </p:tgtEl>
                                      </p:cBhvr>
                                    </p:animEffect>
                                    <p:set>
                                      <p:cBhvr>
                                        <p:cTn id="4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6" grpId="0" animBg="1"/>
      <p:bldP spid="6" grpId="1" animBg="1"/>
      <p:bldP spid="8" grpId="0" animBg="1"/>
      <p:bldP spid="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159" t="15254" r="6930"/>
          <a:stretch>
            <a:fillRect/>
          </a:stretch>
        </p:blipFill>
        <p:spPr>
          <a:xfrm>
            <a:off x="499621" y="1527141"/>
            <a:ext cx="2441542" cy="4281651"/>
          </a:xfrm>
          <a:prstGeom prst="rect">
            <a:avLst/>
          </a:prstGeom>
          <a:ln>
            <a:noFill/>
          </a:ln>
          <a:effectLst>
            <a:softEdge rad="112500"/>
          </a:effectLst>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l="3984" t="9363" r="7485"/>
          <a:stretch>
            <a:fillRect/>
          </a:stretch>
        </p:blipFill>
        <p:spPr>
          <a:xfrm>
            <a:off x="4647415" y="2051613"/>
            <a:ext cx="6466788" cy="323270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7" name="Title 1"/>
          <p:cNvSpPr txBox="1"/>
          <p:nvPr/>
        </p:nvSpPr>
        <p:spPr>
          <a:xfrm>
            <a:off x="3948572" y="5842155"/>
            <a:ext cx="3932237" cy="514350"/>
          </a:xfrm>
          <a:prstGeom prst="rect">
            <a:avLst/>
          </a:prstGeom>
        </p:spPr>
        <p:txBody>
          <a:bodyPr>
            <a:normAutofit fontScale="4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FFFF00"/>
                </a:solidFill>
              </a:rPr>
              <a:t>Weather  forecasting on Mobile </a:t>
            </a:r>
          </a:p>
        </p:txBody>
      </p:sp>
      <p:sp>
        <p:nvSpPr>
          <p:cNvPr id="8" name="Title 1"/>
          <p:cNvSpPr txBox="1"/>
          <p:nvPr/>
        </p:nvSpPr>
        <p:spPr>
          <a:xfrm>
            <a:off x="658193" y="501495"/>
            <a:ext cx="3932237" cy="514350"/>
          </a:xfrm>
          <a:prstGeom prst="rect">
            <a:avLst/>
          </a:prstGeom>
        </p:spPr>
        <p:txBody>
          <a:bodyP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What is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1000"/>
                                        <p:tgtEl>
                                          <p:spTgt spid="7"/>
                                        </p:tgtEl>
                                      </p:cBhvr>
                                    </p:animEffect>
                                    <p:anim calcmode="lin" valueType="num">
                                      <p:cBhvr>
                                        <p:cTn id="21" dur="1000" fill="hold"/>
                                        <p:tgtEl>
                                          <p:spTgt spid="7"/>
                                        </p:tgtEl>
                                        <p:attrNameLst>
                                          <p:attrName>ppt_x</p:attrName>
                                        </p:attrNameLst>
                                      </p:cBhvr>
                                      <p:tavLst>
                                        <p:tav tm="0">
                                          <p:val>
                                            <p:strVal val="#ppt_x"/>
                                          </p:val>
                                        </p:tav>
                                        <p:tav tm="100000">
                                          <p:val>
                                            <p:strVal val="#ppt_x"/>
                                          </p:val>
                                        </p:tav>
                                      </p:tavLst>
                                    </p:anim>
                                    <p:anim calcmode="lin" valueType="num">
                                      <p:cBhvr>
                                        <p:cTn id="22"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b="25217"/>
          <a:stretch>
            <a:fillRect/>
          </a:stretch>
        </p:blipFill>
        <p:spPr>
          <a:xfrm>
            <a:off x="7619608" y="488328"/>
            <a:ext cx="4343400" cy="430235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255" y="3129765"/>
            <a:ext cx="5850932" cy="3542318"/>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
        <p:nvSpPr>
          <p:cNvPr id="6" name="Title 1"/>
          <p:cNvSpPr txBox="1"/>
          <p:nvPr/>
        </p:nvSpPr>
        <p:spPr>
          <a:xfrm>
            <a:off x="1544579" y="397800"/>
            <a:ext cx="3932237" cy="514350"/>
          </a:xfrm>
          <a:prstGeom prst="rect">
            <a:avLst/>
          </a:prstGeom>
        </p:spPr>
        <p:txBody>
          <a:bodyP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solidFill>
                  <a:schemeClr val="accent5">
                    <a:lumMod val="75000"/>
                  </a:schemeClr>
                </a:solidFill>
              </a:rPr>
              <a:t>Travel Agency System</a:t>
            </a:r>
          </a:p>
        </p:txBody>
      </p:sp>
      <p:sp>
        <p:nvSpPr>
          <p:cNvPr id="8" name="TextBox 7"/>
          <p:cNvSpPr txBox="1"/>
          <p:nvPr/>
        </p:nvSpPr>
        <p:spPr>
          <a:xfrm>
            <a:off x="848168" y="1420793"/>
            <a:ext cx="6094428" cy="1200329"/>
          </a:xfrm>
          <a:prstGeom prst="rect">
            <a:avLst/>
          </a:prstGeom>
          <a:noFill/>
        </p:spPr>
        <p:txBody>
          <a:bodyPr wrap="square">
            <a:spAutoFit/>
          </a:bodyPr>
          <a:lstStyle/>
          <a:p>
            <a:pPr marL="285750" indent="-285750" algn="just">
              <a:buFont typeface="Wingdings" panose="05000000000000000000" pitchFamily="2" charset="2"/>
              <a:buChar char="v"/>
            </a:pPr>
            <a:r>
              <a:rPr lang="en-US" sz="2400" dirty="0">
                <a:solidFill>
                  <a:schemeClr val="accent5">
                    <a:lumMod val="75000"/>
                  </a:schemeClr>
                </a:solidFill>
              </a:rPr>
              <a:t>The process of </a:t>
            </a:r>
            <a:r>
              <a:rPr lang="en-US" sz="2400" b="1" dirty="0">
                <a:solidFill>
                  <a:schemeClr val="accent6"/>
                </a:solidFill>
              </a:rPr>
              <a:t>making communication between different systems </a:t>
            </a:r>
            <a:r>
              <a:rPr lang="en-US" sz="2400" dirty="0">
                <a:solidFill>
                  <a:schemeClr val="accent5">
                    <a:lumMod val="75000"/>
                  </a:schemeClr>
                </a:solidFill>
              </a:rPr>
              <a:t>is call it as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1000"/>
                                        <p:tgtEl>
                                          <p:spTgt spid="3"/>
                                        </p:tgtEl>
                                      </p:cBhvr>
                                    </p:animEffect>
                                    <p:anim calcmode="lin" valueType="num">
                                      <p:cBhvr>
                                        <p:cTn id="15" dur="1000" fill="hold"/>
                                        <p:tgtEl>
                                          <p:spTgt spid="3"/>
                                        </p:tgtEl>
                                        <p:attrNameLst>
                                          <p:attrName>ppt_x</p:attrName>
                                        </p:attrNameLst>
                                      </p:cBhvr>
                                      <p:tavLst>
                                        <p:tav tm="0">
                                          <p:val>
                                            <p:strVal val="#ppt_x"/>
                                          </p:val>
                                        </p:tav>
                                        <p:tav tm="100000">
                                          <p:val>
                                            <p:strVal val="#ppt_x"/>
                                          </p:val>
                                        </p:tav>
                                      </p:tavLst>
                                    </p:anim>
                                    <p:anim calcmode="lin" valueType="num">
                                      <p:cBhvr>
                                        <p:cTn id="1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76041"/>
          <a:stretch>
            <a:fillRect/>
          </a:stretch>
        </p:blipFill>
        <p:spPr>
          <a:xfrm>
            <a:off x="525807" y="547670"/>
            <a:ext cx="2669880" cy="598971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24330" r="50000"/>
          <a:stretch>
            <a:fillRect/>
          </a:stretch>
        </p:blipFill>
        <p:spPr>
          <a:xfrm>
            <a:off x="4332139" y="462829"/>
            <a:ext cx="2784049" cy="5829453"/>
          </a:xfrm>
          <a:prstGeom prst="rect">
            <a:avLst/>
          </a:prstGeom>
          <a:ln>
            <a:noFill/>
          </a:ln>
          <a:effectLst>
            <a:outerShdw blurRad="190500" algn="tl" rotWithShape="0">
              <a:srgbClr val="000000">
                <a:alpha val="70000"/>
              </a:srgbClr>
            </a:outerShdw>
          </a:effectLst>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50000" r="24330"/>
          <a:stretch>
            <a:fillRect/>
          </a:stretch>
        </p:blipFill>
        <p:spPr>
          <a:xfrm>
            <a:off x="8226457" y="387414"/>
            <a:ext cx="2784050" cy="582945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193" y="501495"/>
            <a:ext cx="3932237" cy="514350"/>
          </a:xfrm>
        </p:spPr>
        <p:txBody>
          <a:bodyPr>
            <a:normAutofit fontScale="90000"/>
          </a:bodyPr>
          <a:lstStyle/>
          <a:p>
            <a:r>
              <a:rPr lang="en-US" dirty="0"/>
              <a:t>What is Integration?</a:t>
            </a:r>
          </a:p>
        </p:txBody>
      </p:sp>
      <p:pic>
        <p:nvPicPr>
          <p:cNvPr id="8" name="Picture Placeholder 7"/>
          <p:cNvPicPr>
            <a:picLocks noGrp="1" noChangeAspect="1"/>
          </p:cNvPicPr>
          <p:nvPr>
            <p:ph type="pic" idx="1"/>
          </p:nvPr>
        </p:nvPicPr>
        <p:blipFill>
          <a:blip r:embed="rId2">
            <a:extLst>
              <a:ext uri="{28A0092B-C50C-407E-A947-70E740481C1C}">
                <a14:useLocalDpi xmlns:a14="http://schemas.microsoft.com/office/drawing/2010/main" val="0"/>
              </a:ext>
            </a:extLst>
          </a:blip>
          <a:srcRect l="27243" r="27243"/>
          <a:stretch>
            <a:fillRect/>
          </a:stretch>
        </p:blipFill>
        <p:spPr>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
        <p:nvSpPr>
          <p:cNvPr id="4" name="Text Placeholder 3"/>
          <p:cNvSpPr>
            <a:spLocks noGrp="1"/>
          </p:cNvSpPr>
          <p:nvPr>
            <p:ph type="body" sz="half" idx="2"/>
          </p:nvPr>
        </p:nvSpPr>
        <p:spPr>
          <a:xfrm>
            <a:off x="1403727" y="1824486"/>
            <a:ext cx="4472480" cy="4130566"/>
          </a:xfrm>
        </p:spPr>
        <p:txBody>
          <a:bodyPr>
            <a:normAutofit/>
          </a:bodyPr>
          <a:lstStyle/>
          <a:p>
            <a:pPr marL="285750" indent="-285750" algn="just">
              <a:buFont typeface="Wingdings" panose="05000000000000000000" pitchFamily="2" charset="2"/>
              <a:buChar char="v"/>
            </a:pPr>
            <a:r>
              <a:rPr lang="en-US" sz="2400" dirty="0"/>
              <a:t>Software integration is the process of bringing together </a:t>
            </a:r>
            <a:r>
              <a:rPr lang="en-US" sz="2400" b="1" i="1" u="sng" dirty="0"/>
              <a:t>various types </a:t>
            </a:r>
            <a:r>
              <a:rPr lang="en-US" sz="2400" dirty="0"/>
              <a:t>of </a:t>
            </a:r>
            <a:r>
              <a:rPr lang="en-US" sz="2400" b="1" i="1" u="sng" dirty="0"/>
              <a:t>software sub-systems </a:t>
            </a:r>
            <a:r>
              <a:rPr lang="en-US" sz="2400" dirty="0"/>
              <a:t>so that they create a unified single system.</a:t>
            </a:r>
          </a:p>
          <a:p>
            <a:pPr marL="285750" indent="-285750" algn="just">
              <a:buFont typeface="Wingdings" panose="05000000000000000000" pitchFamily="2" charset="2"/>
              <a:buChar char="v"/>
            </a:pPr>
            <a:endParaRPr lang="en-US" sz="2400" dirty="0"/>
          </a:p>
          <a:p>
            <a:pPr marL="285750" indent="-285750" algn="just">
              <a:buFont typeface="Wingdings" panose="05000000000000000000" pitchFamily="2" charset="2"/>
              <a:buChar char="v"/>
            </a:pPr>
            <a:r>
              <a:rPr lang="en-US" sz="2400" dirty="0"/>
              <a:t>The process of </a:t>
            </a:r>
            <a:r>
              <a:rPr lang="en-US" sz="2400" b="1" dirty="0"/>
              <a:t>making communication between different systems </a:t>
            </a:r>
            <a:r>
              <a:rPr lang="en-US" sz="2400" dirty="0"/>
              <a:t>is call it as Integration.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1743" y="478190"/>
            <a:ext cx="3932237" cy="510822"/>
          </a:xfrm>
        </p:spPr>
        <p:txBody>
          <a:bodyPr>
            <a:normAutofit fontScale="90000"/>
          </a:bodyPr>
          <a:lstStyle/>
          <a:p>
            <a:r>
              <a:rPr lang="en-US" dirty="0"/>
              <a:t>MIDDLE WARE</a:t>
            </a:r>
          </a:p>
        </p:txBody>
      </p:sp>
      <p:sp>
        <p:nvSpPr>
          <p:cNvPr id="4" name="Text Placeholder 3"/>
          <p:cNvSpPr>
            <a:spLocks noGrp="1"/>
          </p:cNvSpPr>
          <p:nvPr>
            <p:ph type="body" sz="half" idx="2"/>
          </p:nvPr>
        </p:nvSpPr>
        <p:spPr>
          <a:xfrm>
            <a:off x="1362974" y="1104181"/>
            <a:ext cx="10524226" cy="2113152"/>
          </a:xfrm>
        </p:spPr>
        <p:txBody>
          <a:bodyPr>
            <a:normAutofit/>
          </a:bodyPr>
          <a:lstStyle/>
          <a:p>
            <a:pPr marL="285750" indent="-285750" algn="just">
              <a:buFont typeface="Wingdings" panose="05000000000000000000" pitchFamily="2" charset="2"/>
              <a:buChar char="v"/>
            </a:pPr>
            <a:r>
              <a:rPr lang="en-US" sz="1800" dirty="0"/>
              <a:t>Middleware is a more effective program that </a:t>
            </a:r>
            <a:r>
              <a:rPr lang="en-US" sz="1800" b="1" i="1" u="sng" dirty="0"/>
              <a:t>acts as bridge in between various applications </a:t>
            </a:r>
            <a:r>
              <a:rPr lang="en-US" sz="1800" dirty="0"/>
              <a:t>and other databases otherwise tools.</a:t>
            </a:r>
          </a:p>
          <a:p>
            <a:pPr marL="285750" indent="-285750" algn="just">
              <a:buFont typeface="Wingdings" panose="05000000000000000000" pitchFamily="2" charset="2"/>
              <a:buChar char="v"/>
            </a:pPr>
            <a:r>
              <a:rPr lang="en-US" sz="1800" dirty="0"/>
              <a:t> It is placed in between operating system and other applications which run on it. Middleware allows making better communication, application services, messaging, authentication, API management and management of data between different kinds of applications which help to exchange data.</a:t>
            </a:r>
            <a:endParaRPr lang="en-US" dirty="0"/>
          </a:p>
        </p:txBody>
      </p:sp>
      <p:sp>
        <p:nvSpPr>
          <p:cNvPr id="5" name="Rectangle: Diagonal Corners Rounded 4"/>
          <p:cNvSpPr/>
          <p:nvPr/>
        </p:nvSpPr>
        <p:spPr>
          <a:xfrm>
            <a:off x="681743" y="3090706"/>
            <a:ext cx="3511815" cy="3901221"/>
          </a:xfrm>
          <a:prstGeom prst="round2Diag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i="1" dirty="0"/>
              <a:t>Middleware is also known as </a:t>
            </a:r>
            <a:r>
              <a:rPr lang="en-US" sz="2800" b="1" i="1" dirty="0">
                <a:solidFill>
                  <a:srgbClr val="FFFF00"/>
                </a:solidFill>
              </a:rPr>
              <a:t>plumbing</a:t>
            </a:r>
            <a:r>
              <a:rPr lang="en-US" sz="2400" b="1" i="1" dirty="0"/>
              <a:t> because it’s both sides are connected with different applications, and it helps to transfer data in both side.</a:t>
            </a:r>
            <a:endParaRPr lang="en-US" sz="2400" dirty="0"/>
          </a:p>
        </p:txBody>
      </p:sp>
      <p:pic>
        <p:nvPicPr>
          <p:cNvPr id="3" name="Picture 2"/>
          <p:cNvPicPr>
            <a:picLocks noChangeAspect="1"/>
          </p:cNvPicPr>
          <p:nvPr/>
        </p:nvPicPr>
        <p:blipFill>
          <a:blip r:embed="rId2"/>
          <a:stretch>
            <a:fillRect/>
          </a:stretch>
        </p:blipFill>
        <p:spPr>
          <a:xfrm>
            <a:off x="4803791" y="3172072"/>
            <a:ext cx="6738232" cy="37384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4">
                                            <p:txEl>
                                              <p:pRg st="0" end="0"/>
                                            </p:txEl>
                                          </p:spTgt>
                                        </p:tgtEl>
                                        <p:attrNameLst>
                                          <p:attrName>style.visibility</p:attrName>
                                        </p:attrNameLst>
                                      </p:cBhvr>
                                      <p:to>
                                        <p:strVal val="visible"/>
                                      </p:to>
                                    </p:set>
                                    <p:animEffect transition="in" filter="fade">
                                      <p:cBhvr>
                                        <p:cTn id="19" dur="1000"/>
                                        <p:tgtEl>
                                          <p:spTgt spid="4">
                                            <p:txEl>
                                              <p:pRg st="0" end="0"/>
                                            </p:txEl>
                                          </p:spTgt>
                                        </p:tgtEl>
                                      </p:cBhvr>
                                    </p:animEffect>
                                    <p:anim calcmode="lin" valueType="num">
                                      <p:cBhvr>
                                        <p:cTn id="2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1000"/>
                                        <p:tgtEl>
                                          <p:spTgt spid="4">
                                            <p:txEl>
                                              <p:pRg st="1" end="1"/>
                                            </p:txEl>
                                          </p:spTgt>
                                        </p:tgtEl>
                                      </p:cBhvr>
                                    </p:animEffect>
                                    <p:anim calcmode="lin" valueType="num">
                                      <p:cBhvr>
                                        <p:cTn id="2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1743" y="478190"/>
            <a:ext cx="8201000" cy="510822"/>
          </a:xfrm>
        </p:spPr>
        <p:txBody>
          <a:bodyPr>
            <a:normAutofit fontScale="90000"/>
          </a:bodyPr>
          <a:lstStyle/>
          <a:p>
            <a:r>
              <a:rPr lang="en-US" dirty="0"/>
              <a:t>DIFFERENT INTEGRATION PLATFORMS</a:t>
            </a:r>
          </a:p>
        </p:txBody>
      </p:sp>
      <p:sp>
        <p:nvSpPr>
          <p:cNvPr id="7" name="Text Placeholder 6"/>
          <p:cNvSpPr>
            <a:spLocks noGrp="1"/>
          </p:cNvSpPr>
          <p:nvPr>
            <p:ph type="body" sz="half" idx="2"/>
          </p:nvPr>
        </p:nvSpPr>
        <p:spPr>
          <a:xfrm>
            <a:off x="839788" y="2057399"/>
            <a:ext cx="3932237" cy="4429125"/>
          </a:xfrm>
        </p:spPr>
        <p:txBody>
          <a:bodyPr>
            <a:normAutofit fontScale="92500" lnSpcReduction="10000"/>
          </a:bodyPr>
          <a:lstStyle/>
          <a:p>
            <a:pPr marL="342900" indent="-342900">
              <a:buFont typeface="+mj-lt"/>
              <a:buAutoNum type="arabicPeriod"/>
            </a:pPr>
            <a:r>
              <a:rPr lang="en-US" sz="2400" dirty="0"/>
              <a:t>Mule Soft</a:t>
            </a:r>
          </a:p>
          <a:p>
            <a:pPr marL="342900" indent="-342900">
              <a:buFont typeface="+mj-lt"/>
              <a:buAutoNum type="arabicPeriod"/>
            </a:pPr>
            <a:r>
              <a:rPr lang="en-US" sz="2400" dirty="0"/>
              <a:t>Dell </a:t>
            </a:r>
            <a:r>
              <a:rPr lang="en-US" sz="2400" dirty="0" err="1"/>
              <a:t>Boomi</a:t>
            </a:r>
            <a:r>
              <a:rPr lang="en-US" sz="2400" dirty="0"/>
              <a:t>.</a:t>
            </a:r>
          </a:p>
          <a:p>
            <a:pPr marL="342900" indent="-342900">
              <a:buFont typeface="+mj-lt"/>
              <a:buAutoNum type="arabicPeriod"/>
            </a:pPr>
            <a:r>
              <a:rPr lang="en-US" sz="2400" dirty="0"/>
              <a:t>Jitterbit.</a:t>
            </a:r>
          </a:p>
          <a:p>
            <a:pPr marL="342900" indent="-342900">
              <a:buFont typeface="+mj-lt"/>
              <a:buAutoNum type="arabicPeriod"/>
            </a:pPr>
            <a:r>
              <a:rPr lang="en-US" sz="2400" dirty="0" err="1"/>
              <a:t>SnapLogic</a:t>
            </a:r>
            <a:r>
              <a:rPr lang="en-US" sz="2400" dirty="0"/>
              <a:t> Intelligent Integration Platform (IIP)</a:t>
            </a:r>
          </a:p>
          <a:p>
            <a:pPr marL="342900" indent="-342900">
              <a:buFont typeface="+mj-lt"/>
              <a:buAutoNum type="arabicPeriod"/>
            </a:pPr>
            <a:r>
              <a:rPr lang="en-US" sz="2400" dirty="0"/>
              <a:t>Apigee</a:t>
            </a:r>
          </a:p>
          <a:p>
            <a:pPr marL="342900" indent="-342900">
              <a:buFont typeface="+mj-lt"/>
              <a:buAutoNum type="arabicPeriod"/>
            </a:pPr>
            <a:r>
              <a:rPr lang="en-US" sz="2400" dirty="0"/>
              <a:t>Tibco </a:t>
            </a:r>
            <a:r>
              <a:rPr lang="en-US" sz="2400" dirty="0" err="1"/>
              <a:t>BusinessWorks</a:t>
            </a:r>
            <a:r>
              <a:rPr lang="en-US" sz="2400" dirty="0"/>
              <a:t>.</a:t>
            </a:r>
          </a:p>
          <a:p>
            <a:pPr marL="342900" indent="-342900">
              <a:buFont typeface="+mj-lt"/>
              <a:buAutoNum type="arabicPeriod"/>
            </a:pPr>
            <a:r>
              <a:rPr lang="en-US" sz="2400" dirty="0"/>
              <a:t>Cleo Integration Cloud.</a:t>
            </a:r>
          </a:p>
          <a:p>
            <a:pPr marL="342900" indent="-342900">
              <a:buFont typeface="+mj-lt"/>
              <a:buAutoNum type="arabicPeriod"/>
            </a:pPr>
            <a:r>
              <a:rPr lang="en-US" sz="2400" dirty="0"/>
              <a:t>Software AG </a:t>
            </a:r>
            <a:r>
              <a:rPr lang="en-US" sz="2400" dirty="0" err="1"/>
              <a:t>webMethods</a:t>
            </a:r>
            <a:r>
              <a:rPr lang="en-US" sz="2400" dirty="0"/>
              <a:t>.</a:t>
            </a:r>
          </a:p>
          <a:p>
            <a:pPr marL="342900" indent="-342900">
              <a:buFont typeface="+mj-lt"/>
              <a:buAutoNum type="arabicPeriod"/>
            </a:pPr>
            <a:r>
              <a:rPr lang="en-US" sz="2400" dirty="0" err="1"/>
              <a:t>Celigo</a:t>
            </a:r>
            <a:r>
              <a:rPr lang="en-US" dirty="0"/>
              <a:t>.</a:t>
            </a:r>
          </a:p>
        </p:txBody>
      </p:sp>
      <p:pic>
        <p:nvPicPr>
          <p:cNvPr id="8" name="Picture 7"/>
          <p:cNvPicPr>
            <a:picLocks noChangeAspect="1"/>
          </p:cNvPicPr>
          <p:nvPr/>
        </p:nvPicPr>
        <p:blipFill>
          <a:blip r:embed="rId2"/>
          <a:stretch>
            <a:fillRect/>
          </a:stretch>
        </p:blipFill>
        <p:spPr>
          <a:xfrm>
            <a:off x="5023509" y="1095890"/>
            <a:ext cx="2857500" cy="1152525"/>
          </a:xfrm>
          <a:prstGeom prst="rect">
            <a:avLst/>
          </a:prstGeom>
        </p:spPr>
      </p:pic>
      <p:pic>
        <p:nvPicPr>
          <p:cNvPr id="9" name="Picture 8"/>
          <p:cNvPicPr>
            <a:picLocks noChangeAspect="1"/>
          </p:cNvPicPr>
          <p:nvPr/>
        </p:nvPicPr>
        <p:blipFill>
          <a:blip r:embed="rId3"/>
          <a:stretch>
            <a:fillRect/>
          </a:stretch>
        </p:blipFill>
        <p:spPr>
          <a:xfrm>
            <a:off x="8416203" y="944480"/>
            <a:ext cx="2009775" cy="1428750"/>
          </a:xfrm>
          <a:prstGeom prst="rect">
            <a:avLst/>
          </a:prstGeom>
        </p:spPr>
      </p:pic>
      <p:pic>
        <p:nvPicPr>
          <p:cNvPr id="10" name="Picture 9"/>
          <p:cNvPicPr>
            <a:picLocks noChangeAspect="1"/>
          </p:cNvPicPr>
          <p:nvPr/>
        </p:nvPicPr>
        <p:blipFill>
          <a:blip r:embed="rId4"/>
          <a:stretch>
            <a:fillRect/>
          </a:stretch>
        </p:blipFill>
        <p:spPr>
          <a:xfrm>
            <a:off x="5520605" y="2728912"/>
            <a:ext cx="2857500" cy="914400"/>
          </a:xfrm>
          <a:prstGeom prst="rect">
            <a:avLst/>
          </a:prstGeom>
        </p:spPr>
      </p:pic>
      <p:pic>
        <p:nvPicPr>
          <p:cNvPr id="1026" name="Picture 2" descr="Apigee Files For IPO Because... APIs Are Powering Disruption | Social media  leads, B2b social media, Social media"/>
          <p:cNvPicPr>
            <a:picLocks noChangeAspect="1" noChangeArrowheads="1"/>
          </p:cNvPicPr>
          <p:nvPr/>
        </p:nvPicPr>
        <p:blipFill rotWithShape="1">
          <a:blip r:embed="rId5">
            <a:extLst>
              <a:ext uri="{28A0092B-C50C-407E-A947-70E740481C1C}">
                <a14:useLocalDpi xmlns:a14="http://schemas.microsoft.com/office/drawing/2010/main" val="0"/>
              </a:ext>
            </a:extLst>
          </a:blip>
          <a:srcRect l="11496" t="28623" r="13199" b="26990"/>
          <a:stretch>
            <a:fillRect/>
          </a:stretch>
        </p:blipFill>
        <p:spPr bwMode="auto">
          <a:xfrm>
            <a:off x="8984181" y="2690317"/>
            <a:ext cx="1893616" cy="80752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IBCO BusinessWorks™ Container Edition Buildpack | Cloud Foundry"/>
          <p:cNvPicPr>
            <a:picLocks noChangeAspect="1" noChangeArrowheads="1"/>
          </p:cNvPicPr>
          <p:nvPr/>
        </p:nvPicPr>
        <p:blipFill rotWithShape="1">
          <a:blip r:embed="rId6">
            <a:extLst>
              <a:ext uri="{28A0092B-C50C-407E-A947-70E740481C1C}">
                <a14:useLocalDpi xmlns:a14="http://schemas.microsoft.com/office/drawing/2010/main" val="0"/>
              </a:ext>
            </a:extLst>
          </a:blip>
          <a:srcRect t="34051" b="32194"/>
          <a:stretch>
            <a:fillRect/>
          </a:stretch>
        </p:blipFill>
        <p:spPr bwMode="auto">
          <a:xfrm>
            <a:off x="5520605" y="3988315"/>
            <a:ext cx="2438400" cy="8230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35502" y="222735"/>
            <a:ext cx="9936062" cy="2529091"/>
          </a:xfrm>
        </p:spPr>
        <p:txBody>
          <a:bodyPr>
            <a:normAutofit lnSpcReduction="10000"/>
          </a:bodyPr>
          <a:lstStyle/>
          <a:p>
            <a:pPr algn="just"/>
            <a:r>
              <a:rPr lang="en-US" sz="2400" b="1" dirty="0"/>
              <a:t>Enterprise Service Bus (ESB)</a:t>
            </a:r>
          </a:p>
          <a:p>
            <a:pPr algn="just"/>
            <a:endParaRPr lang="en-US" sz="2400" b="1" dirty="0"/>
          </a:p>
          <a:p>
            <a:pPr marL="285750" indent="-285750" algn="just">
              <a:buFont typeface="Wingdings" panose="05000000000000000000" pitchFamily="2" charset="2"/>
              <a:buChar char="v"/>
            </a:pPr>
            <a:r>
              <a:rPr lang="en-US" sz="1800" dirty="0"/>
              <a:t>ESB is a middleware architecture based on SOA. </a:t>
            </a:r>
          </a:p>
          <a:p>
            <a:pPr marL="285750" indent="-285750" algn="just">
              <a:buFont typeface="Wingdings" panose="05000000000000000000" pitchFamily="2" charset="2"/>
              <a:buChar char="v"/>
            </a:pPr>
            <a:r>
              <a:rPr lang="en-US" sz="1800" dirty="0"/>
              <a:t>It is based on </a:t>
            </a:r>
            <a:r>
              <a:rPr lang="en-US" sz="1800" b="1" dirty="0"/>
              <a:t>service providers, service consumers and event flows</a:t>
            </a:r>
            <a:r>
              <a:rPr lang="en-US" sz="1800" dirty="0"/>
              <a:t>. Service providers generate events and publish to the event bus which is known as Enterprise Service Bus. Service consumers consume events they are interested in. ESB supports both synchronous and asynchronous events flows.</a:t>
            </a:r>
            <a:endParaRPr lang="en-US" dirty="0"/>
          </a:p>
        </p:txBody>
      </p:sp>
      <p:sp>
        <p:nvSpPr>
          <p:cNvPr id="5" name="Rectangle: Diagonal Corners Rounded 4"/>
          <p:cNvSpPr/>
          <p:nvPr/>
        </p:nvSpPr>
        <p:spPr>
          <a:xfrm>
            <a:off x="1265075" y="3123346"/>
            <a:ext cx="2915040" cy="2974184"/>
          </a:xfrm>
          <a:prstGeom prst="round2Diag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1"/>
                </a:solidFill>
              </a:rPr>
              <a:t>ESB is a middleware architecture based on SOA</a:t>
            </a:r>
            <a:endParaRPr lang="en-US" sz="2400" dirty="0"/>
          </a:p>
        </p:txBody>
      </p:sp>
      <p:sp>
        <p:nvSpPr>
          <p:cNvPr id="2" name="Rectangle 1"/>
          <p:cNvSpPr/>
          <p:nvPr/>
        </p:nvSpPr>
        <p:spPr>
          <a:xfrm>
            <a:off x="6014357" y="3834831"/>
            <a:ext cx="3829050" cy="133077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just"/>
            <a:r>
              <a:rPr lang="en-US" dirty="0">
                <a:solidFill>
                  <a:schemeClr val="tx1"/>
                </a:solidFill>
              </a:rPr>
              <a:t>SOA, or </a:t>
            </a:r>
            <a:r>
              <a:rPr lang="en-US" b="1" dirty="0">
                <a:solidFill>
                  <a:schemeClr val="tx1"/>
                </a:solidFill>
              </a:rPr>
              <a:t>service-oriented architecture</a:t>
            </a:r>
            <a:r>
              <a:rPr lang="en-US" dirty="0">
                <a:solidFill>
                  <a:schemeClr val="tx1"/>
                </a:solidFill>
              </a:rPr>
              <a:t>, defines a way to make software components reusable and interoperable via service interfaces.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2998147" y="955839"/>
            <a:ext cx="5802209" cy="4793129"/>
          </a:xfrm>
          <a:prstGeom prst="round2DiagRect">
            <a:avLst>
              <a:gd name="adj1" fmla="val 16667"/>
              <a:gd name="adj2" fmla="val 0"/>
            </a:avLst>
          </a:prstGeom>
          <a:ln w="88900" cap="sq">
            <a:solidFill>
              <a:srgbClr val="FFFFFF"/>
            </a:solidFill>
            <a:miter lim="800000"/>
            <a:headEnd/>
            <a:tailEnd/>
          </a:ln>
          <a:effectLst>
            <a:outerShdw blurRad="254000" algn="tl" rotWithShape="0">
              <a:srgbClr val="000000">
                <a:alpha val="43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nterprise service bus - Wikipedia"/>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714"/>
          <a:stretch>
            <a:fillRect/>
          </a:stretch>
        </p:blipFill>
        <p:spPr bwMode="auto">
          <a:xfrm>
            <a:off x="498476" y="498764"/>
            <a:ext cx="3879850" cy="587828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5106390" y="857808"/>
            <a:ext cx="6587134" cy="4524315"/>
          </a:xfrm>
          <a:prstGeom prst="rect">
            <a:avLst/>
          </a:prstGeom>
        </p:spPr>
        <p:txBody>
          <a:bodyPr wrap="square">
            <a:spAutoFit/>
          </a:bodyPr>
          <a:lstStyle/>
          <a:p>
            <a:pPr>
              <a:buFont typeface="+mj-lt"/>
              <a:buAutoNum type="arabicPeriod"/>
            </a:pPr>
            <a:r>
              <a:rPr lang="en-US" sz="2400" dirty="0">
                <a:latin typeface="charter"/>
              </a:rPr>
              <a:t>API Management — to expose internal resources to external world with proper security and QoS</a:t>
            </a:r>
          </a:p>
          <a:p>
            <a:pPr>
              <a:buFont typeface="+mj-lt"/>
              <a:buAutoNum type="arabicPeriod"/>
            </a:pPr>
            <a:r>
              <a:rPr lang="en-US" sz="2400" dirty="0">
                <a:latin typeface="charter"/>
              </a:rPr>
              <a:t>Messaging Queues — to build asynchronous communication with external systems.</a:t>
            </a:r>
          </a:p>
          <a:p>
            <a:pPr>
              <a:buFont typeface="+mj-lt"/>
              <a:buAutoNum type="arabicPeriod"/>
            </a:pPr>
            <a:r>
              <a:rPr lang="en-US" sz="2400" dirty="0">
                <a:latin typeface="charter"/>
              </a:rPr>
              <a:t>Business Processes — to engage humans or equipment within message flows in certain validations.</a:t>
            </a:r>
          </a:p>
          <a:p>
            <a:pPr>
              <a:buFont typeface="+mj-lt"/>
              <a:buAutoNum type="arabicPeriod"/>
            </a:pPr>
            <a:r>
              <a:rPr lang="en-US" sz="2400" dirty="0">
                <a:latin typeface="charter"/>
              </a:rPr>
              <a:t>Identity and Access Management — to manage access within the solution.</a:t>
            </a:r>
          </a:p>
          <a:p>
            <a:pPr>
              <a:buFont typeface="+mj-lt"/>
              <a:buAutoNum type="arabicPeriod"/>
            </a:pPr>
            <a:r>
              <a:rPr lang="en-US" sz="2400" dirty="0">
                <a:latin typeface="charter"/>
              </a:rPr>
              <a:t>Monitoring and Alerting — to identify run-time issues and act fast.</a:t>
            </a:r>
            <a:endParaRPr lang="en-US" sz="2400" b="0" i="0" dirty="0">
              <a:effectLst/>
              <a:latin typeface="char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9741" y="928759"/>
            <a:ext cx="5331192" cy="5303569"/>
          </a:xfrm>
          <a:prstGeom prst="rect">
            <a:avLst/>
          </a:prstGeom>
        </p:spPr>
      </p:pic>
      <p:sp>
        <p:nvSpPr>
          <p:cNvPr id="8" name="Title 1"/>
          <p:cNvSpPr txBox="1"/>
          <p:nvPr/>
        </p:nvSpPr>
        <p:spPr>
          <a:xfrm>
            <a:off x="1916309" y="200168"/>
            <a:ext cx="3932237" cy="514350"/>
          </a:xfrm>
          <a:prstGeom prst="rect">
            <a:avLst/>
          </a:prstGeom>
        </p:spPr>
        <p:txBody>
          <a:bodyPr>
            <a:normAutofit fontScale="82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u="sng" dirty="0"/>
              <a:t>API Life Cycle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4899" y="741871"/>
            <a:ext cx="7850038" cy="4431983"/>
          </a:xfrm>
          <a:prstGeom prst="rect">
            <a:avLst/>
          </a:prstGeom>
        </p:spPr>
        <p:txBody>
          <a:bodyPr wrap="square">
            <a:spAutoFit/>
          </a:bodyPr>
          <a:lstStyle/>
          <a:p>
            <a:r>
              <a:rPr lang="en-US" sz="2400" b="1" dirty="0">
                <a:solidFill>
                  <a:srgbClr val="FF0000"/>
                </a:solidFill>
              </a:rPr>
              <a:t>Key Elements of an API Interface:</a:t>
            </a:r>
          </a:p>
          <a:p>
            <a:endParaRPr lang="en-US" sz="2400" b="1" dirty="0">
              <a:solidFill>
                <a:srgbClr val="FF0000"/>
              </a:solidFill>
            </a:endParaRPr>
          </a:p>
          <a:p>
            <a:pPr marL="285750" indent="-285750">
              <a:buFont typeface="Arial" panose="020B0604020202020204" pitchFamily="34" charset="0"/>
              <a:buChar char="•"/>
            </a:pPr>
            <a:r>
              <a:rPr lang="en-US" dirty="0"/>
              <a:t>Endpoints (URLs):The paths you can call, like /users or /orders.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HTTP </a:t>
            </a:r>
            <a:r>
              <a:rPr lang="en-US" dirty="0" err="1"/>
              <a:t>Methods:The</a:t>
            </a:r>
            <a:r>
              <a:rPr lang="en-US" dirty="0"/>
              <a:t> type of operation (GET, POST, PUT, DELETE).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Parameters:Data</a:t>
            </a:r>
            <a:r>
              <a:rPr lang="en-US" dirty="0"/>
              <a:t> sent with requests (query parameters, path variables, headers).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Request </a:t>
            </a:r>
            <a:r>
              <a:rPr lang="en-US" dirty="0" err="1"/>
              <a:t>Body:The</a:t>
            </a:r>
            <a:r>
              <a:rPr lang="en-US" dirty="0"/>
              <a:t> structure of data sent (often in JSON or XML).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err="1"/>
              <a:t>Response:What</a:t>
            </a:r>
            <a:r>
              <a:rPr lang="en-US" dirty="0"/>
              <a:t> the server sends back — data format, status codes, etc.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Authentication/</a:t>
            </a:r>
            <a:r>
              <a:rPr lang="en-US" dirty="0" err="1"/>
              <a:t>Authorization:How</a:t>
            </a:r>
            <a:r>
              <a:rPr lang="en-US" dirty="0"/>
              <a:t> users prove their identity (e.g., API keys, OAuth tokens).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7547" y="629391"/>
            <a:ext cx="9939647" cy="5510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8643100" cy="668547"/>
          </a:xfrm>
        </p:spPr>
        <p:txBody>
          <a:bodyPr>
            <a:normAutofit fontScale="90000"/>
          </a:bodyPr>
          <a:lstStyle/>
          <a:p>
            <a:r>
              <a:rPr lang="en-US" dirty="0"/>
              <a:t>Application Networks and Benefits</a:t>
            </a:r>
          </a:p>
        </p:txBody>
      </p:sp>
      <p:sp>
        <p:nvSpPr>
          <p:cNvPr id="3" name="Content Placeholder 2"/>
          <p:cNvSpPr>
            <a:spLocks noGrp="1"/>
          </p:cNvSpPr>
          <p:nvPr>
            <p:ph idx="1"/>
          </p:nvPr>
        </p:nvSpPr>
        <p:spPr>
          <a:xfrm>
            <a:off x="1026543" y="1147313"/>
            <a:ext cx="11015931" cy="5193102"/>
          </a:xfrm>
        </p:spPr>
        <p:txBody>
          <a:bodyPr>
            <a:normAutofit fontScale="70000" lnSpcReduction="20000"/>
          </a:bodyPr>
          <a:lstStyle/>
          <a:p>
            <a:r>
              <a:rPr lang="en-US" dirty="0"/>
              <a:t>Application Network is an approach to connecting applications, data and devices. This is done in the application network by defining simple </a:t>
            </a:r>
            <a:r>
              <a:rPr lang="en-US" b="1" dirty="0">
                <a:solidFill>
                  <a:srgbClr val="FF0000"/>
                </a:solidFill>
              </a:rPr>
              <a:t>abstractions</a:t>
            </a:r>
            <a:r>
              <a:rPr lang="en-US" dirty="0"/>
              <a:t>.  </a:t>
            </a:r>
          </a:p>
          <a:p>
            <a:r>
              <a:rPr lang="en-US" dirty="0"/>
              <a:t>The </a:t>
            </a:r>
            <a:r>
              <a:rPr lang="en-US" b="1" dirty="0">
                <a:solidFill>
                  <a:srgbClr val="FF0000"/>
                </a:solidFill>
              </a:rPr>
              <a:t>API is the best abstraction </a:t>
            </a:r>
            <a:r>
              <a:rPr lang="en-US" dirty="0"/>
              <a:t>we have in the enterprise for exchanging information between two parties. And that is exactly what is being done — information is being exchanged between other applications. 	</a:t>
            </a:r>
          </a:p>
          <a:p>
            <a:r>
              <a:rPr lang="en-US" b="1" dirty="0">
                <a:solidFill>
                  <a:srgbClr val="FF0000"/>
                </a:solidFill>
              </a:rPr>
              <a:t>An application network </a:t>
            </a:r>
            <a:r>
              <a:rPr lang="en-US" dirty="0"/>
              <a:t>is pretty simple; it </a:t>
            </a:r>
            <a:r>
              <a:rPr lang="en-US" b="1" dirty="0">
                <a:solidFill>
                  <a:srgbClr val="FF0000"/>
                </a:solidFill>
              </a:rPr>
              <a:t>is a way to connect applications, data and devices through APIs </a:t>
            </a:r>
            <a:r>
              <a:rPr lang="en-US" dirty="0"/>
              <a:t>that exposes some or all of their assets and </a:t>
            </a:r>
            <a:r>
              <a:rPr lang="en-US" b="1" dirty="0">
                <a:solidFill>
                  <a:srgbClr val="FF0000"/>
                </a:solidFill>
              </a:rPr>
              <a:t>data </a:t>
            </a:r>
            <a:r>
              <a:rPr lang="en-US" dirty="0"/>
              <a:t>on the network. </a:t>
            </a:r>
          </a:p>
          <a:p>
            <a:r>
              <a:rPr lang="en-US" dirty="0"/>
              <a:t>That network allows other consumers from other parts of the business to come in and discover and use those assets. </a:t>
            </a:r>
          </a:p>
          <a:p>
            <a:r>
              <a:rPr lang="en-US" b="1" dirty="0">
                <a:solidFill>
                  <a:srgbClr val="FF0000"/>
                </a:solidFill>
              </a:rPr>
              <a:t>Building</a:t>
            </a:r>
            <a:r>
              <a:rPr lang="en-US" dirty="0"/>
              <a:t> an application network involves </a:t>
            </a:r>
            <a:r>
              <a:rPr lang="en-US" b="1" dirty="0">
                <a:solidFill>
                  <a:srgbClr val="FF0000"/>
                </a:solidFill>
              </a:rPr>
              <a:t>developing reusable assets</a:t>
            </a:r>
            <a:r>
              <a:rPr lang="en-US" dirty="0"/>
              <a:t> and then </a:t>
            </a:r>
            <a:r>
              <a:rPr lang="en-US" b="1" dirty="0">
                <a:solidFill>
                  <a:srgbClr val="FF0000"/>
                </a:solidFill>
              </a:rPr>
              <a:t>encouraging</a:t>
            </a:r>
            <a:r>
              <a:rPr lang="en-US" dirty="0"/>
              <a:t> those in the business to </a:t>
            </a:r>
            <a:r>
              <a:rPr lang="en-US" dirty="0">
                <a:solidFill>
                  <a:srgbClr val="FF0000"/>
                </a:solidFill>
              </a:rPr>
              <a:t>reuse</a:t>
            </a:r>
            <a:r>
              <a:rPr lang="en-US" dirty="0"/>
              <a:t> and self-serve those assets. Then, they can get used and reused in different ways inside the organization.</a:t>
            </a:r>
          </a:p>
          <a:p>
            <a:r>
              <a:rPr lang="en-US" dirty="0"/>
              <a:t> Connections can then be built between these assets. It is necessary to allow development teams in the business to build what is needed — to self-serve the reusable assets created by others to in order to develop something new — and then expose it to the rest of the organization to be reused.</a:t>
            </a:r>
          </a:p>
          <a:p>
            <a:r>
              <a:rPr lang="en-US" dirty="0"/>
              <a:t>For example, the customer service representatives are exchanging information with the BI department doing analytics reporting. Another group inside the business is exchanging information with partners involved in B2B transactions. APIs are the perfect model for those exchanges because they provide a definition of both the provider and the consumers as well as provide a way for the interactions to be managed very closely.</a:t>
            </a: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92936" y="3641784"/>
            <a:ext cx="10018713" cy="3124201"/>
          </a:xfrm>
        </p:spPr>
        <p:txBody>
          <a:bodyPr>
            <a:normAutofit fontScale="92500" lnSpcReduction="10000"/>
          </a:bodyPr>
          <a:lstStyle/>
          <a:p>
            <a:r>
              <a:rPr lang="en-US" dirty="0"/>
              <a:t>When integration was introduced decades back, P2P or Point-to-Point integration was the only option where integration was so complicated.</a:t>
            </a:r>
          </a:p>
          <a:p>
            <a:r>
              <a:rPr lang="en-US" dirty="0"/>
              <a:t> Later, Enterprise Service Bus – ESBs were introduced in which there was a </a:t>
            </a:r>
            <a:r>
              <a:rPr lang="en-US" b="1" dirty="0">
                <a:solidFill>
                  <a:srgbClr val="FF0000"/>
                </a:solidFill>
              </a:rPr>
              <a:t>common layer or a bus through which integrations were made</a:t>
            </a:r>
            <a:r>
              <a:rPr lang="en-US" dirty="0"/>
              <a:t>. However, these traditional integration solutions no longer help in scaling and innovating rapidly for businesses of today.</a:t>
            </a:r>
          </a:p>
          <a:p>
            <a:r>
              <a:rPr lang="en-US" dirty="0"/>
              <a:t>And there comes the </a:t>
            </a:r>
            <a:r>
              <a:rPr lang="en-US" b="1" dirty="0">
                <a:solidFill>
                  <a:srgbClr val="FF0000"/>
                </a:solidFill>
              </a:rPr>
              <a:t>API-Led connectivity approach</a:t>
            </a:r>
            <a:r>
              <a:rPr lang="en-US" dirty="0"/>
              <a:t>, through which </a:t>
            </a:r>
            <a:r>
              <a:rPr lang="en-US" b="1" dirty="0">
                <a:solidFill>
                  <a:srgbClr val="FF0000"/>
                </a:solidFill>
              </a:rPr>
              <a:t>integrations </a:t>
            </a:r>
            <a:r>
              <a:rPr lang="en-US" dirty="0"/>
              <a:t>were made simpler, easier, faster, and more importantly, economical.</a:t>
            </a:r>
          </a:p>
          <a:p>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0614" y="894722"/>
            <a:ext cx="3510292"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3547" y="900224"/>
            <a:ext cx="3450566" cy="2426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itle 1"/>
          <p:cNvSpPr>
            <a:spLocks noGrp="1"/>
          </p:cNvSpPr>
          <p:nvPr>
            <p:ph type="title"/>
          </p:nvPr>
        </p:nvSpPr>
        <p:spPr>
          <a:xfrm>
            <a:off x="1374190" y="211347"/>
            <a:ext cx="10018713" cy="746185"/>
          </a:xfrm>
        </p:spPr>
        <p:txBody>
          <a:bodyPr>
            <a:normAutofit/>
          </a:bodyPr>
          <a:lstStyle/>
          <a:p>
            <a:r>
              <a:rPr lang="en-US" dirty="0"/>
              <a:t>API-Led Connectivity</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95887" y="1311216"/>
            <a:ext cx="9299276" cy="472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1253420" y="634041"/>
            <a:ext cx="10018713" cy="746185"/>
          </a:xfrm>
        </p:spPr>
        <p:txBody>
          <a:bodyPr>
            <a:normAutofit/>
          </a:bodyPr>
          <a:lstStyle/>
          <a:p>
            <a:r>
              <a:rPr lang="en-US" dirty="0"/>
              <a:t>API-Led Connectivity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46185"/>
          </a:xfrm>
        </p:spPr>
        <p:txBody>
          <a:bodyPr>
            <a:normAutofit/>
          </a:bodyPr>
          <a:lstStyle/>
          <a:p>
            <a:r>
              <a:rPr lang="en-US" dirty="0"/>
              <a:t>API-Led Connectivity</a:t>
            </a:r>
          </a:p>
        </p:txBody>
      </p:sp>
      <p:sp>
        <p:nvSpPr>
          <p:cNvPr id="3" name="Content Placeholder 2"/>
          <p:cNvSpPr>
            <a:spLocks noGrp="1"/>
          </p:cNvSpPr>
          <p:nvPr>
            <p:ph idx="1"/>
          </p:nvPr>
        </p:nvSpPr>
        <p:spPr>
          <a:xfrm>
            <a:off x="1484310" y="1526875"/>
            <a:ext cx="10018713" cy="5089585"/>
          </a:xfrm>
        </p:spPr>
        <p:txBody>
          <a:bodyPr/>
          <a:lstStyle/>
          <a:p>
            <a:r>
              <a:rPr lang="en-US" dirty="0"/>
              <a:t>API-led connectivity is a </a:t>
            </a:r>
            <a:r>
              <a:rPr lang="en-US" b="1" dirty="0">
                <a:solidFill>
                  <a:srgbClr val="FF0000"/>
                </a:solidFill>
              </a:rPr>
              <a:t>method</a:t>
            </a:r>
            <a:r>
              <a:rPr lang="en-US" dirty="0"/>
              <a:t> of </a:t>
            </a:r>
            <a:r>
              <a:rPr lang="en-US" b="1" dirty="0">
                <a:solidFill>
                  <a:srgbClr val="FF0000"/>
                </a:solidFill>
              </a:rPr>
              <a:t>integrating systems and applications using reusable, purpose-built APIs</a:t>
            </a:r>
            <a:r>
              <a:rPr lang="en-US" dirty="0"/>
              <a:t>, creating what's known as an </a:t>
            </a:r>
            <a:r>
              <a:rPr lang="en-US" b="1" dirty="0">
                <a:solidFill>
                  <a:srgbClr val="FF0000"/>
                </a:solidFill>
              </a:rPr>
              <a:t>application network</a:t>
            </a:r>
          </a:p>
          <a:p>
            <a:r>
              <a:rPr lang="en-US" dirty="0">
                <a:solidFill>
                  <a:srgbClr val="001D35"/>
                </a:solidFill>
                <a:latin typeface="Google Sans"/>
              </a:rPr>
              <a:t>API-led connectivity is </a:t>
            </a:r>
            <a:r>
              <a:rPr lang="en-US" dirty="0"/>
              <a:t>an </a:t>
            </a:r>
            <a:r>
              <a:rPr lang="en-US" b="1" dirty="0">
                <a:solidFill>
                  <a:srgbClr val="FF0000"/>
                </a:solidFill>
              </a:rPr>
              <a:t>architectural</a:t>
            </a:r>
            <a:r>
              <a:rPr lang="en-US" dirty="0"/>
              <a:t> approach that uses </a:t>
            </a:r>
            <a:r>
              <a:rPr lang="en-US" b="1" dirty="0">
                <a:solidFill>
                  <a:srgbClr val="FF0000"/>
                </a:solidFill>
              </a:rPr>
              <a:t>reusable APIs </a:t>
            </a:r>
            <a:r>
              <a:rPr lang="en-US" dirty="0"/>
              <a:t>to connect data and applications</a:t>
            </a:r>
            <a:r>
              <a:rPr lang="en-US" dirty="0">
                <a:solidFill>
                  <a:srgbClr val="001D35"/>
                </a:solidFill>
                <a:latin typeface="Google Sans"/>
              </a:rPr>
              <a:t>.</a:t>
            </a:r>
          </a:p>
          <a:p>
            <a:r>
              <a:rPr lang="en-US" dirty="0">
                <a:solidFill>
                  <a:srgbClr val="001D35"/>
                </a:solidFill>
                <a:latin typeface="Google Sans"/>
              </a:rPr>
              <a:t>API-led connectivity follows a </a:t>
            </a:r>
            <a:r>
              <a:rPr lang="en-US" b="1" dirty="0">
                <a:solidFill>
                  <a:srgbClr val="FF0000"/>
                </a:solidFill>
                <a:latin typeface="Google Sans"/>
              </a:rPr>
              <a:t>“bottom-up” </a:t>
            </a:r>
            <a:r>
              <a:rPr lang="en-US" dirty="0">
                <a:solidFill>
                  <a:srgbClr val="001D35"/>
                </a:solidFill>
                <a:latin typeface="Google Sans"/>
              </a:rPr>
              <a:t>approach, starting with the creation of APIs at the system layer. These APIs are then reused and combined to build higher-level APIs. </a:t>
            </a:r>
          </a:p>
          <a:p>
            <a:r>
              <a:rPr lang="en-US" dirty="0">
                <a:solidFill>
                  <a:srgbClr val="000000"/>
                </a:solidFill>
                <a:latin typeface="-apple-system"/>
              </a:rPr>
              <a:t>This approach encourages </a:t>
            </a:r>
            <a:r>
              <a:rPr lang="en-US" b="1" dirty="0">
                <a:solidFill>
                  <a:srgbClr val="FF0000"/>
                </a:solidFill>
                <a:latin typeface="-apple-system"/>
              </a:rPr>
              <a:t>reusability, modularity</a:t>
            </a:r>
            <a:r>
              <a:rPr lang="en-US" dirty="0">
                <a:solidFill>
                  <a:srgbClr val="000000"/>
                </a:solidFill>
                <a:latin typeface="-apple-system"/>
              </a:rPr>
              <a:t>, and </a:t>
            </a:r>
            <a:r>
              <a:rPr lang="en-US" b="1" dirty="0">
                <a:solidFill>
                  <a:srgbClr val="FF0000"/>
                </a:solidFill>
                <a:latin typeface="-apple-system"/>
              </a:rPr>
              <a:t>separation</a:t>
            </a:r>
            <a:r>
              <a:rPr lang="en-US" dirty="0">
                <a:solidFill>
                  <a:srgbClr val="000000"/>
                </a:solidFill>
                <a:latin typeface="-apple-system"/>
              </a:rPr>
              <a:t> </a:t>
            </a:r>
            <a:r>
              <a:rPr lang="en-US" b="1" dirty="0">
                <a:solidFill>
                  <a:srgbClr val="FF0000"/>
                </a:solidFill>
                <a:latin typeface="-apple-system"/>
              </a:rPr>
              <a:t>of concerns</a:t>
            </a:r>
            <a:r>
              <a:rPr lang="en-US" dirty="0">
                <a:solidFill>
                  <a:srgbClr val="000000"/>
                </a:solidFill>
                <a:latin typeface="-apple-system"/>
              </a:rPr>
              <a:t>, making it easier to manage and update integrations as the organization’s needs evolve.</a:t>
            </a:r>
            <a:endParaRPr lang="en-US" dirty="0"/>
          </a:p>
          <a:p>
            <a:endParaRPr lang="en-US"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3866" y="651294"/>
            <a:ext cx="8418814" cy="746185"/>
          </a:xfrm>
        </p:spPr>
        <p:txBody>
          <a:bodyPr/>
          <a:lstStyle/>
          <a:p>
            <a:r>
              <a:rPr lang="en-US" dirty="0"/>
              <a:t>Layers in API led connectivity </a:t>
            </a:r>
          </a:p>
        </p:txBody>
      </p:sp>
      <p:sp>
        <p:nvSpPr>
          <p:cNvPr id="3" name="Content Placeholder 2"/>
          <p:cNvSpPr>
            <a:spLocks noGrp="1"/>
          </p:cNvSpPr>
          <p:nvPr>
            <p:ph idx="1"/>
          </p:nvPr>
        </p:nvSpPr>
        <p:spPr>
          <a:xfrm>
            <a:off x="1484310" y="1354347"/>
            <a:ext cx="10618550" cy="4934310"/>
          </a:xfrm>
        </p:spPr>
        <p:txBody>
          <a:bodyPr/>
          <a:lstStyle/>
          <a:p>
            <a:pPr marL="0" indent="0">
              <a:buNone/>
            </a:pPr>
            <a:r>
              <a:rPr lang="en-US" dirty="0">
                <a:solidFill>
                  <a:srgbClr val="000000"/>
                </a:solidFill>
                <a:latin typeface="-apple-system"/>
              </a:rPr>
              <a:t>Three Layers : </a:t>
            </a:r>
          </a:p>
          <a:p>
            <a:r>
              <a:rPr lang="en-US" dirty="0">
                <a:solidFill>
                  <a:srgbClr val="000000"/>
                </a:solidFill>
                <a:latin typeface="-apple-system"/>
              </a:rPr>
              <a:t>System Layer</a:t>
            </a:r>
          </a:p>
          <a:p>
            <a:r>
              <a:rPr lang="en-US" dirty="0">
                <a:solidFill>
                  <a:srgbClr val="000000"/>
                </a:solidFill>
                <a:latin typeface="-apple-system"/>
              </a:rPr>
              <a:t>Process Layer </a:t>
            </a:r>
          </a:p>
          <a:p>
            <a:r>
              <a:rPr lang="en-US" dirty="0">
                <a:solidFill>
                  <a:srgbClr val="000000"/>
                </a:solidFill>
                <a:latin typeface="-apple-system"/>
              </a:rPr>
              <a:t>Experience Layer</a:t>
            </a:r>
            <a:endParaRPr lang="en-US" dirty="0"/>
          </a:p>
          <a:p>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6287" y="1709737"/>
            <a:ext cx="6719977" cy="3828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effectLst/>
                <a:latin typeface="-apple-system"/>
              </a:rPr>
              <a:t>System APIs</a:t>
            </a:r>
            <a:br>
              <a:rPr lang="en-US" b="1" i="0" dirty="0">
                <a:effectLst/>
                <a:latin typeface="-apple-system"/>
              </a:rPr>
            </a:br>
            <a:endParaRPr lang="en-US" dirty="0"/>
          </a:p>
        </p:txBody>
      </p:sp>
      <p:sp>
        <p:nvSpPr>
          <p:cNvPr id="3" name="Content Placeholder 2"/>
          <p:cNvSpPr>
            <a:spLocks noGrp="1"/>
          </p:cNvSpPr>
          <p:nvPr>
            <p:ph idx="1"/>
          </p:nvPr>
        </p:nvSpPr>
        <p:spPr>
          <a:xfrm>
            <a:off x="1484310" y="1871933"/>
            <a:ext cx="10018713" cy="3919268"/>
          </a:xfrm>
        </p:spPr>
        <p:txBody>
          <a:bodyPr/>
          <a:lstStyle/>
          <a:p>
            <a:r>
              <a:rPr lang="en-US" b="0" i="0" dirty="0">
                <a:solidFill>
                  <a:srgbClr val="000000"/>
                </a:solidFill>
                <a:effectLst/>
                <a:latin typeface="-apple-system"/>
              </a:rPr>
              <a:t>System API’s are built to connect through underlying systems (Any system which contains the raw data). </a:t>
            </a:r>
          </a:p>
          <a:p>
            <a:r>
              <a:rPr lang="en-US" b="0" i="0" dirty="0">
                <a:solidFill>
                  <a:srgbClr val="000000"/>
                </a:solidFill>
                <a:effectLst/>
                <a:latin typeface="-apple-system"/>
              </a:rPr>
              <a:t>Basically System API contains Sensitive information as it contains raw data. </a:t>
            </a:r>
          </a:p>
          <a:p>
            <a:r>
              <a:rPr lang="en-US" b="0" i="0" dirty="0">
                <a:solidFill>
                  <a:srgbClr val="000000"/>
                </a:solidFill>
                <a:effectLst/>
                <a:latin typeface="-apple-system"/>
              </a:rPr>
              <a:t>Should never be exposed for public use.</a:t>
            </a:r>
          </a:p>
          <a:p>
            <a:r>
              <a:rPr lang="en-US" b="0" i="0" dirty="0">
                <a:solidFill>
                  <a:srgbClr val="000000"/>
                </a:solidFill>
                <a:effectLst/>
                <a:latin typeface="-apple-system"/>
              </a:rPr>
              <a:t> </a:t>
            </a:r>
            <a:r>
              <a:rPr lang="en-US" b="0" i="0" dirty="0" err="1">
                <a:solidFill>
                  <a:srgbClr val="000000"/>
                </a:solidFill>
                <a:effectLst/>
                <a:latin typeface="-apple-system"/>
              </a:rPr>
              <a:t>Eg</a:t>
            </a:r>
            <a:r>
              <a:rPr lang="en-US" b="0" i="0" dirty="0">
                <a:solidFill>
                  <a:srgbClr val="000000"/>
                </a:solidFill>
                <a:effectLst/>
                <a:latin typeface="-apple-system"/>
              </a:rPr>
              <a:t> : APIs which connect to Databases , Salesforce, SAP systems, Hadoop systems etc.</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effectLst/>
                <a:latin typeface="-apple-system"/>
              </a:rPr>
              <a:t>Process APIs</a:t>
            </a:r>
            <a:br>
              <a:rPr lang="en-US" b="1" i="0" dirty="0">
                <a:effectLst/>
                <a:latin typeface="-apple-system"/>
              </a:rPr>
            </a:br>
            <a:endParaRPr lang="en-US" dirty="0"/>
          </a:p>
        </p:txBody>
      </p:sp>
      <p:sp>
        <p:nvSpPr>
          <p:cNvPr id="3" name="Content Placeholder 2"/>
          <p:cNvSpPr>
            <a:spLocks noGrp="1"/>
          </p:cNvSpPr>
          <p:nvPr>
            <p:ph idx="1"/>
          </p:nvPr>
        </p:nvSpPr>
        <p:spPr>
          <a:xfrm>
            <a:off x="1484310" y="1716657"/>
            <a:ext cx="10018713" cy="4074543"/>
          </a:xfrm>
        </p:spPr>
        <p:txBody>
          <a:bodyPr>
            <a:normAutofit/>
          </a:bodyPr>
          <a:lstStyle/>
          <a:p>
            <a:r>
              <a:rPr lang="en-US" b="0" i="0" dirty="0">
                <a:solidFill>
                  <a:srgbClr val="000000"/>
                </a:solidFill>
                <a:effectLst/>
                <a:latin typeface="-apple-system"/>
              </a:rPr>
              <a:t>Process API’s are built to compose or combine two or more System API’s Usually to do any kind of transformation or to implement any kind of business logics or shape the data out of system </a:t>
            </a:r>
            <a:r>
              <a:rPr lang="en-US" b="0" i="0" dirty="0" err="1">
                <a:solidFill>
                  <a:srgbClr val="000000"/>
                </a:solidFill>
                <a:effectLst/>
                <a:latin typeface="-apple-system"/>
              </a:rPr>
              <a:t>apis</a:t>
            </a:r>
            <a:r>
              <a:rPr lang="en-US" b="0" i="0" dirty="0">
                <a:solidFill>
                  <a:srgbClr val="000000"/>
                </a:solidFill>
                <a:effectLst/>
                <a:latin typeface="-apple-system"/>
              </a:rPr>
              <a:t>. </a:t>
            </a:r>
          </a:p>
          <a:p>
            <a:r>
              <a:rPr lang="en-US" b="0" i="0" dirty="0">
                <a:solidFill>
                  <a:srgbClr val="000000"/>
                </a:solidFill>
                <a:effectLst/>
                <a:latin typeface="-apple-system"/>
              </a:rPr>
              <a:t>It may perform aggregation / splitting / routing the data. </a:t>
            </a:r>
          </a:p>
          <a:p>
            <a:r>
              <a:rPr lang="en-US" b="0" i="0" dirty="0">
                <a:solidFill>
                  <a:srgbClr val="000000"/>
                </a:solidFill>
                <a:effectLst/>
                <a:latin typeface="-apple-system"/>
              </a:rPr>
              <a:t>Process APIs must be private and should not be exposed to public for use.</a:t>
            </a:r>
          </a:p>
          <a:p>
            <a:r>
              <a:rPr lang="en-US" b="0" i="0" dirty="0">
                <a:solidFill>
                  <a:srgbClr val="000000"/>
                </a:solidFill>
                <a:effectLst/>
                <a:latin typeface="-apple-system"/>
              </a:rPr>
              <a:t> </a:t>
            </a:r>
            <a:r>
              <a:rPr lang="en-US" b="0" i="0" dirty="0" err="1">
                <a:solidFill>
                  <a:srgbClr val="000000"/>
                </a:solidFill>
                <a:effectLst/>
                <a:latin typeface="-apple-system"/>
              </a:rPr>
              <a:t>Eg</a:t>
            </a:r>
            <a:r>
              <a:rPr lang="en-US" b="0" i="0" dirty="0">
                <a:solidFill>
                  <a:srgbClr val="000000"/>
                </a:solidFill>
                <a:effectLst/>
                <a:latin typeface="-apple-system"/>
              </a:rPr>
              <a:t>: Aggregating Customer Data and Product Data that comes from 2 system APIs where Actual data is originated , to provide Order Status.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0" dirty="0">
                <a:effectLst/>
                <a:latin typeface="-apple-system"/>
              </a:rPr>
              <a:t>Experience APIs</a:t>
            </a:r>
            <a:br>
              <a:rPr lang="en-US" b="1" i="0" dirty="0">
                <a:effectLst/>
                <a:latin typeface="-apple-system"/>
              </a:rPr>
            </a:br>
            <a:endParaRPr lang="en-US" dirty="0"/>
          </a:p>
        </p:txBody>
      </p:sp>
      <p:sp>
        <p:nvSpPr>
          <p:cNvPr id="3" name="Content Placeholder 2"/>
          <p:cNvSpPr>
            <a:spLocks noGrp="1"/>
          </p:cNvSpPr>
          <p:nvPr>
            <p:ph idx="1"/>
          </p:nvPr>
        </p:nvSpPr>
        <p:spPr>
          <a:xfrm>
            <a:off x="1484310" y="1690777"/>
            <a:ext cx="10018713" cy="4100423"/>
          </a:xfrm>
        </p:spPr>
        <p:txBody>
          <a:bodyPr>
            <a:normAutofit fontScale="92500" lnSpcReduction="20000"/>
          </a:bodyPr>
          <a:lstStyle/>
          <a:p>
            <a:pPr algn="l"/>
            <a:r>
              <a:rPr lang="en-US" b="0" i="0" dirty="0">
                <a:solidFill>
                  <a:srgbClr val="000000"/>
                </a:solidFill>
                <a:effectLst/>
                <a:latin typeface="-apple-system"/>
              </a:rPr>
              <a:t>These are API’s which are a kind of a wrapper either to Process API’s (if present ) or to System API’s , so that Client/Consumers can use it. Client/Consumers will not have exposure or contact with direct Raw Data. </a:t>
            </a:r>
          </a:p>
          <a:p>
            <a:pPr marL="0" indent="0" algn="l">
              <a:buNone/>
            </a:pPr>
            <a:endParaRPr lang="en-US" b="0" i="0" dirty="0">
              <a:solidFill>
                <a:srgbClr val="000000"/>
              </a:solidFill>
              <a:effectLst/>
              <a:latin typeface="-apple-system"/>
            </a:endParaRPr>
          </a:p>
          <a:p>
            <a:pPr algn="l"/>
            <a:r>
              <a:rPr lang="en-US" b="0" i="0" dirty="0">
                <a:solidFill>
                  <a:srgbClr val="000000"/>
                </a:solidFill>
                <a:effectLst/>
                <a:latin typeface="-apple-system"/>
              </a:rPr>
              <a:t>We can have minimal Data Transformation like the final result to be in JSON or XML or whatever the consumer wants to have</a:t>
            </a:r>
            <a:r>
              <a:rPr lang="en-US" b="0" i="0">
                <a:solidFill>
                  <a:srgbClr val="000000"/>
                </a:solidFill>
                <a:effectLst/>
                <a:latin typeface="-apple-system"/>
              </a:rPr>
              <a:t>. </a:t>
            </a:r>
          </a:p>
          <a:p>
            <a:pPr marL="0" indent="0" algn="l">
              <a:buNone/>
            </a:pPr>
            <a:endParaRPr lang="en-US" b="0" i="0" dirty="0">
              <a:solidFill>
                <a:srgbClr val="000000"/>
              </a:solidFill>
              <a:effectLst/>
              <a:latin typeface="-apple-system"/>
            </a:endParaRPr>
          </a:p>
          <a:p>
            <a:pPr algn="l"/>
            <a:r>
              <a:rPr lang="en-US" b="0" i="0" dirty="0">
                <a:solidFill>
                  <a:srgbClr val="000000"/>
                </a:solidFill>
                <a:effectLst/>
                <a:latin typeface="-apple-system"/>
              </a:rPr>
              <a:t>Remember , if there is any change in System API , we do not need to modify or change anything.</a:t>
            </a:r>
          </a:p>
          <a:p>
            <a:pPr marL="0" indent="0">
              <a:buNone/>
            </a:pPr>
            <a:r>
              <a:rPr lang="en-US" dirty="0"/>
              <a:t/>
            </a:r>
            <a:br>
              <a:rPr lang="en-US" dirty="0"/>
            </a:b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3829" y="2283791"/>
            <a:ext cx="6035040" cy="3524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2313829" y="1081580"/>
            <a:ext cx="8664551" cy="523220"/>
          </a:xfrm>
          <a:prstGeom prst="rect">
            <a:avLst/>
          </a:prstGeom>
        </p:spPr>
        <p:txBody>
          <a:bodyPr wrap="none">
            <a:spAutoFit/>
          </a:bodyPr>
          <a:lstStyle/>
          <a:p>
            <a:r>
              <a:rPr lang="en-US" sz="2800" dirty="0"/>
              <a:t> Build an Application Network Using API-Led Connectivity</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1193" y="2425149"/>
            <a:ext cx="7791602" cy="3496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741335" y="819186"/>
            <a:ext cx="8786191" cy="523220"/>
          </a:xfrm>
          <a:prstGeom prst="rect">
            <a:avLst/>
          </a:prstGeom>
        </p:spPr>
        <p:txBody>
          <a:bodyPr wrap="square">
            <a:spAutoFit/>
          </a:bodyPr>
          <a:lstStyle/>
          <a:p>
            <a:r>
              <a:rPr lang="en-US" sz="2800" dirty="0"/>
              <a:t> Build an Application Network Using API-Led Connectivity</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0392" y="1144088"/>
            <a:ext cx="9282024" cy="54794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630392" y="461377"/>
            <a:ext cx="9282024" cy="523220"/>
          </a:xfrm>
          <a:prstGeom prst="rect">
            <a:avLst/>
          </a:prstGeom>
        </p:spPr>
        <p:txBody>
          <a:bodyPr wrap="square">
            <a:spAutoFit/>
          </a:bodyPr>
          <a:lstStyle/>
          <a:p>
            <a:r>
              <a:rPr lang="en-US" sz="2400" dirty="0"/>
              <a:t> </a:t>
            </a:r>
            <a:r>
              <a:rPr lang="en-US" sz="2800" dirty="0"/>
              <a:t>Build an Application Network Using API-Led Connectivity</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stretch>
            <a:fillRect/>
          </a:stretch>
        </p:blipFill>
        <p:spPr>
          <a:xfrm>
            <a:off x="338328" y="127152"/>
            <a:ext cx="11495689" cy="623707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7192" y="97404"/>
            <a:ext cx="7119000" cy="983974"/>
          </a:xfrm>
        </p:spPr>
        <p:txBody>
          <a:bodyPr/>
          <a:lstStyle/>
          <a:p>
            <a:r>
              <a:rPr lang="en-US" dirty="0"/>
              <a:t>Web Services and APIs</a:t>
            </a:r>
          </a:p>
        </p:txBody>
      </p:sp>
      <p:sp>
        <p:nvSpPr>
          <p:cNvPr id="3" name="Content Placeholder 2"/>
          <p:cNvSpPr>
            <a:spLocks noGrp="1"/>
          </p:cNvSpPr>
          <p:nvPr>
            <p:ph idx="1"/>
          </p:nvPr>
        </p:nvSpPr>
        <p:spPr>
          <a:xfrm>
            <a:off x="1396844" y="1391479"/>
            <a:ext cx="10585770" cy="4762831"/>
          </a:xfrm>
        </p:spPr>
        <p:txBody>
          <a:bodyPr>
            <a:normAutofit fontScale="92500"/>
          </a:bodyPr>
          <a:lstStyle/>
          <a:p>
            <a:r>
              <a:rPr lang="en-US" sz="2000" b="1" dirty="0"/>
              <a:t>web services </a:t>
            </a:r>
            <a:r>
              <a:rPr lang="en-US" sz="2000" dirty="0"/>
              <a:t>include any software, application, or cloud technology that provides standardized web protocols (HTTP or HTTPS) to interoperate, communicate, and exchange data messaging – usually XML (Extensible Markup Language) – throughout the internet.</a:t>
            </a:r>
          </a:p>
          <a:p>
            <a:pPr marL="0" indent="0">
              <a:buNone/>
            </a:pPr>
            <a:endParaRPr lang="en-US" sz="2000" dirty="0"/>
          </a:p>
          <a:p>
            <a:r>
              <a:rPr lang="en-US" sz="2000" dirty="0"/>
              <a:t>web services are XML-centered data exchange systems that use the internet for A2A (application-to-application) communication and interfacing. These processes involve programs, messages, documents, and/or objects.</a:t>
            </a:r>
          </a:p>
          <a:p>
            <a:pPr marL="0" indent="0">
              <a:buNone/>
            </a:pPr>
            <a:endParaRPr lang="en-US" sz="2000" dirty="0"/>
          </a:p>
          <a:p>
            <a:r>
              <a:rPr lang="en-US" sz="2000" dirty="0"/>
              <a:t>A key feature of web services is that applications can be written in </a:t>
            </a:r>
            <a:r>
              <a:rPr lang="en-US" sz="2000" b="1" dirty="0"/>
              <a:t>various languages</a:t>
            </a:r>
            <a:r>
              <a:rPr lang="en-US" sz="2000" dirty="0"/>
              <a:t> and are still able to communicate by </a:t>
            </a:r>
            <a:r>
              <a:rPr lang="en-US" sz="2000" b="1" dirty="0"/>
              <a:t>exchanging data </a:t>
            </a:r>
            <a:r>
              <a:rPr lang="en-US" sz="2000" dirty="0"/>
              <a:t>with one another via a web service between clients and servers.</a:t>
            </a:r>
          </a:p>
          <a:p>
            <a:pPr marL="0" indent="0">
              <a:buNone/>
            </a:pPr>
            <a:endParaRPr lang="en-US" sz="2000" dirty="0"/>
          </a:p>
          <a:p>
            <a:r>
              <a:rPr lang="en-US" sz="2000" dirty="0"/>
              <a:t> A </a:t>
            </a:r>
            <a:r>
              <a:rPr lang="en-US" sz="2000" b="1" dirty="0"/>
              <a:t>client summons </a:t>
            </a:r>
            <a:r>
              <a:rPr lang="en-US" sz="2000" dirty="0"/>
              <a:t>a web service by sending a request via XML, and the </a:t>
            </a:r>
            <a:r>
              <a:rPr lang="en-US" sz="2000" b="1" dirty="0"/>
              <a:t>service</a:t>
            </a:r>
            <a:r>
              <a:rPr lang="en-US" sz="2000" dirty="0"/>
              <a:t> then responses with an XML response. </a:t>
            </a:r>
          </a:p>
          <a:p>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4555" y="383650"/>
            <a:ext cx="10018713" cy="673873"/>
          </a:xfrm>
        </p:spPr>
        <p:txBody>
          <a:bodyPr>
            <a:normAutofit fontScale="90000"/>
          </a:bodyPr>
          <a:lstStyle/>
          <a:p>
            <a:r>
              <a:rPr lang="en-US" b="1" dirty="0"/>
              <a:t/>
            </a:r>
            <a:br>
              <a:rPr lang="en-US" b="1" dirty="0"/>
            </a:br>
            <a:r>
              <a:rPr lang="en-US" b="1" dirty="0"/>
              <a:t>Different Types of Web Services</a:t>
            </a:r>
            <a:r>
              <a:rPr lang="en-US" dirty="0"/>
              <a:t/>
            </a:r>
            <a:br>
              <a:rPr lang="en-US" dirty="0"/>
            </a:br>
            <a:endParaRPr lang="en-US" dirty="0"/>
          </a:p>
        </p:txBody>
      </p:sp>
      <p:sp>
        <p:nvSpPr>
          <p:cNvPr id="3" name="Content Placeholder 2"/>
          <p:cNvSpPr>
            <a:spLocks noGrp="1"/>
          </p:cNvSpPr>
          <p:nvPr>
            <p:ph idx="1"/>
          </p:nvPr>
        </p:nvSpPr>
        <p:spPr>
          <a:xfrm>
            <a:off x="1484310" y="1534603"/>
            <a:ext cx="10018713" cy="4256598"/>
          </a:xfrm>
        </p:spPr>
        <p:txBody>
          <a:bodyPr>
            <a:normAutofit fontScale="47500" lnSpcReduction="20000"/>
          </a:bodyPr>
          <a:lstStyle/>
          <a:p>
            <a:r>
              <a:rPr lang="en-US" sz="3400" dirty="0"/>
              <a:t>There are a few central types of web services: XML-RPC, UDDI, SOAP, and REST:</a:t>
            </a:r>
          </a:p>
          <a:p>
            <a:r>
              <a:rPr lang="en-US" sz="3400" b="1" dirty="0"/>
              <a:t>XML-RPC (Remote Procedure Call) </a:t>
            </a:r>
            <a:r>
              <a:rPr lang="en-US" sz="3400" dirty="0"/>
              <a:t>is the most basic </a:t>
            </a:r>
            <a:r>
              <a:rPr lang="en-US" sz="3400" dirty="0">
                <a:hlinkClick r:id="rId2"/>
              </a:rPr>
              <a:t>XML protocol</a:t>
            </a:r>
            <a:r>
              <a:rPr lang="en-US" sz="3400" dirty="0"/>
              <a:t> to exchange data between a wide variety of devices on a network. It uses HTTP to quickly and easily transfer data and communication other information from client to server.</a:t>
            </a:r>
          </a:p>
          <a:p>
            <a:pPr marL="0" indent="0">
              <a:buNone/>
            </a:pPr>
            <a:endParaRPr lang="en-US" sz="3400" dirty="0"/>
          </a:p>
          <a:p>
            <a:r>
              <a:rPr lang="en-US" sz="3400" b="1" dirty="0"/>
              <a:t>UDDI (Universal Description, Discovery, and Integration) </a:t>
            </a:r>
            <a:r>
              <a:rPr lang="en-US" sz="3400" dirty="0"/>
              <a:t>is an XML-based standard for detailing, publishing, and discovering web services. It’s basically an internet registry for businesses around the world. The goal is to streamline digital transactions and e-commerce among company systems.</a:t>
            </a:r>
          </a:p>
          <a:p>
            <a:pPr marL="0" indent="0">
              <a:buNone/>
            </a:pPr>
            <a:endParaRPr lang="en-US" sz="3400" dirty="0"/>
          </a:p>
          <a:p>
            <a:r>
              <a:rPr lang="en-US" sz="3400" b="1" dirty="0"/>
              <a:t>SOAP, (Simple Object Access Protocol) </a:t>
            </a:r>
            <a:r>
              <a:rPr lang="en-US" sz="3400" dirty="0"/>
              <a:t>is an XML-based Web service protocol to exchange data and documents over </a:t>
            </a:r>
            <a:r>
              <a:rPr lang="en-US" sz="3400" dirty="0">
                <a:hlinkClick r:id="rId3"/>
              </a:rPr>
              <a:t>HTTP or SMTP</a:t>
            </a:r>
            <a:r>
              <a:rPr lang="en-US" sz="3400" dirty="0"/>
              <a:t> (Simple Mail Transfer Protocol). It allows independent processes operating on disparate systems to communicate using XML.</a:t>
            </a:r>
          </a:p>
          <a:p>
            <a:pPr marL="0" indent="0">
              <a:buNone/>
            </a:pPr>
            <a:endParaRPr lang="en-US" sz="3400" dirty="0"/>
          </a:p>
          <a:p>
            <a:r>
              <a:rPr lang="en-US" sz="3400" b="1" dirty="0"/>
              <a:t>REST,(Representational State Transfer) </a:t>
            </a:r>
            <a:r>
              <a:rPr lang="en-US" sz="3400" dirty="0"/>
              <a:t>provides communication and connectivity between devices and the internet for API-based tasks. Most RESTful services use HTTP as the supporting protocol.</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946205"/>
            <a:ext cx="10018713" cy="4844995"/>
          </a:xfrm>
        </p:spPr>
        <p:txBody>
          <a:bodyPr>
            <a:normAutofit/>
          </a:bodyPr>
          <a:lstStyle/>
          <a:p>
            <a:r>
              <a:rPr lang="en-US" b="1" dirty="0"/>
              <a:t>How web services work</a:t>
            </a:r>
            <a:endParaRPr lang="en-US" dirty="0"/>
          </a:p>
          <a:p>
            <a:r>
              <a:rPr lang="en-US" dirty="0"/>
              <a:t>Web services let different organizations or applications from multiple sources communicate </a:t>
            </a:r>
            <a:r>
              <a:rPr lang="en-US" b="1" dirty="0"/>
              <a:t>without the need to share sensitive data </a:t>
            </a:r>
            <a:r>
              <a:rPr lang="en-US" dirty="0"/>
              <a:t>or IT infrastructure.</a:t>
            </a:r>
          </a:p>
          <a:p>
            <a:r>
              <a:rPr lang="en-US" dirty="0"/>
              <a:t>All information moves through a programmatic interface across a network. This interface can then be added to a </a:t>
            </a:r>
            <a:r>
              <a:rPr lang="en-US" u="sng" dirty="0">
                <a:hlinkClick r:id="rId2"/>
              </a:rPr>
              <a:t>GUI</a:t>
            </a:r>
            <a:r>
              <a:rPr lang="en-US" dirty="0"/>
              <a:t>, like a webpage, to deliver specific functionality to users. </a:t>
            </a:r>
          </a:p>
          <a:p>
            <a:r>
              <a:rPr lang="en-US" dirty="0"/>
              <a:t>This means web services aren't specific to one programming language or operating system (OS) and don't require the use of browsers or Hypertext Markup Language (</a:t>
            </a:r>
            <a:r>
              <a:rPr lang="en-US" u="sng" dirty="0">
                <a:hlinkClick r:id="rId3"/>
              </a:rPr>
              <a:t>HTML</a:t>
            </a:r>
            <a:r>
              <a:rPr lang="en-US" dirty="0"/>
              <a:t>).</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5" name="Picture 1"/>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82220" y="719191"/>
            <a:ext cx="10448818" cy="60153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174805"/>
          </a:xfrm>
        </p:spPr>
        <p:txBody>
          <a:bodyPr/>
          <a:lstStyle/>
          <a:p>
            <a:r>
              <a:rPr lang="en-US" dirty="0"/>
              <a:t>Secure and Unsecured APIs Using Calls</a:t>
            </a:r>
          </a:p>
        </p:txBody>
      </p:sp>
      <p:sp>
        <p:nvSpPr>
          <p:cNvPr id="3" name="Content Placeholder 2"/>
          <p:cNvSpPr>
            <a:spLocks noGrp="1"/>
          </p:cNvSpPr>
          <p:nvPr>
            <p:ph idx="1"/>
          </p:nvPr>
        </p:nvSpPr>
        <p:spPr>
          <a:xfrm>
            <a:off x="1484310" y="2154803"/>
            <a:ext cx="10418793" cy="4269851"/>
          </a:xfrm>
        </p:spPr>
        <p:txBody>
          <a:bodyPr>
            <a:normAutofit fontScale="92500"/>
          </a:bodyPr>
          <a:lstStyle/>
          <a:p>
            <a:pPr fontAlgn="ctr"/>
            <a:endParaRPr lang="en-US" dirty="0"/>
          </a:p>
          <a:p>
            <a:pPr fontAlgn="ctr"/>
            <a:r>
              <a:rPr lang="en-US" dirty="0"/>
              <a:t>Secure and unsecured API calls differ primarily in their approach to protecting data and access. </a:t>
            </a:r>
          </a:p>
          <a:p>
            <a:pPr fontAlgn="ctr"/>
            <a:r>
              <a:rPr lang="en-US" dirty="0"/>
              <a:t>Secure API calls utilize encryption, authentication, and authorization to prevent unauthorized access and data breaches,</a:t>
            </a:r>
          </a:p>
          <a:p>
            <a:pPr fontAlgn="ctr"/>
            <a:r>
              <a:rPr lang="en-US" dirty="0"/>
              <a:t> while unsecured calls lack these protective measures, leaving them vulnerable to attacks. </a:t>
            </a:r>
          </a:p>
          <a:p>
            <a:pPr fontAlgn="ctr"/>
            <a:r>
              <a:rPr lang="en-US" dirty="0"/>
              <a:t>securing API calls involves implementing robust security measures to protect data, control access, and mitigate potential threats. </a:t>
            </a:r>
          </a:p>
          <a:p>
            <a:pPr fontAlgn="ctr"/>
            <a:r>
              <a:rPr lang="en-US" dirty="0"/>
              <a:t>Unsecured API calls lack these measures, making them vulnerable to various attacks. </a:t>
            </a:r>
          </a:p>
          <a:p>
            <a:pPr fontAlgn="ctr"/>
            <a:endParaRPr lang="en-US" dirty="0"/>
          </a:p>
          <a:p>
            <a:pPr marL="0" indent="0">
              <a:buNone/>
            </a:pP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Secure API Calls:</a:t>
            </a:r>
            <a:br>
              <a:rPr lang="en-US" dirty="0"/>
            </a:br>
            <a:endParaRPr lang="en-US" dirty="0"/>
          </a:p>
        </p:txBody>
      </p:sp>
      <p:sp>
        <p:nvSpPr>
          <p:cNvPr id="3" name="Content Placeholder 2"/>
          <p:cNvSpPr>
            <a:spLocks noGrp="1"/>
          </p:cNvSpPr>
          <p:nvPr>
            <p:ph idx="1"/>
          </p:nvPr>
        </p:nvSpPr>
        <p:spPr/>
        <p:txBody>
          <a:bodyPr>
            <a:normAutofit fontScale="25000" lnSpcReduction="20000"/>
          </a:bodyPr>
          <a:lstStyle/>
          <a:p>
            <a:endParaRPr lang="en-US" b="1" dirty="0"/>
          </a:p>
          <a:p>
            <a:r>
              <a:rPr lang="en-US" sz="6400" b="1" dirty="0"/>
              <a:t>Authentication and Authorization:</a:t>
            </a:r>
            <a:endParaRPr lang="en-US" sz="6400" dirty="0"/>
          </a:p>
          <a:p>
            <a:pPr lvl="1" fontAlgn="ctr"/>
            <a:r>
              <a:rPr lang="en-US" sz="5600" dirty="0"/>
              <a:t>Secure APIs verify the identity of the user or application making the request and ensure they have the necessary permissions to access the requested resource. </a:t>
            </a:r>
          </a:p>
          <a:p>
            <a:r>
              <a:rPr lang="en-US" sz="6400" b="1" dirty="0"/>
              <a:t>Encryption:</a:t>
            </a:r>
            <a:endParaRPr lang="en-US" sz="6400" dirty="0"/>
          </a:p>
          <a:p>
            <a:pPr lvl="1" fontAlgn="ctr"/>
            <a:r>
              <a:rPr lang="en-US" sz="5600" dirty="0"/>
              <a:t>Data transmitted between the client and the API is encrypted (e.g., using HTTPS with TLS) to protect it from eavesdropping and tampering. </a:t>
            </a:r>
          </a:p>
          <a:p>
            <a:r>
              <a:rPr lang="en-US" sz="6400" b="1" dirty="0"/>
              <a:t>Input Validation:</a:t>
            </a:r>
            <a:endParaRPr lang="en-US" sz="6400" dirty="0"/>
          </a:p>
          <a:p>
            <a:pPr lvl="1" fontAlgn="ctr"/>
            <a:r>
              <a:rPr lang="en-US" sz="5600" dirty="0"/>
              <a:t>APIs validate all incoming data to prevent injection attacks (e.g., SQL injection, XSS) and ensure the data is in the expected format. </a:t>
            </a:r>
          </a:p>
          <a:p>
            <a:r>
              <a:rPr lang="en-US" sz="6400" b="1" dirty="0"/>
              <a:t>Rate Limiting and Throttling:</a:t>
            </a:r>
            <a:endParaRPr lang="en-US" sz="6400" dirty="0"/>
          </a:p>
          <a:p>
            <a:pPr lvl="1" fontAlgn="ctr"/>
            <a:r>
              <a:rPr lang="en-US" sz="5600" dirty="0"/>
              <a:t>APIs implement limits on the number of requests a user or application can make within a certain timeframe to prevent abuse and denial-of-service attacks. </a:t>
            </a:r>
          </a:p>
          <a:p>
            <a:r>
              <a:rPr lang="en-US" sz="6400" b="1" dirty="0"/>
              <a:t>Auditing and Logging:</a:t>
            </a:r>
            <a:endParaRPr lang="en-US" sz="6400" dirty="0"/>
          </a:p>
          <a:p>
            <a:pPr lvl="1" fontAlgn="ctr"/>
            <a:r>
              <a:rPr lang="en-US" sz="5600" dirty="0"/>
              <a:t>API usage is logged to track activities and identify potential security incidents. </a:t>
            </a:r>
          </a:p>
          <a:p>
            <a:r>
              <a:rPr lang="en-US" sz="6400" b="1" dirty="0"/>
              <a:t>API Gateways:</a:t>
            </a:r>
            <a:endParaRPr lang="en-US" sz="6400" dirty="0"/>
          </a:p>
          <a:p>
            <a:pPr lvl="1" fontAlgn="ctr"/>
            <a:r>
              <a:rPr lang="en-US" sz="5600" dirty="0"/>
              <a:t>API gateways act as a central point of entry for API traffic, providing security features like authentication, authorization, and traffic management. </a:t>
            </a:r>
          </a:p>
          <a:p>
            <a:r>
              <a:rPr lang="en-US" sz="6400" b="1" dirty="0"/>
              <a:t>Token-based Authentication:</a:t>
            </a:r>
            <a:endParaRPr lang="en-US" sz="6400" dirty="0"/>
          </a:p>
          <a:p>
            <a:pPr lvl="1" fontAlgn="ctr"/>
            <a:r>
              <a:rPr lang="en-US" sz="5600" dirty="0"/>
              <a:t>APIs use tokens (e.g., JWT) to authenticate users and applications, providing a secure and efficient way to manage access. </a:t>
            </a:r>
          </a:p>
          <a:p>
            <a:endParaRPr lang="en-US" dirty="0"/>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484311" y="685801"/>
            <a:ext cx="10018713" cy="1071438"/>
          </a:xfrm>
        </p:spPr>
        <p:txBody>
          <a:bodyPr>
            <a:normAutofit fontScale="90000"/>
          </a:bodyPr>
          <a:lstStyle/>
          <a:p>
            <a:r>
              <a:rPr lang="en-US" dirty="0"/>
              <a:t>Unsecured API Calls:</a:t>
            </a:r>
            <a:br>
              <a:rPr lang="en-US" dirty="0"/>
            </a:br>
            <a:endParaRPr lang="en-US" dirty="0"/>
          </a:p>
        </p:txBody>
      </p:sp>
      <p:sp>
        <p:nvSpPr>
          <p:cNvPr id="3" name="Content Placeholder 2"/>
          <p:cNvSpPr>
            <a:spLocks noGrp="1"/>
          </p:cNvSpPr>
          <p:nvPr>
            <p:ph idx="1"/>
          </p:nvPr>
        </p:nvSpPr>
        <p:spPr>
          <a:xfrm>
            <a:off x="1484310" y="1574358"/>
            <a:ext cx="10180253" cy="4595853"/>
          </a:xfrm>
        </p:spPr>
        <p:txBody>
          <a:bodyPr>
            <a:normAutofit fontScale="77500" lnSpcReduction="20000"/>
          </a:bodyPr>
          <a:lstStyle/>
          <a:p>
            <a:r>
              <a:rPr lang="en-US" b="1" dirty="0"/>
              <a:t>Lack of Authentication and Authorization:</a:t>
            </a:r>
            <a:endParaRPr lang="en-US" dirty="0"/>
          </a:p>
          <a:p>
            <a:pPr lvl="1" fontAlgn="ctr"/>
            <a:r>
              <a:rPr lang="en-US" dirty="0"/>
              <a:t>Unsecured APIs may not require any form of authentication, allowing anyone to access resources. </a:t>
            </a:r>
          </a:p>
          <a:p>
            <a:r>
              <a:rPr lang="en-US" b="1" dirty="0"/>
              <a:t>Unencrypted Data:</a:t>
            </a:r>
            <a:endParaRPr lang="en-US" dirty="0"/>
          </a:p>
          <a:p>
            <a:pPr lvl="1" fontAlgn="ctr"/>
            <a:r>
              <a:rPr lang="en-US" dirty="0"/>
              <a:t>Data transmitted between the client and API is not encrypted, making it vulnerable to interception and modification. </a:t>
            </a:r>
          </a:p>
          <a:p>
            <a:r>
              <a:rPr lang="en-US" b="1" dirty="0"/>
              <a:t>Lack of Input Validation:</a:t>
            </a:r>
            <a:endParaRPr lang="en-US" dirty="0"/>
          </a:p>
          <a:p>
            <a:pPr lvl="1" fontAlgn="ctr"/>
            <a:r>
              <a:rPr lang="en-US" dirty="0"/>
              <a:t>APIs that don't validate input are susceptible to various injection attacks. </a:t>
            </a:r>
          </a:p>
          <a:p>
            <a:r>
              <a:rPr lang="en-US" b="1" dirty="0"/>
              <a:t>No Rate Limiting:</a:t>
            </a:r>
            <a:endParaRPr lang="en-US" dirty="0"/>
          </a:p>
          <a:p>
            <a:pPr lvl="1" fontAlgn="ctr"/>
            <a:r>
              <a:rPr lang="en-US" dirty="0"/>
              <a:t>Without rate limiting, APIs can be easily overwhelmed by malicious traffic, leading to service disruptions. </a:t>
            </a:r>
          </a:p>
          <a:p>
            <a:r>
              <a:rPr lang="en-US" b="1" dirty="0"/>
              <a:t>Limited or no Auditing:</a:t>
            </a:r>
            <a:endParaRPr lang="en-US" dirty="0"/>
          </a:p>
          <a:p>
            <a:pPr lvl="1" fontAlgn="ctr"/>
            <a:r>
              <a:rPr lang="en-US" dirty="0"/>
              <a:t>Unsecured APIs may not track API usage, making it difficult to identify and respond to security incidents. </a:t>
            </a:r>
          </a:p>
          <a:p>
            <a:r>
              <a:rPr lang="en-US" b="1" dirty="0"/>
              <a:t>Direct Endpoint Exposure:</a:t>
            </a:r>
            <a:endParaRPr lang="en-US" dirty="0"/>
          </a:p>
          <a:p>
            <a:pPr lvl="1" fontAlgn="ctr"/>
            <a:r>
              <a:rPr lang="en-US" dirty="0"/>
              <a:t>Unsecured APIs might expose endpoints directly to the public internet, increasing the attack surface. </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8597943" cy="1087341"/>
          </a:xfrm>
        </p:spPr>
        <p:txBody>
          <a:bodyPr/>
          <a:lstStyle/>
          <a:p>
            <a:r>
              <a:rPr lang="en-US" dirty="0"/>
              <a:t>Introduction to </a:t>
            </a:r>
            <a:r>
              <a:rPr lang="en-US" dirty="0" err="1"/>
              <a:t>Anypoint</a:t>
            </a:r>
            <a:r>
              <a:rPr lang="en-US" dirty="0"/>
              <a:t> Platform</a:t>
            </a:r>
          </a:p>
        </p:txBody>
      </p:sp>
      <p:sp>
        <p:nvSpPr>
          <p:cNvPr id="3" name="Content Placeholder 2"/>
          <p:cNvSpPr>
            <a:spLocks noGrp="1"/>
          </p:cNvSpPr>
          <p:nvPr>
            <p:ph idx="1"/>
          </p:nvPr>
        </p:nvSpPr>
        <p:spPr>
          <a:xfrm>
            <a:off x="1484310" y="2059389"/>
            <a:ext cx="10018713" cy="3731812"/>
          </a:xfrm>
        </p:spPr>
        <p:txBody>
          <a:bodyPr>
            <a:normAutofit fontScale="32500" lnSpcReduction="20000"/>
          </a:bodyPr>
          <a:lstStyle/>
          <a:p>
            <a:endParaRPr lang="en-IN" sz="2900" dirty="0"/>
          </a:p>
          <a:p>
            <a:pPr marL="0" indent="0">
              <a:buNone/>
            </a:pPr>
            <a:r>
              <a:rPr lang="en-IN" sz="5500" dirty="0"/>
              <a:t>The </a:t>
            </a:r>
            <a:r>
              <a:rPr lang="en-IN" sz="5500" dirty="0" err="1"/>
              <a:t>MuleSoft's</a:t>
            </a:r>
            <a:r>
              <a:rPr lang="en-IN" sz="5500" dirty="0"/>
              <a:t> </a:t>
            </a:r>
            <a:r>
              <a:rPr lang="en-IN" sz="5500" dirty="0" err="1"/>
              <a:t>Anypoint</a:t>
            </a:r>
            <a:r>
              <a:rPr lang="en-IN" sz="5500" dirty="0"/>
              <a:t> Platform is a unified, single solution for </a:t>
            </a:r>
            <a:r>
              <a:rPr lang="en-IN" sz="5500" dirty="0" err="1"/>
              <a:t>iPaaS</a:t>
            </a:r>
            <a:r>
              <a:rPr lang="en-IN" sz="5500" dirty="0"/>
              <a:t> and a full life-cycle API management. The </a:t>
            </a:r>
            <a:r>
              <a:rPr lang="en-IN" sz="5500" dirty="0" err="1"/>
              <a:t>Anypoint</a:t>
            </a:r>
            <a:r>
              <a:rPr lang="en-IN" sz="5500" dirty="0"/>
              <a:t> Platform consists of the following major components:</a:t>
            </a:r>
            <a:endParaRPr lang="en-US" sz="5500" dirty="0"/>
          </a:p>
          <a:p>
            <a:pPr lvl="0"/>
            <a:r>
              <a:rPr lang="en-IN" sz="5500" dirty="0" err="1"/>
              <a:t>Anypoint</a:t>
            </a:r>
            <a:r>
              <a:rPr lang="en-IN" sz="5500" dirty="0"/>
              <a:t> Security,</a:t>
            </a:r>
            <a:endParaRPr lang="en-US" sz="5500" dirty="0"/>
          </a:p>
          <a:p>
            <a:pPr lvl="0"/>
            <a:r>
              <a:rPr lang="en-IN" sz="5500" dirty="0" err="1"/>
              <a:t>Anypoint</a:t>
            </a:r>
            <a:r>
              <a:rPr lang="en-IN" sz="5500" dirty="0"/>
              <a:t> Design </a:t>
            </a:r>
            <a:r>
              <a:rPr lang="en-IN" sz="5500" dirty="0" err="1"/>
              <a:t>center</a:t>
            </a:r>
            <a:r>
              <a:rPr lang="en-IN" sz="5500" dirty="0"/>
              <a:t>,</a:t>
            </a:r>
            <a:endParaRPr lang="en-US" sz="5500" dirty="0"/>
          </a:p>
          <a:p>
            <a:pPr lvl="0"/>
            <a:r>
              <a:rPr lang="en-IN" sz="5500" dirty="0" err="1"/>
              <a:t>Anypoint</a:t>
            </a:r>
            <a:r>
              <a:rPr lang="en-IN" sz="5500" dirty="0"/>
              <a:t> Management </a:t>
            </a:r>
            <a:r>
              <a:rPr lang="en-IN" sz="5500" dirty="0" err="1"/>
              <a:t>center</a:t>
            </a:r>
            <a:r>
              <a:rPr lang="en-IN" sz="5500" dirty="0"/>
              <a:t>,</a:t>
            </a:r>
            <a:endParaRPr lang="en-US" sz="5500" dirty="0"/>
          </a:p>
          <a:p>
            <a:pPr lvl="0"/>
            <a:r>
              <a:rPr lang="en-IN" sz="5500" dirty="0" err="1"/>
              <a:t>Anypoint</a:t>
            </a:r>
            <a:r>
              <a:rPr lang="en-IN" sz="5500" dirty="0"/>
              <a:t> Exchange,</a:t>
            </a:r>
            <a:endParaRPr lang="en-US" sz="5500" dirty="0"/>
          </a:p>
          <a:p>
            <a:pPr lvl="0"/>
            <a:r>
              <a:rPr lang="en-IN" sz="5500" dirty="0"/>
              <a:t>Runtime engine &amp; services,</a:t>
            </a:r>
            <a:endParaRPr lang="en-US" sz="5500" dirty="0"/>
          </a:p>
          <a:p>
            <a:pPr lvl="0"/>
            <a:r>
              <a:rPr lang="en-IN" sz="5500" dirty="0"/>
              <a:t>API-led connectivity,</a:t>
            </a:r>
            <a:endParaRPr lang="en-US" sz="5500" dirty="0"/>
          </a:p>
          <a:p>
            <a:pPr lvl="0"/>
            <a:r>
              <a:rPr lang="en-IN" sz="5500" dirty="0"/>
              <a:t>Application Network,</a:t>
            </a:r>
            <a:endParaRPr lang="en-US" sz="5500" dirty="0"/>
          </a:p>
          <a:p>
            <a:pPr lvl="0"/>
            <a:r>
              <a:rPr lang="en-IN" sz="5500" dirty="0" err="1"/>
              <a:t>DataWeave</a:t>
            </a:r>
            <a:r>
              <a:rPr lang="en-IN" sz="2900" dirty="0"/>
              <a:t>.</a:t>
            </a:r>
            <a:endParaRPr lang="en-US" sz="2900" dirty="0"/>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582220" y="441789"/>
            <a:ext cx="10109771" cy="5496674"/>
          </a:xfr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613043" y="575353"/>
            <a:ext cx="9246741" cy="5465851"/>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920363"/>
          </a:xfrm>
        </p:spPr>
        <p:txBody>
          <a:bodyPr>
            <a:normAutofit fontScale="90000"/>
          </a:bodyPr>
          <a:lstStyle/>
          <a:p>
            <a:r>
              <a:rPr lang="en-IN" b="1" dirty="0" err="1"/>
              <a:t>Anypoint</a:t>
            </a:r>
            <a:r>
              <a:rPr lang="en-IN" b="1" dirty="0"/>
              <a:t> Platform Components</a:t>
            </a:r>
            <a:r>
              <a:rPr lang="en-US" dirty="0"/>
              <a:t/>
            </a:r>
            <a:br>
              <a:rPr lang="en-US" dirty="0"/>
            </a:br>
            <a:endParaRPr lang="en-US" dirty="0"/>
          </a:p>
        </p:txBody>
      </p:sp>
      <p:sp>
        <p:nvSpPr>
          <p:cNvPr id="3" name="Content Placeholder 2"/>
          <p:cNvSpPr>
            <a:spLocks noGrp="1"/>
          </p:cNvSpPr>
          <p:nvPr>
            <p:ph idx="1"/>
          </p:nvPr>
        </p:nvSpPr>
        <p:spPr>
          <a:xfrm>
            <a:off x="1484310" y="1622067"/>
            <a:ext cx="10018713" cy="4818490"/>
          </a:xfrm>
        </p:spPr>
        <p:txBody>
          <a:bodyPr>
            <a:normAutofit fontScale="32500" lnSpcReduction="20000"/>
          </a:bodyPr>
          <a:lstStyle/>
          <a:p>
            <a:r>
              <a:rPr lang="en-IN" sz="4300" b="1" dirty="0"/>
              <a:t>Design </a:t>
            </a:r>
            <a:r>
              <a:rPr lang="en-IN" sz="4300" b="1" dirty="0" err="1"/>
              <a:t>Center</a:t>
            </a:r>
            <a:endParaRPr lang="en-US" sz="4300" dirty="0"/>
          </a:p>
          <a:p>
            <a:pPr lvl="1"/>
            <a:r>
              <a:rPr lang="en-IN" sz="3900" dirty="0"/>
              <a:t>Design </a:t>
            </a:r>
            <a:r>
              <a:rPr lang="en-IN" sz="3900" dirty="0" err="1"/>
              <a:t>Center</a:t>
            </a:r>
            <a:r>
              <a:rPr lang="en-IN" sz="3900" dirty="0"/>
              <a:t> provides tools to design the APIs, developer Connectors and </a:t>
            </a:r>
            <a:r>
              <a:rPr lang="en-IN" sz="3900" dirty="0" err="1"/>
              <a:t>MuleSoft</a:t>
            </a:r>
            <a:r>
              <a:rPr lang="en-IN" sz="3900" dirty="0"/>
              <a:t> Applications. RAML is used to design the APIs.</a:t>
            </a:r>
            <a:endParaRPr lang="en-US" sz="3900" dirty="0"/>
          </a:p>
          <a:p>
            <a:r>
              <a:rPr lang="en-IN" sz="4300" b="1" dirty="0" err="1"/>
              <a:t>Anypoint</a:t>
            </a:r>
            <a:r>
              <a:rPr lang="en-IN" sz="4300" b="1" dirty="0"/>
              <a:t> Exchange</a:t>
            </a:r>
            <a:endParaRPr lang="en-US" sz="4300" dirty="0"/>
          </a:p>
          <a:p>
            <a:pPr lvl="1"/>
            <a:r>
              <a:rPr lang="en-IN" sz="3900" dirty="0" err="1"/>
              <a:t>Anypoint</a:t>
            </a:r>
            <a:r>
              <a:rPr lang="en-IN" sz="3900" dirty="0"/>
              <a:t> Exchange is repository hub where you can store your reusable assets and search for connectors, public or private assets.</a:t>
            </a:r>
            <a:endParaRPr lang="en-US" sz="3900" dirty="0"/>
          </a:p>
          <a:p>
            <a:pPr lvl="1"/>
            <a:r>
              <a:rPr lang="en-IN" sz="3900" dirty="0"/>
              <a:t>Repository hub for public templates, connectors, documents etc.</a:t>
            </a:r>
            <a:endParaRPr lang="en-US" sz="3900" dirty="0"/>
          </a:p>
          <a:p>
            <a:pPr lvl="1"/>
            <a:r>
              <a:rPr lang="en-IN" sz="3900" dirty="0"/>
              <a:t>Store the assets like templates, common frameworks, documentation to be access by your organizations.</a:t>
            </a:r>
            <a:endParaRPr lang="en-US" sz="3900" dirty="0"/>
          </a:p>
          <a:p>
            <a:r>
              <a:rPr lang="en-IN" sz="4300" b="1" dirty="0"/>
              <a:t>Runtime Manager</a:t>
            </a:r>
            <a:endParaRPr lang="en-US" sz="4300" dirty="0"/>
          </a:p>
          <a:p>
            <a:pPr lvl="1"/>
            <a:r>
              <a:rPr lang="en-IN" sz="3900" dirty="0"/>
              <a:t>Runtime Manager is the place where you can deploy and manage the </a:t>
            </a:r>
            <a:r>
              <a:rPr lang="en-IN" sz="3900" dirty="0" err="1"/>
              <a:t>MuleSoft</a:t>
            </a:r>
            <a:r>
              <a:rPr lang="en-IN" sz="3900" dirty="0"/>
              <a:t> Application. It also provide capabilities to setup </a:t>
            </a:r>
            <a:r>
              <a:rPr lang="en-IN" sz="3900" dirty="0" err="1"/>
              <a:t>Anypoint</a:t>
            </a:r>
            <a:r>
              <a:rPr lang="en-IN" sz="3900" dirty="0"/>
              <a:t> Virtual Private Cloud, Virtual Private Network and Dedicated Load Balancer.</a:t>
            </a:r>
            <a:endParaRPr lang="en-US" sz="3900" dirty="0"/>
          </a:p>
          <a:p>
            <a:pPr lvl="1"/>
            <a:r>
              <a:rPr lang="en-IN" sz="3900" dirty="0"/>
              <a:t>Manage application deployment lifecycle.</a:t>
            </a:r>
            <a:endParaRPr lang="en-US" sz="3900" dirty="0"/>
          </a:p>
          <a:p>
            <a:pPr lvl="1"/>
            <a:r>
              <a:rPr lang="en-IN" sz="3900" dirty="0"/>
              <a:t>Enable the alerts like CPU Usage, Memory Usage, Worker Not Responding etc.</a:t>
            </a:r>
            <a:endParaRPr lang="en-US" sz="3900" dirty="0"/>
          </a:p>
          <a:p>
            <a:pPr lvl="1"/>
            <a:r>
              <a:rPr lang="en-IN" sz="3900" dirty="0"/>
              <a:t>Create and Manage </a:t>
            </a:r>
            <a:r>
              <a:rPr lang="en-IN" sz="3900" dirty="0" err="1"/>
              <a:t>Anypoint</a:t>
            </a:r>
            <a:r>
              <a:rPr lang="en-IN" sz="3900" dirty="0"/>
              <a:t> VPC, VPN and DLB.</a:t>
            </a:r>
            <a:endParaRPr lang="en-US" sz="3900" dirty="0"/>
          </a:p>
          <a:p>
            <a:pPr lvl="1"/>
            <a:r>
              <a:rPr lang="en-IN" sz="3900" dirty="0"/>
              <a:t>View the application metrics like CPU Usage, Memory Usage etc.</a:t>
            </a:r>
            <a:endParaRPr lang="en-US" sz="3900" dirty="0"/>
          </a:p>
          <a:p>
            <a:pPr lvl="1"/>
            <a:r>
              <a:rPr lang="en-IN" sz="3900" dirty="0"/>
              <a:t>Enable Static IP Address for the applications.</a:t>
            </a:r>
            <a:endParaRPr lang="en-US" sz="3900"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4310" y="628153"/>
            <a:ext cx="10546013" cy="6027089"/>
          </a:xfrm>
        </p:spPr>
        <p:txBody>
          <a:bodyPr>
            <a:normAutofit fontScale="40000" lnSpcReduction="20000"/>
          </a:bodyPr>
          <a:lstStyle/>
          <a:p>
            <a:r>
              <a:rPr lang="en-IN" sz="4000" b="1" dirty="0"/>
              <a:t>API Manager</a:t>
            </a:r>
            <a:endParaRPr lang="en-US" sz="4000" dirty="0"/>
          </a:p>
          <a:p>
            <a:pPr lvl="1"/>
            <a:r>
              <a:rPr lang="en-IN" sz="2800" dirty="0"/>
              <a:t> API Manager is the component of the </a:t>
            </a:r>
            <a:r>
              <a:rPr lang="en-IN" sz="2800" dirty="0" err="1"/>
              <a:t>Anypoint</a:t>
            </a:r>
            <a:r>
              <a:rPr lang="en-IN" sz="2800" dirty="0"/>
              <a:t> Platform for managing the lifecycle of API and secure the APIs using policies. This component basically governed the APIs. </a:t>
            </a:r>
            <a:endParaRPr lang="en-US" sz="2800" dirty="0"/>
          </a:p>
          <a:p>
            <a:pPr lvl="1"/>
            <a:r>
              <a:rPr lang="en-IN" sz="2800" dirty="0"/>
              <a:t>Securing the APIs by applying policies like IP Whitelisting, Blacklisting, JWT Validation Policy, Client Id Enforcement Policy etc.</a:t>
            </a:r>
            <a:endParaRPr lang="en-US" sz="2800" dirty="0"/>
          </a:p>
          <a:p>
            <a:pPr lvl="1"/>
            <a:r>
              <a:rPr lang="en-IN" sz="2800" dirty="0"/>
              <a:t>Discover and manage the API lifecycle.</a:t>
            </a:r>
            <a:endParaRPr lang="en-US" sz="2800" dirty="0"/>
          </a:p>
          <a:p>
            <a:pPr lvl="1"/>
            <a:r>
              <a:rPr lang="en-IN" sz="2800" dirty="0"/>
              <a:t>Enable the Alerts for policies violations, response time etc.</a:t>
            </a:r>
            <a:endParaRPr lang="en-US" sz="2800" dirty="0"/>
          </a:p>
          <a:p>
            <a:pPr lvl="1"/>
            <a:r>
              <a:rPr lang="en-IN" sz="2800" dirty="0"/>
              <a:t>View API Analytics.</a:t>
            </a:r>
            <a:endParaRPr lang="en-US" sz="2800" dirty="0"/>
          </a:p>
          <a:p>
            <a:pPr lvl="1"/>
            <a:r>
              <a:rPr lang="en-IN" sz="2800" dirty="0"/>
              <a:t>Manager API Contracts and SLA's.</a:t>
            </a:r>
            <a:endParaRPr lang="en-US" sz="2800" dirty="0"/>
          </a:p>
          <a:p>
            <a:pPr lvl="1"/>
            <a:r>
              <a:rPr lang="en-IN" sz="2800" dirty="0"/>
              <a:t>Apply API Policies like logging policy, header add and removal policies or any security policies.</a:t>
            </a:r>
            <a:endParaRPr lang="en-US" sz="2800" dirty="0"/>
          </a:p>
          <a:p>
            <a:pPr lvl="1"/>
            <a:r>
              <a:rPr lang="en-IN" sz="2800" dirty="0"/>
              <a:t>Proxy existing SOAP services or create new APIs from OAS and RAML definitions.</a:t>
            </a:r>
            <a:endParaRPr lang="en-US" sz="2800" dirty="0"/>
          </a:p>
          <a:p>
            <a:pPr lvl="1"/>
            <a:r>
              <a:rPr lang="en-IN" sz="2800" dirty="0"/>
              <a:t>Unlock applications, data, and </a:t>
            </a:r>
            <a:r>
              <a:rPr lang="en-IN" sz="2800" dirty="0" err="1"/>
              <a:t>microservices</a:t>
            </a:r>
            <a:r>
              <a:rPr lang="en-IN" sz="2800" dirty="0"/>
              <a:t> with an API gateway.</a:t>
            </a:r>
            <a:endParaRPr lang="en-US" sz="2800" dirty="0"/>
          </a:p>
          <a:p>
            <a:r>
              <a:rPr lang="en-IN" sz="4000" b="1" dirty="0"/>
              <a:t>Access Management</a:t>
            </a:r>
            <a:endParaRPr lang="en-US" sz="4000" dirty="0"/>
          </a:p>
          <a:p>
            <a:pPr lvl="1"/>
            <a:r>
              <a:rPr lang="en-IN" sz="2800" dirty="0"/>
              <a:t>This component is basically used to manager users, subscriptions, roles, organization, environments, Identity Management etc.</a:t>
            </a:r>
            <a:endParaRPr lang="en-US" sz="2800" dirty="0"/>
          </a:p>
          <a:p>
            <a:pPr lvl="1"/>
            <a:r>
              <a:rPr lang="en-IN" sz="2800" dirty="0"/>
              <a:t>User Management.</a:t>
            </a:r>
            <a:endParaRPr lang="en-US" sz="2800" dirty="0"/>
          </a:p>
          <a:p>
            <a:pPr lvl="1"/>
            <a:r>
              <a:rPr lang="en-IN" sz="2800" dirty="0"/>
              <a:t>Roles creation and mapping to users.</a:t>
            </a:r>
            <a:endParaRPr lang="en-US" sz="2800" dirty="0"/>
          </a:p>
          <a:p>
            <a:pPr lvl="1"/>
            <a:r>
              <a:rPr lang="en-IN" sz="2800" dirty="0"/>
              <a:t>User Identity Management using SAML 2.0 and OpenID Connect.</a:t>
            </a:r>
            <a:endParaRPr lang="en-US" sz="2800" dirty="0"/>
          </a:p>
          <a:p>
            <a:pPr lvl="1"/>
            <a:r>
              <a:rPr lang="en-IN" sz="2800" dirty="0"/>
              <a:t>Client Management using OpenID Connect Dynamic Client Registration.</a:t>
            </a:r>
            <a:endParaRPr lang="en-US" sz="2800" dirty="0"/>
          </a:p>
          <a:p>
            <a:pPr lvl="1"/>
            <a:r>
              <a:rPr lang="en-IN" sz="2800" dirty="0"/>
              <a:t>Business Group Management.</a:t>
            </a:r>
            <a:endParaRPr lang="en-US" sz="2800" dirty="0"/>
          </a:p>
          <a:p>
            <a:pPr lvl="1"/>
            <a:r>
              <a:rPr lang="en-IN" sz="2800" dirty="0"/>
              <a:t>Subscriptions Management.</a:t>
            </a:r>
            <a:endParaRPr lang="en-US" sz="2800" dirty="0"/>
          </a:p>
          <a:p>
            <a:pPr lvl="1"/>
            <a:r>
              <a:rPr lang="en-IN" sz="2800" dirty="0"/>
              <a:t>Enabling Multi-factor authentication.</a:t>
            </a:r>
            <a:endParaRPr lang="en-US" sz="2800" dirty="0"/>
          </a:p>
          <a:p>
            <a:r>
              <a:rPr lang="en-IN" sz="4000" b="1" dirty="0" err="1"/>
              <a:t>Anypoint</a:t>
            </a:r>
            <a:r>
              <a:rPr lang="en-IN" sz="4000" b="1" dirty="0"/>
              <a:t> </a:t>
            </a:r>
            <a:r>
              <a:rPr lang="en-IN" sz="4000" b="1" dirty="0" err="1"/>
              <a:t>DataGraph</a:t>
            </a:r>
            <a:endParaRPr lang="en-US" sz="4000" dirty="0"/>
          </a:p>
          <a:p>
            <a:pPr lvl="1"/>
            <a:r>
              <a:rPr lang="en-IN" sz="2800" dirty="0" err="1"/>
              <a:t>Anypoint</a:t>
            </a:r>
            <a:r>
              <a:rPr lang="en-IN" sz="2800" dirty="0"/>
              <a:t> </a:t>
            </a:r>
            <a:r>
              <a:rPr lang="en-IN" sz="2800" dirty="0" err="1"/>
              <a:t>DataGraph</a:t>
            </a:r>
            <a:r>
              <a:rPr lang="en-IN" sz="2800" dirty="0"/>
              <a:t> is component of </a:t>
            </a:r>
            <a:r>
              <a:rPr lang="en-IN" sz="2800" dirty="0" err="1"/>
              <a:t>Anypoint</a:t>
            </a:r>
            <a:r>
              <a:rPr lang="en-IN" sz="2800" dirty="0"/>
              <a:t> Platform which allows you to unify the multiple APIs into single data service.</a:t>
            </a:r>
            <a:endParaRPr lang="en-US" sz="2800" dirty="0"/>
          </a:p>
          <a:p>
            <a:pPr lvl="1"/>
            <a:r>
              <a:rPr lang="en-IN" sz="2800" dirty="0"/>
              <a:t>With </a:t>
            </a:r>
            <a:r>
              <a:rPr lang="en-IN" sz="2800" dirty="0" err="1"/>
              <a:t>Anypoint</a:t>
            </a:r>
            <a:r>
              <a:rPr lang="en-IN" sz="2800" dirty="0"/>
              <a:t> </a:t>
            </a:r>
            <a:r>
              <a:rPr lang="en-IN" sz="2800" dirty="0" err="1"/>
              <a:t>DataGraph</a:t>
            </a:r>
            <a:r>
              <a:rPr lang="en-IN" sz="2800" dirty="0"/>
              <a:t>, you can reuse multiple APIs in a single request. Enterprise architects can easily unify APIs into one data service — all without writing more code. Developers can consume multiple APIs from the data service in a single </a:t>
            </a:r>
            <a:r>
              <a:rPr lang="en-IN" sz="2800" dirty="0" err="1"/>
              <a:t>GraphQL</a:t>
            </a:r>
            <a:r>
              <a:rPr lang="en-IN" sz="2800" dirty="0"/>
              <a:t> request. </a:t>
            </a:r>
            <a:endParaRPr lang="en-US" sz="2800" dirty="0"/>
          </a:p>
          <a:p>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1448655" y="184935"/>
            <a:ext cx="10222787" cy="6673065"/>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428108" y="246580"/>
            <a:ext cx="10489913" cy="6513816"/>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127" y="468298"/>
            <a:ext cx="10018713" cy="701211"/>
          </a:xfrm>
        </p:spPr>
        <p:txBody>
          <a:bodyPr/>
          <a:lstStyle/>
          <a:p>
            <a:pPr algn="l"/>
            <a:r>
              <a:rPr lang="en-US" dirty="0" err="1"/>
              <a:t>Anypoint</a:t>
            </a:r>
            <a:r>
              <a:rPr lang="en-US" dirty="0"/>
              <a:t> Platform Benefits</a:t>
            </a:r>
          </a:p>
        </p:txBody>
      </p:sp>
      <p:sp>
        <p:nvSpPr>
          <p:cNvPr id="3" name="Content Placeholder 2"/>
          <p:cNvSpPr>
            <a:spLocks noGrp="1"/>
          </p:cNvSpPr>
          <p:nvPr>
            <p:ph idx="1"/>
          </p:nvPr>
        </p:nvSpPr>
        <p:spPr>
          <a:xfrm>
            <a:off x="1515132" y="1037691"/>
            <a:ext cx="10676868" cy="5576298"/>
          </a:xfrm>
        </p:spPr>
        <p:txBody>
          <a:bodyPr>
            <a:normAutofit/>
          </a:bodyPr>
          <a:lstStyle/>
          <a:p>
            <a:r>
              <a:rPr lang="en-US" dirty="0"/>
              <a:t>Unlock legacy systems, rapidly connect legacy assets to SaaS technologies, and reduce integration costs—without disrupting existing business processes</a:t>
            </a:r>
          </a:p>
          <a:p>
            <a:r>
              <a:rPr lang="en-US" dirty="0"/>
              <a:t>Increase developer productivity and shrink development times through open technologies that promote reusability, modularity and collaboration</a:t>
            </a:r>
          </a:p>
          <a:p>
            <a:r>
              <a:rPr lang="en-US" dirty="0"/>
              <a:t>Reduce time to resolution by managing all resources from a single pane of glass</a:t>
            </a:r>
          </a:p>
          <a:p>
            <a:r>
              <a:rPr lang="en-US" dirty="0"/>
              <a:t>Increase innovation and value creation across the enterprise through tools that enable faster development, testing, and implementation of APIs</a:t>
            </a:r>
          </a:p>
          <a:p>
            <a:r>
              <a:rPr lang="en-US" dirty="0"/>
              <a:t>Increase agility with a flexible architecture that evolves as your business does</a:t>
            </a:r>
          </a:p>
          <a:p>
            <a:r>
              <a:rPr lang="en-US" dirty="0"/>
              <a:t>Create happier customers and competitive advantages by delivering services and experiences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42770" y="1027980"/>
            <a:ext cx="10018713" cy="3124201"/>
          </a:xfrm>
        </p:spPr>
        <p:txBody>
          <a:bodyPr/>
          <a:lstStyle/>
          <a:p>
            <a:pPr marL="0" indent="0">
              <a:buNone/>
            </a:pPr>
            <a:r>
              <a:rPr lang="en-US" dirty="0"/>
              <a:t>1.Define API Led connectivity in detail with example</a:t>
            </a:r>
          </a:p>
          <a:p>
            <a:pPr marL="0" indent="0">
              <a:buNone/>
            </a:pPr>
            <a:r>
              <a:rPr lang="en-US" dirty="0"/>
              <a:t>2.Differences between API and Web services</a:t>
            </a:r>
          </a:p>
          <a:p>
            <a:pPr marL="0" indent="0">
              <a:buNone/>
            </a:pPr>
            <a:r>
              <a:rPr lang="en-US" dirty="0"/>
              <a:t>3</a:t>
            </a:r>
            <a:r>
              <a:rPr lang="en-US" dirty="0" smtClean="0"/>
              <a:t>.</a:t>
            </a:r>
            <a:r>
              <a:rPr lang="en-IN" b="1" dirty="0"/>
              <a:t> </a:t>
            </a:r>
            <a:r>
              <a:rPr lang="en-IN" dirty="0" smtClean="0"/>
              <a:t>What is </a:t>
            </a:r>
            <a:r>
              <a:rPr lang="en-IN" dirty="0" err="1" smtClean="0"/>
              <a:t>Anypoint</a:t>
            </a:r>
            <a:r>
              <a:rPr lang="en-IN" dirty="0" smtClean="0"/>
              <a:t> Platform? What are the </a:t>
            </a:r>
            <a:r>
              <a:rPr lang="en-US" dirty="0" smtClean="0"/>
              <a:t>features available in </a:t>
            </a:r>
            <a:r>
              <a:rPr lang="en-US" dirty="0" err="1" smtClean="0"/>
              <a:t>Anypoint</a:t>
            </a:r>
            <a:r>
              <a:rPr lang="en-US" dirty="0" smtClean="0"/>
              <a:t> platform</a:t>
            </a:r>
            <a:endParaRPr lang="en-US" dirty="0"/>
          </a:p>
          <a:p>
            <a:pPr marL="0" indent="0">
              <a:buNone/>
            </a:pPr>
            <a:r>
              <a:rPr lang="en-US"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p:cNvSpPr>
            <a:spLocks noGrp="1"/>
          </p:cNvSpPr>
          <p:nvPr>
            <p:ph type="ctrTitle"/>
          </p:nvPr>
        </p:nvSpPr>
        <p:spPr>
          <a:xfrm>
            <a:off x="1616363" y="2579439"/>
            <a:ext cx="9144000" cy="1107996"/>
          </a:xfrm>
        </p:spPr>
        <p:txBody>
          <a:bodyPr lIns="0" tIns="0" rIns="0" bIns="0" anchor="ctr">
            <a:spAutoFit/>
          </a:bodyPr>
          <a:lstStyle/>
          <a:p>
            <a:r>
              <a:rPr lang="en-US" sz="7200" b="1" dirty="0"/>
              <a:t>Thank You</a:t>
            </a:r>
            <a:endParaRPr lang="en-US" sz="7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hlinkClick r:id="rId2"/>
              </a:rPr>
              <a:t>API-Led Connectivity</a:t>
            </a:r>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fillRect/>
          </a:stretch>
        </a:blip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Override1.xml><?xml version="1.0" encoding="utf-8"?>
<a:themeOverride xmlns:a="http://schemas.openxmlformats.org/drawingml/2006/main">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FD05317-60D6-4B3A-8545-888496D1A8EC}">
  <ds:schemaRefs/>
</ds:datastoreItem>
</file>

<file path=customXml/itemProps2.xml><?xml version="1.0" encoding="utf-8"?>
<ds:datastoreItem xmlns:ds="http://schemas.openxmlformats.org/officeDocument/2006/customXml" ds:itemID="{61A00BBF-EEBB-4E18-B8CB-F926EAAC48F7}">
  <ds:schemaRefs/>
</ds:datastoreItem>
</file>

<file path=customXml/itemProps3.xml><?xml version="1.0" encoding="utf-8"?>
<ds:datastoreItem xmlns:ds="http://schemas.openxmlformats.org/officeDocument/2006/customXml" ds:itemID="{EF609EDA-869E-4BE5-AE5D-B898C584B6FF}">
  <ds:schemaRefs/>
</ds:datastoreItem>
</file>

<file path=docProps/app.xml><?xml version="1.0" encoding="utf-8"?>
<Properties xmlns="http://schemas.openxmlformats.org/officeDocument/2006/extended-properties" xmlns:vt="http://schemas.openxmlformats.org/officeDocument/2006/docPropsVTypes">
  <TotalTime>0</TotalTime>
  <Words>1780</Words>
  <Application>Microsoft Office PowerPoint</Application>
  <PresentationFormat>Custom</PresentationFormat>
  <Paragraphs>259</Paragraphs>
  <Slides>52</Slides>
  <Notes>2</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Parallax</vt:lpstr>
      <vt:lpstr>Mule Soft 4.0 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Integration?</vt:lpstr>
      <vt:lpstr>MIDDLE WARE</vt:lpstr>
      <vt:lpstr>DIFFERENT INTEGRATION PLATFORMS</vt:lpstr>
      <vt:lpstr>PowerPoint Presentation</vt:lpstr>
      <vt:lpstr>PowerPoint Presentation</vt:lpstr>
      <vt:lpstr>PowerPoint Presentation</vt:lpstr>
      <vt:lpstr>PowerPoint Presentation</vt:lpstr>
      <vt:lpstr>PowerPoint Presentation</vt:lpstr>
      <vt:lpstr>PowerPoint Presentation</vt:lpstr>
      <vt:lpstr>Application Networks and Benefits</vt:lpstr>
      <vt:lpstr>API-Led Connectivity</vt:lpstr>
      <vt:lpstr>API-Led Connectivity</vt:lpstr>
      <vt:lpstr>API-Led Connectivity</vt:lpstr>
      <vt:lpstr>Layers in API led connectivity </vt:lpstr>
      <vt:lpstr>System APIs </vt:lpstr>
      <vt:lpstr>Process APIs </vt:lpstr>
      <vt:lpstr>Experience APIs </vt:lpstr>
      <vt:lpstr>PowerPoint Presentation</vt:lpstr>
      <vt:lpstr>PowerPoint Presentation</vt:lpstr>
      <vt:lpstr>PowerPoint Presentation</vt:lpstr>
      <vt:lpstr>PowerPoint Presentation</vt:lpstr>
      <vt:lpstr>Web Services and APIs</vt:lpstr>
      <vt:lpstr> Different Types of Web Services </vt:lpstr>
      <vt:lpstr>PowerPoint Presentation</vt:lpstr>
      <vt:lpstr>PowerPoint Presentation</vt:lpstr>
      <vt:lpstr>Secure and Unsecured APIs Using Calls</vt:lpstr>
      <vt:lpstr>Secure API Calls: </vt:lpstr>
      <vt:lpstr>Unsecured API Calls: </vt:lpstr>
      <vt:lpstr>Introduction to Anypoint Platform</vt:lpstr>
      <vt:lpstr>PowerPoint Presentation</vt:lpstr>
      <vt:lpstr>PowerPoint Presentation</vt:lpstr>
      <vt:lpstr>Anypoint Platform Components </vt:lpstr>
      <vt:lpstr>PowerPoint Presentation</vt:lpstr>
      <vt:lpstr>PowerPoint Presentation</vt:lpstr>
      <vt:lpstr>PowerPoint Presentation</vt:lpstr>
      <vt:lpstr>Anypoint Platform Benefits</vt:lpstr>
      <vt:lpstr>PowerPoint Presentation</vt:lpstr>
      <vt:lpstr>Thank You</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Mule Soft 4.0 Introduction</dc:title>
  <dc:creator/>
  <cp:lastModifiedBy/>
  <cp:revision>4</cp:revision>
  <dcterms:created xsi:type="dcterms:W3CDTF">2021-09-04T08:15:00Z</dcterms:created>
  <dcterms:modified xsi:type="dcterms:W3CDTF">2025-07-08T10:09:59Z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FF0D6DAABA6640E59EFBCF51F994257A_12</vt:lpwstr>
  </property>
  <property fmtid="{D5CDD505-2E9C-101B-9397-08002B2CF9AE}" pid="4" name="KSOProductBuildVer">
    <vt:lpwstr>1033-12.2.0.21931</vt:lpwstr>
  </property>
</Properties>
</file>